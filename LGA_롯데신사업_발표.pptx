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Pretendard"/>
              </a:defRPr>
            </a:pPr>
            <a:r>
              <a:rPr sz="1300" b="0" i="0" u="none" strike="noStrike">
                <a:solidFill>
                  <a:srgbClr val="5E6979"/>
                </a:solidFill>
                <a:latin typeface="Pretendard"/>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롯데그룹 신사업 제안  ·  비즈니스 모델 캔버스</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Pretendard" pitchFamily="34" charset="0"/>
                <a:ea typeface="Pretendard" pitchFamily="34" charset="-122"/>
                <a:cs typeface="Pretendard"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Pretendard" pitchFamily="34" charset="0"/>
                <a:ea typeface="Pretendard" pitchFamily="34" charset="-122"/>
                <a:cs typeface="Pretendard"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Pretendard" pitchFamily="34" charset="0"/>
                <a:ea typeface="Pretendard" pitchFamily="34" charset="-122"/>
                <a:cs typeface="Pretendard"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2322576"/>
            <a:ext cx="3657600" cy="243332"/>
          </a:xfrm>
          <a:prstGeom prst="rect">
            <a:avLst/>
          </a:prstGeom>
          <a:noFill/>
          <a:ln/>
        </p:spPr>
        <p:txBody>
          <a:bodyPr wrap="square" lIns="0" tIns="0" rIns="0" bIns="0" rtlCol="0" anchor="t"/>
          <a:lstStyle/>
          <a:p>
            <a:pPr algn="l" indent="0" marL="0">
              <a:lnSpc>
                <a:spcPts val="1700"/>
              </a:lnSpc>
              <a:buNone/>
            </a:pPr>
            <a:r>
              <a:rPr lang="en-US" sz="1150" dirty="0">
                <a:solidFill>
                  <a:srgbClr val="8C97A8"/>
                </a:solidFill>
                <a:latin typeface="Pretendard" pitchFamily="34" charset="0"/>
                <a:ea typeface="Pretendard" pitchFamily="34" charset="-122"/>
                <a:cs typeface="Pretendard" pitchFamily="34" charset="-120"/>
              </a:rPr>
              <a:t>매장에 들어오는 100명 중</a:t>
            </a:r>
            <a:endParaRPr lang="en-US" sz="1150" dirty="0"/>
          </a:p>
        </p:txBody>
      </p:sp>
      <p:sp>
        <p:nvSpPr>
          <p:cNvPr id="13" name="Text 10"/>
          <p:cNvSpPr txBox="1"/>
          <p:nvPr/>
        </p:nvSpPr>
        <p:spPr>
          <a:xfrm>
            <a:off x="7571232" y="2688336"/>
            <a:ext cx="3785616" cy="1188720"/>
          </a:xfrm>
          <a:prstGeom prst="rect">
            <a:avLst/>
          </a:prstGeom>
          <a:noFill/>
          <a:ln/>
        </p:spPr>
        <p:txBody>
          <a:bodyPr wrap="square" lIns="0" tIns="0" rIns="0" bIns="0" rtlCol="0" anchor="b"/>
          <a:lstStyle/>
          <a:p>
            <a:pPr indent="0" marL="0">
              <a:buNone/>
            </a:pPr>
            <a:r>
              <a:rPr lang="en-US" sz="7600" b="1" dirty="0">
                <a:solidFill>
                  <a:srgbClr val="E11D2E"/>
                </a:solidFill>
                <a:latin typeface="Pretendard" pitchFamily="34" charset="0"/>
                <a:ea typeface="Pretendard" pitchFamily="34" charset="-122"/>
                <a:cs typeface="Pretendard" pitchFamily="34" charset="-120"/>
              </a:rPr>
              <a:t>3</a:t>
            </a:r>
            <a:pPr indent="0" marL="0">
              <a:buNone/>
            </a:pPr>
            <a:r>
              <a:rPr lang="en-US" sz="2000" b="1" dirty="0">
                <a:solidFill>
                  <a:srgbClr val="FFFFFF"/>
                </a:solidFill>
                <a:latin typeface="Pretendard" pitchFamily="34" charset="0"/>
                <a:ea typeface="Pretendard" pitchFamily="34" charset="-122"/>
                <a:cs typeface="Pretendard" pitchFamily="34" charset="-120"/>
              </a:rPr>
              <a:t>명만 구매합니다.</a:t>
            </a:r>
            <a:endParaRPr lang="en-US" sz="7600" dirty="0"/>
          </a:p>
        </p:txBody>
      </p:sp>
      <p:sp>
        <p:nvSpPr>
          <p:cNvPr id="14" name="Text 11"/>
          <p:cNvSpPr txBox="1"/>
          <p:nvPr/>
        </p:nvSpPr>
        <p:spPr>
          <a:xfrm>
            <a:off x="7571232" y="4151376"/>
            <a:ext cx="3657600" cy="586232"/>
          </a:xfrm>
          <a:prstGeom prst="rect">
            <a:avLst/>
          </a:prstGeom>
          <a:noFill/>
          <a:ln/>
        </p:spPr>
        <p:txBody>
          <a:bodyPr wrap="square" lIns="0" tIns="0" rIns="0" bIns="0" rtlCol="0" anchor="t"/>
          <a:lstStyle/>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나머지 97명이 무엇을 보고 왜 돌아섰는지는</a:t>
            </a:r>
            <a:endParaRPr lang="en-US" sz="1150" dirty="0"/>
          </a:p>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매일 CCTV에 찍히고, 매일 그냥 삭제됩니다.</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BMC</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한 장으로 보는 L.GA 비즈니스 모델</a:t>
            </a:r>
            <a:endParaRPr lang="en-US" sz="2600" dirty="0"/>
          </a:p>
        </p:txBody>
      </p:sp>
      <p:sp>
        <p:nvSpPr>
          <p:cNvPr id="6" name="Text 3"/>
          <p:cNvSpPr txBox="1"/>
          <p:nvPr/>
        </p:nvSpPr>
        <p:spPr>
          <a:xfrm>
            <a:off x="1572768" y="932688"/>
            <a:ext cx="10049256" cy="5100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Step 1 가치 전달(01~05)을 먼저 확정하고, Step 2 효율적 운영(06~09)을 채웠습니다 — 다음 장에서 그룹 전략과의 정합성을 먼저 보겠습니다</a:t>
            </a:r>
            <a:endParaRPr lang="en-US" sz="1250" dirty="0"/>
          </a:p>
        </p:txBody>
      </p:sp>
      <p:sp>
        <p:nvSpPr>
          <p:cNvPr id="7" name="Shape 4"/>
          <p:cNvSpPr/>
          <p:nvPr/>
        </p:nvSpPr>
        <p:spPr>
          <a:xfrm>
            <a:off x="566928" y="1517904"/>
            <a:ext cx="2093976" cy="3273552"/>
          </a:xfrm>
          <a:prstGeom prst="roundRect">
            <a:avLst>
              <a:gd name="adj" fmla="val 2620"/>
            </a:avLst>
          </a:prstGeom>
          <a:solidFill>
            <a:srgbClr val="EFF3F8"/>
          </a:solidFill>
          <a:ln w="12700">
            <a:solidFill>
              <a:srgbClr val="E4E8EE"/>
            </a:solidFill>
            <a:prstDash val="solid"/>
          </a:ln>
        </p:spPr>
      </p:sp>
      <p:sp>
        <p:nvSpPr>
          <p:cNvPr id="8" name="Shape 5"/>
          <p:cNvSpPr/>
          <p:nvPr/>
        </p:nvSpPr>
        <p:spPr>
          <a:xfrm>
            <a:off x="694944" y="1636776"/>
            <a:ext cx="365760" cy="274320"/>
          </a:xfrm>
          <a:prstGeom prst="roundRect">
            <a:avLst>
              <a:gd name="adj" fmla="val 16667"/>
            </a:avLst>
          </a:prstGeom>
          <a:solidFill>
            <a:srgbClr val="0E1420"/>
          </a:solidFill>
          <a:ln/>
        </p:spPr>
      </p:sp>
      <p:sp>
        <p:nvSpPr>
          <p:cNvPr id="9" name="Text 6"/>
          <p:cNvSpPr txBox="1"/>
          <p:nvPr/>
        </p:nvSpPr>
        <p:spPr>
          <a:xfrm>
            <a:off x="69494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08</a:t>
            </a:r>
            <a:endParaRPr lang="en-US" sz="1000" dirty="0"/>
          </a:p>
        </p:txBody>
      </p:sp>
      <p:sp>
        <p:nvSpPr>
          <p:cNvPr id="10" name="Text 7"/>
          <p:cNvSpPr txBox="1"/>
          <p:nvPr/>
        </p:nvSpPr>
        <p:spPr>
          <a:xfrm>
            <a:off x="111556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파트너</a:t>
            </a:r>
            <a:endParaRPr lang="en-US" sz="1200" dirty="0"/>
          </a:p>
        </p:txBody>
      </p:sp>
      <p:sp>
        <p:nvSpPr>
          <p:cNvPr id="11" name="Text 8"/>
          <p:cNvSpPr txBox="1"/>
          <p:nvPr/>
        </p:nvSpPr>
        <p:spPr>
          <a:xfrm>
            <a:off x="69494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롯데백화점 · 롯데이노베이트 · 롯데멤버스 3사 합작</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비전 AI 엔진 벤더 (Build/Buy)</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VMD · 법무·DPO</a:t>
            </a:r>
            <a:endParaRPr lang="en-US" sz="1000" dirty="0"/>
          </a:p>
        </p:txBody>
      </p:sp>
      <p:sp>
        <p:nvSpPr>
          <p:cNvPr id="12" name="Shape 9"/>
          <p:cNvSpPr/>
          <p:nvPr/>
        </p:nvSpPr>
        <p:spPr>
          <a:xfrm>
            <a:off x="2807208" y="1517904"/>
            <a:ext cx="2093976" cy="1591056"/>
          </a:xfrm>
          <a:prstGeom prst="roundRect">
            <a:avLst>
              <a:gd name="adj" fmla="val 3448"/>
            </a:avLst>
          </a:prstGeom>
          <a:solidFill>
            <a:srgbClr val="EFF3F8"/>
          </a:solidFill>
          <a:ln w="12700">
            <a:solidFill>
              <a:srgbClr val="E4E8EE"/>
            </a:solidFill>
            <a:prstDash val="solid"/>
          </a:ln>
        </p:spPr>
      </p:sp>
      <p:sp>
        <p:nvSpPr>
          <p:cNvPr id="13" name="Shape 10"/>
          <p:cNvSpPr/>
          <p:nvPr/>
        </p:nvSpPr>
        <p:spPr>
          <a:xfrm>
            <a:off x="2935224" y="1636776"/>
            <a:ext cx="365760" cy="274320"/>
          </a:xfrm>
          <a:prstGeom prst="roundRect">
            <a:avLst>
              <a:gd name="adj" fmla="val 16667"/>
            </a:avLst>
          </a:prstGeom>
          <a:solidFill>
            <a:srgbClr val="0E1420"/>
          </a:solidFill>
          <a:ln/>
        </p:spPr>
      </p:sp>
      <p:sp>
        <p:nvSpPr>
          <p:cNvPr id="14" name="Text 11"/>
          <p:cNvSpPr txBox="1"/>
          <p:nvPr/>
        </p:nvSpPr>
        <p:spPr>
          <a:xfrm>
            <a:off x="293522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07</a:t>
            </a:r>
            <a:endParaRPr lang="en-US" sz="1000" dirty="0"/>
          </a:p>
        </p:txBody>
      </p:sp>
      <p:sp>
        <p:nvSpPr>
          <p:cNvPr id="15" name="Text 12"/>
          <p:cNvSpPr txBox="1"/>
          <p:nvPr/>
        </p:nvSpPr>
        <p:spPr>
          <a:xfrm>
            <a:off x="335584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활동</a:t>
            </a:r>
            <a:endParaRPr lang="en-US" sz="1200" dirty="0"/>
          </a:p>
        </p:txBody>
      </p:sp>
      <p:sp>
        <p:nvSpPr>
          <p:cNvPr id="16" name="Text 13"/>
          <p:cNvSpPr txBox="1"/>
          <p:nvPr/>
        </p:nvSpPr>
        <p:spPr>
          <a:xfrm>
            <a:off x="293522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엣지 추론 · 리포트 자동화</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인사이트 → 처방 → POS 검증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벤치마크 DB · 리타게팅 운영</a:t>
            </a:r>
            <a:endParaRPr lang="en-US" sz="1000" dirty="0"/>
          </a:p>
        </p:txBody>
      </p:sp>
      <p:sp>
        <p:nvSpPr>
          <p:cNvPr id="17" name="Shape 14"/>
          <p:cNvSpPr/>
          <p:nvPr/>
        </p:nvSpPr>
        <p:spPr>
          <a:xfrm>
            <a:off x="2807208" y="3200400"/>
            <a:ext cx="2093976" cy="1591056"/>
          </a:xfrm>
          <a:prstGeom prst="roundRect">
            <a:avLst>
              <a:gd name="adj" fmla="val 3448"/>
            </a:avLst>
          </a:prstGeom>
          <a:solidFill>
            <a:srgbClr val="EFF3F8"/>
          </a:solidFill>
          <a:ln w="12700">
            <a:solidFill>
              <a:srgbClr val="E4E8EE"/>
            </a:solidFill>
            <a:prstDash val="solid"/>
          </a:ln>
        </p:spPr>
      </p:sp>
      <p:sp>
        <p:nvSpPr>
          <p:cNvPr id="18" name="Shape 15"/>
          <p:cNvSpPr/>
          <p:nvPr/>
        </p:nvSpPr>
        <p:spPr>
          <a:xfrm>
            <a:off x="2935224" y="3319272"/>
            <a:ext cx="365760" cy="274320"/>
          </a:xfrm>
          <a:prstGeom prst="roundRect">
            <a:avLst>
              <a:gd name="adj" fmla="val 16667"/>
            </a:avLst>
          </a:prstGeom>
          <a:solidFill>
            <a:srgbClr val="0E1420"/>
          </a:solidFill>
          <a:ln/>
        </p:spPr>
      </p:sp>
      <p:sp>
        <p:nvSpPr>
          <p:cNvPr id="19" name="Text 16"/>
          <p:cNvSpPr txBox="1"/>
          <p:nvPr/>
        </p:nvSpPr>
        <p:spPr>
          <a:xfrm>
            <a:off x="293522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06</a:t>
            </a:r>
            <a:endParaRPr lang="en-US" sz="1000" dirty="0"/>
          </a:p>
        </p:txBody>
      </p:sp>
      <p:sp>
        <p:nvSpPr>
          <p:cNvPr id="20" name="Text 17"/>
          <p:cNvSpPr txBox="1"/>
          <p:nvPr/>
        </p:nvSpPr>
        <p:spPr>
          <a:xfrm>
            <a:off x="335584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자원</a:t>
            </a:r>
            <a:endParaRPr lang="en-US" sz="1200" dirty="0"/>
          </a:p>
        </p:txBody>
      </p:sp>
      <p:sp>
        <p:nvSpPr>
          <p:cNvPr id="21" name="Text 18"/>
          <p:cNvSpPr txBox="1"/>
          <p:nvPr/>
        </p:nvSpPr>
        <p:spPr>
          <a:xfrm>
            <a:off x="293522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기존 CCTV · 엣지박스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L.POINT · POS · 전점 트래픽 ★</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컨설턴트 14명 · CAPEX 11억</a:t>
            </a:r>
            <a:endParaRPr lang="en-US" sz="1000" dirty="0"/>
          </a:p>
        </p:txBody>
      </p:sp>
      <p:sp>
        <p:nvSpPr>
          <p:cNvPr id="22" name="Shape 19"/>
          <p:cNvSpPr/>
          <p:nvPr/>
        </p:nvSpPr>
        <p:spPr>
          <a:xfrm>
            <a:off x="5047488" y="1517904"/>
            <a:ext cx="2093976" cy="3273552"/>
          </a:xfrm>
          <a:prstGeom prst="roundRect">
            <a:avLst>
              <a:gd name="adj" fmla="val 2620"/>
            </a:avLst>
          </a:prstGeom>
          <a:solidFill>
            <a:srgbClr val="0E1420"/>
          </a:solidFill>
          <a:ln w="12700">
            <a:solidFill>
              <a:srgbClr val="0E1420"/>
            </a:solidFill>
            <a:prstDash val="solid"/>
          </a:ln>
        </p:spPr>
      </p:sp>
      <p:sp>
        <p:nvSpPr>
          <p:cNvPr id="23" name="Shape 20"/>
          <p:cNvSpPr/>
          <p:nvPr/>
        </p:nvSpPr>
        <p:spPr>
          <a:xfrm>
            <a:off x="5175504" y="1636776"/>
            <a:ext cx="365760" cy="274320"/>
          </a:xfrm>
          <a:prstGeom prst="roundRect">
            <a:avLst>
              <a:gd name="adj" fmla="val 16667"/>
            </a:avLst>
          </a:prstGeom>
          <a:solidFill>
            <a:srgbClr val="F5A623"/>
          </a:solidFill>
          <a:ln/>
        </p:spPr>
      </p:sp>
      <p:sp>
        <p:nvSpPr>
          <p:cNvPr id="24" name="Text 21"/>
          <p:cNvSpPr txBox="1"/>
          <p:nvPr/>
        </p:nvSpPr>
        <p:spPr>
          <a:xfrm>
            <a:off x="517550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0E1420"/>
                </a:solidFill>
                <a:latin typeface="Pretendard" pitchFamily="34" charset="0"/>
                <a:ea typeface="Pretendard" pitchFamily="34" charset="-122"/>
                <a:cs typeface="Pretendard" pitchFamily="34" charset="-120"/>
              </a:rPr>
              <a:t>02</a:t>
            </a:r>
            <a:endParaRPr lang="en-US" sz="1000" dirty="0"/>
          </a:p>
        </p:txBody>
      </p:sp>
      <p:sp>
        <p:nvSpPr>
          <p:cNvPr id="25" name="Text 22"/>
          <p:cNvSpPr txBox="1"/>
          <p:nvPr/>
        </p:nvSpPr>
        <p:spPr>
          <a:xfrm>
            <a:off x="559612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가치 제안</a:t>
            </a:r>
            <a:endParaRPr lang="en-US" sz="1200" dirty="0"/>
          </a:p>
        </p:txBody>
      </p:sp>
      <p:sp>
        <p:nvSpPr>
          <p:cNvPr id="26" name="Text 23"/>
          <p:cNvSpPr txBox="1"/>
          <p:nvPr/>
        </p:nvSpPr>
        <p:spPr>
          <a:xfrm>
            <a:off x="517550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브랜드가 모르는 자기 고객 — 신규 비율 · 미구매자 · 교차구매 · 이탈 SKU · 차기 출점</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처방이 통했는지 POS로 증명</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온라인 GA의 오프라인 구현</a:t>
            </a:r>
            <a:endParaRPr lang="en-US" sz="1000" dirty="0"/>
          </a:p>
        </p:txBody>
      </p:sp>
      <p:sp>
        <p:nvSpPr>
          <p:cNvPr id="27" name="Shape 24"/>
          <p:cNvSpPr/>
          <p:nvPr/>
        </p:nvSpPr>
        <p:spPr>
          <a:xfrm>
            <a:off x="7287768" y="1517904"/>
            <a:ext cx="2093976" cy="1591056"/>
          </a:xfrm>
          <a:prstGeom prst="roundRect">
            <a:avLst>
              <a:gd name="adj" fmla="val 3448"/>
            </a:avLst>
          </a:prstGeom>
          <a:solidFill>
            <a:srgbClr val="FCEDEE"/>
          </a:solidFill>
          <a:ln w="12700">
            <a:solidFill>
              <a:srgbClr val="E4E8EE"/>
            </a:solidFill>
            <a:prstDash val="solid"/>
          </a:ln>
        </p:spPr>
      </p:sp>
      <p:sp>
        <p:nvSpPr>
          <p:cNvPr id="28" name="Shape 25"/>
          <p:cNvSpPr/>
          <p:nvPr/>
        </p:nvSpPr>
        <p:spPr>
          <a:xfrm>
            <a:off x="7415784" y="1636776"/>
            <a:ext cx="365760" cy="274320"/>
          </a:xfrm>
          <a:prstGeom prst="roundRect">
            <a:avLst>
              <a:gd name="adj" fmla="val 16667"/>
            </a:avLst>
          </a:prstGeom>
          <a:solidFill>
            <a:srgbClr val="E11D2E"/>
          </a:solidFill>
          <a:ln/>
        </p:spPr>
      </p:sp>
      <p:sp>
        <p:nvSpPr>
          <p:cNvPr id="29" name="Text 26"/>
          <p:cNvSpPr txBox="1"/>
          <p:nvPr/>
        </p:nvSpPr>
        <p:spPr>
          <a:xfrm>
            <a:off x="741578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04</a:t>
            </a:r>
            <a:endParaRPr lang="en-US" sz="1000" dirty="0"/>
          </a:p>
        </p:txBody>
      </p:sp>
      <p:sp>
        <p:nvSpPr>
          <p:cNvPr id="30" name="Text 27"/>
          <p:cNvSpPr txBox="1"/>
          <p:nvPr/>
        </p:nvSpPr>
        <p:spPr>
          <a:xfrm>
            <a:off x="783640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관계</a:t>
            </a:r>
            <a:endParaRPr lang="en-US" sz="1200" dirty="0"/>
          </a:p>
        </p:txBody>
      </p:sp>
      <p:sp>
        <p:nvSpPr>
          <p:cNvPr id="31" name="Text 28"/>
          <p:cNvSpPr txBox="1"/>
          <p:nvPr/>
        </p:nvSpPr>
        <p:spPr>
          <a:xfrm>
            <a:off x="741578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파일럿 무상 → 검증 후 과금</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POS 검증 리포트 = 갱신 근거</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구독 · 컨설팅 · 리타게팅 업셀</a:t>
            </a:r>
            <a:endParaRPr lang="en-US" sz="1000" dirty="0"/>
          </a:p>
        </p:txBody>
      </p:sp>
      <p:sp>
        <p:nvSpPr>
          <p:cNvPr id="32" name="Shape 29"/>
          <p:cNvSpPr/>
          <p:nvPr/>
        </p:nvSpPr>
        <p:spPr>
          <a:xfrm>
            <a:off x="7287768" y="3200400"/>
            <a:ext cx="2093976" cy="1591056"/>
          </a:xfrm>
          <a:prstGeom prst="roundRect">
            <a:avLst>
              <a:gd name="adj" fmla="val 3448"/>
            </a:avLst>
          </a:prstGeom>
          <a:solidFill>
            <a:srgbClr val="FCEDEE"/>
          </a:solidFill>
          <a:ln w="12700">
            <a:solidFill>
              <a:srgbClr val="E4E8EE"/>
            </a:solidFill>
            <a:prstDash val="solid"/>
          </a:ln>
        </p:spPr>
      </p:sp>
      <p:sp>
        <p:nvSpPr>
          <p:cNvPr id="33" name="Shape 30"/>
          <p:cNvSpPr/>
          <p:nvPr/>
        </p:nvSpPr>
        <p:spPr>
          <a:xfrm>
            <a:off x="7415784" y="3319272"/>
            <a:ext cx="365760" cy="274320"/>
          </a:xfrm>
          <a:prstGeom prst="roundRect">
            <a:avLst>
              <a:gd name="adj" fmla="val 16667"/>
            </a:avLst>
          </a:prstGeom>
          <a:solidFill>
            <a:srgbClr val="E11D2E"/>
          </a:solidFill>
          <a:ln/>
        </p:spPr>
      </p:sp>
      <p:sp>
        <p:nvSpPr>
          <p:cNvPr id="34" name="Text 31"/>
          <p:cNvSpPr txBox="1"/>
          <p:nvPr/>
        </p:nvSpPr>
        <p:spPr>
          <a:xfrm>
            <a:off x="741578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03</a:t>
            </a:r>
            <a:endParaRPr lang="en-US" sz="1000" dirty="0"/>
          </a:p>
        </p:txBody>
      </p:sp>
      <p:sp>
        <p:nvSpPr>
          <p:cNvPr id="35" name="Text 32"/>
          <p:cNvSpPr txBox="1"/>
          <p:nvPr/>
        </p:nvSpPr>
        <p:spPr>
          <a:xfrm>
            <a:off x="783640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채널</a:t>
            </a:r>
            <a:endParaRPr lang="en-US" sz="1200" dirty="0"/>
          </a:p>
        </p:txBody>
      </p:sp>
      <p:sp>
        <p:nvSpPr>
          <p:cNvPr id="36" name="Text 33"/>
          <p:cNvSpPr txBox="1"/>
          <p:nvPr/>
        </p:nvSpPr>
        <p:spPr>
          <a:xfrm>
            <a:off x="741578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MD·영업관리 팝업 계약 번들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L.GA 포털 · 리포트 미팅</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계열사 → 해외 롯데몰 → 외부</a:t>
            </a:r>
            <a:endParaRPr lang="en-US" sz="1000" dirty="0"/>
          </a:p>
        </p:txBody>
      </p:sp>
      <p:sp>
        <p:nvSpPr>
          <p:cNvPr id="37" name="Shape 34"/>
          <p:cNvSpPr/>
          <p:nvPr/>
        </p:nvSpPr>
        <p:spPr>
          <a:xfrm>
            <a:off x="9528048" y="1517904"/>
            <a:ext cx="2093976" cy="3273552"/>
          </a:xfrm>
          <a:prstGeom prst="roundRect">
            <a:avLst>
              <a:gd name="adj" fmla="val 2620"/>
            </a:avLst>
          </a:prstGeom>
          <a:solidFill>
            <a:srgbClr val="FCEDEE"/>
          </a:solidFill>
          <a:ln w="12700">
            <a:solidFill>
              <a:srgbClr val="E4E8EE"/>
            </a:solidFill>
            <a:prstDash val="solid"/>
          </a:ln>
        </p:spPr>
      </p:sp>
      <p:sp>
        <p:nvSpPr>
          <p:cNvPr id="38" name="Shape 35"/>
          <p:cNvSpPr/>
          <p:nvPr/>
        </p:nvSpPr>
        <p:spPr>
          <a:xfrm>
            <a:off x="9656064" y="1636776"/>
            <a:ext cx="365760" cy="274320"/>
          </a:xfrm>
          <a:prstGeom prst="roundRect">
            <a:avLst>
              <a:gd name="adj" fmla="val 16667"/>
            </a:avLst>
          </a:prstGeom>
          <a:solidFill>
            <a:srgbClr val="E11D2E"/>
          </a:solidFill>
          <a:ln/>
        </p:spPr>
      </p:sp>
      <p:sp>
        <p:nvSpPr>
          <p:cNvPr id="39" name="Text 36"/>
          <p:cNvSpPr txBox="1"/>
          <p:nvPr/>
        </p:nvSpPr>
        <p:spPr>
          <a:xfrm>
            <a:off x="965606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01</a:t>
            </a:r>
            <a:endParaRPr lang="en-US" sz="1000" dirty="0"/>
          </a:p>
        </p:txBody>
      </p:sp>
      <p:sp>
        <p:nvSpPr>
          <p:cNvPr id="40" name="Text 37"/>
          <p:cNvSpPr txBox="1"/>
          <p:nvPr/>
        </p:nvSpPr>
        <p:spPr>
          <a:xfrm>
            <a:off x="1007668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세그먼트</a:t>
            </a:r>
            <a:endParaRPr lang="en-US" sz="1200" dirty="0"/>
          </a:p>
        </p:txBody>
      </p:sp>
      <p:sp>
        <p:nvSpPr>
          <p:cNvPr id="41" name="Text 38"/>
          <p:cNvSpPr txBox="1"/>
          <p:nvPr/>
        </p:nvSpPr>
        <p:spPr>
          <a:xfrm>
            <a:off x="965606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팝업 브랜드 (연 2,000건 가정)</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상설 입점 브랜드 매장</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내부 MD · 계열사 (첫 고객)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유통사 · 해외 (Phase 3)</a:t>
            </a:r>
            <a:endParaRPr lang="en-US" sz="1000" dirty="0"/>
          </a:p>
        </p:txBody>
      </p:sp>
      <p:sp>
        <p:nvSpPr>
          <p:cNvPr id="42" name="Shape 39"/>
          <p:cNvSpPr/>
          <p:nvPr/>
        </p:nvSpPr>
        <p:spPr>
          <a:xfrm>
            <a:off x="566928" y="4919472"/>
            <a:ext cx="5454396" cy="1207008"/>
          </a:xfrm>
          <a:prstGeom prst="roundRect">
            <a:avLst>
              <a:gd name="adj" fmla="val 4545"/>
            </a:avLst>
          </a:prstGeom>
          <a:solidFill>
            <a:srgbClr val="EFF3F8"/>
          </a:solidFill>
          <a:ln w="12700">
            <a:solidFill>
              <a:srgbClr val="E4E8EE"/>
            </a:solidFill>
            <a:prstDash val="solid"/>
          </a:ln>
        </p:spPr>
      </p:sp>
      <p:sp>
        <p:nvSpPr>
          <p:cNvPr id="43" name="Shape 40"/>
          <p:cNvSpPr/>
          <p:nvPr/>
        </p:nvSpPr>
        <p:spPr>
          <a:xfrm>
            <a:off x="694944" y="5038344"/>
            <a:ext cx="365760" cy="274320"/>
          </a:xfrm>
          <a:prstGeom prst="roundRect">
            <a:avLst>
              <a:gd name="adj" fmla="val 16667"/>
            </a:avLst>
          </a:prstGeom>
          <a:solidFill>
            <a:srgbClr val="0E1420"/>
          </a:solidFill>
          <a:ln/>
        </p:spPr>
      </p:sp>
      <p:sp>
        <p:nvSpPr>
          <p:cNvPr id="44" name="Text 41"/>
          <p:cNvSpPr txBox="1"/>
          <p:nvPr/>
        </p:nvSpPr>
        <p:spPr>
          <a:xfrm>
            <a:off x="6949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09</a:t>
            </a:r>
            <a:endParaRPr lang="en-US" sz="1000" dirty="0"/>
          </a:p>
        </p:txBody>
      </p:sp>
      <p:sp>
        <p:nvSpPr>
          <p:cNvPr id="45" name="Text 42"/>
          <p:cNvSpPr txBox="1"/>
          <p:nvPr/>
        </p:nvSpPr>
        <p:spPr>
          <a:xfrm>
            <a:off x="11155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비용 구조</a:t>
            </a:r>
            <a:endParaRPr lang="en-US" sz="1200" dirty="0"/>
          </a:p>
        </p:txBody>
      </p:sp>
      <p:sp>
        <p:nvSpPr>
          <p:cNvPr id="46" name="Text 43"/>
          <p:cNvSpPr txBox="1"/>
          <p:nvPr/>
        </p:nvSpPr>
        <p:spPr>
          <a:xfrm>
            <a:off x="6949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고정비: 인건비(컨설턴트) 중심 — Y3 판관비 53.7억</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변동비: 팝업 건당 75만 · 엣지로 클라우드 1/10 → GM 77%</a:t>
            </a:r>
            <a:endParaRPr lang="en-US" sz="1000" dirty="0"/>
          </a:p>
        </p:txBody>
      </p:sp>
      <p:sp>
        <p:nvSpPr>
          <p:cNvPr id="47" name="Shape 44"/>
          <p:cNvSpPr/>
          <p:nvPr/>
        </p:nvSpPr>
        <p:spPr>
          <a:xfrm>
            <a:off x="6167628" y="4919472"/>
            <a:ext cx="5454396" cy="1207008"/>
          </a:xfrm>
          <a:prstGeom prst="roundRect">
            <a:avLst>
              <a:gd name="adj" fmla="val 4545"/>
            </a:avLst>
          </a:prstGeom>
          <a:solidFill>
            <a:srgbClr val="FCEDEE"/>
          </a:solidFill>
          <a:ln w="12700">
            <a:solidFill>
              <a:srgbClr val="E4E8EE"/>
            </a:solidFill>
            <a:prstDash val="solid"/>
          </a:ln>
        </p:spPr>
      </p:sp>
      <p:sp>
        <p:nvSpPr>
          <p:cNvPr id="48" name="Shape 45"/>
          <p:cNvSpPr/>
          <p:nvPr/>
        </p:nvSpPr>
        <p:spPr>
          <a:xfrm>
            <a:off x="6295644" y="5038344"/>
            <a:ext cx="365760" cy="274320"/>
          </a:xfrm>
          <a:prstGeom prst="roundRect">
            <a:avLst>
              <a:gd name="adj" fmla="val 16667"/>
            </a:avLst>
          </a:prstGeom>
          <a:solidFill>
            <a:srgbClr val="E11D2E"/>
          </a:solidFill>
          <a:ln/>
        </p:spPr>
      </p:sp>
      <p:sp>
        <p:nvSpPr>
          <p:cNvPr id="49" name="Text 46"/>
          <p:cNvSpPr txBox="1"/>
          <p:nvPr/>
        </p:nvSpPr>
        <p:spPr>
          <a:xfrm>
            <a:off x="62956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05</a:t>
            </a:r>
            <a:endParaRPr lang="en-US" sz="1000" dirty="0"/>
          </a:p>
        </p:txBody>
      </p:sp>
      <p:sp>
        <p:nvSpPr>
          <p:cNvPr id="50" name="Text 47"/>
          <p:cNvSpPr txBox="1"/>
          <p:nvPr/>
        </p:nvSpPr>
        <p:spPr>
          <a:xfrm>
            <a:off x="67162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수익원</a:t>
            </a:r>
            <a:endParaRPr lang="en-US" sz="1200" dirty="0"/>
          </a:p>
        </p:txBody>
      </p:sp>
      <p:sp>
        <p:nvSpPr>
          <p:cNvPr id="51" name="Text 48"/>
          <p:cNvSpPr txBox="1"/>
          <p:nvPr/>
        </p:nvSpPr>
        <p:spPr>
          <a:xfrm>
            <a:off x="62956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팝업 패키지 320만 · 구독 월 45만 · 컨설팅 1,500만+성과 · 리타게팅 · 라이선스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FIT</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왜 롯데인가  |  그룹 전략과 핵심가치에 맞는 사업입니다</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신사업을 먼저 만들고 명분을 붙인 것이 아니라, 그룹이 가려는 방향에서 거꾸로 설계했습니다</a:t>
            </a:r>
            <a:endParaRPr lang="en-US" sz="1250" dirty="0"/>
          </a:p>
        </p:txBody>
      </p:sp>
      <p:sp>
        <p:nvSpPr>
          <p:cNvPr id="7" name="Shape 4"/>
          <p:cNvSpPr/>
          <p:nvPr/>
        </p:nvSpPr>
        <p:spPr>
          <a:xfrm>
            <a:off x="566928" y="1481328"/>
            <a:ext cx="3587496" cy="1801368"/>
          </a:xfrm>
          <a:prstGeom prst="roundRect">
            <a:avLst>
              <a:gd name="adj" fmla="val 3046"/>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그룹 비전</a:t>
            </a:r>
            <a:endParaRPr lang="en-US" sz="1100" dirty="0"/>
          </a:p>
        </p:txBody>
      </p:sp>
      <p:sp>
        <p:nvSpPr>
          <p:cNvPr id="9" name="Text 6"/>
          <p:cNvSpPr txBox="1"/>
          <p:nvPr/>
        </p:nvSpPr>
        <p:spPr>
          <a:xfrm>
            <a:off x="8412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Lifetime Value Creator</a:t>
            </a:r>
            <a:endParaRPr lang="en-US" sz="1800" dirty="0"/>
          </a:p>
        </p:txBody>
      </p:sp>
      <p:sp>
        <p:nvSpPr>
          <p:cNvPr id="10" name="Text 7"/>
          <p:cNvSpPr txBox="1"/>
          <p:nvPr/>
        </p:nvSpPr>
        <p:spPr>
          <a:xfrm>
            <a:off x="8412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고객의 '평생 가치'는 지금까지 결제한 순간에만 기록됐습니다. L.GA는 사지 않은 순간까지 가치로 바꿉니다.</a:t>
            </a:r>
            <a:endParaRPr lang="en-US" sz="1150" dirty="0"/>
          </a:p>
        </p:txBody>
      </p:sp>
      <p:sp>
        <p:nvSpPr>
          <p:cNvPr id="11" name="Shape 8"/>
          <p:cNvSpPr/>
          <p:nvPr/>
        </p:nvSpPr>
        <p:spPr>
          <a:xfrm>
            <a:off x="4300728" y="1481328"/>
            <a:ext cx="3587496" cy="1801368"/>
          </a:xfrm>
          <a:prstGeom prst="roundRect">
            <a:avLst>
              <a:gd name="adj" fmla="val 3046"/>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45750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경영 방침</a:t>
            </a:r>
            <a:endParaRPr lang="en-US" sz="1100" dirty="0"/>
          </a:p>
        </p:txBody>
      </p:sp>
      <p:sp>
        <p:nvSpPr>
          <p:cNvPr id="13" name="Text 10"/>
          <p:cNvSpPr txBox="1"/>
          <p:nvPr/>
        </p:nvSpPr>
        <p:spPr>
          <a:xfrm>
            <a:off x="45750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AI 트랜스포메이션</a:t>
            </a:r>
            <a:endParaRPr lang="en-US" sz="1800" dirty="0"/>
          </a:p>
        </p:txBody>
      </p:sp>
      <p:sp>
        <p:nvSpPr>
          <p:cNvPr id="14" name="Text 11"/>
          <p:cNvSpPr txBox="1"/>
          <p:nvPr/>
        </p:nvSpPr>
        <p:spPr>
          <a:xfrm>
            <a:off x="45750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새 인프라를 사는 사업이 아닙니다. 이미 깔려 있는 CCTV 위에 AI를 얹는 기존 자산의 AI 내재화 사례입니다.</a:t>
            </a:r>
            <a:endParaRPr lang="en-US" sz="1150" dirty="0"/>
          </a:p>
        </p:txBody>
      </p:sp>
      <p:sp>
        <p:nvSpPr>
          <p:cNvPr id="15" name="Shape 12"/>
          <p:cNvSpPr/>
          <p:nvPr/>
        </p:nvSpPr>
        <p:spPr>
          <a:xfrm>
            <a:off x="8034528" y="1481328"/>
            <a:ext cx="3587496" cy="1801368"/>
          </a:xfrm>
          <a:prstGeom prst="roundRect">
            <a:avLst>
              <a:gd name="adj" fmla="val 3046"/>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6" name="Text 13"/>
          <p:cNvSpPr txBox="1"/>
          <p:nvPr/>
        </p:nvSpPr>
        <p:spPr>
          <a:xfrm>
            <a:off x="83088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신성장 테마</a:t>
            </a:r>
            <a:endParaRPr lang="en-US" sz="1100" dirty="0"/>
          </a:p>
        </p:txBody>
      </p:sp>
      <p:sp>
        <p:nvSpPr>
          <p:cNvPr id="17" name="Text 14"/>
          <p:cNvSpPr txBox="1"/>
          <p:nvPr/>
        </p:nvSpPr>
        <p:spPr>
          <a:xfrm>
            <a:off x="83088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뉴라이프플랫폼</a:t>
            </a:r>
            <a:endParaRPr lang="en-US" sz="1800" dirty="0"/>
          </a:p>
        </p:txBody>
      </p:sp>
      <p:sp>
        <p:nvSpPr>
          <p:cNvPr id="18" name="Text 15"/>
          <p:cNvSpPr txBox="1"/>
          <p:nvPr/>
        </p:nvSpPr>
        <p:spPr>
          <a:xfrm>
            <a:off x="83088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상품을 파는 유통에서 데이터를 파는 플랫폼으로. 롯데 리테일 자산의 플랫폼화 그 자체입니다.</a:t>
            </a:r>
            <a:endParaRPr lang="en-US" sz="1150" dirty="0"/>
          </a:p>
        </p:txBody>
      </p:sp>
      <p:sp>
        <p:nvSpPr>
          <p:cNvPr id="19" name="Text 16"/>
          <p:cNvSpPr txBox="1"/>
          <p:nvPr/>
        </p:nvSpPr>
        <p:spPr>
          <a:xfrm>
            <a:off x="566928" y="3465576"/>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그룹 핵심가치 = 이 사업의 설계 원칙</a:t>
            </a:r>
            <a:endParaRPr lang="en-US" sz="1250" dirty="0"/>
          </a:p>
        </p:txBody>
      </p:sp>
      <p:sp>
        <p:nvSpPr>
          <p:cNvPr id="20" name="Text 17"/>
          <p:cNvSpPr txBox="1"/>
          <p:nvPr/>
        </p:nvSpPr>
        <p:spPr>
          <a:xfrm>
            <a:off x="6217920" y="3465576"/>
            <a:ext cx="540410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미션 · 사랑과 신뢰를 받는 제품과 서비스</a:t>
            </a:r>
            <a:endParaRPr lang="en-US" sz="1150" dirty="0"/>
          </a:p>
        </p:txBody>
      </p:sp>
      <p:sp>
        <p:nvSpPr>
          <p:cNvPr id="21" name="Shape 18"/>
          <p:cNvSpPr/>
          <p:nvPr/>
        </p:nvSpPr>
        <p:spPr>
          <a:xfrm>
            <a:off x="566928" y="3794760"/>
            <a:ext cx="2654046" cy="1629156"/>
          </a:xfrm>
          <a:prstGeom prst="roundRect">
            <a:avLst>
              <a:gd name="adj" fmla="val 3368"/>
            </a:avLst>
          </a:prstGeom>
          <a:solidFill>
            <a:srgbClr val="FCEDEE"/>
          </a:solidFill>
          <a:ln w="12700">
            <a:solidFill>
              <a:srgbClr val="FCEDEE"/>
            </a:solidFill>
            <a:prstDash val="solid"/>
          </a:ln>
        </p:spPr>
      </p:sp>
      <p:sp>
        <p:nvSpPr>
          <p:cNvPr id="22" name="Text 19"/>
          <p:cNvSpPr txBox="1"/>
          <p:nvPr/>
        </p:nvSpPr>
        <p:spPr>
          <a:xfrm>
            <a:off x="841248" y="4014216"/>
            <a:ext cx="2105406" cy="4084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Pretendard" pitchFamily="34" charset="0"/>
                <a:ea typeface="Pretendard" pitchFamily="34" charset="-122"/>
                <a:cs typeface="Pretendard" pitchFamily="34" charset="-120"/>
              </a:rPr>
              <a:t>Beyond Customer</a:t>
            </a:r>
            <a:endParaRPr lang="en-US" sz="1250" dirty="0"/>
          </a:p>
          <a:p>
            <a:pPr algn="l" indent="0" marL="0">
              <a:lnSpc>
                <a:spcPts val="1500"/>
              </a:lnSpc>
              <a:buNone/>
            </a:pPr>
            <a:r>
              <a:rPr lang="en-US" sz="1250" b="1" dirty="0">
                <a:solidFill>
                  <a:srgbClr val="0E1420"/>
                </a:solidFill>
                <a:latin typeface="Pretendard" pitchFamily="34" charset="0"/>
                <a:ea typeface="Pretendard" pitchFamily="34" charset="-122"/>
                <a:cs typeface="Pretendard" pitchFamily="34" charset="-120"/>
              </a:rPr>
              <a:t>Expectation</a:t>
            </a:r>
            <a:endParaRPr lang="en-US" sz="1250" dirty="0"/>
          </a:p>
        </p:txBody>
      </p:sp>
      <p:sp>
        <p:nvSpPr>
          <p:cNvPr id="23" name="Text 20"/>
          <p:cNvSpPr txBox="1"/>
          <p:nvPr/>
        </p:nvSpPr>
        <p:spPr>
          <a:xfrm>
            <a:off x="841248" y="45323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고객 기대 그 이상</a:t>
            </a:r>
            <a:endParaRPr lang="en-US" sz="1000" dirty="0"/>
          </a:p>
        </p:txBody>
      </p:sp>
      <p:sp>
        <p:nvSpPr>
          <p:cNvPr id="24" name="Text 21"/>
          <p:cNvSpPr txBox="1"/>
          <p:nvPr/>
        </p:nvSpPr>
        <p:spPr>
          <a:xfrm>
            <a:off x="841248" y="48417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리포트에서 멈추지 않습니다. 처방하고, POS로 증명까지 합니다.</a:t>
            </a:r>
            <a:endParaRPr lang="en-US" sz="1000" dirty="0"/>
          </a:p>
        </p:txBody>
      </p:sp>
      <p:sp>
        <p:nvSpPr>
          <p:cNvPr id="25" name="Shape 22"/>
          <p:cNvSpPr/>
          <p:nvPr/>
        </p:nvSpPr>
        <p:spPr>
          <a:xfrm>
            <a:off x="3367278" y="3794760"/>
            <a:ext cx="2654046" cy="1629156"/>
          </a:xfrm>
          <a:prstGeom prst="roundRect">
            <a:avLst>
              <a:gd name="adj" fmla="val 3368"/>
            </a:avLst>
          </a:prstGeom>
          <a:solidFill>
            <a:srgbClr val="FCEDEE"/>
          </a:solidFill>
          <a:ln w="12700">
            <a:solidFill>
              <a:srgbClr val="FCEDEE"/>
            </a:solidFill>
            <a:prstDash val="solid"/>
          </a:ln>
        </p:spPr>
      </p:sp>
      <p:sp>
        <p:nvSpPr>
          <p:cNvPr id="26" name="Text 23"/>
          <p:cNvSpPr txBox="1"/>
          <p:nvPr/>
        </p:nvSpPr>
        <p:spPr>
          <a:xfrm>
            <a:off x="364159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Pretendard" pitchFamily="34" charset="0"/>
                <a:ea typeface="Pretendard" pitchFamily="34" charset="-122"/>
                <a:cs typeface="Pretendard" pitchFamily="34" charset="-120"/>
              </a:rPr>
              <a:t>Challenge</a:t>
            </a:r>
            <a:endParaRPr lang="en-US" sz="1250" dirty="0"/>
          </a:p>
        </p:txBody>
      </p:sp>
      <p:sp>
        <p:nvSpPr>
          <p:cNvPr id="27" name="Text 24"/>
          <p:cNvSpPr txBox="1"/>
          <p:nvPr/>
        </p:nvSpPr>
        <p:spPr>
          <a:xfrm>
            <a:off x="364159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도전</a:t>
            </a:r>
            <a:endParaRPr lang="en-US" sz="1000" dirty="0"/>
          </a:p>
        </p:txBody>
      </p:sp>
      <p:sp>
        <p:nvSpPr>
          <p:cNvPr id="28" name="Text 25"/>
          <p:cNvSpPr txBox="1"/>
          <p:nvPr/>
        </p:nvSpPr>
        <p:spPr>
          <a:xfrm>
            <a:off x="3641598" y="46512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'사지 않은 고객'을 데이터화한 유통사는 아직 없습니다.</a:t>
            </a:r>
            <a:endParaRPr lang="en-US" sz="1000" dirty="0"/>
          </a:p>
        </p:txBody>
      </p:sp>
      <p:sp>
        <p:nvSpPr>
          <p:cNvPr id="29" name="Shape 26"/>
          <p:cNvSpPr/>
          <p:nvPr/>
        </p:nvSpPr>
        <p:spPr>
          <a:xfrm>
            <a:off x="6167628" y="3794760"/>
            <a:ext cx="2654046" cy="1629156"/>
          </a:xfrm>
          <a:prstGeom prst="roundRect">
            <a:avLst>
              <a:gd name="adj" fmla="val 3368"/>
            </a:avLst>
          </a:prstGeom>
          <a:solidFill>
            <a:srgbClr val="FCEDEE"/>
          </a:solidFill>
          <a:ln w="12700">
            <a:solidFill>
              <a:srgbClr val="FCEDEE"/>
            </a:solidFill>
            <a:prstDash val="solid"/>
          </a:ln>
        </p:spPr>
      </p:sp>
      <p:sp>
        <p:nvSpPr>
          <p:cNvPr id="30" name="Text 27"/>
          <p:cNvSpPr txBox="1"/>
          <p:nvPr/>
        </p:nvSpPr>
        <p:spPr>
          <a:xfrm>
            <a:off x="644194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Pretendard" pitchFamily="34" charset="0"/>
                <a:ea typeface="Pretendard" pitchFamily="34" charset="-122"/>
                <a:cs typeface="Pretendard" pitchFamily="34" charset="-120"/>
              </a:rPr>
              <a:t>Respect</a:t>
            </a:r>
            <a:endParaRPr lang="en-US" sz="1250" dirty="0"/>
          </a:p>
        </p:txBody>
      </p:sp>
      <p:sp>
        <p:nvSpPr>
          <p:cNvPr id="31" name="Text 28"/>
          <p:cNvSpPr txBox="1"/>
          <p:nvPr/>
        </p:nvSpPr>
        <p:spPr>
          <a:xfrm>
            <a:off x="644194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존중</a:t>
            </a:r>
            <a:endParaRPr lang="en-US" sz="1000" dirty="0"/>
          </a:p>
        </p:txBody>
      </p:sp>
      <p:sp>
        <p:nvSpPr>
          <p:cNvPr id="32" name="Text 29"/>
          <p:cNvSpPr txBox="1"/>
          <p:nvPr/>
        </p:nvSpPr>
        <p:spPr>
          <a:xfrm>
            <a:off x="6441948" y="4651248"/>
            <a:ext cx="210540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사람을 추적하지 않고 공간을 측정합니다. 동의 없이 개인을 연결하지 않습니다.</a:t>
            </a:r>
            <a:endParaRPr lang="en-US" sz="1000" dirty="0"/>
          </a:p>
        </p:txBody>
      </p:sp>
      <p:sp>
        <p:nvSpPr>
          <p:cNvPr id="33" name="Shape 30"/>
          <p:cNvSpPr/>
          <p:nvPr/>
        </p:nvSpPr>
        <p:spPr>
          <a:xfrm>
            <a:off x="8967978" y="3794760"/>
            <a:ext cx="2654046" cy="1629156"/>
          </a:xfrm>
          <a:prstGeom prst="roundRect">
            <a:avLst>
              <a:gd name="adj" fmla="val 3368"/>
            </a:avLst>
          </a:prstGeom>
          <a:solidFill>
            <a:srgbClr val="FCEDEE"/>
          </a:solidFill>
          <a:ln w="12700">
            <a:solidFill>
              <a:srgbClr val="FCEDEE"/>
            </a:solidFill>
            <a:prstDash val="solid"/>
          </a:ln>
        </p:spPr>
      </p:sp>
      <p:sp>
        <p:nvSpPr>
          <p:cNvPr id="34" name="Text 31"/>
          <p:cNvSpPr txBox="1"/>
          <p:nvPr/>
        </p:nvSpPr>
        <p:spPr>
          <a:xfrm>
            <a:off x="924229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Pretendard" pitchFamily="34" charset="0"/>
                <a:ea typeface="Pretendard" pitchFamily="34" charset="-122"/>
                <a:cs typeface="Pretendard" pitchFamily="34" charset="-120"/>
              </a:rPr>
              <a:t>Originality</a:t>
            </a:r>
            <a:endParaRPr lang="en-US" sz="1250" dirty="0"/>
          </a:p>
        </p:txBody>
      </p:sp>
      <p:sp>
        <p:nvSpPr>
          <p:cNvPr id="35" name="Text 32"/>
          <p:cNvSpPr txBox="1"/>
          <p:nvPr/>
        </p:nvSpPr>
        <p:spPr>
          <a:xfrm>
            <a:off x="924229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독창성</a:t>
            </a:r>
            <a:endParaRPr lang="en-US" sz="1000" dirty="0"/>
          </a:p>
        </p:txBody>
      </p:sp>
      <p:sp>
        <p:nvSpPr>
          <p:cNvPr id="36" name="Text 33"/>
          <p:cNvSpPr txBox="1"/>
          <p:nvPr/>
        </p:nvSpPr>
        <p:spPr>
          <a:xfrm>
            <a:off x="9242298" y="46512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GA를 옮기지 않고, 오프라인 고유 지표로 다시 정의했습니다.</a:t>
            </a:r>
            <a:endParaRPr lang="en-US" sz="1000" dirty="0"/>
          </a:p>
        </p:txBody>
      </p:sp>
      <p:sp>
        <p:nvSpPr>
          <p:cNvPr id="37" name="Shape 34"/>
          <p:cNvSpPr/>
          <p:nvPr/>
        </p:nvSpPr>
        <p:spPr>
          <a:xfrm>
            <a:off x="566928" y="5358384"/>
            <a:ext cx="11055096" cy="749808"/>
          </a:xfrm>
          <a:prstGeom prst="roundRect">
            <a:avLst>
              <a:gd name="adj" fmla="val 7317"/>
            </a:avLst>
          </a:prstGeom>
          <a:solidFill>
            <a:srgbClr val="0E1420"/>
          </a:solidFill>
          <a:ln/>
        </p:spPr>
      </p:sp>
      <p:sp>
        <p:nvSpPr>
          <p:cNvPr id="38" name="Text 35"/>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롯데가 '할 수 있는' 신사업이 아니라,  롯데만 할 수 있고 롯데의 약속에 맞는 신사업입니다.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01</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세그먼트  |  우리의 타겟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성과 측정 니즈가 가장 절박한 곳부터,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2698982"/>
          </a:xfrm>
          <a:prstGeom prst="roundRect">
            <a:avLst>
              <a:gd name="adj" fmla="val 203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1차 · 핵심</a:t>
            </a:r>
            <a:endParaRPr lang="en-US" sz="1100" dirty="0"/>
          </a:p>
        </p:txBody>
      </p:sp>
      <p:sp>
        <p:nvSpPr>
          <p:cNvPr id="10" name="Text 7"/>
          <p:cNvSpPr txBox="1"/>
          <p:nvPr/>
        </p:nvSpPr>
        <p:spPr>
          <a:xfrm>
            <a:off x="8412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 팝업 브랜드</a:t>
            </a:r>
            <a:endParaRPr lang="en-US" sz="1800" dirty="0"/>
          </a:p>
        </p:txBody>
      </p:sp>
      <p:sp>
        <p:nvSpPr>
          <p:cNvPr id="11" name="Text 8"/>
          <p:cNvSpPr txBox="1"/>
          <p:nvPr/>
        </p:nvSpPr>
        <p:spPr>
          <a:xfrm>
            <a:off x="841248" y="2433828"/>
            <a:ext cx="3038856" cy="1043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백화점·몰·아울렛에 팝업을 여는 브랜드. 특히 정규 입점을 노리는 D2C·신생 브랜드.</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연 약 2,000건 (가정)</a:t>
            </a:r>
            <a:endParaRPr lang="en-US" sz="1300" dirty="0"/>
          </a:p>
        </p:txBody>
      </p:sp>
      <p:sp>
        <p:nvSpPr>
          <p:cNvPr id="12" name="Shape 9"/>
          <p:cNvSpPr/>
          <p:nvPr/>
        </p:nvSpPr>
        <p:spPr>
          <a:xfrm>
            <a:off x="43007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2차 · 리커링</a:t>
            </a:r>
            <a:endParaRPr lang="en-US" sz="1100" dirty="0"/>
          </a:p>
        </p:txBody>
      </p:sp>
      <p:sp>
        <p:nvSpPr>
          <p:cNvPr id="14" name="Text 11"/>
          <p:cNvSpPr txBox="1"/>
          <p:nvPr/>
        </p:nvSpPr>
        <p:spPr>
          <a:xfrm>
            <a:off x="45750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상설 입점 브랜드 매장</a:t>
            </a:r>
            <a:endParaRPr lang="en-US" sz="1800" dirty="0"/>
          </a:p>
        </p:txBody>
      </p:sp>
      <p:sp>
        <p:nvSpPr>
          <p:cNvPr id="15" name="Text 12"/>
          <p:cNvSpPr txBox="1"/>
          <p:nvPr/>
        </p:nvSpPr>
        <p:spPr>
          <a:xfrm>
            <a:off x="4575048" y="2433828"/>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팝업에서 검증된 브랜드가 정규 매장을 열 때 월 구독으로 전환</a:t>
            </a:r>
            <a:endParaRPr lang="en-US" sz="1300" dirty="0"/>
          </a:p>
        </p:txBody>
      </p:sp>
      <p:sp>
        <p:nvSpPr>
          <p:cNvPr id="16" name="Shape 13"/>
          <p:cNvSpPr/>
          <p:nvPr/>
        </p:nvSpPr>
        <p:spPr>
          <a:xfrm>
            <a:off x="80345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0차 · 첫 고객</a:t>
            </a:r>
            <a:endParaRPr lang="en-US" sz="1100" dirty="0"/>
          </a:p>
        </p:txBody>
      </p:sp>
      <p:sp>
        <p:nvSpPr>
          <p:cNvPr id="18" name="Text 15"/>
          <p:cNvSpPr txBox="1"/>
          <p:nvPr/>
        </p:nvSpPr>
        <p:spPr>
          <a:xfrm>
            <a:off x="83088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롯데 내부 MD · 계열사</a:t>
            </a:r>
            <a:endParaRPr lang="en-US" sz="1800" dirty="0"/>
          </a:p>
        </p:txBody>
      </p:sp>
      <p:sp>
        <p:nvSpPr>
          <p:cNvPr id="19" name="Text 16"/>
          <p:cNvSpPr txBox="1"/>
          <p:nvPr/>
        </p:nvSpPr>
        <p:spPr>
          <a:xfrm>
            <a:off x="8308848" y="2433828"/>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백화점이 자기 매장 최적화를 위해 먼저 쓴다. 매출 0원, 대신 데이터와 레퍼런스</a:t>
            </a:r>
            <a:endParaRPr lang="en-US" sz="1300" dirty="0"/>
          </a:p>
        </p:txBody>
      </p:sp>
      <p:sp>
        <p:nvSpPr>
          <p:cNvPr id="20" name="Text 17"/>
          <p:cNvSpPr txBox="1"/>
          <p:nvPr/>
        </p:nvSpPr>
        <p:spPr>
          <a:xfrm>
            <a:off x="566928" y="4363190"/>
            <a:ext cx="2743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이들의 Pain</a:t>
            </a:r>
            <a:endParaRPr lang="en-US" sz="1250" dirty="0"/>
          </a:p>
        </p:txBody>
      </p:sp>
      <p:sp>
        <p:nvSpPr>
          <p:cNvPr id="21" name="Shape 18"/>
          <p:cNvSpPr/>
          <p:nvPr/>
        </p:nvSpPr>
        <p:spPr>
          <a:xfrm>
            <a:off x="566928" y="4692374"/>
            <a:ext cx="3587496" cy="1251226"/>
          </a:xfrm>
          <a:prstGeom prst="roundRect">
            <a:avLst>
              <a:gd name="adj" fmla="val 4385"/>
            </a:avLst>
          </a:prstGeom>
          <a:solidFill>
            <a:srgbClr val="FCEDEE"/>
          </a:solidFill>
          <a:ln w="12700">
            <a:solidFill>
              <a:srgbClr val="FCEDEE"/>
            </a:solidFill>
            <a:prstDash val="solid"/>
          </a:ln>
        </p:spPr>
      </p:sp>
      <p:sp>
        <p:nvSpPr>
          <p:cNvPr id="22" name="Text 19"/>
          <p:cNvSpPr txBox="1"/>
          <p:nvPr/>
        </p:nvSpPr>
        <p:spPr>
          <a:xfrm>
            <a:off x="7863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1</a:t>
            </a:r>
            <a:endParaRPr lang="en-US" sz="2600" dirty="0"/>
          </a:p>
        </p:txBody>
      </p:sp>
      <p:sp>
        <p:nvSpPr>
          <p:cNvPr id="23" name="Text 20"/>
          <p:cNvSpPr txBox="1"/>
          <p:nvPr/>
        </p:nvSpPr>
        <p:spPr>
          <a:xfrm>
            <a:off x="12984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팝업이 끝나면 손에 쥐는 건 매출 총액과 인스타 해시태그 개수뿐</a:t>
            </a:r>
            <a:endParaRPr lang="en-US" sz="1150" dirty="0"/>
          </a:p>
        </p:txBody>
      </p:sp>
      <p:sp>
        <p:nvSpPr>
          <p:cNvPr id="24" name="Shape 21"/>
          <p:cNvSpPr/>
          <p:nvPr/>
        </p:nvSpPr>
        <p:spPr>
          <a:xfrm>
            <a:off x="4300728" y="4692374"/>
            <a:ext cx="3587496" cy="1251226"/>
          </a:xfrm>
          <a:prstGeom prst="roundRect">
            <a:avLst>
              <a:gd name="adj" fmla="val 4385"/>
            </a:avLst>
          </a:prstGeom>
          <a:solidFill>
            <a:srgbClr val="FCEDEE"/>
          </a:solidFill>
          <a:ln w="12700">
            <a:solidFill>
              <a:srgbClr val="FCEDEE"/>
            </a:solidFill>
            <a:prstDash val="solid"/>
          </a:ln>
        </p:spPr>
      </p:sp>
      <p:sp>
        <p:nvSpPr>
          <p:cNvPr id="25" name="Text 22"/>
          <p:cNvSpPr txBox="1"/>
          <p:nvPr/>
        </p:nvSpPr>
        <p:spPr>
          <a:xfrm>
            <a:off x="45201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2</a:t>
            </a:r>
            <a:endParaRPr lang="en-US" sz="2600" dirty="0"/>
          </a:p>
        </p:txBody>
      </p:sp>
      <p:sp>
        <p:nvSpPr>
          <p:cNvPr id="26" name="Text 23"/>
          <p:cNvSpPr txBox="1"/>
          <p:nvPr/>
        </p:nvSpPr>
        <p:spPr>
          <a:xfrm>
            <a:off x="50322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온 사람 중 신규가 몇 %인지, 안 산 사람이 누구인지 모른다</a:t>
            </a:r>
            <a:endParaRPr lang="en-US" sz="1150" dirty="0"/>
          </a:p>
        </p:txBody>
      </p:sp>
      <p:sp>
        <p:nvSpPr>
          <p:cNvPr id="27" name="Shape 24"/>
          <p:cNvSpPr/>
          <p:nvPr/>
        </p:nvSpPr>
        <p:spPr>
          <a:xfrm>
            <a:off x="8034528" y="4692374"/>
            <a:ext cx="3587496" cy="1251226"/>
          </a:xfrm>
          <a:prstGeom prst="roundRect">
            <a:avLst>
              <a:gd name="adj" fmla="val 4385"/>
            </a:avLst>
          </a:prstGeom>
          <a:solidFill>
            <a:srgbClr val="FCEDEE"/>
          </a:solidFill>
          <a:ln w="12700">
            <a:solidFill>
              <a:srgbClr val="FCEDEE"/>
            </a:solidFill>
            <a:prstDash val="solid"/>
          </a:ln>
        </p:spPr>
      </p:sp>
      <p:sp>
        <p:nvSpPr>
          <p:cNvPr id="28" name="Text 25"/>
          <p:cNvSpPr txBox="1"/>
          <p:nvPr/>
        </p:nvSpPr>
        <p:spPr>
          <a:xfrm>
            <a:off x="82539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3</a:t>
            </a:r>
            <a:endParaRPr lang="en-US" sz="2600" dirty="0"/>
          </a:p>
        </p:txBody>
      </p:sp>
      <p:sp>
        <p:nvSpPr>
          <p:cNvPr id="29" name="Text 26"/>
          <p:cNvSpPr txBox="1"/>
          <p:nvPr/>
        </p:nvSpPr>
        <p:spPr>
          <a:xfrm>
            <a:off x="87660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그래서 다음 팝업도 감으로 연다</a:t>
            </a:r>
            <a:endParaRPr lang="en-US" sz="1150" dirty="0"/>
          </a:p>
        </p:txBody>
      </p:sp>
      <p:sp>
        <p:nvSpPr>
          <p:cNvPr id="30" name="Text 2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Beyond Customer Expectation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Pretendard" pitchFamily="34" charset="0"/>
                <a:ea typeface="Pretendard" pitchFamily="34" charset="-122"/>
                <a:cs typeface="Pretendard" pitchFamily="34" charset="-120"/>
              </a:rPr>
              <a:t>가치 제안  |  브랜드가 모르는 자기 고객</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Pretendard" pitchFamily="34" charset="0"/>
                <a:ea typeface="Pretendard" pitchFamily="34" charset="-122"/>
                <a:cs typeface="Pretendard" pitchFamily="34" charset="-120"/>
              </a:rPr>
              <a:t>팝업이 끝나면 브랜드에게 드리는 다섯 가지 — 스스로는 절대 알 수 없는 답</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가치 제안  |  처방의 효과를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경쟁사는 결제 데이터가 없어 자기 처방이 통했는지 증명할 수 없습니다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효과를 증명 못 하는 컨설팅은</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Pretendard" pitchFamily="34" charset="0"/>
                <a:ea typeface="Pretendard" pitchFamily="34" charset="-122"/>
                <a:cs typeface="Pretendard"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Pretendard" pitchFamily="34" charset="0"/>
                <a:ea typeface="Pretendard" pitchFamily="34" charset="-122"/>
                <a:cs typeface="Pretendard"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노출  →  </a:t>
            </a:r>
            <a:pPr indent="0" marL="0">
              <a:buNone/>
            </a:pPr>
            <a:r>
              <a:rPr lang="en-US" sz="1150" b="1" dirty="0">
                <a:solidFill>
                  <a:srgbClr val="0E1420"/>
                </a:solidFill>
                <a:latin typeface="Pretendard" pitchFamily="34" charset="0"/>
                <a:ea typeface="Pretendard" pitchFamily="34" charset="-122"/>
                <a:cs typeface="Pretendard"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클릭률  →  </a:t>
            </a:r>
            <a:pPr indent="0" marL="0">
              <a:buNone/>
            </a:pPr>
            <a:r>
              <a:rPr lang="en-US" sz="1150" b="1" dirty="0">
                <a:solidFill>
                  <a:srgbClr val="E11D2E"/>
                </a:solidFill>
                <a:latin typeface="Pretendard" pitchFamily="34" charset="0"/>
                <a:ea typeface="Pretendard" pitchFamily="34" charset="-122"/>
                <a:cs typeface="Pretendard"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장바구니  →  </a:t>
            </a:r>
            <a:pPr indent="0" marL="0">
              <a:buNone/>
            </a:pPr>
            <a:r>
              <a:rPr lang="en-US" sz="1150" b="1" dirty="0">
                <a:solidFill>
                  <a:srgbClr val="0E1420"/>
                </a:solidFill>
                <a:latin typeface="Pretendard" pitchFamily="34" charset="0"/>
                <a:ea typeface="Pretendard" pitchFamily="34" charset="-122"/>
                <a:cs typeface="Pretendard"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구매  →  </a:t>
            </a:r>
            <a:pPr indent="0" marL="0">
              <a:buNone/>
            </a:pPr>
            <a:r>
              <a:rPr lang="en-US" sz="1150" b="1" dirty="0">
                <a:solidFill>
                  <a:srgbClr val="0E1420"/>
                </a:solidFill>
                <a:latin typeface="Pretendard" pitchFamily="34" charset="0"/>
                <a:ea typeface="Pretendard" pitchFamily="34" charset="-122"/>
                <a:cs typeface="Pretendard"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이탈률  →  </a:t>
            </a:r>
            <a:pPr indent="0" marL="0">
              <a:buNone/>
            </a:pPr>
            <a:r>
              <a:rPr lang="en-US" sz="1150" b="1" dirty="0">
                <a:solidFill>
                  <a:srgbClr val="0E1420"/>
                </a:solidFill>
                <a:latin typeface="Pretendard" pitchFamily="34" charset="0"/>
                <a:ea typeface="Pretendard" pitchFamily="34" charset="-122"/>
                <a:cs typeface="Pretendard"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03</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채널  |  고객에게 어떻게 접근하는가?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외부 영업이 아니라 계약 시점에 팔립니다 —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1033272"/>
          </a:xfrm>
          <a:prstGeom prst="roundRect">
            <a:avLst>
              <a:gd name="adj" fmla="val 5310"/>
            </a:avLst>
          </a:prstGeom>
          <a:solidFill>
            <a:srgbClr val="0E1420"/>
          </a:solidFill>
          <a:ln w="12700">
            <a:solidFill>
              <a:srgbClr val="0E1420"/>
            </a:solidFill>
            <a:prstDash val="solid"/>
          </a:ln>
        </p:spPr>
      </p:sp>
      <p:sp>
        <p:nvSpPr>
          <p:cNvPr id="9" name="Text 6"/>
          <p:cNvSpPr txBox="1"/>
          <p:nvPr/>
        </p:nvSpPr>
        <p:spPr>
          <a:xfrm>
            <a:off x="877824" y="1481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영업 채널 · 내부</a:t>
            </a:r>
            <a:endParaRPr lang="en-US" sz="1300" dirty="0"/>
          </a:p>
        </p:txBody>
      </p:sp>
      <p:sp>
        <p:nvSpPr>
          <p:cNvPr id="10" name="Text 7"/>
          <p:cNvSpPr txBox="1"/>
          <p:nvPr/>
        </p:nvSpPr>
        <p:spPr>
          <a:xfrm>
            <a:off x="3840480" y="1726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백화점 MD·영업관리팀이 팝업 계약 체결 시 번들 제안</a:t>
            </a:r>
            <a:endParaRPr lang="en-US" sz="1300" dirty="0"/>
          </a:p>
        </p:txBody>
      </p:sp>
      <p:sp>
        <p:nvSpPr>
          <p:cNvPr id="11" name="Text 8"/>
          <p:cNvSpPr txBox="1"/>
          <p:nvPr/>
        </p:nvSpPr>
        <p:spPr>
          <a:xfrm>
            <a:off x="3840480" y="2053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AEB8C7"/>
                </a:solidFill>
                <a:latin typeface="Pretendard" pitchFamily="34" charset="0"/>
                <a:ea typeface="Pretendard" pitchFamily="34" charset="-122"/>
                <a:cs typeface="Pretendard" pitchFamily="34" charset="-120"/>
              </a:rPr>
              <a:t>외부 영업비용 ≈ 0.  계약 시점 = 판매 시점</a:t>
            </a:r>
            <a:endParaRPr lang="en-US" sz="1100" dirty="0"/>
          </a:p>
        </p:txBody>
      </p:sp>
      <p:sp>
        <p:nvSpPr>
          <p:cNvPr id="12" name="Shape 9"/>
          <p:cNvSpPr/>
          <p:nvPr/>
        </p:nvSpPr>
        <p:spPr>
          <a:xfrm>
            <a:off x="566928" y="2624328"/>
            <a:ext cx="11055096" cy="1033272"/>
          </a:xfrm>
          <a:prstGeom prst="roundRect">
            <a:avLst>
              <a:gd name="adj" fmla="val 5310"/>
            </a:avLst>
          </a:prstGeom>
          <a:solidFill>
            <a:srgbClr val="FFFFFF"/>
          </a:solidFill>
          <a:ln w="12700">
            <a:solidFill>
              <a:srgbClr val="E4E8EE"/>
            </a:solidFill>
            <a:prstDash val="solid"/>
          </a:ln>
        </p:spPr>
      </p:sp>
      <p:sp>
        <p:nvSpPr>
          <p:cNvPr id="13" name="Text 10"/>
          <p:cNvSpPr txBox="1"/>
          <p:nvPr/>
        </p:nvSpPr>
        <p:spPr>
          <a:xfrm>
            <a:off x="877824" y="2624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제품 채널</a:t>
            </a:r>
            <a:endParaRPr lang="en-US" sz="1300" dirty="0"/>
          </a:p>
        </p:txBody>
      </p:sp>
      <p:sp>
        <p:nvSpPr>
          <p:cNvPr id="14" name="Text 11"/>
          <p:cNvSpPr txBox="1"/>
          <p:nvPr/>
        </p:nvSpPr>
        <p:spPr>
          <a:xfrm>
            <a:off x="3840480" y="2869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L.GA 브랜드 포털(대시보드) + 팝업 종료 7일 내 컨설턴트 리포트 미팅</a:t>
            </a:r>
            <a:endParaRPr lang="en-US" sz="1300" dirty="0"/>
          </a:p>
        </p:txBody>
      </p:sp>
      <p:sp>
        <p:nvSpPr>
          <p:cNvPr id="15" name="Text 12"/>
          <p:cNvSpPr txBox="1"/>
          <p:nvPr/>
        </p:nvSpPr>
        <p:spPr>
          <a:xfrm>
            <a:off x="3840480" y="3196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리포트를 던지지 않고, 설명합니다</a:t>
            </a:r>
            <a:endParaRPr lang="en-US" sz="1100" dirty="0"/>
          </a:p>
        </p:txBody>
      </p:sp>
      <p:sp>
        <p:nvSpPr>
          <p:cNvPr id="16" name="Shape 13"/>
          <p:cNvSpPr/>
          <p:nvPr/>
        </p:nvSpPr>
        <p:spPr>
          <a:xfrm>
            <a:off x="566928" y="3767328"/>
            <a:ext cx="11055096" cy="1033272"/>
          </a:xfrm>
          <a:prstGeom prst="roundRect">
            <a:avLst>
              <a:gd name="adj" fmla="val 5310"/>
            </a:avLst>
          </a:prstGeom>
          <a:solidFill>
            <a:srgbClr val="F7F8FA"/>
          </a:solidFill>
          <a:ln w="12700">
            <a:solidFill>
              <a:srgbClr val="E4E8EE"/>
            </a:solidFill>
            <a:prstDash val="solid"/>
          </a:ln>
        </p:spPr>
      </p:sp>
      <p:sp>
        <p:nvSpPr>
          <p:cNvPr id="17" name="Text 14"/>
          <p:cNvSpPr txBox="1"/>
          <p:nvPr/>
        </p:nvSpPr>
        <p:spPr>
          <a:xfrm>
            <a:off x="877824" y="3767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확산 채널</a:t>
            </a:r>
            <a:endParaRPr lang="en-US" sz="1300" dirty="0"/>
          </a:p>
        </p:txBody>
      </p:sp>
      <p:sp>
        <p:nvSpPr>
          <p:cNvPr id="18" name="Text 15"/>
          <p:cNvSpPr txBox="1"/>
          <p:nvPr/>
        </p:nvSpPr>
        <p:spPr>
          <a:xfrm>
            <a:off x="3840480" y="4012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롯데 계열사(마트·하이마트·시네마·면세) → 해외 롯데몰 → 외부 유통사</a:t>
            </a:r>
            <a:endParaRPr lang="en-US" sz="1300" dirty="0"/>
          </a:p>
        </p:txBody>
      </p:sp>
      <p:sp>
        <p:nvSpPr>
          <p:cNvPr id="19" name="Text 16"/>
          <p:cNvSpPr txBox="1"/>
          <p:nvPr/>
        </p:nvSpPr>
        <p:spPr>
          <a:xfrm>
            <a:off x="3840480" y="4339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레퍼런스가 쌓인 뒤에 밖으로</a:t>
            </a:r>
            <a:endParaRPr lang="en-US" sz="1100" dirty="0"/>
          </a:p>
        </p:txBody>
      </p:sp>
      <p:sp>
        <p:nvSpPr>
          <p:cNvPr id="20" name="Shape 17"/>
          <p:cNvSpPr/>
          <p:nvPr/>
        </p:nvSpPr>
        <p:spPr>
          <a:xfrm>
            <a:off x="566928" y="4910328"/>
            <a:ext cx="11055096" cy="1033272"/>
          </a:xfrm>
          <a:prstGeom prst="roundRect">
            <a:avLst>
              <a:gd name="adj" fmla="val 5310"/>
            </a:avLst>
          </a:prstGeom>
          <a:solidFill>
            <a:srgbClr val="FFFFFF"/>
          </a:solidFill>
          <a:ln w="12700">
            <a:solidFill>
              <a:srgbClr val="E4E8EE"/>
            </a:solidFill>
            <a:prstDash val="solid"/>
          </a:ln>
        </p:spPr>
      </p:sp>
      <p:sp>
        <p:nvSpPr>
          <p:cNvPr id="21" name="Text 18"/>
          <p:cNvSpPr txBox="1"/>
          <p:nvPr/>
        </p:nvSpPr>
        <p:spPr>
          <a:xfrm>
            <a:off x="877824" y="4910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도달 채널 · 고객의 고객</a:t>
            </a:r>
            <a:endParaRPr lang="en-US" sz="1300" dirty="0"/>
          </a:p>
        </p:txBody>
      </p:sp>
      <p:sp>
        <p:nvSpPr>
          <p:cNvPr id="22" name="Text 19"/>
          <p:cNvSpPr txBox="1"/>
          <p:nvPr/>
        </p:nvSpPr>
        <p:spPr>
          <a:xfrm>
            <a:off x="3840480" y="5155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L.POINT 앱 푸시 · 사이니지 · 키오스크</a:t>
            </a:r>
            <a:endParaRPr lang="en-US" sz="1300" dirty="0"/>
          </a:p>
        </p:txBody>
      </p:sp>
      <p:sp>
        <p:nvSpPr>
          <p:cNvPr id="23" name="Text 20"/>
          <p:cNvSpPr txBox="1"/>
          <p:nvPr/>
        </p:nvSpPr>
        <p:spPr>
          <a:xfrm>
            <a:off x="3840480" y="5482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인사이트를 실행(리타게팅)으로 연결</a:t>
            </a:r>
            <a:endParaRPr lang="en-US" sz="11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관계  |  어떻게 확보·유지·성장시킬 것인가?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증명이 갱신의 근거입니다 — 리텐션 엔진</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확보  Acquire</a:t>
            </a:r>
            <a:endParaRPr lang="en-US" sz="1800" dirty="0"/>
          </a:p>
        </p:txBody>
      </p:sp>
      <p:sp>
        <p:nvSpPr>
          <p:cNvPr id="10" name="Text 7"/>
          <p:cNvSpPr txBox="1"/>
          <p:nvPr/>
        </p:nvSpPr>
        <p:spPr>
          <a:xfrm>
            <a:off x="841248" y="2117344"/>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Phase 0: 롯데 내부 도입 (매출 0, 데이터 확보)</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파일럿 3건 무상 제공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계약 시 번들 → 검증 후 과금</a:t>
            </a:r>
            <a:endParaRPr lang="en-US" sz="1300" dirty="0"/>
          </a:p>
        </p:txBody>
      </p:sp>
      <p:sp>
        <p:nvSpPr>
          <p:cNvPr id="11" name="Text 8"/>
          <p:cNvSpPr txBox="1"/>
          <p:nvPr/>
        </p:nvSpPr>
        <p:spPr>
          <a:xfrm>
            <a:off x="8412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지불 의사를 가정하지 않는다</a:t>
            </a:r>
            <a:endParaRPr lang="en-US" sz="1000" dirty="0"/>
          </a:p>
        </p:txBody>
      </p:sp>
      <p:sp>
        <p:nvSpPr>
          <p:cNvPr id="12" name="Shape 9"/>
          <p:cNvSpPr/>
          <p:nvPr/>
        </p:nvSpPr>
        <p:spPr>
          <a:xfrm>
            <a:off x="4300728" y="1481328"/>
            <a:ext cx="3587496" cy="3419856"/>
          </a:xfrm>
          <a:prstGeom prst="roundRect">
            <a:avLst>
              <a:gd name="adj" fmla="val 160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유지  Retain</a:t>
            </a:r>
            <a:endParaRPr lang="en-US" sz="1800" dirty="0"/>
          </a:p>
        </p:txBody>
      </p:sp>
      <p:sp>
        <p:nvSpPr>
          <p:cNvPr id="14" name="Text 11"/>
          <p:cNvSpPr txBox="1"/>
          <p:nvPr/>
        </p:nvSpPr>
        <p:spPr>
          <a:xfrm>
            <a:off x="4575048" y="2117344"/>
            <a:ext cx="30388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POS 전후 효과 검증 리포트</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월간 처방 리포트 (구독)</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전담 컨설턴트 리포트 미팅</a:t>
            </a:r>
            <a:endParaRPr lang="en-US" sz="1300" dirty="0"/>
          </a:p>
        </p:txBody>
      </p:sp>
      <p:sp>
        <p:nvSpPr>
          <p:cNvPr id="15" name="Text 12"/>
          <p:cNvSpPr txBox="1"/>
          <p:nvPr/>
        </p:nvSpPr>
        <p:spPr>
          <a:xfrm>
            <a:off x="45750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증명하는 컨설팅은 갱신된다</a:t>
            </a:r>
            <a:endParaRPr lang="en-US" sz="1000" dirty="0"/>
          </a:p>
        </p:txBody>
      </p:sp>
      <p:sp>
        <p:nvSpPr>
          <p:cNvPr id="16" name="Shape 13"/>
          <p:cNvSpPr/>
          <p:nvPr/>
        </p:nvSpPr>
        <p:spPr>
          <a:xfrm>
            <a:off x="80345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성장  Grow</a:t>
            </a:r>
            <a:endParaRPr lang="en-US" sz="1800" dirty="0"/>
          </a:p>
        </p:txBody>
      </p:sp>
      <p:sp>
        <p:nvSpPr>
          <p:cNvPr id="18" name="Text 15"/>
          <p:cNvSpPr txBox="1"/>
          <p:nvPr/>
        </p:nvSpPr>
        <p:spPr>
          <a:xfrm>
            <a:off x="8308848" y="2117344"/>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 상설 구독 (정규 매장 첫 3개월 무료)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성장 컨설팅 + 성과연동 수수료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L.POINT 리타게팅</a:t>
            </a:r>
            <a:endParaRPr lang="en-US" sz="1300" dirty="0"/>
          </a:p>
        </p:txBody>
      </p:sp>
      <p:sp>
        <p:nvSpPr>
          <p:cNvPr id="19" name="Text 16"/>
          <p:cNvSpPr txBox="1"/>
          <p:nvPr/>
        </p:nvSpPr>
        <p:spPr>
          <a:xfrm>
            <a:off x="83088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깔때기 업셀 — 3년차 리커링 51%</a:t>
            </a:r>
            <a:endParaRPr lang="en-US" sz="1000" dirty="0"/>
          </a:p>
        </p:txBody>
      </p:sp>
      <p:sp>
        <p:nvSpPr>
          <p:cNvPr id="20" name="Text 17"/>
          <p:cNvSpPr txBox="1"/>
          <p:nvPr/>
        </p:nvSpPr>
        <p:spPr>
          <a:xfrm>
            <a:off x="41544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1" name="Text 18"/>
          <p:cNvSpPr txBox="1"/>
          <p:nvPr/>
        </p:nvSpPr>
        <p:spPr>
          <a:xfrm>
            <a:off x="78882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2" name="Shape 19"/>
          <p:cNvSpPr/>
          <p:nvPr/>
        </p:nvSpPr>
        <p:spPr>
          <a:xfrm>
            <a:off x="566928" y="5175504"/>
            <a:ext cx="11055096" cy="749808"/>
          </a:xfrm>
          <a:prstGeom prst="roundRect">
            <a:avLst>
              <a:gd name="adj" fmla="val 7317"/>
            </a:avLst>
          </a:prstGeom>
          <a:solidFill>
            <a:srgbClr val="0E1420"/>
          </a:solidFill>
          <a:ln/>
        </p:spPr>
      </p:sp>
      <p:sp>
        <p:nvSpPr>
          <p:cNvPr id="23" name="Text 20"/>
          <p:cNvSpPr txBox="1"/>
          <p:nvPr/>
        </p:nvSpPr>
        <p:spPr>
          <a:xfrm>
            <a:off x="932688" y="517550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"바꿨더니 전환율이 8.1% → 11.4%"  —  이 문장이 다음 계약서입니다.</a:t>
            </a:r>
            <a:endParaRPr lang="en-US" sz="15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사랑과 신뢰를 받는 서비스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고객은 무엇에 기꺼이 돈을 지불하는가?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팝업은 매출 엔진이 아니라 유입 깔때기 — 3년차 매출의 51%가 반복 매출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 내부 검증 전 추정치 — 롯데 내부 데이터로 재검증 필요</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파일럿 1.5억으로 시작해 24개월에 손익분기를 넘습니다.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06</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자원  |  반드시 필요한 자산은?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새로 사는 자산이 거의 없습니다 — 이미 가진 그룹 자산 위에 AI를 얹는 AI 트랜스포메이션 과제입니다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물리적</a:t>
            </a:r>
            <a:endParaRPr lang="en-US" sz="1800" dirty="0"/>
          </a:p>
        </p:txBody>
      </p:sp>
      <p:sp>
        <p:nvSpPr>
          <p:cNvPr id="10" name="Text 7"/>
          <p:cNvSpPr txBox="1"/>
          <p:nvPr/>
        </p:nvSpPr>
        <p:spPr>
          <a:xfrm>
            <a:off x="841248" y="2117344"/>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기존 CCTV · 전원 · 네트워크 · 보안망 재활용</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팝업존 보완 카메라 (대당 약 25만원)</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엣지박스 점포당 1식 (약 300만원)</a:t>
            </a:r>
            <a:endParaRPr lang="en-US" sz="1300" dirty="0"/>
          </a:p>
        </p:txBody>
      </p:sp>
      <p:sp>
        <p:nvSpPr>
          <p:cNvPr id="11" name="Shape 8"/>
          <p:cNvSpPr/>
          <p:nvPr/>
        </p:nvSpPr>
        <p:spPr>
          <a:xfrm>
            <a:off x="6167628" y="1481328"/>
            <a:ext cx="5454396" cy="2148840"/>
          </a:xfrm>
          <a:prstGeom prst="roundRect">
            <a:avLst>
              <a:gd name="adj" fmla="val 255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6441948" y="1700784"/>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지적 · 데이터  ★</a:t>
            </a:r>
            <a:endParaRPr lang="en-US" sz="1800" dirty="0"/>
          </a:p>
        </p:txBody>
      </p:sp>
      <p:sp>
        <p:nvSpPr>
          <p:cNvPr id="13" name="Text 10"/>
          <p:cNvSpPr txBox="1"/>
          <p:nvPr/>
        </p:nvSpPr>
        <p:spPr>
          <a:xfrm>
            <a:off x="6441948" y="2117344"/>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L.POINT 소비 이력 · POS 결제 · 전점 트래픽</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카테고리 벤치마크 DB — 시간으로만 쌓임</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엣지 추론 모델 · 리포트 자동화 템플릿</a:t>
            </a:r>
            <a:endParaRPr lang="en-US" sz="1300" dirty="0"/>
          </a:p>
        </p:txBody>
      </p:sp>
      <p:sp>
        <p:nvSpPr>
          <p:cNvPr id="14" name="Shape 11"/>
          <p:cNvSpPr/>
          <p:nvPr/>
        </p:nvSpPr>
        <p:spPr>
          <a:xfrm>
            <a:off x="5669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5" name="Text 12"/>
          <p:cNvSpPr txBox="1"/>
          <p:nvPr/>
        </p:nvSpPr>
        <p:spPr>
          <a:xfrm>
            <a:off x="841248" y="401421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인적</a:t>
            </a:r>
            <a:endParaRPr lang="en-US" sz="1800" dirty="0"/>
          </a:p>
        </p:txBody>
      </p:sp>
      <p:sp>
        <p:nvSpPr>
          <p:cNvPr id="16" name="Text 13"/>
          <p:cNvSpPr txBox="1"/>
          <p:nvPr/>
        </p:nvSpPr>
        <p:spPr>
          <a:xfrm>
            <a:off x="841248" y="443077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리테일 컨설턴트 14 · DS/ML 8 · 애널리스트 8</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개발 6 · 영업/CS 4 · PO 2  (Y3 42명)</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컨설턴트 비중이 높은 이유: 처방·검증이 상품의 본체</a:t>
            </a:r>
            <a:endParaRPr lang="en-US" sz="1300" dirty="0"/>
          </a:p>
        </p:txBody>
      </p:sp>
      <p:sp>
        <p:nvSpPr>
          <p:cNvPr id="17" name="Shape 14"/>
          <p:cNvSpPr/>
          <p:nvPr/>
        </p:nvSpPr>
        <p:spPr>
          <a:xfrm>
            <a:off x="61676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6441948" y="401421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금융</a:t>
            </a:r>
            <a:endParaRPr lang="en-US" sz="1800" dirty="0"/>
          </a:p>
        </p:txBody>
      </p:sp>
      <p:sp>
        <p:nvSpPr>
          <p:cNvPr id="19" name="Text 16"/>
          <p:cNvSpPr txBox="1"/>
          <p:nvPr/>
        </p:nvSpPr>
        <p:spPr>
          <a:xfrm>
            <a:off x="6441948" y="443077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3년 CAPEX 11억 · 최대 현금소진 10억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10개 점포 파일럿 1.5억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CCTV가 이미 있어 가볍게 시작하는 사업</a:t>
            </a:r>
            <a:endParaRPr lang="en-US" sz="1300" dirty="0"/>
          </a:p>
        </p:txBody>
      </p:sp>
      <p:sp>
        <p:nvSpPr>
          <p:cNvPr id="20" name="Text 17"/>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카메라는 누구나 깔 수 있습니다.  L.POINT와 POS와 전점 트래픽을 한 번에 가진 곳은 롯데뿐입니다.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07</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활동  |  반드시 수행해야 하는 활동은?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생산은 기계가, 문제해결은 사람이, 플랫폼은 시간이 합니다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생산</a:t>
            </a:r>
            <a:endParaRPr lang="en-US" sz="1800" dirty="0"/>
          </a:p>
        </p:txBody>
      </p:sp>
      <p:sp>
        <p:nvSpPr>
          <p:cNvPr id="10" name="Text 7"/>
          <p:cNvSpPr txBox="1"/>
          <p:nvPr/>
        </p:nvSpPr>
        <p:spPr>
          <a:xfrm>
            <a:off x="8412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시스템이 한다</a:t>
            </a:r>
            <a:endParaRPr lang="en-US" sz="1000" dirty="0"/>
          </a:p>
        </p:txBody>
      </p:sp>
      <p:sp>
        <p:nvSpPr>
          <p:cNvPr id="11" name="Text 8"/>
          <p:cNvSpPr txBox="1"/>
          <p:nvPr/>
        </p:nvSpPr>
        <p:spPr>
          <a:xfrm>
            <a:off x="8412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엣지 추론 — 영상을 클라우드로 올리지 않고 카메라 단에서 숫자로 변환</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리포트 90% 자동 생성</a:t>
            </a:r>
            <a:endParaRPr lang="en-US" sz="1150" dirty="0"/>
          </a:p>
        </p:txBody>
      </p:sp>
      <p:sp>
        <p:nvSpPr>
          <p:cNvPr id="12" name="Shape 9"/>
          <p:cNvSpPr/>
          <p:nvPr/>
        </p:nvSpPr>
        <p:spPr>
          <a:xfrm>
            <a:off x="4300728" y="1481328"/>
            <a:ext cx="3587496" cy="2201028"/>
          </a:xfrm>
          <a:prstGeom prst="roundRect">
            <a:avLst>
              <a:gd name="adj" fmla="val 249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문제해결</a:t>
            </a:r>
            <a:endParaRPr lang="en-US" sz="1800" dirty="0"/>
          </a:p>
        </p:txBody>
      </p:sp>
      <p:sp>
        <p:nvSpPr>
          <p:cNvPr id="14" name="Text 11"/>
          <p:cNvSpPr txBox="1"/>
          <p:nvPr/>
        </p:nvSpPr>
        <p:spPr>
          <a:xfrm>
            <a:off x="45750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사람이 한다 — 상품의 본체</a:t>
            </a:r>
            <a:endParaRPr lang="en-US" sz="1000" dirty="0"/>
          </a:p>
        </p:txBody>
      </p:sp>
      <p:sp>
        <p:nvSpPr>
          <p:cNvPr id="15" name="Text 12"/>
          <p:cNvSpPr txBox="1"/>
          <p:nvPr/>
        </p:nvSpPr>
        <p:spPr>
          <a:xfrm>
            <a:off x="45750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고객 인사이트 분석 (신규 비율·미구매자·교차구매)</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개선 처방 → 2~4주 적용 → POS 전후 검증</a:t>
            </a:r>
            <a:endParaRPr lang="en-US" sz="1150" dirty="0"/>
          </a:p>
        </p:txBody>
      </p:sp>
      <p:sp>
        <p:nvSpPr>
          <p:cNvPr id="16" name="Shape 13"/>
          <p:cNvSpPr/>
          <p:nvPr/>
        </p:nvSpPr>
        <p:spPr>
          <a:xfrm>
            <a:off x="80345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플랫폼</a:t>
            </a:r>
            <a:endParaRPr lang="en-US" sz="1800" dirty="0"/>
          </a:p>
        </p:txBody>
      </p:sp>
      <p:sp>
        <p:nvSpPr>
          <p:cNvPr id="18" name="Text 15"/>
          <p:cNvSpPr txBox="1"/>
          <p:nvPr/>
        </p:nvSpPr>
        <p:spPr>
          <a:xfrm>
            <a:off x="83088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시간이 한다</a:t>
            </a:r>
            <a:endParaRPr lang="en-US" sz="1000" dirty="0"/>
          </a:p>
        </p:txBody>
      </p:sp>
      <p:sp>
        <p:nvSpPr>
          <p:cNvPr id="19" name="Text 16"/>
          <p:cNvSpPr txBox="1"/>
          <p:nvPr/>
        </p:nvSpPr>
        <p:spPr>
          <a:xfrm>
            <a:off x="83088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L.POINT 리타게팅 운영 · 3사 데이터 결합 거버넌스</a:t>
            </a:r>
            <a:endParaRPr lang="en-US" sz="1150" dirty="0"/>
          </a:p>
        </p:txBody>
      </p:sp>
      <p:sp>
        <p:nvSpPr>
          <p:cNvPr id="20" name="Text 17"/>
          <p:cNvSpPr txBox="1"/>
          <p:nvPr/>
        </p:nvSpPr>
        <p:spPr>
          <a:xfrm>
            <a:off x="566928" y="3865236"/>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운영 원칙 · 핵심가치 Respect(존중) — 사람을 추적하지 않습니다. 공간을 측정합니다.</a:t>
            </a:r>
            <a:endParaRPr lang="en-US" sz="1250" dirty="0"/>
          </a:p>
        </p:txBody>
      </p:sp>
      <p:sp>
        <p:nvSpPr>
          <p:cNvPr id="21" name="Shape 18"/>
          <p:cNvSpPr/>
          <p:nvPr/>
        </p:nvSpPr>
        <p:spPr>
          <a:xfrm>
            <a:off x="566928" y="4194420"/>
            <a:ext cx="3587496" cy="1932060"/>
          </a:xfrm>
          <a:prstGeom prst="roundRect">
            <a:avLst>
              <a:gd name="adj" fmla="val 2840"/>
            </a:avLst>
          </a:prstGeom>
          <a:solidFill>
            <a:srgbClr val="EFF3F8"/>
          </a:solidFill>
          <a:ln w="12700">
            <a:solidFill>
              <a:srgbClr val="EFF3F8"/>
            </a:solidFill>
            <a:prstDash val="solid"/>
          </a:ln>
        </p:spPr>
      </p:sp>
      <p:sp>
        <p:nvSpPr>
          <p:cNvPr id="22" name="Text 19"/>
          <p:cNvSpPr txBox="1"/>
          <p:nvPr/>
        </p:nvSpPr>
        <p:spPr>
          <a:xfrm>
            <a:off x="8412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1 · 공간</a:t>
            </a:r>
            <a:endParaRPr lang="en-US" sz="1200" dirty="0"/>
          </a:p>
        </p:txBody>
      </p:sp>
      <p:sp>
        <p:nvSpPr>
          <p:cNvPr id="23" name="Text 20"/>
          <p:cNvSpPr txBox="1"/>
          <p:nvPr/>
        </p:nvSpPr>
        <p:spPr>
          <a:xfrm>
            <a:off x="841248" y="4728836"/>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완전 익명 — 원본 미저장, 카메라 안에서 좌표·숫자로 변환. 연령대·성별은 특징값 없이 속성값만 추출</a:t>
            </a:r>
            <a:endParaRPr lang="en-US" sz="1000" dirty="0"/>
          </a:p>
        </p:txBody>
      </p:sp>
      <p:sp>
        <p:nvSpPr>
          <p:cNvPr id="24" name="Text 21"/>
          <p:cNvSpPr txBox="1"/>
          <p:nvPr/>
        </p:nvSpPr>
        <p:spPr>
          <a:xfrm>
            <a:off x="8412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방문자 100% (비회원 포함)</a:t>
            </a:r>
            <a:endParaRPr lang="en-US" sz="1000" dirty="0"/>
          </a:p>
        </p:txBody>
      </p:sp>
      <p:sp>
        <p:nvSpPr>
          <p:cNvPr id="25" name="Shape 22"/>
          <p:cNvSpPr/>
          <p:nvPr/>
        </p:nvSpPr>
        <p:spPr>
          <a:xfrm>
            <a:off x="4300728" y="4194420"/>
            <a:ext cx="3587496" cy="1932060"/>
          </a:xfrm>
          <a:prstGeom prst="roundRect">
            <a:avLst>
              <a:gd name="adj" fmla="val 2840"/>
            </a:avLst>
          </a:prstGeom>
          <a:solidFill>
            <a:srgbClr val="EFF3F8"/>
          </a:solidFill>
          <a:ln w="12700">
            <a:solidFill>
              <a:srgbClr val="EFF3F8"/>
            </a:solidFill>
            <a:prstDash val="solid"/>
          </a:ln>
        </p:spPr>
      </p:sp>
      <p:sp>
        <p:nvSpPr>
          <p:cNvPr id="26" name="Text 23"/>
          <p:cNvSpPr txBox="1"/>
          <p:nvPr/>
        </p:nvSpPr>
        <p:spPr>
          <a:xfrm>
            <a:off x="45750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2 · 고객</a:t>
            </a:r>
            <a:endParaRPr lang="en-US" sz="1200" dirty="0"/>
          </a:p>
        </p:txBody>
      </p:sp>
      <p:sp>
        <p:nvSpPr>
          <p:cNvPr id="27" name="Text 24"/>
          <p:cNvSpPr txBox="1"/>
          <p:nvPr/>
        </p:nvSpPr>
        <p:spPr>
          <a:xfrm>
            <a:off x="4575048" y="4728836"/>
            <a:ext cx="303885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동의 기반 — L.POINT 앱 체크인·QR·결제 적립 시에만 연결. 여기서만 소비 이력·교차구매가 붙습니다</a:t>
            </a:r>
            <a:endParaRPr lang="en-US" sz="1000" dirty="0"/>
          </a:p>
        </p:txBody>
      </p:sp>
      <p:sp>
        <p:nvSpPr>
          <p:cNvPr id="28" name="Text 25"/>
          <p:cNvSpPr txBox="1"/>
          <p:nvPr/>
        </p:nvSpPr>
        <p:spPr>
          <a:xfrm>
            <a:off x="45750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동의 회원</a:t>
            </a:r>
            <a:endParaRPr lang="en-US" sz="1000" dirty="0"/>
          </a:p>
        </p:txBody>
      </p:sp>
      <p:sp>
        <p:nvSpPr>
          <p:cNvPr id="29" name="Shape 26"/>
          <p:cNvSpPr/>
          <p:nvPr/>
        </p:nvSpPr>
        <p:spPr>
          <a:xfrm>
            <a:off x="8034528" y="4194420"/>
            <a:ext cx="3587496" cy="1932060"/>
          </a:xfrm>
          <a:prstGeom prst="roundRect">
            <a:avLst>
              <a:gd name="adj" fmla="val 2840"/>
            </a:avLst>
          </a:prstGeom>
          <a:solidFill>
            <a:srgbClr val="EFF3F8"/>
          </a:solidFill>
          <a:ln w="12700">
            <a:solidFill>
              <a:srgbClr val="EFF3F8"/>
            </a:solidFill>
            <a:prstDash val="solid"/>
          </a:ln>
        </p:spPr>
      </p:sp>
      <p:sp>
        <p:nvSpPr>
          <p:cNvPr id="30" name="Text 27"/>
          <p:cNvSpPr txBox="1"/>
          <p:nvPr/>
        </p:nvSpPr>
        <p:spPr>
          <a:xfrm>
            <a:off x="83088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연결</a:t>
            </a:r>
            <a:endParaRPr lang="en-US" sz="1200" dirty="0"/>
          </a:p>
        </p:txBody>
      </p:sp>
      <p:sp>
        <p:nvSpPr>
          <p:cNvPr id="31" name="Text 28"/>
          <p:cNvSpPr txBox="1"/>
          <p:nvPr/>
        </p:nvSpPr>
        <p:spPr>
          <a:xfrm>
            <a:off x="8308848" y="4728836"/>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개인 단위가 아니라 시간대 × 구역 × 세그먼트 집계 단위로만</a:t>
            </a:r>
            <a:endParaRPr lang="en-US" sz="1000" dirty="0"/>
          </a:p>
        </p:txBody>
      </p:sp>
      <p:sp>
        <p:nvSpPr>
          <p:cNvPr id="32" name="Text 29"/>
          <p:cNvSpPr txBox="1"/>
          <p:nvPr/>
        </p:nvSpPr>
        <p:spPr>
          <a:xfrm>
            <a:off x="83088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최소 집계 5명 미만 셀은 미표시</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08</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파트너  |  외부 파트너나 공급업체는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세 조각이 다 모여야 성립하는 사업입니다 — 그래서 지금까지 아무도 못 했습니다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Text 5"/>
          <p:cNvSpPr txBox="1"/>
          <p:nvPr/>
        </p:nvSpPr>
        <p:spPr>
          <a:xfrm>
            <a:off x="566928" y="1481328"/>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내부 3사 합작 · 그룹 시너지</a:t>
            </a:r>
            <a:endParaRPr lang="en-US" sz="1250" dirty="0"/>
          </a:p>
        </p:txBody>
      </p:sp>
      <p:sp>
        <p:nvSpPr>
          <p:cNvPr id="9" name="Shape 6"/>
          <p:cNvSpPr/>
          <p:nvPr/>
        </p:nvSpPr>
        <p:spPr>
          <a:xfrm>
            <a:off x="5669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0" name="Text 7"/>
          <p:cNvSpPr txBox="1"/>
          <p:nvPr/>
        </p:nvSpPr>
        <p:spPr>
          <a:xfrm>
            <a:off x="8412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롯데백화점</a:t>
            </a:r>
            <a:endParaRPr lang="en-US" sz="1800" dirty="0"/>
          </a:p>
        </p:txBody>
      </p:sp>
      <p:sp>
        <p:nvSpPr>
          <p:cNvPr id="11" name="Text 8"/>
          <p:cNvSpPr txBox="1"/>
          <p:nvPr/>
        </p:nvSpPr>
        <p:spPr>
          <a:xfrm>
            <a:off x="8412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공간 · 트래픽 · POS · MD 지식</a:t>
            </a:r>
            <a:endParaRPr lang="en-US" sz="1000" dirty="0"/>
          </a:p>
        </p:txBody>
      </p:sp>
      <p:sp>
        <p:nvSpPr>
          <p:cNvPr id="12" name="Text 9"/>
          <p:cNvSpPr txBox="1"/>
          <p:nvPr/>
        </p:nvSpPr>
        <p:spPr>
          <a:xfrm>
            <a:off x="8412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첫 고객이자 판매 채널</a:t>
            </a:r>
            <a:endParaRPr lang="en-US" sz="1000" dirty="0"/>
          </a:p>
        </p:txBody>
      </p:sp>
      <p:sp>
        <p:nvSpPr>
          <p:cNvPr id="13" name="Shape 10"/>
          <p:cNvSpPr/>
          <p:nvPr/>
        </p:nvSpPr>
        <p:spPr>
          <a:xfrm>
            <a:off x="43007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4" name="Text 11"/>
          <p:cNvSpPr txBox="1"/>
          <p:nvPr/>
        </p:nvSpPr>
        <p:spPr>
          <a:xfrm>
            <a:off x="45750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롯데이노베이트</a:t>
            </a:r>
            <a:endParaRPr lang="en-US" sz="1800" dirty="0"/>
          </a:p>
        </p:txBody>
      </p:sp>
      <p:sp>
        <p:nvSpPr>
          <p:cNvPr id="15" name="Text 12"/>
          <p:cNvSpPr txBox="1"/>
          <p:nvPr/>
        </p:nvSpPr>
        <p:spPr>
          <a:xfrm>
            <a:off x="45750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비전 AI 엔진 · 엣지 인프라</a:t>
            </a:r>
            <a:endParaRPr lang="en-US" sz="1000" dirty="0"/>
          </a:p>
        </p:txBody>
      </p:sp>
      <p:sp>
        <p:nvSpPr>
          <p:cNvPr id="16" name="Text 13"/>
          <p:cNvSpPr txBox="1"/>
          <p:nvPr/>
        </p:nvSpPr>
        <p:spPr>
          <a:xfrm>
            <a:off x="45750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생산 담당</a:t>
            </a:r>
            <a:endParaRPr lang="en-US" sz="1000" dirty="0"/>
          </a:p>
        </p:txBody>
      </p:sp>
      <p:sp>
        <p:nvSpPr>
          <p:cNvPr id="17" name="Shape 14"/>
          <p:cNvSpPr/>
          <p:nvPr/>
        </p:nvSpPr>
        <p:spPr>
          <a:xfrm>
            <a:off x="80345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롯데멤버스</a:t>
            </a:r>
            <a:endParaRPr lang="en-US" sz="1800" dirty="0"/>
          </a:p>
        </p:txBody>
      </p:sp>
      <p:sp>
        <p:nvSpPr>
          <p:cNvPr id="19" name="Text 16"/>
          <p:cNvSpPr txBox="1"/>
          <p:nvPr/>
        </p:nvSpPr>
        <p:spPr>
          <a:xfrm>
            <a:off x="83088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L.POINT 소비 이력 · 도달 채널</a:t>
            </a:r>
            <a:endParaRPr lang="en-US" sz="1000" dirty="0"/>
          </a:p>
        </p:txBody>
      </p:sp>
      <p:sp>
        <p:nvSpPr>
          <p:cNvPr id="20" name="Text 17"/>
          <p:cNvSpPr txBox="1"/>
          <p:nvPr/>
        </p:nvSpPr>
        <p:spPr>
          <a:xfrm>
            <a:off x="83088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인사이트와 실행 담당</a:t>
            </a:r>
            <a:endParaRPr lang="en-US" sz="1000" dirty="0"/>
          </a:p>
        </p:txBody>
      </p:sp>
      <p:sp>
        <p:nvSpPr>
          <p:cNvPr id="21" name="Text 18"/>
          <p:cNvSpPr txBox="1"/>
          <p:nvPr/>
        </p:nvSpPr>
        <p:spPr>
          <a:xfrm>
            <a:off x="4154424" y="2536754"/>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2" name="Text 19"/>
          <p:cNvSpPr txBox="1"/>
          <p:nvPr/>
        </p:nvSpPr>
        <p:spPr>
          <a:xfrm>
            <a:off x="7888224" y="2536754"/>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3" name="Text 20"/>
          <p:cNvSpPr txBox="1"/>
          <p:nvPr/>
        </p:nvSpPr>
        <p:spPr>
          <a:xfrm>
            <a:off x="566928" y="3976227"/>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외부 파트너</a:t>
            </a:r>
            <a:endParaRPr lang="en-US" sz="1250" dirty="0"/>
          </a:p>
        </p:txBody>
      </p:sp>
      <p:sp>
        <p:nvSpPr>
          <p:cNvPr id="24" name="Shape 21"/>
          <p:cNvSpPr/>
          <p:nvPr/>
        </p:nvSpPr>
        <p:spPr>
          <a:xfrm>
            <a:off x="5669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Text 22"/>
          <p:cNvSpPr txBox="1"/>
          <p:nvPr/>
        </p:nvSpPr>
        <p:spPr>
          <a:xfrm>
            <a:off x="8412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비전 AI 엔진 벤더</a:t>
            </a:r>
            <a:endParaRPr lang="en-US" sz="1300" dirty="0"/>
          </a:p>
        </p:txBody>
      </p:sp>
      <p:sp>
        <p:nvSpPr>
          <p:cNvPr id="26" name="Text 23"/>
          <p:cNvSpPr txBox="1"/>
          <p:nvPr/>
        </p:nvSpPr>
        <p:spPr>
          <a:xfrm>
            <a:off x="841248" y="4865227"/>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라이선스 또는 M&amp;A — Build/Buy 병행 검토. 엔진은 사고, 데이터 결합과 검증 루프는 직접 만든다</a:t>
            </a:r>
            <a:endParaRPr lang="en-US" sz="1000" dirty="0"/>
          </a:p>
        </p:txBody>
      </p:sp>
      <p:sp>
        <p:nvSpPr>
          <p:cNvPr id="27" name="Shape 24"/>
          <p:cNvSpPr/>
          <p:nvPr/>
        </p:nvSpPr>
        <p:spPr>
          <a:xfrm>
            <a:off x="43007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8" name="Text 25"/>
          <p:cNvSpPr txBox="1"/>
          <p:nvPr/>
        </p:nvSpPr>
        <p:spPr>
          <a:xfrm>
            <a:off x="45750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외부 VMD 디자이너</a:t>
            </a:r>
            <a:endParaRPr lang="en-US" sz="1300" dirty="0"/>
          </a:p>
        </p:txBody>
      </p:sp>
      <p:sp>
        <p:nvSpPr>
          <p:cNvPr id="29" name="Text 26"/>
          <p:cNvSpPr txBox="1"/>
          <p:nvPr/>
        </p:nvSpPr>
        <p:spPr>
          <a:xfrm>
            <a:off x="4575048" y="4865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컨설팅 건당 변동비(400만원)로 유연하게 조달</a:t>
            </a:r>
            <a:endParaRPr lang="en-US" sz="1000" dirty="0"/>
          </a:p>
        </p:txBody>
      </p:sp>
      <p:sp>
        <p:nvSpPr>
          <p:cNvPr id="30" name="Shape 27"/>
          <p:cNvSpPr/>
          <p:nvPr/>
        </p:nvSpPr>
        <p:spPr>
          <a:xfrm>
            <a:off x="80345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31" name="Text 28"/>
          <p:cNvSpPr txBox="1"/>
          <p:nvPr/>
        </p:nvSpPr>
        <p:spPr>
          <a:xfrm>
            <a:off x="83088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법무 · DPO · 개인정보 영향평가</a:t>
            </a:r>
            <a:endParaRPr lang="en-US" sz="1300" dirty="0"/>
          </a:p>
        </p:txBody>
      </p:sp>
      <p:sp>
        <p:nvSpPr>
          <p:cNvPr id="32" name="Text 29"/>
          <p:cNvSpPr txBox="1"/>
          <p:nvPr/>
        </p:nvSpPr>
        <p:spPr>
          <a:xfrm>
            <a:off x="8308848" y="4865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착수 전 마일스톤 1번. 2계층 설계의 법적 검토</a:t>
            </a:r>
            <a:endParaRPr lang="en-US" sz="100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조직: 3사 합작 TF → 성과 검증 후 분사(Spin-off) 옵션   ·   한 사만으로는 만들 수 없는, 그룹이어야 가능한 사업입니다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09</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비용 구조  |  가장 큰 비용 항목은?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가장 큰 항목은 인건비 — 의도된 구조입니다. 클라우드 비용은 엣지로 1/10</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graphicFrame>
        <p:nvGraphicFramePr>
          <p:cNvPr id="8"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고정비  (Y1 → Y3, 억원)</a:t>
            </a:r>
            <a:endParaRPr lang="en-US" sz="1100" dirty="0"/>
          </a:p>
        </p:txBody>
      </p:sp>
      <p:sp>
        <p:nvSpPr>
          <p:cNvPr id="11" name="Text 7"/>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판관비 합계 18.3 → 53.7</a:t>
            </a:r>
            <a:endParaRPr lang="en-US" sz="1150" dirty="0"/>
          </a:p>
        </p:txBody>
      </p:sp>
      <p:sp>
        <p:nvSpPr>
          <p:cNvPr id="12" name="Shape 8"/>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9"/>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변동비  (단위 원가)</a:t>
            </a:r>
            <a:endParaRPr lang="en-US" sz="1100" dirty="0"/>
          </a:p>
        </p:txBody>
      </p:sp>
      <p:sp>
        <p:nvSpPr>
          <p:cNvPr id="14" name="Text 10"/>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 매출총이익률 77%  (Y1~Y3 동일)</a:t>
            </a:r>
            <a:endParaRPr lang="en-US" sz="1150" dirty="0"/>
          </a:p>
        </p:txBody>
      </p:sp>
      <p:sp>
        <p:nvSpPr>
          <p:cNvPr id="15" name="Shape 11"/>
          <p:cNvSpPr/>
          <p:nvPr/>
        </p:nvSpPr>
        <p:spPr>
          <a:xfrm>
            <a:off x="566928" y="5358384"/>
            <a:ext cx="11055096" cy="749808"/>
          </a:xfrm>
          <a:prstGeom prst="roundRect">
            <a:avLst>
              <a:gd name="adj" fmla="val 7317"/>
            </a:avLst>
          </a:prstGeom>
          <a:solidFill>
            <a:srgbClr val="0E1420"/>
          </a:solidFill>
          <a:ln/>
        </p:spPr>
      </p:sp>
      <p:sp>
        <p:nvSpPr>
          <p:cNvPr id="16" name="Text 12"/>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경쟁사가 못 넘은 벽은 원가 구조였습니다.  매장이 10배 늘어도 비용은 10배 늘지 않습니다.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621792"/>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실행 로드맵</a:t>
            </a:r>
            <a:endParaRPr lang="en-US" sz="1100" dirty="0"/>
          </a:p>
        </p:txBody>
      </p:sp>
      <p:sp>
        <p:nvSpPr>
          <p:cNvPr id="4" name="Shape 1"/>
          <p:cNvSpPr/>
          <p:nvPr/>
        </p:nvSpPr>
        <p:spPr>
          <a:xfrm>
            <a:off x="822960" y="1005840"/>
            <a:ext cx="2615184" cy="1298448"/>
          </a:xfrm>
          <a:prstGeom prst="roundRect">
            <a:avLst>
              <a:gd name="adj" fmla="val 4225"/>
            </a:avLst>
          </a:prstGeom>
          <a:solidFill>
            <a:srgbClr val="1A2233"/>
          </a:solidFill>
          <a:ln w="12700">
            <a:solidFill>
              <a:srgbClr val="1A2233"/>
            </a:solidFill>
            <a:prstDash val="solid"/>
          </a:ln>
        </p:spPr>
      </p:sp>
      <p:sp>
        <p:nvSpPr>
          <p:cNvPr id="5" name="Text 2"/>
          <p:cNvSpPr txBox="1"/>
          <p:nvPr/>
        </p:nvSpPr>
        <p:spPr>
          <a:xfrm>
            <a:off x="10607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Phase 0</a:t>
            </a:r>
            <a:endParaRPr lang="en-US" sz="1300" dirty="0"/>
          </a:p>
        </p:txBody>
      </p:sp>
      <p:sp>
        <p:nvSpPr>
          <p:cNvPr id="6" name="Text 3"/>
          <p:cNvSpPr txBox="1"/>
          <p:nvPr/>
        </p:nvSpPr>
        <p:spPr>
          <a:xfrm>
            <a:off x="10607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0~3개월</a:t>
            </a:r>
            <a:endParaRPr lang="en-US" sz="1000" dirty="0"/>
          </a:p>
        </p:txBody>
      </p:sp>
      <p:sp>
        <p:nvSpPr>
          <p:cNvPr id="7" name="Text 4"/>
          <p:cNvSpPr txBox="1"/>
          <p:nvPr/>
        </p:nvSpPr>
        <p:spPr>
          <a:xfrm>
            <a:off x="10607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롯데 내부 도입 · 10개점 파일럿</a:t>
            </a:r>
            <a:endParaRPr lang="en-US" sz="1100" dirty="0"/>
          </a:p>
        </p:txBody>
      </p:sp>
      <p:sp>
        <p:nvSpPr>
          <p:cNvPr id="8" name="Shape 5"/>
          <p:cNvSpPr/>
          <p:nvPr/>
        </p:nvSpPr>
        <p:spPr>
          <a:xfrm>
            <a:off x="3566160" y="1005840"/>
            <a:ext cx="2615184" cy="1298448"/>
          </a:xfrm>
          <a:prstGeom prst="roundRect">
            <a:avLst>
              <a:gd name="adj" fmla="val 4225"/>
            </a:avLst>
          </a:prstGeom>
          <a:solidFill>
            <a:srgbClr val="1A2233"/>
          </a:solidFill>
          <a:ln w="12700">
            <a:solidFill>
              <a:srgbClr val="1A2233"/>
            </a:solidFill>
            <a:prstDash val="solid"/>
          </a:ln>
        </p:spPr>
      </p:sp>
      <p:sp>
        <p:nvSpPr>
          <p:cNvPr id="9" name="Text 6"/>
          <p:cNvSpPr txBox="1"/>
          <p:nvPr/>
        </p:nvSpPr>
        <p:spPr>
          <a:xfrm>
            <a:off x="38039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1</a:t>
            </a:r>
            <a:endParaRPr lang="en-US" sz="1300" dirty="0"/>
          </a:p>
        </p:txBody>
      </p:sp>
      <p:sp>
        <p:nvSpPr>
          <p:cNvPr id="10" name="Text 7"/>
          <p:cNvSpPr txBox="1"/>
          <p:nvPr/>
        </p:nvSpPr>
        <p:spPr>
          <a:xfrm>
            <a:off x="38039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4~12개월</a:t>
            </a:r>
            <a:endParaRPr lang="en-US" sz="1000" dirty="0"/>
          </a:p>
        </p:txBody>
      </p:sp>
      <p:sp>
        <p:nvSpPr>
          <p:cNvPr id="11" name="Text 8"/>
          <p:cNvSpPr txBox="1"/>
          <p:nvPr/>
        </p:nvSpPr>
        <p:spPr>
          <a:xfrm>
            <a:off x="38039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팝업 유료 판매 · 검증 케이스 3건</a:t>
            </a:r>
            <a:endParaRPr lang="en-US" sz="1100" dirty="0"/>
          </a:p>
        </p:txBody>
      </p:sp>
      <p:sp>
        <p:nvSpPr>
          <p:cNvPr id="12" name="Shape 9"/>
          <p:cNvSpPr/>
          <p:nvPr/>
        </p:nvSpPr>
        <p:spPr>
          <a:xfrm>
            <a:off x="6309360" y="1005840"/>
            <a:ext cx="2615184" cy="1298448"/>
          </a:xfrm>
          <a:prstGeom prst="roundRect">
            <a:avLst>
              <a:gd name="adj" fmla="val 4225"/>
            </a:avLst>
          </a:prstGeom>
          <a:solidFill>
            <a:srgbClr val="1A2233"/>
          </a:solidFill>
          <a:ln w="12700">
            <a:solidFill>
              <a:srgbClr val="1A2233"/>
            </a:solidFill>
            <a:prstDash val="solid"/>
          </a:ln>
        </p:spPr>
      </p:sp>
      <p:sp>
        <p:nvSpPr>
          <p:cNvPr id="13" name="Text 10"/>
          <p:cNvSpPr txBox="1"/>
          <p:nvPr/>
        </p:nvSpPr>
        <p:spPr>
          <a:xfrm>
            <a:off x="65471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2</a:t>
            </a:r>
            <a:endParaRPr lang="en-US" sz="1300" dirty="0"/>
          </a:p>
        </p:txBody>
      </p:sp>
      <p:sp>
        <p:nvSpPr>
          <p:cNvPr id="14" name="Text 11"/>
          <p:cNvSpPr txBox="1"/>
          <p:nvPr/>
        </p:nvSpPr>
        <p:spPr>
          <a:xfrm>
            <a:off x="65471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13~24개월</a:t>
            </a:r>
            <a:endParaRPr lang="en-US" sz="1000" dirty="0"/>
          </a:p>
        </p:txBody>
      </p:sp>
      <p:sp>
        <p:nvSpPr>
          <p:cNvPr id="15" name="Text 12"/>
          <p:cNvSpPr txBox="1"/>
          <p:nvPr/>
        </p:nvSpPr>
        <p:spPr>
          <a:xfrm>
            <a:off x="65471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전점 확산 · 구독 · 리타게팅</a:t>
            </a:r>
            <a:endParaRPr lang="en-US" sz="1100" dirty="0"/>
          </a:p>
        </p:txBody>
      </p:sp>
      <p:sp>
        <p:nvSpPr>
          <p:cNvPr id="16" name="Shape 13"/>
          <p:cNvSpPr/>
          <p:nvPr/>
        </p:nvSpPr>
        <p:spPr>
          <a:xfrm>
            <a:off x="9052560" y="1005840"/>
            <a:ext cx="2615184" cy="1298448"/>
          </a:xfrm>
          <a:prstGeom prst="roundRect">
            <a:avLst>
              <a:gd name="adj" fmla="val 4225"/>
            </a:avLst>
          </a:prstGeom>
          <a:solidFill>
            <a:srgbClr val="1A2233"/>
          </a:solidFill>
          <a:ln w="12700">
            <a:solidFill>
              <a:srgbClr val="1A2233"/>
            </a:solidFill>
            <a:prstDash val="solid"/>
          </a:ln>
        </p:spPr>
      </p:sp>
      <p:sp>
        <p:nvSpPr>
          <p:cNvPr id="17" name="Text 14"/>
          <p:cNvSpPr txBox="1"/>
          <p:nvPr/>
        </p:nvSpPr>
        <p:spPr>
          <a:xfrm>
            <a:off x="92903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3</a:t>
            </a:r>
            <a:endParaRPr lang="en-US" sz="1300" dirty="0"/>
          </a:p>
        </p:txBody>
      </p:sp>
      <p:sp>
        <p:nvSpPr>
          <p:cNvPr id="18" name="Text 15"/>
          <p:cNvSpPr txBox="1"/>
          <p:nvPr/>
        </p:nvSpPr>
        <p:spPr>
          <a:xfrm>
            <a:off x="92903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25~36개월</a:t>
            </a:r>
            <a:endParaRPr lang="en-US" sz="1000" dirty="0"/>
          </a:p>
        </p:txBody>
      </p:sp>
      <p:sp>
        <p:nvSpPr>
          <p:cNvPr id="19" name="Text 16"/>
          <p:cNvSpPr txBox="1"/>
          <p:nvPr/>
        </p:nvSpPr>
        <p:spPr>
          <a:xfrm>
            <a:off x="92903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계열사 · 해외 롯데몰 · 외부</a:t>
            </a:r>
            <a:endParaRPr lang="en-US" sz="1100" dirty="0"/>
          </a:p>
        </p:txBody>
      </p:sp>
      <p:sp>
        <p:nvSpPr>
          <p:cNvPr id="20" name="Text 17"/>
          <p:cNvSpPr txBox="1"/>
          <p:nvPr/>
        </p:nvSpPr>
        <p:spPr>
          <a:xfrm>
            <a:off x="822960" y="2816352"/>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8C97A8"/>
                </a:solidFill>
                <a:latin typeface="Pretendard" pitchFamily="34" charset="0"/>
                <a:ea typeface="Pretendard" pitchFamily="34" charset="-122"/>
                <a:cs typeface="Pretendard" pitchFamily="34" charset="-120"/>
              </a:rPr>
              <a:t>브랜드는 자기가 판 것만 압니다.</a:t>
            </a:r>
            <a:endParaRPr lang="en-US" sz="3400" dirty="0"/>
          </a:p>
        </p:txBody>
      </p:sp>
      <p:sp>
        <p:nvSpPr>
          <p:cNvPr id="21" name="Text 18"/>
          <p:cNvSpPr txBox="1"/>
          <p:nvPr/>
        </p:nvSpPr>
        <p:spPr>
          <a:xfrm>
            <a:off x="822960" y="3529584"/>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FFFFFF"/>
                </a:solidFill>
                <a:latin typeface="Pretendard" pitchFamily="34" charset="0"/>
                <a:ea typeface="Pretendard" pitchFamily="34" charset="-122"/>
                <a:cs typeface="Pretendard" pitchFamily="34" charset="-120"/>
              </a:rPr>
              <a:t>저희는 놓친 사람이 누구였는지 알려줍니다.</a:t>
            </a:r>
            <a:endParaRPr lang="en-US" sz="3400" dirty="0"/>
          </a:p>
        </p:txBody>
      </p:sp>
      <p:sp>
        <p:nvSpPr>
          <p:cNvPr id="22" name="Text 19"/>
          <p:cNvSpPr txBox="1"/>
          <p:nvPr/>
        </p:nvSpPr>
        <p:spPr>
          <a:xfrm>
            <a:off x="822960" y="4443984"/>
            <a:ext cx="10515600" cy="281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매일 삭제되던 97명의 데이터를 — 브랜드에게는 성장의 답으로 · 고객에게는 더 나은 매장 경험으로 · 롯데에게는 새로운 수익으로</a:t>
            </a:r>
            <a:endParaRPr lang="en-US" sz="1300" dirty="0"/>
          </a:p>
        </p:txBody>
      </p:sp>
      <p:sp>
        <p:nvSpPr>
          <p:cNvPr id="23" name="Shape 20"/>
          <p:cNvSpPr/>
          <p:nvPr/>
        </p:nvSpPr>
        <p:spPr>
          <a:xfrm>
            <a:off x="822960" y="5138928"/>
            <a:ext cx="7589520" cy="896112"/>
          </a:xfrm>
          <a:prstGeom prst="roundRect">
            <a:avLst>
              <a:gd name="adj" fmla="val 6122"/>
            </a:avLst>
          </a:prstGeom>
          <a:solidFill>
            <a:srgbClr val="1A2233"/>
          </a:solidFill>
          <a:ln w="12700">
            <a:solidFill>
              <a:srgbClr val="1A2233"/>
            </a:solidFill>
            <a:prstDash val="solid"/>
          </a:ln>
        </p:spPr>
      </p:sp>
      <p:sp>
        <p:nvSpPr>
          <p:cNvPr id="24" name="Text 21"/>
          <p:cNvSpPr txBox="1"/>
          <p:nvPr/>
        </p:nvSpPr>
        <p:spPr>
          <a:xfrm>
            <a:off x="1170432" y="5138928"/>
            <a:ext cx="6949440" cy="896112"/>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Pretendard" pitchFamily="34" charset="0"/>
                <a:ea typeface="Pretendard" pitchFamily="34" charset="-122"/>
                <a:cs typeface="Pretendard" pitchFamily="34" charset="-120"/>
              </a:rPr>
              <a:t>온라인에 GA가 있다면,  오프라인에는 L.GA가 있습니다.</a:t>
            </a:r>
            <a:endParaRPr lang="en-US" sz="1800" dirty="0"/>
          </a:p>
        </p:txBody>
      </p:sp>
      <p:sp>
        <p:nvSpPr>
          <p:cNvPr id="25" name="Shape 22"/>
          <p:cNvSpPr/>
          <p:nvPr/>
        </p:nvSpPr>
        <p:spPr>
          <a:xfrm>
            <a:off x="8650224" y="5138928"/>
            <a:ext cx="2715768" cy="896112"/>
          </a:xfrm>
          <a:prstGeom prst="roundRect">
            <a:avLst>
              <a:gd name="adj" fmla="val 6122"/>
            </a:avLst>
          </a:prstGeom>
          <a:solidFill>
            <a:srgbClr val="1A2233"/>
          </a:solidFill>
          <a:ln w="12700">
            <a:solidFill>
              <a:srgbClr val="1A2233"/>
            </a:solidFill>
            <a:prstDash val="solid"/>
          </a:ln>
        </p:spPr>
      </p:sp>
      <p:sp>
        <p:nvSpPr>
          <p:cNvPr id="26" name="Text 23"/>
          <p:cNvSpPr txBox="1"/>
          <p:nvPr/>
        </p:nvSpPr>
        <p:spPr>
          <a:xfrm>
            <a:off x="8650224" y="5138928"/>
            <a:ext cx="2715768" cy="896112"/>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Lifetime</a:t>
            </a:r>
            <a:endParaRPr lang="en-US" sz="1250" dirty="0"/>
          </a:p>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Q&amp;A</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리스크와 대응</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벤치마크 DB는 시간으로만 축적. 인수(M&amp;A)도 옵션으로 병행 검토</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2026-09-16T02:01:44Z</dcterms:created>
  <dcterms:modified xsi:type="dcterms:W3CDTF">2026-09-16T02:01:44Z</dcterms:modified>
</cp:coreProperties>
</file>