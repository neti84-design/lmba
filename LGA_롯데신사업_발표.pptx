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D6675"/>
                </a:solidFill>
                <a:latin typeface="맑은 고딕"/>
              </a:defRPr>
            </a:pPr>
            <a:r>
              <a:rPr sz="1300" b="0" i="0" u="none" strike="noStrike">
                <a:solidFill>
                  <a:srgbClr val="5D6675"/>
                </a:solidFill>
                <a:latin typeface="맑은 고딕"/>
              </a:rPr>
              <a:t>개선안 적용 전후 (단위: %)</a:t>
            </a:r>
          </a:p>
        </c:rich>
      </c:tx>
      <c:layout/>
      <c:overlay val="0"/>
    </c:title>
    <c:autoTitleDeleted val="0"/>
    <c:plotArea>
      <c:layout/>
      <c:barChart>
        <c:barDir val="col"/>
        <c:grouping val="clustered"/>
        <c:varyColors val="0"/>
        <c:ser>
          <c:idx val="0"/>
          <c:order val="0"/>
          <c:tx>
            <c:strRef>
              <c:f>Sheet1!$B$1</c:f>
              <c:strCache>
                <c:ptCount val="1"/>
                <c:pt idx="0">
                  <c:v>개선 전</c:v>
                </c:pt>
              </c:strCache>
            </c:strRef>
          </c:tx>
          <c:spPr>
            <a:solidFill>
              <a:srgbClr val="5D6675"/>
            </a:solidFill>
            <a:effectLst/>
          </c:spPr>
          <c:invertIfNegative val="0"/>
          <c:dLbls>
            <c:numFmt formatCode="0.0&quot;%&quot;" sourceLinked="0"/>
            <c:txPr>
              <a:bodyPr/>
              <a:lstStyle/>
              <a:p>
                <a:pPr>
                  <a:defRPr b="0" i="0" strike="noStrike" sz="1200" u="none">
                    <a:solidFill>
                      <a:srgbClr val="101420"/>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유입률</c:v>
                  </c:pt>
                  <c:pt idx="1">
                    <c:v>집품률</c:v>
                  </c:pt>
                  <c:pt idx="2">
                    <c:v>구매 전환율</c:v>
                  </c:pt>
                </c:lvl>
              </c:multiLvlStrCache>
            </c:multiLvlStrRef>
          </c:cat>
          <c:val>
            <c:numRef>
              <c:f>Sheet1!$B$2:$B$4</c:f>
              <c:numCache>
                <c:formatCode>General</c:formatCode>
                <c:ptCount val="3"/>
                <c:pt idx="0">
                  <c:v>5.2</c:v>
                </c:pt>
                <c:pt idx="1">
                  <c:v>18.4</c:v>
                </c:pt>
                <c:pt idx="2">
                  <c:v>8.1</c:v>
                </c:pt>
              </c:numCache>
            </c:numRef>
          </c:val>
        </c:ser>
        <c:ser>
          <c:idx val="1"/>
          <c:order val="1"/>
          <c:tx>
            <c:strRef>
              <c:f>Sheet1!$C$1</c:f>
              <c:strCache>
                <c:ptCount val="1"/>
                <c:pt idx="0">
                  <c:v>개선 후</c:v>
                </c:pt>
              </c:strCache>
            </c:strRef>
          </c:tx>
          <c:spPr>
            <a:solidFill>
              <a:srgbClr val="E11D2E"/>
            </a:solidFill>
            <a:effectLst/>
          </c:spPr>
          <c:invertIfNegative val="0"/>
          <c:dLbls>
            <c:numFmt formatCode="0.0&quot;%&quot;" sourceLinked="0"/>
            <c:txPr>
              <a:bodyPr/>
              <a:lstStyle/>
              <a:p>
                <a:pPr>
                  <a:defRPr b="0" i="0" strike="noStrike" sz="1200" u="none">
                    <a:solidFill>
                      <a:srgbClr val="101420"/>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유입률</c:v>
                  </c:pt>
                  <c:pt idx="1">
                    <c:v>집품률</c:v>
                  </c:pt>
                  <c:pt idx="2">
                    <c:v>구매 전환율</c:v>
                  </c:pt>
                </c:lvl>
              </c:multiLvlStrCache>
            </c:multiLvlStrRef>
          </c:cat>
          <c:val>
            <c:numRef>
              <c:f>Sheet1!$C$2:$C$4</c:f>
              <c:numCache>
                <c:formatCode>General</c:formatCode>
                <c:ptCount val="3"/>
                <c:pt idx="0">
                  <c:v>6.8</c:v>
                </c:pt>
                <c:pt idx="1">
                  <c:v>22.1</c:v>
                </c:pt>
                <c:pt idx="2">
                  <c:v>11.4</c:v>
                </c:pt>
              </c:numCache>
            </c:numRef>
          </c:val>
        </c:ser>
        <c:dLbls>
          <c:numFmt formatCode="0.0&quot;%&quot;" sourceLinked="0"/>
          <c:txPr>
            <a:bodyPr/>
            <a:lstStyle/>
            <a:p>
              <a:pPr>
                <a:defRPr b="0" i="0" strike="noStrike" sz="1200" u="none">
                  <a:solidFill>
                    <a:srgbClr val="101420"/>
                  </a:solidFill>
                  <a:latin typeface="맑은 고딕"/>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01420"/>
                </a:solidFill>
                <a:latin typeface="맑은 고딕"/>
              </a:defRPr>
            </a:pPr>
            <a:endParaRPr lang="en-US"/>
          </a:p>
        </c:txPr>
        <c:crossAx val="2094734552"/>
        <c:crosses val="autoZero"/>
        <c:auto val="1"/>
        <c:lblAlgn val="ctr"/>
        <c:noMultiLvlLbl val="1"/>
      </c:catAx>
      <c:valAx>
        <c:axId val="2094734552"/>
        <c:scaling>
          <c:orientation val="minMax"/>
          <c:max val="26"/>
          <c:min val="0"/>
        </c:scaling>
        <c:delete val="0"/>
        <c:axPos val="l"/>
        <c:majorGridlines>
          <c:spPr>
            <a:ln w="12700" cap="flat">
              <a:solidFill>
                <a:srgbClr val="E3E6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D6675"/>
                </a:solidFill>
                <a:latin typeface="맑은 고딕"/>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D6675"/>
              </a:solidFill>
              <a:latin typeface="맑은 고딕"/>
              <a:cs typeface="맑은 고딕"/>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D6675"/>
                </a:solidFill>
                <a:latin typeface="맑은 고딕"/>
              </a:defRPr>
            </a:pPr>
            <a:r>
              <a:rPr sz="1300" b="0" i="0" u="none" strike="noStrike">
                <a:solidFill>
                  <a:srgbClr val="5D6675"/>
                </a:solidFill>
                <a:latin typeface="맑은 고딕"/>
              </a:rPr>
              <a:t>매장 확산에 따른 연간 인프라 비용 (억원, 추정)</a:t>
            </a:r>
          </a:p>
        </c:rich>
      </c:tx>
      <c:layout/>
      <c:overlay val="0"/>
    </c:title>
    <c:autoTitleDeleted val="0"/>
    <c:plotArea>
      <c:layout/>
      <c:lineChart>
        <c:varyColors val="0"/>
        <c:ser>
          <c:idx val="0"/>
          <c:order val="0"/>
          <c:tx>
            <c:strRef>
              <c:f>Sheet1!$B$1</c:f>
              <c:strCache>
                <c:ptCount val="1"/>
                <c:pt idx="0">
                  <c:v>클라우드 방식 (경쟁사)</c:v>
                </c:pt>
              </c:strCache>
            </c:strRef>
          </c:tx>
          <c:spPr>
            <a:solidFill>
              <a:srgbClr val="5D6675"/>
            </a:solidFill>
            <a:ln w="38100" cap="flat">
              <a:solidFill>
                <a:srgbClr val="5D667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5D6675"/>
              </a:solidFill>
              <a:ln w="9525" cap="flat">
                <a:solidFill>
                  <a:srgbClr val="5D6675"/>
                </a:solidFill>
                <a:prstDash val="solid"/>
                <a:round/>
              </a:ln>
              <a:effectLst/>
            </c:spPr>
          </c:marker>
          <c:cat>
            <c:multiLvlStrRef>
              <c:f>Sheet1!$A$2:$A$5</c:f>
              <c:multiLvlStrCache>
                <c:ptCount val="4"/>
                <c:lvl>
                  <c:pt idx="0">
                    <c:v>10개점</c:v>
                  </c:pt>
                  <c:pt idx="1">
                    <c:v>50개점</c:v>
                  </c:pt>
                  <c:pt idx="2">
                    <c:v>100개점</c:v>
                  </c:pt>
                  <c:pt idx="3">
                    <c:v>300개점</c:v>
                  </c:pt>
                </c:lvl>
              </c:multiLvlStrCache>
            </c:multiLvlStrRef>
          </c:cat>
          <c:val>
            <c:numRef>
              <c:f>Sheet1!$B$2:$B$5</c:f>
              <c:numCache>
                <c:formatCode>General</c:formatCode>
                <c:ptCount val="4"/>
                <c:pt idx="0">
                  <c:v>0.8</c:v>
                </c:pt>
                <c:pt idx="1">
                  <c:v>4</c:v>
                </c:pt>
                <c:pt idx="2">
                  <c:v>8</c:v>
                </c:pt>
                <c:pt idx="3">
                  <c:v>24</c:v>
                </c:pt>
              </c:numCache>
            </c:numRef>
          </c:val>
          <c:smooth val="0"/>
        </c:ser>
        <c:ser>
          <c:idx val="1"/>
          <c:order val="1"/>
          <c:tx>
            <c:strRef>
              <c:f>Sheet1!$C$1</c:f>
              <c:strCache>
                <c:ptCount val="1"/>
                <c:pt idx="0">
                  <c:v>엣지 방식 (L.GA)</c:v>
                </c:pt>
              </c:strCache>
            </c:strRef>
          </c:tx>
          <c:spPr>
            <a:solidFill>
              <a:srgbClr val="E11D2E"/>
            </a:solidFill>
            <a:ln w="38100" cap="flat">
              <a:solidFill>
                <a:srgbClr val="E11D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E11D2E"/>
              </a:solidFill>
              <a:ln w="9525" cap="flat">
                <a:solidFill>
                  <a:srgbClr val="E11D2E"/>
                </a:solidFill>
                <a:prstDash val="solid"/>
                <a:round/>
              </a:ln>
              <a:effectLst/>
            </c:spPr>
          </c:marker>
          <c:cat>
            <c:multiLvlStrRef>
              <c:f>Sheet1!$A$2:$A$5</c:f>
              <c:multiLvlStrCache>
                <c:ptCount val="4"/>
                <c:lvl>
                  <c:pt idx="0">
                    <c:v>10개점</c:v>
                  </c:pt>
                  <c:pt idx="1">
                    <c:v>50개점</c:v>
                  </c:pt>
                  <c:pt idx="2">
                    <c:v>100개점</c:v>
                  </c:pt>
                  <c:pt idx="3">
                    <c:v>300개점</c:v>
                  </c:pt>
                </c:lvl>
              </c:multiLvlStrCache>
            </c:multiLvlStrRef>
          </c:cat>
          <c:val>
            <c:numRef>
              <c:f>Sheet1!$C$2:$C$5</c:f>
              <c:numCache>
                <c:formatCode>General</c:formatCode>
                <c:ptCount val="4"/>
                <c:pt idx="0">
                  <c:v>0.3</c:v>
                </c:pt>
                <c:pt idx="1">
                  <c:v>0.7</c:v>
                </c:pt>
                <c:pt idx="2">
                  <c:v>1.2</c:v>
                </c:pt>
                <c:pt idx="3">
                  <c:v>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01420"/>
                </a:solidFill>
                <a:latin typeface="맑은 고딕"/>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3E6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D6675"/>
                </a:solidFill>
                <a:latin typeface="맑은 고딕"/>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D6675"/>
              </a:solidFill>
              <a:latin typeface="맑은 고딕"/>
              <a:cs typeface="맑은 고딕"/>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D6675"/>
                </a:solidFill>
                <a:latin typeface="맑은 고딕"/>
              </a:defRPr>
            </a:pPr>
            <a:r>
              <a:rPr sz="1300" b="0" i="0" u="none" strike="noStrike">
                <a:solidFill>
                  <a:srgbClr val="5D6675"/>
                </a:solidFill>
                <a:latin typeface="맑은 고딕"/>
              </a:rPr>
              <a:t>3개년 손익 추정 (단위: 억원)</a:t>
            </a:r>
          </a:p>
        </c:rich>
      </c:tx>
      <c:layout/>
      <c:overlay val="0"/>
    </c:title>
    <c:autoTitleDeleted val="0"/>
    <c:plotArea>
      <c:layout/>
      <c:barChart>
        <c:barDir val="col"/>
        <c:grouping val="clustered"/>
        <c:varyColors val="0"/>
        <c:ser>
          <c:idx val="0"/>
          <c:order val="0"/>
          <c:tx>
            <c:strRef>
              <c:f>Sheet1!$B$1</c:f>
              <c:strCache>
                <c:ptCount val="1"/>
                <c:pt idx="0">
                  <c:v>매출</c:v>
                </c:pt>
              </c:strCache>
            </c:strRef>
          </c:tx>
          <c:spPr>
            <a:solidFill>
              <a:srgbClr val="1B2130"/>
            </a:solidFill>
            <a:effectLst/>
          </c:spPr>
          <c:invertIfNegative val="0"/>
          <c:dLbls>
            <c:numFmt formatCode="0.0" sourceLinked="0"/>
            <c:txPr>
              <a:bodyPr/>
              <a:lstStyle/>
              <a:p>
                <a:pPr>
                  <a:defRPr b="0" i="0" strike="noStrike" sz="1200" u="none">
                    <a:solidFill>
                      <a:srgbClr val="101420"/>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Y1 파일럿</c:v>
                  </c:pt>
                  <c:pt idx="1">
                    <c:v>Y2 전점 확산</c:v>
                  </c:pt>
                  <c:pt idx="2">
                    <c:v>Y3 계열·외부 확장</c:v>
                  </c:pt>
                </c:lvl>
              </c:multiLvlStrCache>
            </c:multiLvlStrRef>
          </c:cat>
          <c:val>
            <c:numRef>
              <c:f>Sheet1!$B$2:$B$4</c:f>
              <c:numCache>
                <c:formatCode>General</c:formatCode>
                <c:ptCount val="3"/>
                <c:pt idx="0">
                  <c:v>13.2</c:v>
                </c:pt>
                <c:pt idx="1">
                  <c:v>54.2</c:v>
                </c:pt>
                <c:pt idx="2">
                  <c:v>128.6</c:v>
                </c:pt>
              </c:numCache>
            </c:numRef>
          </c:val>
        </c:ser>
        <c:ser>
          <c:idx val="1"/>
          <c:order val="1"/>
          <c:tx>
            <c:strRef>
              <c:f>Sheet1!$C$1</c:f>
              <c:strCache>
                <c:ptCount val="1"/>
                <c:pt idx="0">
                  <c:v>영업이익</c:v>
                </c:pt>
              </c:strCache>
            </c:strRef>
          </c:tx>
          <c:spPr>
            <a:solidFill>
              <a:srgbClr val="E11D2E"/>
            </a:solidFill>
            <a:effectLst/>
          </c:spPr>
          <c:invertIfNegative val="0"/>
          <c:dLbls>
            <c:numFmt formatCode="0.0" sourceLinked="0"/>
            <c:txPr>
              <a:bodyPr/>
              <a:lstStyle/>
              <a:p>
                <a:pPr>
                  <a:defRPr b="0" i="0" strike="noStrike" sz="1200" u="none">
                    <a:solidFill>
                      <a:srgbClr val="101420"/>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Y1 파일럿</c:v>
                  </c:pt>
                  <c:pt idx="1">
                    <c:v>Y2 전점 확산</c:v>
                  </c:pt>
                  <c:pt idx="2">
                    <c:v>Y3 계열·외부 확장</c:v>
                  </c:pt>
                </c:lvl>
              </c:multiLvlStrCache>
            </c:multiLvlStrRef>
          </c:cat>
          <c:val>
            <c:numRef>
              <c:f>Sheet1!$C$2:$C$4</c:f>
              <c:numCache>
                <c:formatCode>General</c:formatCode>
                <c:ptCount val="3"/>
                <c:pt idx="0">
                  <c:v>-8.2</c:v>
                </c:pt>
                <c:pt idx="1">
                  <c:v>8.8</c:v>
                </c:pt>
                <c:pt idx="2">
                  <c:v>44.9</c:v>
                </c:pt>
              </c:numCache>
            </c:numRef>
          </c:val>
        </c:ser>
        <c:dLbls>
          <c:numFmt formatCode="0.0" sourceLinked="0"/>
          <c:txPr>
            <a:bodyPr/>
            <a:lstStyle/>
            <a:p>
              <a:pPr>
                <a:defRPr b="0" i="0" strike="noStrike" sz="1200" u="none">
                  <a:solidFill>
                    <a:srgbClr val="101420"/>
                  </a:solidFill>
                  <a:latin typeface="맑은 고딕"/>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01420"/>
                </a:solidFill>
                <a:latin typeface="맑은 고딕"/>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3E6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D6675"/>
                </a:solidFill>
                <a:latin typeface="맑은 고딕"/>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D6675"/>
              </a:solidFill>
              <a:latin typeface="맑은 고딕"/>
              <a:cs typeface="맑은 고딕"/>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백화점 매장에 100명이 들어옵니다. 그중 구매하는 사람은 평균 3명 남짓입니다. 브랜드가 데이터로 알고 있는 고객은 이 3명뿐입니다. 나머지 97명 - 무엇을 보고, 어디서 멈추고, 왜 돌아섰는지. 그 데이터는 매일 CCTV에 찍히고, 매일 그냥 삭제됩니다. 오늘 저희는, 브랜드에게 그 97명이 누구였는지 알려주는 사업을 제안드립니다. (40초)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지금 팝업스토어 시장은 연간 수만 건 규모로 커졌습니다. 그런데 브랜드가 팝업이 끝나고 손에 쥐는 건 매출 총액과 인스타그램 해시태그 개수가 전부입니다. 온라인 쇼핑몰은 어느 화면에서 이탈했는지까지 초 단위로 압니다. 오프라인은 20년 전과 똑같습니다. 그래서 브랜드는 다음 팝업도 감으로 엽니다. 측정이 없으니 개선도 없습니다. (45초)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 제안은 L.GA, Lotte Growth Analytics입니다. 한 문장으로, 온라인의 구글 애널리틱스를 오프라인 매장에 구현하는 것입니다. 이미 달려 있는 CCTV가 센서가 됩니다. 누가 앞을 지나갔고, 몇 명이 들어왔고, 어디서 멈췄고, 무엇을 집었다 놓았는지. 그리고 여기에 롯데만 가진 L.POINT 소비 데이터를 붙입니다. 저희가 브랜드에 드리는 건 대시보드가 아니라 답입니다. (40초)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온라인의 모든 지표는 오프라인에 1:1로 대응됩니다. 노출은 매장 앞 통행 수, 클릭률은 유입률, 장바구니 담기는 상품을 집어 든 비율, 이탈률은 3초 안에 나간 비율입니다. 가장 중요한 지표는 유입률(Capture Rate)입니다. 지나간 사람 100명 중 몇 명이 들어왔는가. 지금 어떤 브랜드도 이 숫자를 모릅니다. 그리고 이게 쌓이면 카테고리 벤치마크가 됩니다. 이건 데이터가 쌓인 사업자만 가질 수 있습니다. (50초)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영역엔 이미 메이아이 같은 선점 기업이 있습니다. 기술도 좋습니다. 그런데 중요한 건 기술이 아니라 어디까지 보이느냐입니다. 브랜드는 자기가 판 것만 압니다. 자사 POS가 데이터의 끝입니다. 메이아이는 자기가 카메라를 설치한 매장 안만 압니다. 익명 숫자에서 끝납니다. 롯데는 그 고객의 하루 전체, 지난 몇 년의 소비 생애를 압니다. 이건 기술 격차가 아니라 자산 격차입니다. 돈으로 따라잡을 수 없습니다. (45초)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저희가 파는 솔루션의 본체는 이겁니다. 팝업이 끝나면 브랜드에게 이런 걸 드립니다.
첫째, 이번에 온 사람 중 신규 고객이 몇 퍼센트인가. 브랜드는 이걸 절대 모릅니다.
둘째, 들어왔는데 안 산 사람들은 누구였나.
셋째, 우리 방문객이 평소 어떤 브랜드에서 무엇을 사는가. 우리 고객의 38%가 경쟁사 A 구매 이력이 있다 - 이건 포지셔닝과 가격 전략을 바꾸는 정보입니다.
넷째, 집었는데 안 산 상품. 온라인의 장바구니 이탈과 똑같습니다. 그대로 상품기획 피드백이 됩니다.
다섯째, 다음 팝업은 어디에, 언제, 어느 층에 여는 게 최적인가.
(한 박자 쉬고) 이 다섯 가지는 브랜드가 아무리 돈을 써도 스스로 알 수 없습니다. L.POINT 소비 이력과 롯데 전점 트래픽이 동시에 있어야만 나오는 답이기 때문입니다. (70초 — 다섯 가지를 손가락으로 꼽으며)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인사이트만으로는 부족합니다. 브랜드가 진짜 원하는 건 매출입니다. 그래서 저희는 이렇게 바꾸세요까지 갑니다. 진열을 어떻게 바꿀지, 동선을 어떻게 틀지, 어떤 상품을 앞으로 뺄지. 그리고 여기가 결정적입니다. 바꾼 다음, 실제로 매출이 올랐는지를 POS 데이터로 증명합니다. 집품에서 구매로 가는 전환율이 8.1%에서 11.4%로 올랐습니다 - 이렇게요. 경쟁사는 못 합니다. 결제 데이터가 없어서 자기 처방이 통했는지 증명할 방법이 없습니다. 효과를 증명하지 못하는 컨설팅은 한 번 팔리고 끝납니다. 증명하는 컨설팅은 계약이 갱신됩니다. (55초)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 반드시 말씀드릴 게 있습니다. 저희는 사람을 추적하지 않습니다. 설계를 두 층으로 완전히 분리했습니다. 영상은 카메라 안에서 즉시 좌표와 숫자로 바뀌고, 원본은 밖으로 나가지 않습니다. 개인을 식별하는 연결은 고객이 앱에서 직접 동의한 경우에만 일어납니다. 그 사이는 개인 단위가 아니라 세그먼트와 시간대 집계로만 연결합니다. 리포트에도 김OO씨가 왔다가 아니라, 20대 후반 뷰티 고관여 객단가 상위 30% 세그먼트가 42%라고 적힙니다. 법적으로 안전하고, 고객 신뢰를 잃지 않는 구조입니다. (45초)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수익은 다섯 단계로 쌓입니다. 1단, 팝업 솔루션 패키지. 180에서 600만원, 평균 320만원입니다. 이건 돈을 버는 상품이 아니라 브랜드를 데려오는 깔때기입니다. 2단, 상설 매장 구독. 월 45만원. 매달 처방 리포트가 나갑니다. 여기서 반복 매출이 생깁니다. 3단, 성장 컨설팅. 건당 1,500만원. 효과 검증 덕분에 늘어난 매출의 5에서 10퍼센트를 성과 수수료로 받을 수 있습니다. 4단, L.POINT 리타게팅. 안 산 고객에게 앱으로 쿠폰을 보내 다시 부릅니다. 구글 애널리틱스는 무료입니다. 구글은 측정이 아니라 광고로 법니다. 저희도 같습니다. 5단, 카테고리 벤치마크 리포트 판매. 3년차 기준 매출의 51%가 반복 매출입니다. (55초)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경쟁사 재무를 뜯어봤습니다. 이익률이 낮은 이유는 기술이 아니라 원가 구조였습니다. 영상을 전부 클라우드로 올리니 매장이 늘수록 비용이 그대로 따라 올라갑니다. 저희는 카메라 단에서 분석을 끝내고 결과 숫자만 보냅니다. 영상은 전송하지 않습니다. 클라우드 비용이 10분의 1 수준이 되고, 앞서 말씀드린 개인정보 문제까지 동시에 해결됩니다. 리포트 생성은 자동화하고, 사람은 처방과 검증에만 투입합니다. 그래서 매출총이익률 77%가 나옵니다. (40초)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숫자로 말씀드리겠습니다. 먼저 이 수치는 내부 검증 전 추정치임을 말씀드립니다. 1년차, 10개 점포 파일럿, 팝업 300건. 매출 13억, 영업손실 8억입니다. 2년차, 전점 확산. 구독과 광고가 붙습니다. 매출 54억, 영업이익 9억. 여기서 흑자 전환하고 누적 손익분기도 24개월에 넘습니다. 3년차, 계열사와 해외 롯데몰까지. 매출 129억, 영업이익 45억, 영업이익률 35%입니다. 민감도도 돌려봤습니다. 팝업 침투율이 목표의 3분의 2로 떨어지고, 구독이 절반으로 줄고, 광고 사업을 아예 못 해도 3년차는 여전히 흑자입니다. 수익원이 다섯 개로 분산돼 있기 때문입니다. 그리고 이 사업은 가볍습니다. CCTV가 이미 있어서 3년간 설비투자가 총 11억, 10개 점포 파일럿은 1억 5천이면 시작합니다. (55초)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실행은 밖이 아니라 안에서 시작합니다. 먼저 롯데백화점이 자기 매장 최적화를 위해 직접 씁니다. 매출 0원, 대신 데이터와 벤치마크를 확보합니다. 그다음 팝업 브랜드에 유료 판매, 계열사 확산, 마지막에 외부 유통사와 해외 롯데몰입니다. 조직은 3사 합작입니다. 백화점이 공간과 트래픽과 POS를, 롯데이노베이트가 비전 AI 엔진을, 롯데멤버스가 L.POINT 소비 이력을 댑니다. 세 조각이 다 모여야 성립하는 사업이고, 그래서 지금까지 아무도 못 했습니다. (40초)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백업 슬라이드입니다. Q&amp;A에서 개인정보, CCTV 사양, 지불 의사, 인식 정확도, 데이터 거버넌스 질문이 나오면 꺼내십시오.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매일 삭제되던 97명의 데이터를, 브랜드에게는 성장의 답으로, 롯데에게는 새로운 수익으로 바꾸는 일입니다. 온라인에 GA가 있다면, 오프라인에는 L.GA가 있습니다. 감사합니다. (20초)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420"/>
        </a:solidFill>
      </p:bgPr>
    </p:bg>
    <p:spTree>
      <p:nvGrpSpPr>
        <p:cNvPr id="1" name=""/>
        <p:cNvGrpSpPr/>
        <p:nvPr/>
      </p:nvGrpSpPr>
      <p:grpSpPr>
        <a:xfrm>
          <a:off x="0" y="0"/>
          <a:ext cx="0" cy="0"/>
          <a:chOff x="0" y="0"/>
          <a:chExt cx="0" cy="0"/>
        </a:xfrm>
      </p:grpSpPr>
      <p:sp>
        <p:nvSpPr>
          <p:cNvPr id="2" name="Text 0"/>
          <p:cNvSpPr txBox="1"/>
          <p:nvPr/>
        </p:nvSpPr>
        <p:spPr>
          <a:xfrm>
            <a:off x="822960" y="1234440"/>
            <a:ext cx="5852160" cy="310896"/>
          </a:xfrm>
          <a:prstGeom prst="rect">
            <a:avLst/>
          </a:prstGeom>
          <a:noFill/>
          <a:ln/>
        </p:spPr>
        <p:txBody>
          <a:bodyPr wrap="square" lIns="0" tIns="0" rIns="0" bIns="0" rtlCol="0" anchor="ctr"/>
          <a:lstStyle/>
          <a:p>
            <a:pPr indent="0" marL="0">
              <a:buNone/>
            </a:pPr>
            <a:r>
              <a:rPr lang="en-US" sz="1400" b="1" spc="200" kern="0" dirty="0">
                <a:solidFill>
                  <a:srgbClr val="F2A33C"/>
                </a:solidFill>
                <a:latin typeface="맑은 고딕" pitchFamily="34" charset="0"/>
                <a:ea typeface="맑은 고딕" pitchFamily="34" charset="-122"/>
                <a:cs typeface="맑은 고딕" pitchFamily="34" charset="-120"/>
              </a:rPr>
              <a:t>롯데그룹 신사업 제안</a:t>
            </a:r>
            <a:endParaRPr lang="en-US" sz="1400" dirty="0"/>
          </a:p>
        </p:txBody>
      </p:sp>
      <p:sp>
        <p:nvSpPr>
          <p:cNvPr id="3" name="Text 1"/>
          <p:cNvSpPr txBox="1"/>
          <p:nvPr/>
        </p:nvSpPr>
        <p:spPr>
          <a:xfrm>
            <a:off x="777240" y="1600200"/>
            <a:ext cx="5852160" cy="1143000"/>
          </a:xfrm>
          <a:prstGeom prst="rect">
            <a:avLst/>
          </a:prstGeom>
          <a:noFill/>
          <a:ln/>
        </p:spPr>
        <p:txBody>
          <a:bodyPr wrap="square" lIns="0" tIns="0" rIns="0" bIns="0" rtlCol="0" anchor="ctr"/>
          <a:lstStyle/>
          <a:p>
            <a:pPr indent="0" marL="0">
              <a:buNone/>
            </a:pPr>
            <a:r>
              <a:rPr lang="en-US" sz="6800" b="1" dirty="0">
                <a:solidFill>
                  <a:srgbClr val="FFFFFF"/>
                </a:solidFill>
                <a:latin typeface="맑은 고딕" pitchFamily="34" charset="0"/>
                <a:ea typeface="맑은 고딕" pitchFamily="34" charset="-122"/>
                <a:cs typeface="맑은 고딕" pitchFamily="34" charset="-120"/>
              </a:rPr>
              <a:t>L.GA</a:t>
            </a:r>
            <a:endParaRPr lang="en-US" sz="6800" dirty="0"/>
          </a:p>
        </p:txBody>
      </p:sp>
      <p:sp>
        <p:nvSpPr>
          <p:cNvPr id="4" name="Text 2"/>
          <p:cNvSpPr txBox="1"/>
          <p:nvPr/>
        </p:nvSpPr>
        <p:spPr>
          <a:xfrm>
            <a:off x="822960" y="2761488"/>
            <a:ext cx="5852160" cy="365760"/>
          </a:xfrm>
          <a:prstGeom prst="rect">
            <a:avLst/>
          </a:prstGeom>
          <a:noFill/>
          <a:ln/>
        </p:spPr>
        <p:txBody>
          <a:bodyPr wrap="square" lIns="0" tIns="0" rIns="0" bIns="0" rtlCol="0" anchor="ctr"/>
          <a:lstStyle/>
          <a:p>
            <a:pPr indent="0" marL="0">
              <a:buNone/>
            </a:pPr>
            <a:r>
              <a:rPr lang="en-US" sz="1900" dirty="0">
                <a:solidFill>
                  <a:srgbClr val="A7AFBE"/>
                </a:solidFill>
                <a:latin typeface="맑은 고딕" pitchFamily="34" charset="0"/>
                <a:ea typeface="맑은 고딕" pitchFamily="34" charset="-122"/>
                <a:cs typeface="맑은 고딕" pitchFamily="34" charset="-120"/>
              </a:rPr>
              <a:t>Lotte Growth Analytics</a:t>
            </a:r>
            <a:endParaRPr lang="en-US" sz="1900" dirty="0"/>
          </a:p>
        </p:txBody>
      </p:sp>
      <p:sp>
        <p:nvSpPr>
          <p:cNvPr id="5" name="Text 3"/>
          <p:cNvSpPr txBox="1"/>
          <p:nvPr/>
        </p:nvSpPr>
        <p:spPr>
          <a:xfrm>
            <a:off x="822960" y="3429000"/>
            <a:ext cx="5669280" cy="1188720"/>
          </a:xfrm>
          <a:prstGeom prst="rect">
            <a:avLst/>
          </a:prstGeom>
          <a:noFill/>
          <a:ln/>
        </p:spPr>
        <p:txBody>
          <a:bodyPr wrap="square" lIns="0" tIns="0" rIns="0" bIns="0" rtlCol="0" anchor="ctr"/>
          <a:lstStyle/>
          <a:p>
            <a:pPr indent="0" marL="0">
              <a:lnSpc>
                <a:spcPts val="3400"/>
              </a:lnSpc>
              <a:buNone/>
            </a:pPr>
            <a:r>
              <a:rPr lang="en-US" sz="2100" b="1" dirty="0">
                <a:solidFill>
                  <a:srgbClr val="FFFFFF"/>
                </a:solidFill>
                <a:latin typeface="맑은 고딕" pitchFamily="34" charset="0"/>
                <a:ea typeface="맑은 고딕" pitchFamily="34" charset="-122"/>
                <a:cs typeface="맑은 고딕" pitchFamily="34" charset="-120"/>
              </a:rPr>
              <a:t>브랜드가 모르는 자기 고객을 알려주는</a:t>
            </a:r>
            <a:endParaRPr lang="en-US" sz="2100" dirty="0"/>
          </a:p>
          <a:p>
            <a:pPr indent="0" marL="0">
              <a:lnSpc>
                <a:spcPts val="3400"/>
              </a:lnSpc>
              <a:buNone/>
            </a:pPr>
            <a:r>
              <a:rPr lang="en-US" sz="2100" b="1" dirty="0">
                <a:solidFill>
                  <a:srgbClr val="FFFFFF"/>
                </a:solidFill>
                <a:latin typeface="맑은 고딕" pitchFamily="34" charset="0"/>
                <a:ea typeface="맑은 고딕" pitchFamily="34" charset="-122"/>
                <a:cs typeface="맑은 고딕" pitchFamily="34" charset="-120"/>
              </a:rPr>
              <a:t>오프라인 리테일 데이터 솔루션</a:t>
            </a:r>
            <a:endParaRPr lang="en-US" sz="2100" dirty="0"/>
          </a:p>
        </p:txBody>
      </p:sp>
      <p:sp>
        <p:nvSpPr>
          <p:cNvPr id="6" name="Text 4"/>
          <p:cNvSpPr txBox="1"/>
          <p:nvPr/>
        </p:nvSpPr>
        <p:spPr>
          <a:xfrm>
            <a:off x="822960" y="5989320"/>
            <a:ext cx="5852160" cy="310896"/>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롯데그룹 핵심인재 MBA 과정  |  최종 발표</a:t>
            </a:r>
            <a:endParaRPr lang="en-US" sz="1200" dirty="0"/>
          </a:p>
        </p:txBody>
      </p:sp>
      <p:sp>
        <p:nvSpPr>
          <p:cNvPr id="7" name="Shape 5"/>
          <p:cNvSpPr/>
          <p:nvPr/>
        </p:nvSpPr>
        <p:spPr>
          <a:xfrm>
            <a:off x="7178040" y="1417320"/>
            <a:ext cx="4434840" cy="4023360"/>
          </a:xfrm>
          <a:prstGeom prst="roundRect">
            <a:avLst>
              <a:gd name="adj" fmla="val 1818"/>
            </a:avLst>
          </a:prstGeom>
          <a:solidFill>
            <a:srgbClr val="1B2130"/>
          </a:solidFill>
          <a:ln/>
        </p:spPr>
      </p:sp>
      <p:sp>
        <p:nvSpPr>
          <p:cNvPr id="8" name="Text 6"/>
          <p:cNvSpPr txBox="1"/>
          <p:nvPr/>
        </p:nvSpPr>
        <p:spPr>
          <a:xfrm>
            <a:off x="7589520" y="1828800"/>
            <a:ext cx="3657600" cy="329184"/>
          </a:xfrm>
          <a:prstGeom prst="rect">
            <a:avLst/>
          </a:prstGeom>
          <a:noFill/>
          <a:ln/>
        </p:spPr>
        <p:txBody>
          <a:bodyPr wrap="square" lIns="0" tIns="0" rIns="0" bIns="0" rtlCol="0" anchor="ctr"/>
          <a:lstStyle/>
          <a:p>
            <a:pPr indent="0" marL="0">
              <a:buNone/>
            </a:pPr>
            <a:r>
              <a:rPr lang="en-US" sz="1500" dirty="0">
                <a:solidFill>
                  <a:srgbClr val="A7AFBE"/>
                </a:solidFill>
                <a:latin typeface="맑은 고딕" pitchFamily="34" charset="0"/>
                <a:ea typeface="맑은 고딕" pitchFamily="34" charset="-122"/>
                <a:cs typeface="맑은 고딕" pitchFamily="34" charset="-120"/>
              </a:rPr>
              <a:t>매장에 들어오는 100명 중</a:t>
            </a:r>
            <a:endParaRPr lang="en-US" sz="1500" dirty="0"/>
          </a:p>
        </p:txBody>
      </p:sp>
      <p:sp>
        <p:nvSpPr>
          <p:cNvPr id="9" name="Text 7"/>
          <p:cNvSpPr txBox="1"/>
          <p:nvPr/>
        </p:nvSpPr>
        <p:spPr>
          <a:xfrm>
            <a:off x="7589520" y="2240280"/>
            <a:ext cx="3749040" cy="1188720"/>
          </a:xfrm>
          <a:prstGeom prst="rect">
            <a:avLst/>
          </a:prstGeom>
          <a:noFill/>
          <a:ln/>
        </p:spPr>
        <p:txBody>
          <a:bodyPr wrap="square" lIns="0" tIns="0" rIns="0" bIns="0" rtlCol="0" anchor="b"/>
          <a:lstStyle/>
          <a:p>
            <a:pPr indent="0" marL="0">
              <a:buNone/>
            </a:pPr>
            <a:r>
              <a:rPr lang="en-US" sz="7800" b="1" dirty="0">
                <a:solidFill>
                  <a:srgbClr val="E11D2E"/>
                </a:solidFill>
                <a:latin typeface="맑은 고딕" pitchFamily="34" charset="0"/>
                <a:ea typeface="맑은 고딕" pitchFamily="34" charset="-122"/>
                <a:cs typeface="맑은 고딕" pitchFamily="34" charset="-120"/>
              </a:rPr>
              <a:t>3</a:t>
            </a:r>
            <a:pPr indent="0" marL="0">
              <a:buNone/>
            </a:pPr>
            <a:r>
              <a:rPr lang="en-US" sz="2100" b="1" dirty="0">
                <a:solidFill>
                  <a:srgbClr val="FFFFFF"/>
                </a:solidFill>
                <a:latin typeface="맑은 고딕" pitchFamily="34" charset="0"/>
                <a:ea typeface="맑은 고딕" pitchFamily="34" charset="-122"/>
                <a:cs typeface="맑은 고딕" pitchFamily="34" charset="-120"/>
              </a:rPr>
              <a:t>명만 구매합니다.</a:t>
            </a:r>
            <a:endParaRPr lang="en-US" sz="7800" dirty="0"/>
          </a:p>
        </p:txBody>
      </p:sp>
      <p:sp>
        <p:nvSpPr>
          <p:cNvPr id="10" name="Text 8"/>
          <p:cNvSpPr txBox="1"/>
          <p:nvPr/>
        </p:nvSpPr>
        <p:spPr>
          <a:xfrm>
            <a:off x="7589520" y="3886200"/>
            <a:ext cx="3749040" cy="1005840"/>
          </a:xfrm>
          <a:prstGeom prst="rect">
            <a:avLst/>
          </a:prstGeom>
          <a:noFill/>
          <a:ln/>
        </p:spPr>
        <p:txBody>
          <a:bodyPr wrap="square" lIns="0" tIns="0" rIns="0" bIns="0" rtlCol="0" anchor="t"/>
          <a:lstStyle/>
          <a:p>
            <a:pPr indent="0" marL="0">
              <a:lnSpc>
                <a:spcPts val="2400"/>
              </a:lnSpc>
              <a:buNone/>
            </a:pPr>
            <a:r>
              <a:rPr lang="en-US" sz="1400" dirty="0">
                <a:solidFill>
                  <a:srgbClr val="F2A33C"/>
                </a:solidFill>
                <a:latin typeface="맑은 고딕" pitchFamily="34" charset="0"/>
                <a:ea typeface="맑은 고딕" pitchFamily="34" charset="-122"/>
                <a:cs typeface="맑은 고딕" pitchFamily="34" charset="-120"/>
              </a:rPr>
              <a:t>나머지 97명이 무엇을 보고 왜 돌아섰는지는</a:t>
            </a:r>
            <a:endParaRPr lang="en-US" sz="1400" dirty="0"/>
          </a:p>
          <a:p>
            <a:pPr indent="0" marL="0">
              <a:lnSpc>
                <a:spcPts val="2400"/>
              </a:lnSpc>
              <a:buNone/>
            </a:pPr>
            <a:r>
              <a:rPr lang="en-US" sz="1400" dirty="0">
                <a:solidFill>
                  <a:srgbClr val="F2A33C"/>
                </a:solidFill>
                <a:latin typeface="맑은 고딕" pitchFamily="34" charset="0"/>
                <a:ea typeface="맑은 고딕" pitchFamily="34" charset="-122"/>
                <a:cs typeface="맑은 고딕" pitchFamily="34" charset="-120"/>
              </a:rPr>
              <a:t>매일 CCTV에 찍히고, 매일 그냥 삭제됩니다.</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548640" y="457200"/>
            <a:ext cx="420624" cy="420624"/>
          </a:xfrm>
          <a:prstGeom prst="roundRect">
            <a:avLst>
              <a:gd name="adj" fmla="val 17391"/>
            </a:avLst>
          </a:prstGeom>
          <a:solidFill>
            <a:srgbClr val="E11D2E"/>
          </a:solidFill>
          <a:ln/>
        </p:spPr>
      </p:sp>
      <p:sp>
        <p:nvSpPr>
          <p:cNvPr id="3" name="Text 1"/>
          <p:cNvSpPr txBox="1"/>
          <p:nvPr/>
        </p:nvSpPr>
        <p:spPr>
          <a:xfrm>
            <a:off x="548640" y="4572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02</a:t>
            </a:r>
            <a:endParaRPr lang="en-US" sz="1500" dirty="0"/>
          </a:p>
        </p:txBody>
      </p:sp>
      <p:sp>
        <p:nvSpPr>
          <p:cNvPr id="4" name="Text 2"/>
          <p:cNvSpPr txBox="1"/>
          <p:nvPr/>
        </p:nvSpPr>
        <p:spPr>
          <a:xfrm>
            <a:off x="1115568" y="402336"/>
            <a:ext cx="10424160" cy="548640"/>
          </a:xfrm>
          <a:prstGeom prst="rect">
            <a:avLst/>
          </a:prstGeom>
          <a:noFill/>
          <a:ln/>
        </p:spPr>
        <p:txBody>
          <a:bodyPr wrap="square" lIns="0" tIns="0" rIns="0" bIns="0" rtlCol="0" anchor="ctr"/>
          <a:lstStyle/>
          <a:p>
            <a:pPr indent="0" marL="0">
              <a:buNone/>
            </a:pPr>
            <a:r>
              <a:rPr lang="en-US" sz="2900" b="1" dirty="0">
                <a:solidFill>
                  <a:srgbClr val="101420"/>
                </a:solidFill>
                <a:latin typeface="맑은 고딕" pitchFamily="34" charset="0"/>
                <a:ea typeface="맑은 고딕" pitchFamily="34" charset="-122"/>
                <a:cs typeface="맑은 고딕" pitchFamily="34" charset="-120"/>
              </a:rPr>
              <a:t>측정이 없으니 개선도 없습니다</a:t>
            </a:r>
            <a:endParaRPr lang="en-US" sz="2900" dirty="0"/>
          </a:p>
        </p:txBody>
      </p:sp>
      <p:sp>
        <p:nvSpPr>
          <p:cNvPr id="5" name="Text 3"/>
          <p:cNvSpPr txBox="1"/>
          <p:nvPr/>
        </p:nvSpPr>
        <p:spPr>
          <a:xfrm>
            <a:off x="1115568" y="969264"/>
            <a:ext cx="10424160" cy="32918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팝업 브랜드가 종료 후 손에 쥐는 데이터의 현실</a:t>
            </a:r>
            <a:endParaRPr lang="en-US" sz="1300" dirty="0"/>
          </a:p>
        </p:txBody>
      </p:sp>
      <p:sp>
        <p:nvSpPr>
          <p:cNvPr id="6" name="Shape 4"/>
          <p:cNvSpPr/>
          <p:nvPr/>
        </p:nvSpPr>
        <p:spPr>
          <a:xfrm>
            <a:off x="548640" y="1554480"/>
            <a:ext cx="5486400" cy="3291840"/>
          </a:xfrm>
          <a:prstGeom prst="roundRect">
            <a:avLst>
              <a:gd name="adj" fmla="val 1667"/>
            </a:avLst>
          </a:prstGeom>
          <a:solidFill>
            <a:srgbClr val="F6F7F9"/>
          </a:solidFill>
          <a:ln w="12700">
            <a:solidFill>
              <a:srgbClr val="E3E6EB"/>
            </a:solidFill>
            <a:prstDash val="solid"/>
          </a:ln>
          <a:effectLst>
            <a:outerShdw sx="100000" sy="100000" kx="0" ky="0" algn="bl" rotWithShape="0" blurRad="177800" dist="38100" dir="5400000">
              <a:srgbClr val="9AA3B0">
                <a:alpha val="20000"/>
              </a:srgbClr>
            </a:outerShdw>
          </a:effectLst>
        </p:spPr>
      </p:sp>
      <p:sp>
        <p:nvSpPr>
          <p:cNvPr id="7" name="Text 5"/>
          <p:cNvSpPr txBox="1"/>
          <p:nvPr/>
        </p:nvSpPr>
        <p:spPr>
          <a:xfrm>
            <a:off x="914400" y="1828800"/>
            <a:ext cx="4754880" cy="329184"/>
          </a:xfrm>
          <a:prstGeom prst="rect">
            <a:avLst/>
          </a:prstGeom>
          <a:noFill/>
          <a:ln/>
        </p:spPr>
        <p:txBody>
          <a:bodyPr wrap="square" lIns="0" tIns="0" rIns="0" bIns="0" rtlCol="0" anchor="ctr"/>
          <a:lstStyle/>
          <a:p>
            <a:pPr indent="0" marL="0">
              <a:buNone/>
            </a:pPr>
            <a:r>
              <a:rPr lang="en-US" sz="1700" b="1" dirty="0">
                <a:solidFill>
                  <a:srgbClr val="101420"/>
                </a:solidFill>
                <a:latin typeface="맑은 고딕" pitchFamily="34" charset="0"/>
                <a:ea typeface="맑은 고딕" pitchFamily="34" charset="-122"/>
                <a:cs typeface="맑은 고딕" pitchFamily="34" charset="-120"/>
              </a:rPr>
              <a:t>온라인 쇼핑몰</a:t>
            </a:r>
            <a:endParaRPr lang="en-US" sz="1700" dirty="0"/>
          </a:p>
        </p:txBody>
      </p:sp>
      <p:sp>
        <p:nvSpPr>
          <p:cNvPr id="8" name="Text 6"/>
          <p:cNvSpPr txBox="1"/>
          <p:nvPr/>
        </p:nvSpPr>
        <p:spPr>
          <a:xfrm>
            <a:off x="914400" y="2286000"/>
            <a:ext cx="4754880" cy="228600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101420"/>
                </a:solidFill>
                <a:latin typeface="맑은 고딕" pitchFamily="34" charset="0"/>
                <a:ea typeface="맑은 고딕" pitchFamily="34" charset="-122"/>
                <a:cs typeface="맑은 고딕" pitchFamily="34" charset="-120"/>
              </a:rPr>
              <a:t>어느 상품에서 이탈했는지 초 단위로 안다</a:t>
            </a:r>
            <a:endParaRPr lang="en-US" sz="1400" dirty="0"/>
          </a:p>
          <a:p>
            <a:pPr marL="342900" indent="-342900">
              <a:spcAft>
                <a:spcPts val="1000"/>
              </a:spcAft>
              <a:buSzPct val="100000"/>
              <a:buChar char="•"/>
            </a:pPr>
            <a:r>
              <a:rPr lang="en-US" sz="1400" dirty="0">
                <a:solidFill>
                  <a:srgbClr val="101420"/>
                </a:solidFill>
                <a:latin typeface="맑은 고딕" pitchFamily="34" charset="0"/>
                <a:ea typeface="맑은 고딕" pitchFamily="34" charset="-122"/>
                <a:cs typeface="맑은 고딕" pitchFamily="34" charset="-120"/>
              </a:rPr>
              <a:t>장바구니에 담고 안 산 상품을 안다</a:t>
            </a:r>
            <a:endParaRPr lang="en-US" sz="1400" dirty="0"/>
          </a:p>
          <a:p>
            <a:pPr marL="342900" indent="-342900">
              <a:spcAft>
                <a:spcPts val="1000"/>
              </a:spcAft>
              <a:buSzPct val="100000"/>
              <a:buChar char="•"/>
            </a:pPr>
            <a:r>
              <a:rPr lang="en-US" sz="1400" dirty="0">
                <a:solidFill>
                  <a:srgbClr val="101420"/>
                </a:solidFill>
                <a:latin typeface="맑은 고딕" pitchFamily="34" charset="0"/>
                <a:ea typeface="맑은 고딕" pitchFamily="34" charset="-122"/>
                <a:cs typeface="맑은 고딕" pitchFamily="34" charset="-120"/>
              </a:rPr>
              <a:t>신규 방문자와 재방문자를 구분한다</a:t>
            </a:r>
            <a:endParaRPr lang="en-US" sz="1400" dirty="0"/>
          </a:p>
          <a:p>
            <a:pPr marL="342900" indent="-342900">
              <a:spcAft>
                <a:spcPts val="1000"/>
              </a:spcAft>
              <a:buSzPct val="100000"/>
              <a:buChar char="•"/>
            </a:pPr>
            <a:r>
              <a:rPr lang="en-US" sz="1400" dirty="0">
                <a:solidFill>
                  <a:srgbClr val="101420"/>
                </a:solidFill>
                <a:latin typeface="맑은 고딕" pitchFamily="34" charset="0"/>
                <a:ea typeface="맑은 고딕" pitchFamily="34" charset="-122"/>
                <a:cs typeface="맑은 고딕" pitchFamily="34" charset="-120"/>
              </a:rPr>
              <a:t>이탈 고객에게 리타게팅 광고를 보낸다</a:t>
            </a:r>
            <a:endParaRPr lang="en-US" sz="1400" dirty="0"/>
          </a:p>
        </p:txBody>
      </p:sp>
      <p:sp>
        <p:nvSpPr>
          <p:cNvPr id="9" name="Shape 7"/>
          <p:cNvSpPr/>
          <p:nvPr/>
        </p:nvSpPr>
        <p:spPr>
          <a:xfrm>
            <a:off x="6355080" y="1554480"/>
            <a:ext cx="5285232" cy="3291840"/>
          </a:xfrm>
          <a:prstGeom prst="roundRect">
            <a:avLst>
              <a:gd name="adj" fmla="val 1667"/>
            </a:avLst>
          </a:prstGeom>
          <a:solidFill>
            <a:srgbClr val="F6F7F9"/>
          </a:solidFill>
          <a:ln w="12700">
            <a:solidFill>
              <a:srgbClr val="E3E6EB"/>
            </a:solidFill>
            <a:prstDash val="solid"/>
          </a:ln>
          <a:effectLst>
            <a:outerShdw sx="100000" sy="100000" kx="0" ky="0" algn="bl" rotWithShape="0" blurRad="177800" dist="38100" dir="5400000">
              <a:srgbClr val="9AA3B0">
                <a:alpha val="20000"/>
              </a:srgbClr>
            </a:outerShdw>
          </a:effectLst>
        </p:spPr>
      </p:sp>
      <p:sp>
        <p:nvSpPr>
          <p:cNvPr id="10" name="Text 8"/>
          <p:cNvSpPr txBox="1"/>
          <p:nvPr/>
        </p:nvSpPr>
        <p:spPr>
          <a:xfrm>
            <a:off x="6720840" y="1828800"/>
            <a:ext cx="4572000" cy="329184"/>
          </a:xfrm>
          <a:prstGeom prst="rect">
            <a:avLst/>
          </a:prstGeom>
          <a:noFill/>
          <a:ln/>
        </p:spPr>
        <p:txBody>
          <a:bodyPr wrap="square" lIns="0" tIns="0" rIns="0" bIns="0" rtlCol="0" anchor="ctr"/>
          <a:lstStyle/>
          <a:p>
            <a:pPr indent="0" marL="0">
              <a:buNone/>
            </a:pPr>
            <a:r>
              <a:rPr lang="en-US" sz="1700" b="1" dirty="0">
                <a:solidFill>
                  <a:srgbClr val="E11D2E"/>
                </a:solidFill>
                <a:latin typeface="맑은 고딕" pitchFamily="34" charset="0"/>
                <a:ea typeface="맑은 고딕" pitchFamily="34" charset="-122"/>
                <a:cs typeface="맑은 고딕" pitchFamily="34" charset="-120"/>
              </a:rPr>
              <a:t>오프라인 팝업스토어</a:t>
            </a:r>
            <a:endParaRPr lang="en-US" sz="1700" dirty="0"/>
          </a:p>
        </p:txBody>
      </p:sp>
      <p:sp>
        <p:nvSpPr>
          <p:cNvPr id="11" name="Text 9"/>
          <p:cNvSpPr txBox="1"/>
          <p:nvPr/>
        </p:nvSpPr>
        <p:spPr>
          <a:xfrm>
            <a:off x="6720840" y="2331720"/>
            <a:ext cx="4572000" cy="457200"/>
          </a:xfrm>
          <a:prstGeom prst="rect">
            <a:avLst/>
          </a:prstGeom>
          <a:noFill/>
          <a:ln/>
        </p:spPr>
        <p:txBody>
          <a:bodyPr wrap="square" lIns="0" tIns="0" rIns="0" bIns="0" rtlCol="0" anchor="ctr"/>
          <a:lstStyle/>
          <a:p>
            <a:pPr indent="0" marL="0">
              <a:buNone/>
            </a:pPr>
            <a:r>
              <a:rPr lang="en-US" sz="2600" b="1" dirty="0">
                <a:solidFill>
                  <a:srgbClr val="101420"/>
                </a:solidFill>
                <a:latin typeface="맑은 고딕" pitchFamily="34" charset="0"/>
                <a:ea typeface="맑은 고딕" pitchFamily="34" charset="-122"/>
                <a:cs typeface="맑은 고딕" pitchFamily="34" charset="-120"/>
              </a:rPr>
              <a:t>매출 총액</a:t>
            </a:r>
            <a:endParaRPr lang="en-US" sz="2600" dirty="0"/>
          </a:p>
        </p:txBody>
      </p:sp>
      <p:sp>
        <p:nvSpPr>
          <p:cNvPr id="12" name="Text 10"/>
          <p:cNvSpPr txBox="1"/>
          <p:nvPr/>
        </p:nvSpPr>
        <p:spPr>
          <a:xfrm>
            <a:off x="6720840" y="2834640"/>
            <a:ext cx="4572000" cy="457200"/>
          </a:xfrm>
          <a:prstGeom prst="rect">
            <a:avLst/>
          </a:prstGeom>
          <a:noFill/>
          <a:ln/>
        </p:spPr>
        <p:txBody>
          <a:bodyPr wrap="square" lIns="0" tIns="0" rIns="0" bIns="0" rtlCol="0" anchor="ctr"/>
          <a:lstStyle/>
          <a:p>
            <a:pPr indent="0" marL="0">
              <a:buNone/>
            </a:pPr>
            <a:r>
              <a:rPr lang="en-US" sz="2600" b="1" dirty="0">
                <a:solidFill>
                  <a:srgbClr val="101420"/>
                </a:solidFill>
                <a:latin typeface="맑은 고딕" pitchFamily="34" charset="0"/>
                <a:ea typeface="맑은 고딕" pitchFamily="34" charset="-122"/>
                <a:cs typeface="맑은 고딕" pitchFamily="34" charset="-120"/>
              </a:rPr>
              <a:t>인스타그램 해시태그 개수</a:t>
            </a:r>
            <a:endParaRPr lang="en-US" sz="2600" dirty="0"/>
          </a:p>
        </p:txBody>
      </p:sp>
      <p:sp>
        <p:nvSpPr>
          <p:cNvPr id="13" name="Text 11"/>
          <p:cNvSpPr txBox="1"/>
          <p:nvPr/>
        </p:nvSpPr>
        <p:spPr>
          <a:xfrm>
            <a:off x="6720840" y="3383280"/>
            <a:ext cx="4572000" cy="457200"/>
          </a:xfrm>
          <a:prstGeom prst="rect">
            <a:avLst/>
          </a:prstGeom>
          <a:noFill/>
          <a:ln/>
        </p:spPr>
        <p:txBody>
          <a:bodyPr wrap="square" lIns="0" tIns="0" rIns="0" bIns="0" rtlCol="0" anchor="ctr"/>
          <a:lstStyle/>
          <a:p>
            <a:pPr indent="0" marL="0">
              <a:buNone/>
            </a:pPr>
            <a:r>
              <a:rPr lang="en-US" sz="2600" b="1" dirty="0">
                <a:solidFill>
                  <a:srgbClr val="5D6675"/>
                </a:solidFill>
                <a:latin typeface="맑은 고딕" pitchFamily="34" charset="0"/>
                <a:ea typeface="맑은 고딕" pitchFamily="34" charset="-122"/>
                <a:cs typeface="맑은 고딕" pitchFamily="34" charset="-120"/>
              </a:rPr>
              <a:t>끝.</a:t>
            </a:r>
            <a:endParaRPr lang="en-US" sz="2600" dirty="0"/>
          </a:p>
        </p:txBody>
      </p:sp>
      <p:sp>
        <p:nvSpPr>
          <p:cNvPr id="14" name="Shape 12"/>
          <p:cNvSpPr/>
          <p:nvPr/>
        </p:nvSpPr>
        <p:spPr>
          <a:xfrm>
            <a:off x="548640" y="5074920"/>
            <a:ext cx="11091672" cy="960120"/>
          </a:xfrm>
          <a:prstGeom prst="roundRect">
            <a:avLst>
              <a:gd name="adj" fmla="val 5714"/>
            </a:avLst>
          </a:prstGeom>
          <a:solidFill>
            <a:srgbClr val="101420"/>
          </a:solidFill>
          <a:ln/>
        </p:spPr>
      </p:sp>
      <p:sp>
        <p:nvSpPr>
          <p:cNvPr id="15" name="Text 13"/>
          <p:cNvSpPr txBox="1"/>
          <p:nvPr/>
        </p:nvSpPr>
        <p:spPr>
          <a:xfrm>
            <a:off x="914400" y="5074920"/>
            <a:ext cx="10424160" cy="960120"/>
          </a:xfrm>
          <a:prstGeom prst="rect">
            <a:avLst/>
          </a:prstGeom>
          <a:noFill/>
          <a:ln/>
        </p:spPr>
        <p:txBody>
          <a:bodyPr wrap="square" lIns="0" tIns="0" rIns="0" bIns="0" rtlCol="0" anchor="ctr"/>
          <a:lstStyle/>
          <a:p>
            <a:pPr indent="0" marL="0">
              <a:buNone/>
            </a:pPr>
            <a:r>
              <a:rPr lang="en-US" sz="1800" b="1" dirty="0">
                <a:solidFill>
                  <a:srgbClr val="FFFFFF"/>
                </a:solidFill>
                <a:latin typeface="맑은 고딕" pitchFamily="34" charset="0"/>
                <a:ea typeface="맑은 고딕" pitchFamily="34" charset="-122"/>
                <a:cs typeface="맑은 고딕" pitchFamily="34" charset="-120"/>
              </a:rPr>
              <a:t>그래서 브랜드는 다음 팝업도 감으로 엽니다. 오프라인은 20년 전과 똑같습니다.</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457200"/>
            <a:ext cx="420624" cy="420624"/>
          </a:xfrm>
          <a:prstGeom prst="roundRect">
            <a:avLst>
              <a:gd name="adj" fmla="val 17391"/>
            </a:avLst>
          </a:prstGeom>
          <a:solidFill>
            <a:srgbClr val="E11D2E"/>
          </a:solidFill>
          <a:ln/>
        </p:spPr>
      </p:sp>
      <p:sp>
        <p:nvSpPr>
          <p:cNvPr id="3" name="Text 1"/>
          <p:cNvSpPr txBox="1"/>
          <p:nvPr/>
        </p:nvSpPr>
        <p:spPr>
          <a:xfrm>
            <a:off x="548640" y="4572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03</a:t>
            </a:r>
            <a:endParaRPr lang="en-US" sz="1500" dirty="0"/>
          </a:p>
        </p:txBody>
      </p:sp>
      <p:sp>
        <p:nvSpPr>
          <p:cNvPr id="4" name="Text 2"/>
          <p:cNvSpPr txBox="1"/>
          <p:nvPr/>
        </p:nvSpPr>
        <p:spPr>
          <a:xfrm>
            <a:off x="1115568" y="402336"/>
            <a:ext cx="10424160" cy="548640"/>
          </a:xfrm>
          <a:prstGeom prst="rect">
            <a:avLst/>
          </a:prstGeom>
          <a:noFill/>
          <a:ln/>
        </p:spPr>
        <p:txBody>
          <a:bodyPr wrap="square" lIns="0" tIns="0" rIns="0" bIns="0" rtlCol="0" anchor="ctr"/>
          <a:lstStyle/>
          <a:p>
            <a:pPr indent="0" marL="0">
              <a:buNone/>
            </a:pPr>
            <a:r>
              <a:rPr lang="en-US" sz="2900" b="1" dirty="0">
                <a:solidFill>
                  <a:srgbClr val="101420"/>
                </a:solidFill>
                <a:latin typeface="맑은 고딕" pitchFamily="34" charset="0"/>
                <a:ea typeface="맑은 고딕" pitchFamily="34" charset="-122"/>
                <a:cs typeface="맑은 고딕" pitchFamily="34" charset="-120"/>
              </a:rPr>
              <a:t>온라인의 GA를 오프라인 매장에 구현합니다</a:t>
            </a:r>
            <a:endParaRPr lang="en-US" sz="2900" dirty="0"/>
          </a:p>
        </p:txBody>
      </p:sp>
      <p:sp>
        <p:nvSpPr>
          <p:cNvPr id="5" name="Text 3"/>
          <p:cNvSpPr txBox="1"/>
          <p:nvPr/>
        </p:nvSpPr>
        <p:spPr>
          <a:xfrm>
            <a:off x="1115568" y="969264"/>
            <a:ext cx="10424160" cy="32918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이미 달려 있는 CCTV가 센서가 되고, L.POINT가 답을 만듭니다</a:t>
            </a:r>
            <a:endParaRPr lang="en-US" sz="1300" dirty="0"/>
          </a:p>
        </p:txBody>
      </p:sp>
      <p:sp>
        <p:nvSpPr>
          <p:cNvPr id="6" name="Text 4"/>
          <p:cNvSpPr txBox="1"/>
          <p:nvPr/>
        </p:nvSpPr>
        <p:spPr>
          <a:xfrm>
            <a:off x="566928" y="1600200"/>
            <a:ext cx="5486400" cy="1371600"/>
          </a:xfrm>
          <a:prstGeom prst="rect">
            <a:avLst/>
          </a:prstGeom>
          <a:noFill/>
          <a:ln/>
        </p:spPr>
        <p:txBody>
          <a:bodyPr wrap="square" lIns="0" tIns="0" rIns="0" bIns="0" rtlCol="0" anchor="ctr"/>
          <a:lstStyle/>
          <a:p>
            <a:pPr indent="0" marL="0">
              <a:lnSpc>
                <a:spcPts val="4000"/>
              </a:lnSpc>
              <a:buNone/>
            </a:pPr>
            <a:r>
              <a:rPr lang="en-US" sz="2000" dirty="0">
                <a:solidFill>
                  <a:srgbClr val="5D6675"/>
                </a:solidFill>
                <a:latin typeface="맑은 고딕" pitchFamily="34" charset="0"/>
                <a:ea typeface="맑은 고딕" pitchFamily="34" charset="-122"/>
                <a:cs typeface="맑은 고딕" pitchFamily="34" charset="-120"/>
              </a:rPr>
              <a:t>저희가 브랜드에 드리는 것은
</a:t>
            </a:r>
            <a:endParaRPr lang="en-US" sz="2000" dirty="0"/>
          </a:p>
          <a:p>
            <a:pPr indent="0" marL="0">
              <a:lnSpc>
                <a:spcPts val="4000"/>
              </a:lnSpc>
              <a:buNone/>
            </a:pPr>
            <a:r>
              <a:rPr lang="en-US" sz="2800" b="1" dirty="0">
                <a:solidFill>
                  <a:srgbClr val="101420"/>
                </a:solidFill>
                <a:latin typeface="맑은 고딕" pitchFamily="34" charset="0"/>
                <a:ea typeface="맑은 고딕" pitchFamily="34" charset="-122"/>
                <a:cs typeface="맑은 고딕" pitchFamily="34" charset="-120"/>
              </a:rPr>
              <a:t>대시보드가 아니라 </a:t>
            </a:r>
            <a:pPr indent="0" marL="0">
              <a:lnSpc>
                <a:spcPts val="4000"/>
              </a:lnSpc>
              <a:buNone/>
            </a:pPr>
            <a:r>
              <a:rPr lang="en-US" sz="2800" b="1" dirty="0">
                <a:solidFill>
                  <a:srgbClr val="E11D2E"/>
                </a:solidFill>
                <a:latin typeface="맑은 고딕" pitchFamily="34" charset="0"/>
                <a:ea typeface="맑은 고딕" pitchFamily="34" charset="-122"/>
                <a:cs typeface="맑은 고딕" pitchFamily="34" charset="-120"/>
              </a:rPr>
              <a:t>답</a:t>
            </a:r>
            <a:pPr indent="0" marL="0">
              <a:lnSpc>
                <a:spcPts val="4000"/>
              </a:lnSpc>
              <a:buNone/>
            </a:pPr>
            <a:r>
              <a:rPr lang="en-US" sz="2800" b="1" dirty="0">
                <a:solidFill>
                  <a:srgbClr val="101420"/>
                </a:solidFill>
                <a:latin typeface="맑은 고딕" pitchFamily="34" charset="0"/>
                <a:ea typeface="맑은 고딕" pitchFamily="34" charset="-122"/>
                <a:cs typeface="맑은 고딕" pitchFamily="34" charset="-120"/>
              </a:rPr>
              <a:t>입니다.</a:t>
            </a:r>
            <a:endParaRPr lang="en-US" sz="2000" dirty="0"/>
          </a:p>
        </p:txBody>
      </p:sp>
      <p:sp>
        <p:nvSpPr>
          <p:cNvPr id="7" name="Shape 5"/>
          <p:cNvSpPr/>
          <p:nvPr/>
        </p:nvSpPr>
        <p:spPr>
          <a:xfrm>
            <a:off x="566928" y="3218688"/>
            <a:ext cx="566928" cy="512064"/>
          </a:xfrm>
          <a:prstGeom prst="roundRect">
            <a:avLst>
              <a:gd name="adj" fmla="val 14286"/>
            </a:avLst>
          </a:prstGeom>
          <a:solidFill>
            <a:srgbClr val="E3E6EB"/>
          </a:solidFill>
          <a:ln/>
        </p:spPr>
      </p:sp>
      <p:sp>
        <p:nvSpPr>
          <p:cNvPr id="8" name="Text 6"/>
          <p:cNvSpPr txBox="1"/>
          <p:nvPr/>
        </p:nvSpPr>
        <p:spPr>
          <a:xfrm>
            <a:off x="566928" y="3218688"/>
            <a:ext cx="566928" cy="512064"/>
          </a:xfrm>
          <a:prstGeom prst="rect">
            <a:avLst/>
          </a:prstGeom>
          <a:noFill/>
          <a:ln/>
        </p:spPr>
        <p:txBody>
          <a:bodyPr wrap="square" lIns="0" tIns="0" rIns="0" bIns="0" rtlCol="0" anchor="ctr"/>
          <a:lstStyle/>
          <a:p>
            <a:pPr algn="ctr" indent="0" marL="0">
              <a:buNone/>
            </a:pPr>
            <a:r>
              <a:rPr lang="en-US" sz="1300" b="1" dirty="0">
                <a:solidFill>
                  <a:srgbClr val="5D6675"/>
                </a:solidFill>
                <a:latin typeface="맑은 고딕" pitchFamily="34" charset="0"/>
                <a:ea typeface="맑은 고딕" pitchFamily="34" charset="-122"/>
                <a:cs typeface="맑은 고딕" pitchFamily="34" charset="-120"/>
              </a:rPr>
              <a:t>L1</a:t>
            </a:r>
            <a:endParaRPr lang="en-US" sz="1300" dirty="0"/>
          </a:p>
        </p:txBody>
      </p:sp>
      <p:sp>
        <p:nvSpPr>
          <p:cNvPr id="9" name="Text 7"/>
          <p:cNvSpPr txBox="1"/>
          <p:nvPr/>
        </p:nvSpPr>
        <p:spPr>
          <a:xfrm>
            <a:off x="1280160" y="3218688"/>
            <a:ext cx="1463040" cy="512064"/>
          </a:xfrm>
          <a:prstGeom prst="rect">
            <a:avLst/>
          </a:prstGeom>
          <a:noFill/>
          <a:ln/>
        </p:spPr>
        <p:txBody>
          <a:bodyPr wrap="square" lIns="0" tIns="0" rIns="0" bIns="0" rtlCol="0" anchor="ctr"/>
          <a:lstStyle/>
          <a:p>
            <a:pPr indent="0" marL="0">
              <a:buNone/>
            </a:pPr>
            <a:r>
              <a:rPr lang="en-US" sz="1500" b="1" dirty="0">
                <a:solidFill>
                  <a:srgbClr val="101420"/>
                </a:solidFill>
                <a:latin typeface="맑은 고딕" pitchFamily="34" charset="0"/>
                <a:ea typeface="맑은 고딕" pitchFamily="34" charset="-122"/>
                <a:cs typeface="맑은 고딕" pitchFamily="34" charset="-120"/>
              </a:rPr>
              <a:t>측정</a:t>
            </a:r>
            <a:endParaRPr lang="en-US" sz="1500" dirty="0"/>
          </a:p>
        </p:txBody>
      </p:sp>
      <p:sp>
        <p:nvSpPr>
          <p:cNvPr id="10" name="Text 8"/>
          <p:cNvSpPr txBox="1"/>
          <p:nvPr/>
        </p:nvSpPr>
        <p:spPr>
          <a:xfrm>
            <a:off x="2743200" y="3218688"/>
            <a:ext cx="3383280" cy="51206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무슨 일이 있었나</a:t>
            </a:r>
            <a:endParaRPr lang="en-US" sz="1300" dirty="0"/>
          </a:p>
        </p:txBody>
      </p:sp>
      <p:sp>
        <p:nvSpPr>
          <p:cNvPr id="11" name="Shape 9"/>
          <p:cNvSpPr/>
          <p:nvPr/>
        </p:nvSpPr>
        <p:spPr>
          <a:xfrm>
            <a:off x="566928" y="3822192"/>
            <a:ext cx="566928" cy="512064"/>
          </a:xfrm>
          <a:prstGeom prst="roundRect">
            <a:avLst>
              <a:gd name="adj" fmla="val 14286"/>
            </a:avLst>
          </a:prstGeom>
          <a:solidFill>
            <a:srgbClr val="E3E6EB"/>
          </a:solidFill>
          <a:ln/>
        </p:spPr>
      </p:sp>
      <p:sp>
        <p:nvSpPr>
          <p:cNvPr id="12" name="Text 10"/>
          <p:cNvSpPr txBox="1"/>
          <p:nvPr/>
        </p:nvSpPr>
        <p:spPr>
          <a:xfrm>
            <a:off x="566928" y="3822192"/>
            <a:ext cx="566928" cy="512064"/>
          </a:xfrm>
          <a:prstGeom prst="rect">
            <a:avLst/>
          </a:prstGeom>
          <a:noFill/>
          <a:ln/>
        </p:spPr>
        <p:txBody>
          <a:bodyPr wrap="square" lIns="0" tIns="0" rIns="0" bIns="0" rtlCol="0" anchor="ctr"/>
          <a:lstStyle/>
          <a:p>
            <a:pPr algn="ctr" indent="0" marL="0">
              <a:buNone/>
            </a:pPr>
            <a:r>
              <a:rPr lang="en-US" sz="1300" b="1" dirty="0">
                <a:solidFill>
                  <a:srgbClr val="5D6675"/>
                </a:solidFill>
                <a:latin typeface="맑은 고딕" pitchFamily="34" charset="0"/>
                <a:ea typeface="맑은 고딕" pitchFamily="34" charset="-122"/>
                <a:cs typeface="맑은 고딕" pitchFamily="34" charset="-120"/>
              </a:rPr>
              <a:t>L2</a:t>
            </a:r>
            <a:endParaRPr lang="en-US" sz="1300" dirty="0"/>
          </a:p>
        </p:txBody>
      </p:sp>
      <p:sp>
        <p:nvSpPr>
          <p:cNvPr id="13" name="Text 11"/>
          <p:cNvSpPr txBox="1"/>
          <p:nvPr/>
        </p:nvSpPr>
        <p:spPr>
          <a:xfrm>
            <a:off x="1280160" y="3822192"/>
            <a:ext cx="1463040" cy="512064"/>
          </a:xfrm>
          <a:prstGeom prst="rect">
            <a:avLst/>
          </a:prstGeom>
          <a:noFill/>
          <a:ln/>
        </p:spPr>
        <p:txBody>
          <a:bodyPr wrap="square" lIns="0" tIns="0" rIns="0" bIns="0" rtlCol="0" anchor="ctr"/>
          <a:lstStyle/>
          <a:p>
            <a:pPr indent="0" marL="0">
              <a:buNone/>
            </a:pPr>
            <a:r>
              <a:rPr lang="en-US" sz="1500" b="1" dirty="0">
                <a:solidFill>
                  <a:srgbClr val="101420"/>
                </a:solidFill>
                <a:latin typeface="맑은 고딕" pitchFamily="34" charset="0"/>
                <a:ea typeface="맑은 고딕" pitchFamily="34" charset="-122"/>
                <a:cs typeface="맑은 고딕" pitchFamily="34" charset="-120"/>
              </a:rPr>
              <a:t>진단</a:t>
            </a:r>
            <a:endParaRPr lang="en-US" sz="1500" dirty="0"/>
          </a:p>
        </p:txBody>
      </p:sp>
      <p:sp>
        <p:nvSpPr>
          <p:cNvPr id="14" name="Text 12"/>
          <p:cNvSpPr txBox="1"/>
          <p:nvPr/>
        </p:nvSpPr>
        <p:spPr>
          <a:xfrm>
            <a:off x="2743200" y="3822192"/>
            <a:ext cx="3383280" cy="51206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왜 그랬나</a:t>
            </a:r>
            <a:endParaRPr lang="en-US" sz="1300" dirty="0"/>
          </a:p>
        </p:txBody>
      </p:sp>
      <p:sp>
        <p:nvSpPr>
          <p:cNvPr id="15" name="Shape 13"/>
          <p:cNvSpPr/>
          <p:nvPr/>
        </p:nvSpPr>
        <p:spPr>
          <a:xfrm>
            <a:off x="566928" y="4425696"/>
            <a:ext cx="566928" cy="512064"/>
          </a:xfrm>
          <a:prstGeom prst="roundRect">
            <a:avLst>
              <a:gd name="adj" fmla="val 14286"/>
            </a:avLst>
          </a:prstGeom>
          <a:solidFill>
            <a:srgbClr val="E11D2E"/>
          </a:solidFill>
          <a:ln/>
        </p:spPr>
      </p:sp>
      <p:sp>
        <p:nvSpPr>
          <p:cNvPr id="16" name="Text 14"/>
          <p:cNvSpPr txBox="1"/>
          <p:nvPr/>
        </p:nvSpPr>
        <p:spPr>
          <a:xfrm>
            <a:off x="566928" y="4425696"/>
            <a:ext cx="566928" cy="51206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L3</a:t>
            </a:r>
            <a:endParaRPr lang="en-US" sz="1300" dirty="0"/>
          </a:p>
        </p:txBody>
      </p:sp>
      <p:sp>
        <p:nvSpPr>
          <p:cNvPr id="17" name="Text 15"/>
          <p:cNvSpPr txBox="1"/>
          <p:nvPr/>
        </p:nvSpPr>
        <p:spPr>
          <a:xfrm>
            <a:off x="1280160" y="4425696"/>
            <a:ext cx="1463040" cy="512064"/>
          </a:xfrm>
          <a:prstGeom prst="rect">
            <a:avLst/>
          </a:prstGeom>
          <a:noFill/>
          <a:ln/>
        </p:spPr>
        <p:txBody>
          <a:bodyPr wrap="square" lIns="0" tIns="0" rIns="0" bIns="0" rtlCol="0" anchor="ctr"/>
          <a:lstStyle/>
          <a:p>
            <a:pPr indent="0" marL="0">
              <a:buNone/>
            </a:pPr>
            <a:r>
              <a:rPr lang="en-US" sz="1500" b="1" dirty="0">
                <a:solidFill>
                  <a:srgbClr val="101420"/>
                </a:solidFill>
                <a:latin typeface="맑은 고딕" pitchFamily="34" charset="0"/>
                <a:ea typeface="맑은 고딕" pitchFamily="34" charset="-122"/>
                <a:cs typeface="맑은 고딕" pitchFamily="34" charset="-120"/>
              </a:rPr>
              <a:t>인사이트</a:t>
            </a:r>
            <a:endParaRPr lang="en-US" sz="1500" dirty="0"/>
          </a:p>
        </p:txBody>
      </p:sp>
      <p:sp>
        <p:nvSpPr>
          <p:cNvPr id="18" name="Text 16"/>
          <p:cNvSpPr txBox="1"/>
          <p:nvPr/>
        </p:nvSpPr>
        <p:spPr>
          <a:xfrm>
            <a:off x="2743200" y="4425696"/>
            <a:ext cx="3383280" cy="51206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그 사람은 누구인가</a:t>
            </a:r>
            <a:endParaRPr lang="en-US" sz="1300" dirty="0"/>
          </a:p>
        </p:txBody>
      </p:sp>
      <p:sp>
        <p:nvSpPr>
          <p:cNvPr id="19" name="Shape 17"/>
          <p:cNvSpPr/>
          <p:nvPr/>
        </p:nvSpPr>
        <p:spPr>
          <a:xfrm>
            <a:off x="566928" y="5029200"/>
            <a:ext cx="566928" cy="512064"/>
          </a:xfrm>
          <a:prstGeom prst="roundRect">
            <a:avLst>
              <a:gd name="adj" fmla="val 14286"/>
            </a:avLst>
          </a:prstGeom>
          <a:solidFill>
            <a:srgbClr val="E11D2E"/>
          </a:solidFill>
          <a:ln/>
        </p:spPr>
      </p:sp>
      <p:sp>
        <p:nvSpPr>
          <p:cNvPr id="20" name="Text 18"/>
          <p:cNvSpPr txBox="1"/>
          <p:nvPr/>
        </p:nvSpPr>
        <p:spPr>
          <a:xfrm>
            <a:off x="566928" y="5029200"/>
            <a:ext cx="566928" cy="51206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L4</a:t>
            </a:r>
            <a:endParaRPr lang="en-US" sz="1300" dirty="0"/>
          </a:p>
        </p:txBody>
      </p:sp>
      <p:sp>
        <p:nvSpPr>
          <p:cNvPr id="21" name="Text 19"/>
          <p:cNvSpPr txBox="1"/>
          <p:nvPr/>
        </p:nvSpPr>
        <p:spPr>
          <a:xfrm>
            <a:off x="1280160" y="5029200"/>
            <a:ext cx="1463040" cy="512064"/>
          </a:xfrm>
          <a:prstGeom prst="rect">
            <a:avLst/>
          </a:prstGeom>
          <a:noFill/>
          <a:ln/>
        </p:spPr>
        <p:txBody>
          <a:bodyPr wrap="square" lIns="0" tIns="0" rIns="0" bIns="0" rtlCol="0" anchor="ctr"/>
          <a:lstStyle/>
          <a:p>
            <a:pPr indent="0" marL="0">
              <a:buNone/>
            </a:pPr>
            <a:r>
              <a:rPr lang="en-US" sz="1500" b="1" dirty="0">
                <a:solidFill>
                  <a:srgbClr val="101420"/>
                </a:solidFill>
                <a:latin typeface="맑은 고딕" pitchFamily="34" charset="0"/>
                <a:ea typeface="맑은 고딕" pitchFamily="34" charset="-122"/>
                <a:cs typeface="맑은 고딕" pitchFamily="34" charset="-120"/>
              </a:rPr>
              <a:t>처방</a:t>
            </a:r>
            <a:endParaRPr lang="en-US" sz="1500" dirty="0"/>
          </a:p>
        </p:txBody>
      </p:sp>
      <p:sp>
        <p:nvSpPr>
          <p:cNvPr id="22" name="Text 20"/>
          <p:cNvSpPr txBox="1"/>
          <p:nvPr/>
        </p:nvSpPr>
        <p:spPr>
          <a:xfrm>
            <a:off x="2743200" y="5029200"/>
            <a:ext cx="3383280" cy="51206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무엇을 바꿔야 하나</a:t>
            </a:r>
            <a:endParaRPr lang="en-US" sz="1300" dirty="0"/>
          </a:p>
        </p:txBody>
      </p:sp>
      <p:sp>
        <p:nvSpPr>
          <p:cNvPr id="23" name="Shape 21"/>
          <p:cNvSpPr/>
          <p:nvPr/>
        </p:nvSpPr>
        <p:spPr>
          <a:xfrm>
            <a:off x="566928" y="5632704"/>
            <a:ext cx="566928" cy="512064"/>
          </a:xfrm>
          <a:prstGeom prst="roundRect">
            <a:avLst>
              <a:gd name="adj" fmla="val 14286"/>
            </a:avLst>
          </a:prstGeom>
          <a:solidFill>
            <a:srgbClr val="E11D2E"/>
          </a:solidFill>
          <a:ln/>
        </p:spPr>
      </p:sp>
      <p:sp>
        <p:nvSpPr>
          <p:cNvPr id="24" name="Text 22"/>
          <p:cNvSpPr txBox="1"/>
          <p:nvPr/>
        </p:nvSpPr>
        <p:spPr>
          <a:xfrm>
            <a:off x="566928" y="5632704"/>
            <a:ext cx="566928" cy="51206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L5</a:t>
            </a:r>
            <a:endParaRPr lang="en-US" sz="1300" dirty="0"/>
          </a:p>
        </p:txBody>
      </p:sp>
      <p:sp>
        <p:nvSpPr>
          <p:cNvPr id="25" name="Text 23"/>
          <p:cNvSpPr txBox="1"/>
          <p:nvPr/>
        </p:nvSpPr>
        <p:spPr>
          <a:xfrm>
            <a:off x="1280160" y="5632704"/>
            <a:ext cx="1463040" cy="512064"/>
          </a:xfrm>
          <a:prstGeom prst="rect">
            <a:avLst/>
          </a:prstGeom>
          <a:noFill/>
          <a:ln/>
        </p:spPr>
        <p:txBody>
          <a:bodyPr wrap="square" lIns="0" tIns="0" rIns="0" bIns="0" rtlCol="0" anchor="ctr"/>
          <a:lstStyle/>
          <a:p>
            <a:pPr indent="0" marL="0">
              <a:buNone/>
            </a:pPr>
            <a:r>
              <a:rPr lang="en-US" sz="1500" b="1" dirty="0">
                <a:solidFill>
                  <a:srgbClr val="101420"/>
                </a:solidFill>
                <a:latin typeface="맑은 고딕" pitchFamily="34" charset="0"/>
                <a:ea typeface="맑은 고딕" pitchFamily="34" charset="-122"/>
                <a:cs typeface="맑은 고딕" pitchFamily="34" charset="-120"/>
              </a:rPr>
              <a:t>검증</a:t>
            </a:r>
            <a:endParaRPr lang="en-US" sz="1500" dirty="0"/>
          </a:p>
        </p:txBody>
      </p:sp>
      <p:sp>
        <p:nvSpPr>
          <p:cNvPr id="26" name="Text 24"/>
          <p:cNvSpPr txBox="1"/>
          <p:nvPr/>
        </p:nvSpPr>
        <p:spPr>
          <a:xfrm>
            <a:off x="2743200" y="5632704"/>
            <a:ext cx="3383280" cy="51206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바꿨더니 통했나</a:t>
            </a:r>
            <a:endParaRPr lang="en-US" sz="1300" dirty="0"/>
          </a:p>
        </p:txBody>
      </p:sp>
      <p:sp>
        <p:nvSpPr>
          <p:cNvPr id="27" name="Shape 25"/>
          <p:cNvSpPr/>
          <p:nvPr/>
        </p:nvSpPr>
        <p:spPr>
          <a:xfrm>
            <a:off x="6492240" y="1572768"/>
            <a:ext cx="5148072" cy="4526280"/>
          </a:xfrm>
          <a:prstGeom prst="roundRect">
            <a:avLst>
              <a:gd name="adj" fmla="val 1212"/>
            </a:avLst>
          </a:prstGeom>
          <a:solidFill>
            <a:srgbClr val="F6F7F9"/>
          </a:solidFill>
          <a:ln w="12700">
            <a:solidFill>
              <a:srgbClr val="E3E6EB"/>
            </a:solidFill>
            <a:prstDash val="solid"/>
          </a:ln>
          <a:effectLst>
            <a:outerShdw sx="100000" sy="100000" kx="0" ky="0" algn="bl" rotWithShape="0" blurRad="177800" dist="38100" dir="5400000">
              <a:srgbClr val="9AA3B0">
                <a:alpha val="20000"/>
              </a:srgbClr>
            </a:outerShdw>
          </a:effectLst>
        </p:spPr>
      </p:sp>
      <p:sp>
        <p:nvSpPr>
          <p:cNvPr id="28" name="Text 26"/>
          <p:cNvSpPr txBox="1"/>
          <p:nvPr/>
        </p:nvSpPr>
        <p:spPr>
          <a:xfrm>
            <a:off x="6858000" y="1828800"/>
            <a:ext cx="4480560" cy="292608"/>
          </a:xfrm>
          <a:prstGeom prst="rect">
            <a:avLst/>
          </a:prstGeom>
          <a:noFill/>
          <a:ln/>
        </p:spPr>
        <p:txBody>
          <a:bodyPr wrap="square" lIns="0" tIns="0" rIns="0" bIns="0" rtlCol="0" anchor="ctr"/>
          <a:lstStyle/>
          <a:p>
            <a:pPr indent="0" marL="0">
              <a:buNone/>
            </a:pPr>
            <a:r>
              <a:rPr lang="en-US" sz="1200" b="1" spc="100" kern="0" dirty="0">
                <a:solidFill>
                  <a:srgbClr val="5D6675"/>
                </a:solidFill>
                <a:latin typeface="맑은 고딕" pitchFamily="34" charset="0"/>
                <a:ea typeface="맑은 고딕" pitchFamily="34" charset="-122"/>
                <a:cs typeface="맑은 고딕" pitchFamily="34" charset="-120"/>
              </a:rPr>
              <a:t>팝업 종료 리포트  ·  미리보기</a:t>
            </a:r>
            <a:endParaRPr lang="en-US" sz="1200" dirty="0"/>
          </a:p>
        </p:txBody>
      </p:sp>
      <p:sp>
        <p:nvSpPr>
          <p:cNvPr id="29" name="Shape 27"/>
          <p:cNvSpPr/>
          <p:nvPr/>
        </p:nvSpPr>
        <p:spPr>
          <a:xfrm>
            <a:off x="6858000" y="2267712"/>
            <a:ext cx="4480560" cy="804672"/>
          </a:xfrm>
          <a:prstGeom prst="roundRect">
            <a:avLst>
              <a:gd name="adj" fmla="val 5682"/>
            </a:avLst>
          </a:prstGeom>
          <a:solidFill>
            <a:srgbClr val="FFFFFF"/>
          </a:solidFill>
          <a:ln w="12700">
            <a:solidFill>
              <a:srgbClr val="E3E6EB"/>
            </a:solidFill>
            <a:prstDash val="solid"/>
          </a:ln>
        </p:spPr>
      </p:sp>
      <p:sp>
        <p:nvSpPr>
          <p:cNvPr id="30" name="Text 28"/>
          <p:cNvSpPr txBox="1"/>
          <p:nvPr/>
        </p:nvSpPr>
        <p:spPr>
          <a:xfrm>
            <a:off x="7086600" y="2359152"/>
            <a:ext cx="2103120" cy="292608"/>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유입률</a:t>
            </a:r>
            <a:endParaRPr lang="en-US" sz="1300" dirty="0"/>
          </a:p>
        </p:txBody>
      </p:sp>
      <p:sp>
        <p:nvSpPr>
          <p:cNvPr id="31" name="Text 29"/>
          <p:cNvSpPr txBox="1"/>
          <p:nvPr/>
        </p:nvSpPr>
        <p:spPr>
          <a:xfrm>
            <a:off x="7086600" y="2670048"/>
            <a:ext cx="2377440" cy="274320"/>
          </a:xfrm>
          <a:prstGeom prst="rect">
            <a:avLst/>
          </a:prstGeom>
          <a:noFill/>
          <a:ln/>
        </p:spPr>
        <p:txBody>
          <a:bodyPr wrap="square" lIns="0" tIns="0" rIns="0" bIns="0" rtlCol="0" anchor="ctr"/>
          <a:lstStyle/>
          <a:p>
            <a:pPr indent="0" marL="0">
              <a:buNone/>
            </a:pPr>
            <a:r>
              <a:rPr lang="en-US" sz="1100" dirty="0">
                <a:solidFill>
                  <a:srgbClr val="5D6675"/>
                </a:solidFill>
                <a:latin typeface="맑은 고딕" pitchFamily="34" charset="0"/>
                <a:ea typeface="맑은 고딕" pitchFamily="34" charset="-122"/>
                <a:cs typeface="맑은 고딕" pitchFamily="34" charset="-120"/>
              </a:rPr>
              <a:t>벤치마크 5.2%</a:t>
            </a:r>
            <a:endParaRPr lang="en-US" sz="1100" dirty="0"/>
          </a:p>
        </p:txBody>
      </p:sp>
      <p:sp>
        <p:nvSpPr>
          <p:cNvPr id="32" name="Text 30"/>
          <p:cNvSpPr txBox="1"/>
          <p:nvPr/>
        </p:nvSpPr>
        <p:spPr>
          <a:xfrm>
            <a:off x="9326880" y="2395728"/>
            <a:ext cx="1783080" cy="548640"/>
          </a:xfrm>
          <a:prstGeom prst="rect">
            <a:avLst/>
          </a:prstGeom>
          <a:noFill/>
          <a:ln/>
        </p:spPr>
        <p:txBody>
          <a:bodyPr wrap="square" lIns="0" tIns="0" rIns="0" bIns="0" rtlCol="0" anchor="ctr"/>
          <a:lstStyle/>
          <a:p>
            <a:pPr algn="r" indent="0" marL="0">
              <a:buNone/>
            </a:pPr>
            <a:r>
              <a:rPr lang="en-US" sz="2400" b="1" dirty="0">
                <a:solidFill>
                  <a:srgbClr val="E11D2E"/>
                </a:solidFill>
                <a:latin typeface="맑은 고딕" pitchFamily="34" charset="0"/>
                <a:ea typeface="맑은 고딕" pitchFamily="34" charset="-122"/>
                <a:cs typeface="맑은 고딕" pitchFamily="34" charset="-120"/>
              </a:rPr>
              <a:t>6.8%</a:t>
            </a:r>
            <a:endParaRPr lang="en-US" sz="2400" dirty="0"/>
          </a:p>
        </p:txBody>
      </p:sp>
      <p:sp>
        <p:nvSpPr>
          <p:cNvPr id="33" name="Shape 31"/>
          <p:cNvSpPr/>
          <p:nvPr/>
        </p:nvSpPr>
        <p:spPr>
          <a:xfrm>
            <a:off x="6858000" y="3200400"/>
            <a:ext cx="4480560" cy="804672"/>
          </a:xfrm>
          <a:prstGeom prst="roundRect">
            <a:avLst>
              <a:gd name="adj" fmla="val 5682"/>
            </a:avLst>
          </a:prstGeom>
          <a:solidFill>
            <a:srgbClr val="FFFFFF"/>
          </a:solidFill>
          <a:ln w="12700">
            <a:solidFill>
              <a:srgbClr val="E3E6EB"/>
            </a:solidFill>
            <a:prstDash val="solid"/>
          </a:ln>
        </p:spPr>
      </p:sp>
      <p:sp>
        <p:nvSpPr>
          <p:cNvPr id="34" name="Text 32"/>
          <p:cNvSpPr txBox="1"/>
          <p:nvPr/>
        </p:nvSpPr>
        <p:spPr>
          <a:xfrm>
            <a:off x="7086600" y="3291840"/>
            <a:ext cx="2103120" cy="292608"/>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평균 체류</a:t>
            </a:r>
            <a:endParaRPr lang="en-US" sz="1300" dirty="0"/>
          </a:p>
        </p:txBody>
      </p:sp>
      <p:sp>
        <p:nvSpPr>
          <p:cNvPr id="35" name="Text 33"/>
          <p:cNvSpPr txBox="1"/>
          <p:nvPr/>
        </p:nvSpPr>
        <p:spPr>
          <a:xfrm>
            <a:off x="7086600" y="3602736"/>
            <a:ext cx="2377440" cy="274320"/>
          </a:xfrm>
          <a:prstGeom prst="rect">
            <a:avLst/>
          </a:prstGeom>
          <a:noFill/>
          <a:ln/>
        </p:spPr>
        <p:txBody>
          <a:bodyPr wrap="square" lIns="0" tIns="0" rIns="0" bIns="0" rtlCol="0" anchor="ctr"/>
          <a:lstStyle/>
          <a:p>
            <a:pPr indent="0" marL="0">
              <a:buNone/>
            </a:pPr>
            <a:r>
              <a:rPr lang="en-US" sz="1100" dirty="0">
                <a:solidFill>
                  <a:srgbClr val="5D6675"/>
                </a:solidFill>
                <a:latin typeface="맑은 고딕" pitchFamily="34" charset="0"/>
                <a:ea typeface="맑은 고딕" pitchFamily="34" charset="-122"/>
                <a:cs typeface="맑은 고딕" pitchFamily="34" charset="-120"/>
              </a:rPr>
              <a:t>벤치마크 3분 05초</a:t>
            </a:r>
            <a:endParaRPr lang="en-US" sz="1100" dirty="0"/>
          </a:p>
        </p:txBody>
      </p:sp>
      <p:sp>
        <p:nvSpPr>
          <p:cNvPr id="36" name="Text 34"/>
          <p:cNvSpPr txBox="1"/>
          <p:nvPr/>
        </p:nvSpPr>
        <p:spPr>
          <a:xfrm>
            <a:off x="9326880" y="3328416"/>
            <a:ext cx="1783080" cy="548640"/>
          </a:xfrm>
          <a:prstGeom prst="rect">
            <a:avLst/>
          </a:prstGeom>
          <a:noFill/>
          <a:ln/>
        </p:spPr>
        <p:txBody>
          <a:bodyPr wrap="square" lIns="0" tIns="0" rIns="0" bIns="0" rtlCol="0" anchor="ctr"/>
          <a:lstStyle/>
          <a:p>
            <a:pPr algn="r" indent="0" marL="0">
              <a:buNone/>
            </a:pPr>
            <a:r>
              <a:rPr lang="en-US" sz="2400" b="1" dirty="0">
                <a:solidFill>
                  <a:srgbClr val="E11D2E"/>
                </a:solidFill>
                <a:latin typeface="맑은 고딕" pitchFamily="34" charset="0"/>
                <a:ea typeface="맑은 고딕" pitchFamily="34" charset="-122"/>
                <a:cs typeface="맑은 고딕" pitchFamily="34" charset="-120"/>
              </a:rPr>
              <a:t>4분 12초</a:t>
            </a:r>
            <a:endParaRPr lang="en-US" sz="2400" dirty="0"/>
          </a:p>
        </p:txBody>
      </p:sp>
      <p:sp>
        <p:nvSpPr>
          <p:cNvPr id="37" name="Shape 35"/>
          <p:cNvSpPr/>
          <p:nvPr/>
        </p:nvSpPr>
        <p:spPr>
          <a:xfrm>
            <a:off x="6858000" y="4133088"/>
            <a:ext cx="4480560" cy="804672"/>
          </a:xfrm>
          <a:prstGeom prst="roundRect">
            <a:avLst>
              <a:gd name="adj" fmla="val 5682"/>
            </a:avLst>
          </a:prstGeom>
          <a:solidFill>
            <a:srgbClr val="FFFFFF"/>
          </a:solidFill>
          <a:ln w="12700">
            <a:solidFill>
              <a:srgbClr val="E3E6EB"/>
            </a:solidFill>
            <a:prstDash val="solid"/>
          </a:ln>
        </p:spPr>
      </p:sp>
      <p:sp>
        <p:nvSpPr>
          <p:cNvPr id="38" name="Text 36"/>
          <p:cNvSpPr txBox="1"/>
          <p:nvPr/>
        </p:nvSpPr>
        <p:spPr>
          <a:xfrm>
            <a:off x="7086600" y="4224528"/>
            <a:ext cx="2103120" cy="292608"/>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집품률</a:t>
            </a:r>
            <a:endParaRPr lang="en-US" sz="1300" dirty="0"/>
          </a:p>
        </p:txBody>
      </p:sp>
      <p:sp>
        <p:nvSpPr>
          <p:cNvPr id="39" name="Text 37"/>
          <p:cNvSpPr txBox="1"/>
          <p:nvPr/>
        </p:nvSpPr>
        <p:spPr>
          <a:xfrm>
            <a:off x="7086600" y="4535424"/>
            <a:ext cx="2377440" cy="274320"/>
          </a:xfrm>
          <a:prstGeom prst="rect">
            <a:avLst/>
          </a:prstGeom>
          <a:noFill/>
          <a:ln/>
        </p:spPr>
        <p:txBody>
          <a:bodyPr wrap="square" lIns="0" tIns="0" rIns="0" bIns="0" rtlCol="0" anchor="ctr"/>
          <a:lstStyle/>
          <a:p>
            <a:pPr indent="0" marL="0">
              <a:buNone/>
            </a:pPr>
            <a:r>
              <a:rPr lang="en-US" sz="1100" dirty="0">
                <a:solidFill>
                  <a:srgbClr val="5D6675"/>
                </a:solidFill>
                <a:latin typeface="맑은 고딕" pitchFamily="34" charset="0"/>
                <a:ea typeface="맑은 고딕" pitchFamily="34" charset="-122"/>
                <a:cs typeface="맑은 고딕" pitchFamily="34" charset="-120"/>
              </a:rPr>
              <a:t>벤치마크 18.4%</a:t>
            </a:r>
            <a:endParaRPr lang="en-US" sz="1100" dirty="0"/>
          </a:p>
        </p:txBody>
      </p:sp>
      <p:sp>
        <p:nvSpPr>
          <p:cNvPr id="40" name="Text 38"/>
          <p:cNvSpPr txBox="1"/>
          <p:nvPr/>
        </p:nvSpPr>
        <p:spPr>
          <a:xfrm>
            <a:off x="9326880" y="4261104"/>
            <a:ext cx="1783080" cy="548640"/>
          </a:xfrm>
          <a:prstGeom prst="rect">
            <a:avLst/>
          </a:prstGeom>
          <a:noFill/>
          <a:ln/>
        </p:spPr>
        <p:txBody>
          <a:bodyPr wrap="square" lIns="0" tIns="0" rIns="0" bIns="0" rtlCol="0" anchor="ctr"/>
          <a:lstStyle/>
          <a:p>
            <a:pPr algn="r" indent="0" marL="0">
              <a:buNone/>
            </a:pPr>
            <a:r>
              <a:rPr lang="en-US" sz="2400" b="1" dirty="0">
                <a:solidFill>
                  <a:srgbClr val="E11D2E"/>
                </a:solidFill>
                <a:latin typeface="맑은 고딕" pitchFamily="34" charset="0"/>
                <a:ea typeface="맑은 고딕" pitchFamily="34" charset="-122"/>
                <a:cs typeface="맑은 고딕" pitchFamily="34" charset="-120"/>
              </a:rPr>
              <a:t>22.1%</a:t>
            </a:r>
            <a:endParaRPr lang="en-US" sz="2400" dirty="0"/>
          </a:p>
        </p:txBody>
      </p:sp>
      <p:sp>
        <p:nvSpPr>
          <p:cNvPr id="41" name="Shape 39"/>
          <p:cNvSpPr/>
          <p:nvPr/>
        </p:nvSpPr>
        <p:spPr>
          <a:xfrm>
            <a:off x="6858000" y="5065776"/>
            <a:ext cx="4480560" cy="804672"/>
          </a:xfrm>
          <a:prstGeom prst="roundRect">
            <a:avLst>
              <a:gd name="adj" fmla="val 5682"/>
            </a:avLst>
          </a:prstGeom>
          <a:solidFill>
            <a:srgbClr val="FFFFFF"/>
          </a:solidFill>
          <a:ln w="12700">
            <a:solidFill>
              <a:srgbClr val="E3E6EB"/>
            </a:solidFill>
            <a:prstDash val="solid"/>
          </a:ln>
        </p:spPr>
      </p:sp>
      <p:sp>
        <p:nvSpPr>
          <p:cNvPr id="42" name="Text 40"/>
          <p:cNvSpPr txBox="1"/>
          <p:nvPr/>
        </p:nvSpPr>
        <p:spPr>
          <a:xfrm>
            <a:off x="7086600" y="5157216"/>
            <a:ext cx="2103120" cy="292608"/>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구매 전환율</a:t>
            </a:r>
            <a:endParaRPr lang="en-US" sz="1300" dirty="0"/>
          </a:p>
        </p:txBody>
      </p:sp>
      <p:sp>
        <p:nvSpPr>
          <p:cNvPr id="43" name="Text 41"/>
          <p:cNvSpPr txBox="1"/>
          <p:nvPr/>
        </p:nvSpPr>
        <p:spPr>
          <a:xfrm>
            <a:off x="7086600" y="5468112"/>
            <a:ext cx="2377440" cy="274320"/>
          </a:xfrm>
          <a:prstGeom prst="rect">
            <a:avLst/>
          </a:prstGeom>
          <a:noFill/>
          <a:ln/>
        </p:spPr>
        <p:txBody>
          <a:bodyPr wrap="square" lIns="0" tIns="0" rIns="0" bIns="0" rtlCol="0" anchor="ctr"/>
          <a:lstStyle/>
          <a:p>
            <a:pPr indent="0" marL="0">
              <a:buNone/>
            </a:pPr>
            <a:r>
              <a:rPr lang="en-US" sz="1100" dirty="0">
                <a:solidFill>
                  <a:srgbClr val="5D6675"/>
                </a:solidFill>
                <a:latin typeface="맑은 고딕" pitchFamily="34" charset="0"/>
                <a:ea typeface="맑은 고딕" pitchFamily="34" charset="-122"/>
                <a:cs typeface="맑은 고딕" pitchFamily="34" charset="-120"/>
              </a:rPr>
              <a:t>벤치마크 8.1%</a:t>
            </a:r>
            <a:endParaRPr lang="en-US" sz="1100" dirty="0"/>
          </a:p>
        </p:txBody>
      </p:sp>
      <p:sp>
        <p:nvSpPr>
          <p:cNvPr id="44" name="Text 42"/>
          <p:cNvSpPr txBox="1"/>
          <p:nvPr/>
        </p:nvSpPr>
        <p:spPr>
          <a:xfrm>
            <a:off x="9326880" y="5193792"/>
            <a:ext cx="1783080" cy="548640"/>
          </a:xfrm>
          <a:prstGeom prst="rect">
            <a:avLst/>
          </a:prstGeom>
          <a:noFill/>
          <a:ln/>
        </p:spPr>
        <p:txBody>
          <a:bodyPr wrap="square" lIns="0" tIns="0" rIns="0" bIns="0" rtlCol="0" anchor="ctr"/>
          <a:lstStyle/>
          <a:p>
            <a:pPr algn="r" indent="0" marL="0">
              <a:buNone/>
            </a:pPr>
            <a:r>
              <a:rPr lang="en-US" sz="2400" b="1" dirty="0">
                <a:solidFill>
                  <a:srgbClr val="E11D2E"/>
                </a:solidFill>
                <a:latin typeface="맑은 고딕" pitchFamily="34" charset="0"/>
                <a:ea typeface="맑은 고딕" pitchFamily="34" charset="-122"/>
                <a:cs typeface="맑은 고딕" pitchFamily="34" charset="-120"/>
              </a:rPr>
              <a:t>11.4%</a:t>
            </a:r>
            <a:endParaRPr lang="en-US"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48640" y="457200"/>
            <a:ext cx="420624" cy="420624"/>
          </a:xfrm>
          <a:prstGeom prst="roundRect">
            <a:avLst>
              <a:gd name="adj" fmla="val 17391"/>
            </a:avLst>
          </a:prstGeom>
          <a:solidFill>
            <a:srgbClr val="E11D2E"/>
          </a:solidFill>
          <a:ln/>
        </p:spPr>
      </p:sp>
      <p:sp>
        <p:nvSpPr>
          <p:cNvPr id="3" name="Text 1"/>
          <p:cNvSpPr txBox="1"/>
          <p:nvPr/>
        </p:nvSpPr>
        <p:spPr>
          <a:xfrm>
            <a:off x="548640" y="4572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04</a:t>
            </a:r>
            <a:endParaRPr lang="en-US" sz="1500" dirty="0"/>
          </a:p>
        </p:txBody>
      </p:sp>
      <p:sp>
        <p:nvSpPr>
          <p:cNvPr id="4" name="Text 2"/>
          <p:cNvSpPr txBox="1"/>
          <p:nvPr/>
        </p:nvSpPr>
        <p:spPr>
          <a:xfrm>
            <a:off x="1115568" y="402336"/>
            <a:ext cx="10424160" cy="548640"/>
          </a:xfrm>
          <a:prstGeom prst="rect">
            <a:avLst/>
          </a:prstGeom>
          <a:noFill/>
          <a:ln/>
        </p:spPr>
        <p:txBody>
          <a:bodyPr wrap="square" lIns="0" tIns="0" rIns="0" bIns="0" rtlCol="0" anchor="ctr"/>
          <a:lstStyle/>
          <a:p>
            <a:pPr indent="0" marL="0">
              <a:buNone/>
            </a:pPr>
            <a:r>
              <a:rPr lang="en-US" sz="2900" b="1" dirty="0">
                <a:solidFill>
                  <a:srgbClr val="101420"/>
                </a:solidFill>
                <a:latin typeface="맑은 고딕" pitchFamily="34" charset="0"/>
                <a:ea typeface="맑은 고딕" pitchFamily="34" charset="-122"/>
                <a:cs typeface="맑은 고딕" pitchFamily="34" charset="-120"/>
              </a:rPr>
              <a:t>온라인의 모든 지표는 오프라인에 1:1로 대응됩니다</a:t>
            </a:r>
            <a:endParaRPr lang="en-US" sz="2900" dirty="0"/>
          </a:p>
        </p:txBody>
      </p:sp>
      <p:sp>
        <p:nvSpPr>
          <p:cNvPr id="5" name="Text 3"/>
          <p:cNvSpPr txBox="1"/>
          <p:nvPr/>
        </p:nvSpPr>
        <p:spPr>
          <a:xfrm>
            <a:off x="1115568" y="969264"/>
            <a:ext cx="10424160" cy="32918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가장 중요한 지표는 유입률(Capture Rate) — 지금 어떤 브랜드도 이 숫자를 모릅니다</a:t>
            </a:r>
            <a:endParaRPr lang="en-US" sz="1300" dirty="0"/>
          </a:p>
        </p:txBody>
      </p:sp>
      <p:sp>
        <p:nvSpPr>
          <p:cNvPr id="6" name="Shape 4"/>
          <p:cNvSpPr/>
          <p:nvPr/>
        </p:nvSpPr>
        <p:spPr>
          <a:xfrm>
            <a:off x="548640" y="1609344"/>
            <a:ext cx="5440680" cy="969264"/>
          </a:xfrm>
          <a:prstGeom prst="roundRect">
            <a:avLst>
              <a:gd name="adj" fmla="val 4717"/>
            </a:avLst>
          </a:prstGeom>
          <a:solidFill>
            <a:srgbClr val="F6F7F9"/>
          </a:solidFill>
          <a:ln w="12700">
            <a:solidFill>
              <a:srgbClr val="E3E6EB"/>
            </a:solidFill>
            <a:prstDash val="solid"/>
          </a:ln>
        </p:spPr>
      </p:sp>
      <p:sp>
        <p:nvSpPr>
          <p:cNvPr id="7" name="Text 5"/>
          <p:cNvSpPr txBox="1"/>
          <p:nvPr/>
        </p:nvSpPr>
        <p:spPr>
          <a:xfrm>
            <a:off x="822960" y="1719072"/>
            <a:ext cx="2148840" cy="384048"/>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Impression</a:t>
            </a:r>
            <a:endParaRPr lang="en-US" sz="1300" dirty="0"/>
          </a:p>
        </p:txBody>
      </p:sp>
      <p:sp>
        <p:nvSpPr>
          <p:cNvPr id="8" name="Text 6"/>
          <p:cNvSpPr txBox="1"/>
          <p:nvPr/>
        </p:nvSpPr>
        <p:spPr>
          <a:xfrm>
            <a:off x="2944368" y="1719072"/>
            <a:ext cx="365760" cy="384048"/>
          </a:xfrm>
          <a:prstGeom prst="rect">
            <a:avLst/>
          </a:prstGeom>
          <a:noFill/>
          <a:ln/>
        </p:spPr>
        <p:txBody>
          <a:bodyPr wrap="square" lIns="0" tIns="0" rIns="0" bIns="0" rtlCol="0" anchor="ctr"/>
          <a:lstStyle/>
          <a:p>
            <a:pPr algn="ctr" indent="0" marL="0">
              <a:buNone/>
            </a:pPr>
            <a:r>
              <a:rPr lang="en-US" sz="1400" dirty="0">
                <a:solidFill>
                  <a:srgbClr val="5D6675"/>
                </a:solidFill>
                <a:latin typeface="맑은 고딕" pitchFamily="34" charset="0"/>
                <a:ea typeface="맑은 고딕" pitchFamily="34" charset="-122"/>
                <a:cs typeface="맑은 고딕" pitchFamily="34" charset="-120"/>
              </a:rPr>
              <a:t>→</a:t>
            </a:r>
            <a:endParaRPr lang="en-US" sz="1400" dirty="0"/>
          </a:p>
        </p:txBody>
      </p:sp>
      <p:sp>
        <p:nvSpPr>
          <p:cNvPr id="9" name="Text 7"/>
          <p:cNvSpPr txBox="1"/>
          <p:nvPr/>
        </p:nvSpPr>
        <p:spPr>
          <a:xfrm>
            <a:off x="3337560" y="1719072"/>
            <a:ext cx="2423160" cy="384048"/>
          </a:xfrm>
          <a:prstGeom prst="rect">
            <a:avLst/>
          </a:prstGeom>
          <a:noFill/>
          <a:ln/>
        </p:spPr>
        <p:txBody>
          <a:bodyPr wrap="square" lIns="0" tIns="0" rIns="0" bIns="0" rtlCol="0" anchor="ctr"/>
          <a:lstStyle/>
          <a:p>
            <a:pPr indent="0" marL="0">
              <a:buNone/>
            </a:pPr>
            <a:r>
              <a:rPr lang="en-US" sz="1500" b="1" dirty="0">
                <a:solidFill>
                  <a:srgbClr val="101420"/>
                </a:solidFill>
                <a:latin typeface="맑은 고딕" pitchFamily="34" charset="0"/>
                <a:ea typeface="맑은 고딕" pitchFamily="34" charset="-122"/>
                <a:cs typeface="맑은 고딕" pitchFamily="34" charset="-120"/>
              </a:rPr>
              <a:t>통행 수 (Passerby)</a:t>
            </a:r>
            <a:endParaRPr lang="en-US" sz="1500" dirty="0"/>
          </a:p>
        </p:txBody>
      </p:sp>
      <p:sp>
        <p:nvSpPr>
          <p:cNvPr id="10" name="Text 8"/>
          <p:cNvSpPr txBox="1"/>
          <p:nvPr/>
        </p:nvSpPr>
        <p:spPr>
          <a:xfrm>
            <a:off x="822960" y="2139696"/>
            <a:ext cx="4892040" cy="329184"/>
          </a:xfrm>
          <a:prstGeom prst="rect">
            <a:avLst/>
          </a:prstGeom>
          <a:noFill/>
          <a:ln/>
        </p:spPr>
        <p:txBody>
          <a:bodyPr wrap="square" lIns="0" tIns="0" rIns="0" bIns="0" rtlCol="0" anchor="ctr"/>
          <a:lstStyle/>
          <a:p>
            <a:pPr indent="0" marL="0">
              <a:buNone/>
            </a:pPr>
            <a:r>
              <a:rPr lang="en-US" sz="1100" dirty="0">
                <a:solidFill>
                  <a:srgbClr val="5D6675"/>
                </a:solidFill>
                <a:latin typeface="맑은 고딕" pitchFamily="34" charset="0"/>
                <a:ea typeface="맑은 고딕" pitchFamily="34" charset="-122"/>
                <a:cs typeface="맑은 고딕" pitchFamily="34" charset="-120"/>
              </a:rPr>
              <a:t>매장 전면을 지나간 사람</a:t>
            </a:r>
            <a:endParaRPr lang="en-US" sz="1100" dirty="0"/>
          </a:p>
        </p:txBody>
      </p:sp>
      <p:sp>
        <p:nvSpPr>
          <p:cNvPr id="11" name="Shape 9"/>
          <p:cNvSpPr/>
          <p:nvPr/>
        </p:nvSpPr>
        <p:spPr>
          <a:xfrm>
            <a:off x="6199632" y="1609344"/>
            <a:ext cx="5440680" cy="969264"/>
          </a:xfrm>
          <a:prstGeom prst="roundRect">
            <a:avLst>
              <a:gd name="adj" fmla="val 4717"/>
            </a:avLst>
          </a:prstGeom>
          <a:solidFill>
            <a:srgbClr val="101420"/>
          </a:solidFill>
          <a:ln w="12700">
            <a:solidFill>
              <a:srgbClr val="101420"/>
            </a:solidFill>
            <a:prstDash val="solid"/>
          </a:ln>
        </p:spPr>
      </p:sp>
      <p:sp>
        <p:nvSpPr>
          <p:cNvPr id="12" name="Text 10"/>
          <p:cNvSpPr txBox="1"/>
          <p:nvPr/>
        </p:nvSpPr>
        <p:spPr>
          <a:xfrm>
            <a:off x="6473952" y="1719072"/>
            <a:ext cx="2148840" cy="384048"/>
          </a:xfrm>
          <a:prstGeom prst="rect">
            <a:avLst/>
          </a:prstGeom>
          <a:noFill/>
          <a:ln/>
        </p:spPr>
        <p:txBody>
          <a:bodyPr wrap="square" lIns="0" tIns="0" rIns="0" bIns="0" rtlCol="0" anchor="ctr"/>
          <a:lstStyle/>
          <a:p>
            <a:pPr indent="0" marL="0">
              <a:buNone/>
            </a:pPr>
            <a:r>
              <a:rPr lang="en-US" sz="1300" dirty="0">
                <a:solidFill>
                  <a:srgbClr val="A7AFBE"/>
                </a:solidFill>
                <a:latin typeface="맑은 고딕" pitchFamily="34" charset="0"/>
                <a:ea typeface="맑은 고딕" pitchFamily="34" charset="-122"/>
                <a:cs typeface="맑은 고딕" pitchFamily="34" charset="-120"/>
              </a:rPr>
              <a:t>Click / CTR</a:t>
            </a:r>
            <a:endParaRPr lang="en-US" sz="1300" dirty="0"/>
          </a:p>
        </p:txBody>
      </p:sp>
      <p:sp>
        <p:nvSpPr>
          <p:cNvPr id="13" name="Text 11"/>
          <p:cNvSpPr txBox="1"/>
          <p:nvPr/>
        </p:nvSpPr>
        <p:spPr>
          <a:xfrm>
            <a:off x="8595360" y="1719072"/>
            <a:ext cx="365760" cy="384048"/>
          </a:xfrm>
          <a:prstGeom prst="rect">
            <a:avLst/>
          </a:prstGeom>
          <a:noFill/>
          <a:ln/>
        </p:spPr>
        <p:txBody>
          <a:bodyPr wrap="square" lIns="0" tIns="0" rIns="0" bIns="0" rtlCol="0" anchor="ctr"/>
          <a:lstStyle/>
          <a:p>
            <a:pPr algn="ctr" indent="0" marL="0">
              <a:buNone/>
            </a:pPr>
            <a:r>
              <a:rPr lang="en-US" sz="1400" dirty="0">
                <a:solidFill>
                  <a:srgbClr val="F2A33C"/>
                </a:solidFill>
                <a:latin typeface="맑은 고딕" pitchFamily="34" charset="0"/>
                <a:ea typeface="맑은 고딕" pitchFamily="34" charset="-122"/>
                <a:cs typeface="맑은 고딕" pitchFamily="34" charset="-120"/>
              </a:rPr>
              <a:t>→</a:t>
            </a:r>
            <a:endParaRPr lang="en-US" sz="1400" dirty="0"/>
          </a:p>
        </p:txBody>
      </p:sp>
      <p:sp>
        <p:nvSpPr>
          <p:cNvPr id="14" name="Text 12"/>
          <p:cNvSpPr txBox="1"/>
          <p:nvPr/>
        </p:nvSpPr>
        <p:spPr>
          <a:xfrm>
            <a:off x="8988552" y="1719072"/>
            <a:ext cx="2423160" cy="384048"/>
          </a:xfrm>
          <a:prstGeom prst="rect">
            <a:avLst/>
          </a:prstGeom>
          <a:noFill/>
          <a:ln/>
        </p:spPr>
        <p:txBody>
          <a:bodyPr wrap="square" lIns="0" tIns="0" rIns="0" bIns="0" rtlCol="0" anchor="ctr"/>
          <a:lstStyle/>
          <a:p>
            <a:pPr indent="0" marL="0">
              <a:buNone/>
            </a:pPr>
            <a:r>
              <a:rPr lang="en-US" sz="1500" b="1" dirty="0">
                <a:solidFill>
                  <a:srgbClr val="F2A33C"/>
                </a:solidFill>
                <a:latin typeface="맑은 고딕" pitchFamily="34" charset="0"/>
                <a:ea typeface="맑은 고딕" pitchFamily="34" charset="-122"/>
                <a:cs typeface="맑은 고딕" pitchFamily="34" charset="-120"/>
              </a:rPr>
              <a:t>유입률 (Capture Rate)</a:t>
            </a:r>
            <a:endParaRPr lang="en-US" sz="1500" dirty="0"/>
          </a:p>
        </p:txBody>
      </p:sp>
      <p:sp>
        <p:nvSpPr>
          <p:cNvPr id="15" name="Text 13"/>
          <p:cNvSpPr txBox="1"/>
          <p:nvPr/>
        </p:nvSpPr>
        <p:spPr>
          <a:xfrm>
            <a:off x="6473952" y="2139696"/>
            <a:ext cx="4892040" cy="329184"/>
          </a:xfrm>
          <a:prstGeom prst="rect">
            <a:avLst/>
          </a:prstGeom>
          <a:noFill/>
          <a:ln/>
        </p:spPr>
        <p:txBody>
          <a:bodyPr wrap="square" lIns="0" tIns="0" rIns="0" bIns="0" rtlCol="0" anchor="ctr"/>
          <a:lstStyle/>
          <a:p>
            <a:pPr indent="0" marL="0">
              <a:buNone/>
            </a:pPr>
            <a:r>
              <a:rPr lang="en-US" sz="1100" dirty="0">
                <a:solidFill>
                  <a:srgbClr val="A7AFBE"/>
                </a:solidFill>
                <a:latin typeface="맑은 고딕" pitchFamily="34" charset="0"/>
                <a:ea typeface="맑은 고딕" pitchFamily="34" charset="-122"/>
                <a:cs typeface="맑은 고딕" pitchFamily="34" charset="-120"/>
              </a:rPr>
              <a:t>통행 대비 진입 비율</a:t>
            </a:r>
            <a:endParaRPr lang="en-US" sz="1100" dirty="0"/>
          </a:p>
        </p:txBody>
      </p:sp>
      <p:sp>
        <p:nvSpPr>
          <p:cNvPr id="16" name="Shape 14"/>
          <p:cNvSpPr/>
          <p:nvPr/>
        </p:nvSpPr>
        <p:spPr>
          <a:xfrm>
            <a:off x="548640" y="2706624"/>
            <a:ext cx="5440680" cy="969264"/>
          </a:xfrm>
          <a:prstGeom prst="roundRect">
            <a:avLst>
              <a:gd name="adj" fmla="val 4717"/>
            </a:avLst>
          </a:prstGeom>
          <a:solidFill>
            <a:srgbClr val="F6F7F9"/>
          </a:solidFill>
          <a:ln w="12700">
            <a:solidFill>
              <a:srgbClr val="E3E6EB"/>
            </a:solidFill>
            <a:prstDash val="solid"/>
          </a:ln>
        </p:spPr>
      </p:sp>
      <p:sp>
        <p:nvSpPr>
          <p:cNvPr id="17" name="Text 15"/>
          <p:cNvSpPr txBox="1"/>
          <p:nvPr/>
        </p:nvSpPr>
        <p:spPr>
          <a:xfrm>
            <a:off x="822960" y="2816352"/>
            <a:ext cx="2148840" cy="384048"/>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Session Duration</a:t>
            </a:r>
            <a:endParaRPr lang="en-US" sz="1300" dirty="0"/>
          </a:p>
        </p:txBody>
      </p:sp>
      <p:sp>
        <p:nvSpPr>
          <p:cNvPr id="18" name="Text 16"/>
          <p:cNvSpPr txBox="1"/>
          <p:nvPr/>
        </p:nvSpPr>
        <p:spPr>
          <a:xfrm>
            <a:off x="2944368" y="2816352"/>
            <a:ext cx="365760" cy="384048"/>
          </a:xfrm>
          <a:prstGeom prst="rect">
            <a:avLst/>
          </a:prstGeom>
          <a:noFill/>
          <a:ln/>
        </p:spPr>
        <p:txBody>
          <a:bodyPr wrap="square" lIns="0" tIns="0" rIns="0" bIns="0" rtlCol="0" anchor="ctr"/>
          <a:lstStyle/>
          <a:p>
            <a:pPr algn="ctr" indent="0" marL="0">
              <a:buNone/>
            </a:pPr>
            <a:r>
              <a:rPr lang="en-US" sz="1400" dirty="0">
                <a:solidFill>
                  <a:srgbClr val="5D6675"/>
                </a:solidFill>
                <a:latin typeface="맑은 고딕" pitchFamily="34" charset="0"/>
                <a:ea typeface="맑은 고딕" pitchFamily="34" charset="-122"/>
                <a:cs typeface="맑은 고딕" pitchFamily="34" charset="-120"/>
              </a:rPr>
              <a:t>→</a:t>
            </a:r>
            <a:endParaRPr lang="en-US" sz="1400" dirty="0"/>
          </a:p>
        </p:txBody>
      </p:sp>
      <p:sp>
        <p:nvSpPr>
          <p:cNvPr id="19" name="Text 17"/>
          <p:cNvSpPr txBox="1"/>
          <p:nvPr/>
        </p:nvSpPr>
        <p:spPr>
          <a:xfrm>
            <a:off x="3337560" y="2816352"/>
            <a:ext cx="2423160" cy="384048"/>
          </a:xfrm>
          <a:prstGeom prst="rect">
            <a:avLst/>
          </a:prstGeom>
          <a:noFill/>
          <a:ln/>
        </p:spPr>
        <p:txBody>
          <a:bodyPr wrap="square" lIns="0" tIns="0" rIns="0" bIns="0" rtlCol="0" anchor="ctr"/>
          <a:lstStyle/>
          <a:p>
            <a:pPr indent="0" marL="0">
              <a:buNone/>
            </a:pPr>
            <a:r>
              <a:rPr lang="en-US" sz="1500" b="1" dirty="0">
                <a:solidFill>
                  <a:srgbClr val="101420"/>
                </a:solidFill>
                <a:latin typeface="맑은 고딕" pitchFamily="34" charset="0"/>
                <a:ea typeface="맑은 고딕" pitchFamily="34" charset="-122"/>
                <a:cs typeface="맑은 고딕" pitchFamily="34" charset="-120"/>
              </a:rPr>
              <a:t>체류시간 (Dwell Time)</a:t>
            </a:r>
            <a:endParaRPr lang="en-US" sz="1500" dirty="0"/>
          </a:p>
        </p:txBody>
      </p:sp>
      <p:sp>
        <p:nvSpPr>
          <p:cNvPr id="20" name="Text 18"/>
          <p:cNvSpPr txBox="1"/>
          <p:nvPr/>
        </p:nvSpPr>
        <p:spPr>
          <a:xfrm>
            <a:off x="822960" y="3236976"/>
            <a:ext cx="4892040" cy="329184"/>
          </a:xfrm>
          <a:prstGeom prst="rect">
            <a:avLst/>
          </a:prstGeom>
          <a:noFill/>
          <a:ln/>
        </p:spPr>
        <p:txBody>
          <a:bodyPr wrap="square" lIns="0" tIns="0" rIns="0" bIns="0" rtlCol="0" anchor="ctr"/>
          <a:lstStyle/>
          <a:p>
            <a:pPr indent="0" marL="0">
              <a:buNone/>
            </a:pPr>
            <a:r>
              <a:rPr lang="en-US" sz="1100" dirty="0">
                <a:solidFill>
                  <a:srgbClr val="5D6675"/>
                </a:solidFill>
                <a:latin typeface="맑은 고딕" pitchFamily="34" charset="0"/>
                <a:ea typeface="맑은 고딕" pitchFamily="34" charset="-122"/>
                <a:cs typeface="맑은 고딕" pitchFamily="34" charset="-120"/>
              </a:rPr>
              <a:t>매장 내 평균 체류</a:t>
            </a:r>
            <a:endParaRPr lang="en-US" sz="1100" dirty="0"/>
          </a:p>
        </p:txBody>
      </p:sp>
      <p:sp>
        <p:nvSpPr>
          <p:cNvPr id="21" name="Shape 19"/>
          <p:cNvSpPr/>
          <p:nvPr/>
        </p:nvSpPr>
        <p:spPr>
          <a:xfrm>
            <a:off x="6199632" y="2706624"/>
            <a:ext cx="5440680" cy="969264"/>
          </a:xfrm>
          <a:prstGeom prst="roundRect">
            <a:avLst>
              <a:gd name="adj" fmla="val 4717"/>
            </a:avLst>
          </a:prstGeom>
          <a:solidFill>
            <a:srgbClr val="F6F7F9"/>
          </a:solidFill>
          <a:ln w="12700">
            <a:solidFill>
              <a:srgbClr val="E3E6EB"/>
            </a:solidFill>
            <a:prstDash val="solid"/>
          </a:ln>
        </p:spPr>
      </p:sp>
      <p:sp>
        <p:nvSpPr>
          <p:cNvPr id="22" name="Text 20"/>
          <p:cNvSpPr txBox="1"/>
          <p:nvPr/>
        </p:nvSpPr>
        <p:spPr>
          <a:xfrm>
            <a:off x="6473952" y="2816352"/>
            <a:ext cx="2148840" cy="384048"/>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Scroll Depth</a:t>
            </a:r>
            <a:endParaRPr lang="en-US" sz="1300" dirty="0"/>
          </a:p>
        </p:txBody>
      </p:sp>
      <p:sp>
        <p:nvSpPr>
          <p:cNvPr id="23" name="Text 21"/>
          <p:cNvSpPr txBox="1"/>
          <p:nvPr/>
        </p:nvSpPr>
        <p:spPr>
          <a:xfrm>
            <a:off x="8595360" y="2816352"/>
            <a:ext cx="365760" cy="384048"/>
          </a:xfrm>
          <a:prstGeom prst="rect">
            <a:avLst/>
          </a:prstGeom>
          <a:noFill/>
          <a:ln/>
        </p:spPr>
        <p:txBody>
          <a:bodyPr wrap="square" lIns="0" tIns="0" rIns="0" bIns="0" rtlCol="0" anchor="ctr"/>
          <a:lstStyle/>
          <a:p>
            <a:pPr algn="ctr" indent="0" marL="0">
              <a:buNone/>
            </a:pPr>
            <a:r>
              <a:rPr lang="en-US" sz="1400" dirty="0">
                <a:solidFill>
                  <a:srgbClr val="5D6675"/>
                </a:solidFill>
                <a:latin typeface="맑은 고딕" pitchFamily="34" charset="0"/>
                <a:ea typeface="맑은 고딕" pitchFamily="34" charset="-122"/>
                <a:cs typeface="맑은 고딕" pitchFamily="34" charset="-120"/>
              </a:rPr>
              <a:t>→</a:t>
            </a:r>
            <a:endParaRPr lang="en-US" sz="1400" dirty="0"/>
          </a:p>
        </p:txBody>
      </p:sp>
      <p:sp>
        <p:nvSpPr>
          <p:cNvPr id="24" name="Text 22"/>
          <p:cNvSpPr txBox="1"/>
          <p:nvPr/>
        </p:nvSpPr>
        <p:spPr>
          <a:xfrm>
            <a:off x="8988552" y="2816352"/>
            <a:ext cx="2423160" cy="384048"/>
          </a:xfrm>
          <a:prstGeom prst="rect">
            <a:avLst/>
          </a:prstGeom>
          <a:noFill/>
          <a:ln/>
        </p:spPr>
        <p:txBody>
          <a:bodyPr wrap="square" lIns="0" tIns="0" rIns="0" bIns="0" rtlCol="0" anchor="ctr"/>
          <a:lstStyle/>
          <a:p>
            <a:pPr indent="0" marL="0">
              <a:buNone/>
            </a:pPr>
            <a:r>
              <a:rPr lang="en-US" sz="1500" b="1" dirty="0">
                <a:solidFill>
                  <a:srgbClr val="101420"/>
                </a:solidFill>
                <a:latin typeface="맑은 고딕" pitchFamily="34" charset="0"/>
                <a:ea typeface="맑은 고딕" pitchFamily="34" charset="-122"/>
                <a:cs typeface="맑은 고딕" pitchFamily="34" charset="-120"/>
              </a:rPr>
              <a:t>동선 깊이 (Depth)</a:t>
            </a:r>
            <a:endParaRPr lang="en-US" sz="1500" dirty="0"/>
          </a:p>
        </p:txBody>
      </p:sp>
      <p:sp>
        <p:nvSpPr>
          <p:cNvPr id="25" name="Text 23"/>
          <p:cNvSpPr txBox="1"/>
          <p:nvPr/>
        </p:nvSpPr>
        <p:spPr>
          <a:xfrm>
            <a:off x="6473952" y="3236976"/>
            <a:ext cx="4892040" cy="329184"/>
          </a:xfrm>
          <a:prstGeom prst="rect">
            <a:avLst/>
          </a:prstGeom>
          <a:noFill/>
          <a:ln/>
        </p:spPr>
        <p:txBody>
          <a:bodyPr wrap="square" lIns="0" tIns="0" rIns="0" bIns="0" rtlCol="0" anchor="ctr"/>
          <a:lstStyle/>
          <a:p>
            <a:pPr indent="0" marL="0">
              <a:buNone/>
            </a:pPr>
            <a:r>
              <a:rPr lang="en-US" sz="1100" dirty="0">
                <a:solidFill>
                  <a:srgbClr val="5D6675"/>
                </a:solidFill>
                <a:latin typeface="맑은 고딕" pitchFamily="34" charset="0"/>
                <a:ea typeface="맑은 고딕" pitchFamily="34" charset="-122"/>
                <a:cs typeface="맑은 고딕" pitchFamily="34" charset="-120"/>
              </a:rPr>
              <a:t>안쪽까지 도달한 비율</a:t>
            </a:r>
            <a:endParaRPr lang="en-US" sz="1100" dirty="0"/>
          </a:p>
        </p:txBody>
      </p:sp>
      <p:sp>
        <p:nvSpPr>
          <p:cNvPr id="26" name="Shape 24"/>
          <p:cNvSpPr/>
          <p:nvPr/>
        </p:nvSpPr>
        <p:spPr>
          <a:xfrm>
            <a:off x="548640" y="3803904"/>
            <a:ext cx="5440680" cy="969264"/>
          </a:xfrm>
          <a:prstGeom prst="roundRect">
            <a:avLst>
              <a:gd name="adj" fmla="val 4717"/>
            </a:avLst>
          </a:prstGeom>
          <a:solidFill>
            <a:srgbClr val="F6F7F9"/>
          </a:solidFill>
          <a:ln w="12700">
            <a:solidFill>
              <a:srgbClr val="E3E6EB"/>
            </a:solidFill>
            <a:prstDash val="solid"/>
          </a:ln>
        </p:spPr>
      </p:sp>
      <p:sp>
        <p:nvSpPr>
          <p:cNvPr id="27" name="Text 25"/>
          <p:cNvSpPr txBox="1"/>
          <p:nvPr/>
        </p:nvSpPr>
        <p:spPr>
          <a:xfrm>
            <a:off x="822960" y="3913632"/>
            <a:ext cx="2148840" cy="384048"/>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Add to Cart</a:t>
            </a:r>
            <a:endParaRPr lang="en-US" sz="1300" dirty="0"/>
          </a:p>
        </p:txBody>
      </p:sp>
      <p:sp>
        <p:nvSpPr>
          <p:cNvPr id="28" name="Text 26"/>
          <p:cNvSpPr txBox="1"/>
          <p:nvPr/>
        </p:nvSpPr>
        <p:spPr>
          <a:xfrm>
            <a:off x="2944368" y="3913632"/>
            <a:ext cx="365760" cy="384048"/>
          </a:xfrm>
          <a:prstGeom prst="rect">
            <a:avLst/>
          </a:prstGeom>
          <a:noFill/>
          <a:ln/>
        </p:spPr>
        <p:txBody>
          <a:bodyPr wrap="square" lIns="0" tIns="0" rIns="0" bIns="0" rtlCol="0" anchor="ctr"/>
          <a:lstStyle/>
          <a:p>
            <a:pPr algn="ctr" indent="0" marL="0">
              <a:buNone/>
            </a:pPr>
            <a:r>
              <a:rPr lang="en-US" sz="1400" dirty="0">
                <a:solidFill>
                  <a:srgbClr val="5D6675"/>
                </a:solidFill>
                <a:latin typeface="맑은 고딕" pitchFamily="34" charset="0"/>
                <a:ea typeface="맑은 고딕" pitchFamily="34" charset="-122"/>
                <a:cs typeface="맑은 고딕" pitchFamily="34" charset="-120"/>
              </a:rPr>
              <a:t>→</a:t>
            </a:r>
            <a:endParaRPr lang="en-US" sz="1400" dirty="0"/>
          </a:p>
        </p:txBody>
      </p:sp>
      <p:sp>
        <p:nvSpPr>
          <p:cNvPr id="29" name="Text 27"/>
          <p:cNvSpPr txBox="1"/>
          <p:nvPr/>
        </p:nvSpPr>
        <p:spPr>
          <a:xfrm>
            <a:off x="3337560" y="3913632"/>
            <a:ext cx="2423160" cy="384048"/>
          </a:xfrm>
          <a:prstGeom prst="rect">
            <a:avLst/>
          </a:prstGeom>
          <a:noFill/>
          <a:ln/>
        </p:spPr>
        <p:txBody>
          <a:bodyPr wrap="square" lIns="0" tIns="0" rIns="0" bIns="0" rtlCol="0" anchor="ctr"/>
          <a:lstStyle/>
          <a:p>
            <a:pPr indent="0" marL="0">
              <a:buNone/>
            </a:pPr>
            <a:r>
              <a:rPr lang="en-US" sz="1500" b="1" dirty="0">
                <a:solidFill>
                  <a:srgbClr val="101420"/>
                </a:solidFill>
                <a:latin typeface="맑은 고딕" pitchFamily="34" charset="0"/>
                <a:ea typeface="맑은 고딕" pitchFamily="34" charset="-122"/>
                <a:cs typeface="맑은 고딕" pitchFamily="34" charset="-120"/>
              </a:rPr>
              <a:t>집품률 (Pick-up Rate)</a:t>
            </a:r>
            <a:endParaRPr lang="en-US" sz="1500" dirty="0"/>
          </a:p>
        </p:txBody>
      </p:sp>
      <p:sp>
        <p:nvSpPr>
          <p:cNvPr id="30" name="Text 28"/>
          <p:cNvSpPr txBox="1"/>
          <p:nvPr/>
        </p:nvSpPr>
        <p:spPr>
          <a:xfrm>
            <a:off x="822960" y="4334256"/>
            <a:ext cx="4892040" cy="329184"/>
          </a:xfrm>
          <a:prstGeom prst="rect">
            <a:avLst/>
          </a:prstGeom>
          <a:noFill/>
          <a:ln/>
        </p:spPr>
        <p:txBody>
          <a:bodyPr wrap="square" lIns="0" tIns="0" rIns="0" bIns="0" rtlCol="0" anchor="ctr"/>
          <a:lstStyle/>
          <a:p>
            <a:pPr indent="0" marL="0">
              <a:buNone/>
            </a:pPr>
            <a:r>
              <a:rPr lang="en-US" sz="1100" dirty="0">
                <a:solidFill>
                  <a:srgbClr val="5D6675"/>
                </a:solidFill>
                <a:latin typeface="맑은 고딕" pitchFamily="34" charset="0"/>
                <a:ea typeface="맑은 고딕" pitchFamily="34" charset="-122"/>
                <a:cs typeface="맑은 고딕" pitchFamily="34" charset="-120"/>
              </a:rPr>
              <a:t>상품을 집어 든 비율</a:t>
            </a:r>
            <a:endParaRPr lang="en-US" sz="1100" dirty="0"/>
          </a:p>
        </p:txBody>
      </p:sp>
      <p:sp>
        <p:nvSpPr>
          <p:cNvPr id="31" name="Shape 29"/>
          <p:cNvSpPr/>
          <p:nvPr/>
        </p:nvSpPr>
        <p:spPr>
          <a:xfrm>
            <a:off x="6199632" y="3803904"/>
            <a:ext cx="5440680" cy="969264"/>
          </a:xfrm>
          <a:prstGeom prst="roundRect">
            <a:avLst>
              <a:gd name="adj" fmla="val 4717"/>
            </a:avLst>
          </a:prstGeom>
          <a:solidFill>
            <a:srgbClr val="F6F7F9"/>
          </a:solidFill>
          <a:ln w="12700">
            <a:solidFill>
              <a:srgbClr val="E3E6EB"/>
            </a:solidFill>
            <a:prstDash val="solid"/>
          </a:ln>
        </p:spPr>
      </p:sp>
      <p:sp>
        <p:nvSpPr>
          <p:cNvPr id="32" name="Text 30"/>
          <p:cNvSpPr txBox="1"/>
          <p:nvPr/>
        </p:nvSpPr>
        <p:spPr>
          <a:xfrm>
            <a:off x="6473952" y="3913632"/>
            <a:ext cx="2148840" cy="384048"/>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Purchase / CVR</a:t>
            </a:r>
            <a:endParaRPr lang="en-US" sz="1300" dirty="0"/>
          </a:p>
        </p:txBody>
      </p:sp>
      <p:sp>
        <p:nvSpPr>
          <p:cNvPr id="33" name="Text 31"/>
          <p:cNvSpPr txBox="1"/>
          <p:nvPr/>
        </p:nvSpPr>
        <p:spPr>
          <a:xfrm>
            <a:off x="8595360" y="3913632"/>
            <a:ext cx="365760" cy="384048"/>
          </a:xfrm>
          <a:prstGeom prst="rect">
            <a:avLst/>
          </a:prstGeom>
          <a:noFill/>
          <a:ln/>
        </p:spPr>
        <p:txBody>
          <a:bodyPr wrap="square" lIns="0" tIns="0" rIns="0" bIns="0" rtlCol="0" anchor="ctr"/>
          <a:lstStyle/>
          <a:p>
            <a:pPr algn="ctr" indent="0" marL="0">
              <a:buNone/>
            </a:pPr>
            <a:r>
              <a:rPr lang="en-US" sz="1400" dirty="0">
                <a:solidFill>
                  <a:srgbClr val="5D6675"/>
                </a:solidFill>
                <a:latin typeface="맑은 고딕" pitchFamily="34" charset="0"/>
                <a:ea typeface="맑은 고딕" pitchFamily="34" charset="-122"/>
                <a:cs typeface="맑은 고딕" pitchFamily="34" charset="-120"/>
              </a:rPr>
              <a:t>→</a:t>
            </a:r>
            <a:endParaRPr lang="en-US" sz="1400" dirty="0"/>
          </a:p>
        </p:txBody>
      </p:sp>
      <p:sp>
        <p:nvSpPr>
          <p:cNvPr id="34" name="Text 32"/>
          <p:cNvSpPr txBox="1"/>
          <p:nvPr/>
        </p:nvSpPr>
        <p:spPr>
          <a:xfrm>
            <a:off x="8988552" y="3913632"/>
            <a:ext cx="2423160" cy="384048"/>
          </a:xfrm>
          <a:prstGeom prst="rect">
            <a:avLst/>
          </a:prstGeom>
          <a:noFill/>
          <a:ln/>
        </p:spPr>
        <p:txBody>
          <a:bodyPr wrap="square" lIns="0" tIns="0" rIns="0" bIns="0" rtlCol="0" anchor="ctr"/>
          <a:lstStyle/>
          <a:p>
            <a:pPr indent="0" marL="0">
              <a:buNone/>
            </a:pPr>
            <a:r>
              <a:rPr lang="en-US" sz="1500" b="1" dirty="0">
                <a:solidFill>
                  <a:srgbClr val="101420"/>
                </a:solidFill>
                <a:latin typeface="맑은 고딕" pitchFamily="34" charset="0"/>
                <a:ea typeface="맑은 고딕" pitchFamily="34" charset="-122"/>
                <a:cs typeface="맑은 고딕" pitchFamily="34" charset="-120"/>
              </a:rPr>
              <a:t>구매 전환율</a:t>
            </a:r>
            <a:endParaRPr lang="en-US" sz="1500" dirty="0"/>
          </a:p>
        </p:txBody>
      </p:sp>
      <p:sp>
        <p:nvSpPr>
          <p:cNvPr id="35" name="Text 33"/>
          <p:cNvSpPr txBox="1"/>
          <p:nvPr/>
        </p:nvSpPr>
        <p:spPr>
          <a:xfrm>
            <a:off x="6473952" y="4334256"/>
            <a:ext cx="4892040" cy="329184"/>
          </a:xfrm>
          <a:prstGeom prst="rect">
            <a:avLst/>
          </a:prstGeom>
          <a:noFill/>
          <a:ln/>
        </p:spPr>
        <p:txBody>
          <a:bodyPr wrap="square" lIns="0" tIns="0" rIns="0" bIns="0" rtlCol="0" anchor="ctr"/>
          <a:lstStyle/>
          <a:p>
            <a:pPr indent="0" marL="0">
              <a:buNone/>
            </a:pPr>
            <a:r>
              <a:rPr lang="en-US" sz="1100" dirty="0">
                <a:solidFill>
                  <a:srgbClr val="5D6675"/>
                </a:solidFill>
                <a:latin typeface="맑은 고딕" pitchFamily="34" charset="0"/>
                <a:ea typeface="맑은 고딕" pitchFamily="34" charset="-122"/>
                <a:cs typeface="맑은 고딕" pitchFamily="34" charset="-120"/>
              </a:rPr>
              <a:t>POS 결제 연동</a:t>
            </a:r>
            <a:endParaRPr lang="en-US" sz="1100" dirty="0"/>
          </a:p>
        </p:txBody>
      </p:sp>
      <p:sp>
        <p:nvSpPr>
          <p:cNvPr id="36" name="Shape 34"/>
          <p:cNvSpPr/>
          <p:nvPr/>
        </p:nvSpPr>
        <p:spPr>
          <a:xfrm>
            <a:off x="548640" y="4901184"/>
            <a:ext cx="5440680" cy="969264"/>
          </a:xfrm>
          <a:prstGeom prst="roundRect">
            <a:avLst>
              <a:gd name="adj" fmla="val 4717"/>
            </a:avLst>
          </a:prstGeom>
          <a:solidFill>
            <a:srgbClr val="F6F7F9"/>
          </a:solidFill>
          <a:ln w="12700">
            <a:solidFill>
              <a:srgbClr val="E3E6EB"/>
            </a:solidFill>
            <a:prstDash val="solid"/>
          </a:ln>
        </p:spPr>
      </p:sp>
      <p:sp>
        <p:nvSpPr>
          <p:cNvPr id="37" name="Text 35"/>
          <p:cNvSpPr txBox="1"/>
          <p:nvPr/>
        </p:nvSpPr>
        <p:spPr>
          <a:xfrm>
            <a:off x="822960" y="5010912"/>
            <a:ext cx="2148840" cy="384048"/>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Bounce Rate</a:t>
            </a:r>
            <a:endParaRPr lang="en-US" sz="1300" dirty="0"/>
          </a:p>
        </p:txBody>
      </p:sp>
      <p:sp>
        <p:nvSpPr>
          <p:cNvPr id="38" name="Text 36"/>
          <p:cNvSpPr txBox="1"/>
          <p:nvPr/>
        </p:nvSpPr>
        <p:spPr>
          <a:xfrm>
            <a:off x="2944368" y="5010912"/>
            <a:ext cx="365760" cy="384048"/>
          </a:xfrm>
          <a:prstGeom prst="rect">
            <a:avLst/>
          </a:prstGeom>
          <a:noFill/>
          <a:ln/>
        </p:spPr>
        <p:txBody>
          <a:bodyPr wrap="square" lIns="0" tIns="0" rIns="0" bIns="0" rtlCol="0" anchor="ctr"/>
          <a:lstStyle/>
          <a:p>
            <a:pPr algn="ctr" indent="0" marL="0">
              <a:buNone/>
            </a:pPr>
            <a:r>
              <a:rPr lang="en-US" sz="1400" dirty="0">
                <a:solidFill>
                  <a:srgbClr val="5D6675"/>
                </a:solidFill>
                <a:latin typeface="맑은 고딕" pitchFamily="34" charset="0"/>
                <a:ea typeface="맑은 고딕" pitchFamily="34" charset="-122"/>
                <a:cs typeface="맑은 고딕" pitchFamily="34" charset="-120"/>
              </a:rPr>
              <a:t>→</a:t>
            </a:r>
            <a:endParaRPr lang="en-US" sz="1400" dirty="0"/>
          </a:p>
        </p:txBody>
      </p:sp>
      <p:sp>
        <p:nvSpPr>
          <p:cNvPr id="39" name="Text 37"/>
          <p:cNvSpPr txBox="1"/>
          <p:nvPr/>
        </p:nvSpPr>
        <p:spPr>
          <a:xfrm>
            <a:off x="3337560" y="5010912"/>
            <a:ext cx="2423160" cy="384048"/>
          </a:xfrm>
          <a:prstGeom prst="rect">
            <a:avLst/>
          </a:prstGeom>
          <a:noFill/>
          <a:ln/>
        </p:spPr>
        <p:txBody>
          <a:bodyPr wrap="square" lIns="0" tIns="0" rIns="0" bIns="0" rtlCol="0" anchor="ctr"/>
          <a:lstStyle/>
          <a:p>
            <a:pPr indent="0" marL="0">
              <a:buNone/>
            </a:pPr>
            <a:r>
              <a:rPr lang="en-US" sz="1500" b="1" dirty="0">
                <a:solidFill>
                  <a:srgbClr val="101420"/>
                </a:solidFill>
                <a:latin typeface="맑은 고딕" pitchFamily="34" charset="0"/>
                <a:ea typeface="맑은 고딕" pitchFamily="34" charset="-122"/>
                <a:cs typeface="맑은 고딕" pitchFamily="34" charset="-120"/>
              </a:rPr>
              <a:t>3초 이탈률</a:t>
            </a:r>
            <a:endParaRPr lang="en-US" sz="1500" dirty="0"/>
          </a:p>
        </p:txBody>
      </p:sp>
      <p:sp>
        <p:nvSpPr>
          <p:cNvPr id="40" name="Text 38"/>
          <p:cNvSpPr txBox="1"/>
          <p:nvPr/>
        </p:nvSpPr>
        <p:spPr>
          <a:xfrm>
            <a:off x="822960" y="5431536"/>
            <a:ext cx="4892040" cy="329184"/>
          </a:xfrm>
          <a:prstGeom prst="rect">
            <a:avLst/>
          </a:prstGeom>
          <a:noFill/>
          <a:ln/>
        </p:spPr>
        <p:txBody>
          <a:bodyPr wrap="square" lIns="0" tIns="0" rIns="0" bIns="0" rtlCol="0" anchor="ctr"/>
          <a:lstStyle/>
          <a:p>
            <a:pPr indent="0" marL="0">
              <a:buNone/>
            </a:pPr>
            <a:r>
              <a:rPr lang="en-US" sz="1100" dirty="0">
                <a:solidFill>
                  <a:srgbClr val="5D6675"/>
                </a:solidFill>
                <a:latin typeface="맑은 고딕" pitchFamily="34" charset="0"/>
                <a:ea typeface="맑은 고딕" pitchFamily="34" charset="-122"/>
                <a:cs typeface="맑은 고딕" pitchFamily="34" charset="-120"/>
              </a:rPr>
              <a:t>들어와 3초 내 이탈</a:t>
            </a:r>
            <a:endParaRPr lang="en-US" sz="1100" dirty="0"/>
          </a:p>
        </p:txBody>
      </p:sp>
      <p:sp>
        <p:nvSpPr>
          <p:cNvPr id="41" name="Shape 39"/>
          <p:cNvSpPr/>
          <p:nvPr/>
        </p:nvSpPr>
        <p:spPr>
          <a:xfrm>
            <a:off x="6199632" y="4901184"/>
            <a:ext cx="5440680" cy="969264"/>
          </a:xfrm>
          <a:prstGeom prst="roundRect">
            <a:avLst>
              <a:gd name="adj" fmla="val 4717"/>
            </a:avLst>
          </a:prstGeom>
          <a:solidFill>
            <a:srgbClr val="F6F7F9"/>
          </a:solidFill>
          <a:ln w="12700">
            <a:solidFill>
              <a:srgbClr val="E3E6EB"/>
            </a:solidFill>
            <a:prstDash val="solid"/>
          </a:ln>
        </p:spPr>
      </p:sp>
      <p:sp>
        <p:nvSpPr>
          <p:cNvPr id="42" name="Text 40"/>
          <p:cNvSpPr txBox="1"/>
          <p:nvPr/>
        </p:nvSpPr>
        <p:spPr>
          <a:xfrm>
            <a:off x="6473952" y="5010912"/>
            <a:ext cx="2148840" cy="384048"/>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Cohort</a:t>
            </a:r>
            <a:endParaRPr lang="en-US" sz="1300" dirty="0"/>
          </a:p>
        </p:txBody>
      </p:sp>
      <p:sp>
        <p:nvSpPr>
          <p:cNvPr id="43" name="Text 41"/>
          <p:cNvSpPr txBox="1"/>
          <p:nvPr/>
        </p:nvSpPr>
        <p:spPr>
          <a:xfrm>
            <a:off x="8595360" y="5010912"/>
            <a:ext cx="365760" cy="384048"/>
          </a:xfrm>
          <a:prstGeom prst="rect">
            <a:avLst/>
          </a:prstGeom>
          <a:noFill/>
          <a:ln/>
        </p:spPr>
        <p:txBody>
          <a:bodyPr wrap="square" lIns="0" tIns="0" rIns="0" bIns="0" rtlCol="0" anchor="ctr"/>
          <a:lstStyle/>
          <a:p>
            <a:pPr algn="ctr" indent="0" marL="0">
              <a:buNone/>
            </a:pPr>
            <a:r>
              <a:rPr lang="en-US" sz="1400" dirty="0">
                <a:solidFill>
                  <a:srgbClr val="5D6675"/>
                </a:solidFill>
                <a:latin typeface="맑은 고딕" pitchFamily="34" charset="0"/>
                <a:ea typeface="맑은 고딕" pitchFamily="34" charset="-122"/>
                <a:cs typeface="맑은 고딕" pitchFamily="34" charset="-120"/>
              </a:rPr>
              <a:t>→</a:t>
            </a:r>
            <a:endParaRPr lang="en-US" sz="1400" dirty="0"/>
          </a:p>
        </p:txBody>
      </p:sp>
      <p:sp>
        <p:nvSpPr>
          <p:cNvPr id="44" name="Text 42"/>
          <p:cNvSpPr txBox="1"/>
          <p:nvPr/>
        </p:nvSpPr>
        <p:spPr>
          <a:xfrm>
            <a:off x="8988552" y="5010912"/>
            <a:ext cx="2423160" cy="384048"/>
          </a:xfrm>
          <a:prstGeom prst="rect">
            <a:avLst/>
          </a:prstGeom>
          <a:noFill/>
          <a:ln/>
        </p:spPr>
        <p:txBody>
          <a:bodyPr wrap="square" lIns="0" tIns="0" rIns="0" bIns="0" rtlCol="0" anchor="ctr"/>
          <a:lstStyle/>
          <a:p>
            <a:pPr indent="0" marL="0">
              <a:buNone/>
            </a:pPr>
            <a:r>
              <a:rPr lang="en-US" sz="1500" b="1" dirty="0">
                <a:solidFill>
                  <a:srgbClr val="101420"/>
                </a:solidFill>
                <a:latin typeface="맑은 고딕" pitchFamily="34" charset="0"/>
                <a:ea typeface="맑은 고딕" pitchFamily="34" charset="-122"/>
                <a:cs typeface="맑은 고딕" pitchFamily="34" charset="-120"/>
              </a:rPr>
              <a:t>L.POINT 세그먼트</a:t>
            </a:r>
            <a:endParaRPr lang="en-US" sz="1500" dirty="0"/>
          </a:p>
        </p:txBody>
      </p:sp>
      <p:sp>
        <p:nvSpPr>
          <p:cNvPr id="45" name="Text 43"/>
          <p:cNvSpPr txBox="1"/>
          <p:nvPr/>
        </p:nvSpPr>
        <p:spPr>
          <a:xfrm>
            <a:off x="6473952" y="5431536"/>
            <a:ext cx="4892040" cy="329184"/>
          </a:xfrm>
          <a:prstGeom prst="rect">
            <a:avLst/>
          </a:prstGeom>
          <a:noFill/>
          <a:ln/>
        </p:spPr>
        <p:txBody>
          <a:bodyPr wrap="square" lIns="0" tIns="0" rIns="0" bIns="0" rtlCol="0" anchor="ctr"/>
          <a:lstStyle/>
          <a:p>
            <a:pPr indent="0" marL="0">
              <a:buNone/>
            </a:pPr>
            <a:r>
              <a:rPr lang="en-US" sz="1100" dirty="0">
                <a:solidFill>
                  <a:srgbClr val="5D6675"/>
                </a:solidFill>
                <a:latin typeface="맑은 고딕" pitchFamily="34" charset="0"/>
                <a:ea typeface="맑은 고딕" pitchFamily="34" charset="-122"/>
                <a:cs typeface="맑은 고딕" pitchFamily="34" charset="-120"/>
              </a:rPr>
              <a:t>회원 소비성향 기반</a:t>
            </a:r>
            <a:endParaRPr lang="en-US" sz="1100" dirty="0"/>
          </a:p>
        </p:txBody>
      </p:sp>
      <p:sp>
        <p:nvSpPr>
          <p:cNvPr id="46" name="Text 44"/>
          <p:cNvSpPr txBox="1"/>
          <p:nvPr/>
        </p:nvSpPr>
        <p:spPr>
          <a:xfrm>
            <a:off x="548640" y="5870448"/>
            <a:ext cx="11091672" cy="384048"/>
          </a:xfrm>
          <a:prstGeom prst="rect">
            <a:avLst/>
          </a:prstGeom>
          <a:noFill/>
          <a:ln/>
        </p:spPr>
        <p:txBody>
          <a:bodyPr wrap="square" lIns="0" tIns="0" rIns="0" bIns="0" rtlCol="0" anchor="ctr"/>
          <a:lstStyle/>
          <a:p>
            <a:pPr algn="ctr" indent="0" marL="0">
              <a:buNone/>
            </a:pPr>
            <a:r>
              <a:rPr lang="en-US" sz="1400" b="1" dirty="0">
                <a:solidFill>
                  <a:srgbClr val="101420"/>
                </a:solidFill>
                <a:latin typeface="맑은 고딕" pitchFamily="34" charset="0"/>
                <a:ea typeface="맑은 고딕" pitchFamily="34" charset="-122"/>
                <a:cs typeface="맑은 고딕" pitchFamily="34" charset="-120"/>
              </a:rPr>
              <a:t>유입률이 쌓이면 카테고리 벤치마크가 됩니다 — 데이터가 쌓인 사업자만 가질 수 있습니다.</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457200"/>
            <a:ext cx="420624" cy="420624"/>
          </a:xfrm>
          <a:prstGeom prst="roundRect">
            <a:avLst>
              <a:gd name="adj" fmla="val 17391"/>
            </a:avLst>
          </a:prstGeom>
          <a:solidFill>
            <a:srgbClr val="E11D2E"/>
          </a:solidFill>
          <a:ln/>
        </p:spPr>
      </p:sp>
      <p:sp>
        <p:nvSpPr>
          <p:cNvPr id="3" name="Text 1"/>
          <p:cNvSpPr txBox="1"/>
          <p:nvPr/>
        </p:nvSpPr>
        <p:spPr>
          <a:xfrm>
            <a:off x="548640" y="4572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05</a:t>
            </a:r>
            <a:endParaRPr lang="en-US" sz="1500" dirty="0"/>
          </a:p>
        </p:txBody>
      </p:sp>
      <p:sp>
        <p:nvSpPr>
          <p:cNvPr id="4" name="Text 2"/>
          <p:cNvSpPr txBox="1"/>
          <p:nvPr/>
        </p:nvSpPr>
        <p:spPr>
          <a:xfrm>
            <a:off x="1115568" y="402336"/>
            <a:ext cx="10424160" cy="548640"/>
          </a:xfrm>
          <a:prstGeom prst="rect">
            <a:avLst/>
          </a:prstGeom>
          <a:noFill/>
          <a:ln/>
        </p:spPr>
        <p:txBody>
          <a:bodyPr wrap="square" lIns="0" tIns="0" rIns="0" bIns="0" rtlCol="0" anchor="ctr"/>
          <a:lstStyle/>
          <a:p>
            <a:pPr indent="0" marL="0">
              <a:buNone/>
            </a:pPr>
            <a:r>
              <a:rPr lang="en-US" sz="2900" b="1" dirty="0">
                <a:solidFill>
                  <a:srgbClr val="101420"/>
                </a:solidFill>
                <a:latin typeface="맑은 고딕" pitchFamily="34" charset="0"/>
                <a:ea typeface="맑은 고딕" pitchFamily="34" charset="-122"/>
                <a:cs typeface="맑은 고딕" pitchFamily="34" charset="-120"/>
              </a:rPr>
              <a:t>기술 격차가 아니라 자산 격차입니다</a:t>
            </a:r>
            <a:endParaRPr lang="en-US" sz="2900" dirty="0"/>
          </a:p>
        </p:txBody>
      </p:sp>
      <p:sp>
        <p:nvSpPr>
          <p:cNvPr id="5" name="Text 3"/>
          <p:cNvSpPr txBox="1"/>
          <p:nvPr/>
        </p:nvSpPr>
        <p:spPr>
          <a:xfrm>
            <a:off x="1115568" y="969264"/>
            <a:ext cx="10424160" cy="32918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어디까지 보이는가 — 돈으로 따라잡을 수 없는 차이</a:t>
            </a:r>
            <a:endParaRPr lang="en-US" sz="1300" dirty="0"/>
          </a:p>
        </p:txBody>
      </p:sp>
      <p:sp>
        <p:nvSpPr>
          <p:cNvPr id="6" name="Shape 4"/>
          <p:cNvSpPr/>
          <p:nvPr/>
        </p:nvSpPr>
        <p:spPr>
          <a:xfrm>
            <a:off x="548640" y="1572768"/>
            <a:ext cx="3529584" cy="2926080"/>
          </a:xfrm>
          <a:prstGeom prst="roundRect">
            <a:avLst>
              <a:gd name="adj" fmla="val 2188"/>
            </a:avLst>
          </a:prstGeom>
          <a:solidFill>
            <a:srgbClr val="F6F7F9"/>
          </a:solidFill>
          <a:ln w="12700">
            <a:solidFill>
              <a:srgbClr val="E3E6EB"/>
            </a:solidFill>
            <a:prstDash val="solid"/>
          </a:ln>
          <a:effectLst>
            <a:outerShdw sx="100000" sy="100000" kx="0" ky="0" algn="bl" rotWithShape="0" blurRad="177800" dist="38100" dir="5400000">
              <a:srgbClr val="9AA3B0">
                <a:alpha val="20000"/>
              </a:srgbClr>
            </a:outerShdw>
          </a:effectLst>
        </p:spPr>
      </p:sp>
      <p:sp>
        <p:nvSpPr>
          <p:cNvPr id="7" name="Text 5"/>
          <p:cNvSpPr txBox="1"/>
          <p:nvPr/>
        </p:nvSpPr>
        <p:spPr>
          <a:xfrm>
            <a:off x="841248" y="1828800"/>
            <a:ext cx="2944368" cy="365760"/>
          </a:xfrm>
          <a:prstGeom prst="rect">
            <a:avLst/>
          </a:prstGeom>
          <a:noFill/>
          <a:ln/>
        </p:spPr>
        <p:txBody>
          <a:bodyPr wrap="square" lIns="0" tIns="0" rIns="0" bIns="0" rtlCol="0" anchor="ctr"/>
          <a:lstStyle/>
          <a:p>
            <a:pPr indent="0" marL="0">
              <a:buNone/>
            </a:pPr>
            <a:r>
              <a:rPr lang="en-US" sz="1600" b="1" dirty="0">
                <a:solidFill>
                  <a:srgbClr val="101420"/>
                </a:solidFill>
                <a:latin typeface="맑은 고딕" pitchFamily="34" charset="0"/>
                <a:ea typeface="맑은 고딕" pitchFamily="34" charset="-122"/>
                <a:cs typeface="맑은 고딕" pitchFamily="34" charset="-120"/>
              </a:rPr>
              <a:t>브랜드 자체 데이터</a:t>
            </a:r>
            <a:endParaRPr lang="en-US" sz="1600" dirty="0"/>
          </a:p>
        </p:txBody>
      </p:sp>
      <p:sp>
        <p:nvSpPr>
          <p:cNvPr id="8" name="Text 6"/>
          <p:cNvSpPr txBox="1"/>
          <p:nvPr/>
        </p:nvSpPr>
        <p:spPr>
          <a:xfrm>
            <a:off x="841248" y="2240280"/>
            <a:ext cx="2944368" cy="603504"/>
          </a:xfrm>
          <a:prstGeom prst="rect">
            <a:avLst/>
          </a:prstGeom>
          <a:noFill/>
          <a:ln/>
        </p:spPr>
        <p:txBody>
          <a:bodyPr wrap="square" lIns="0" tIns="0" rIns="0" bIns="0" rtlCol="0" anchor="ctr"/>
          <a:lstStyle/>
          <a:p>
            <a:pPr indent="0" marL="0">
              <a:lnSpc>
                <a:spcPts val="2200"/>
              </a:lnSpc>
              <a:buNone/>
            </a:pPr>
            <a:r>
              <a:rPr lang="en-US" sz="1400" b="1" dirty="0">
                <a:solidFill>
                  <a:srgbClr val="5D6675"/>
                </a:solidFill>
                <a:latin typeface="맑은 고딕" pitchFamily="34" charset="0"/>
                <a:ea typeface="맑은 고딕" pitchFamily="34" charset="-122"/>
                <a:cs typeface="맑은 고딕" pitchFamily="34" charset="-120"/>
              </a:rPr>
              <a:t>자사 POS가 끝</a:t>
            </a:r>
            <a:endParaRPr lang="en-US" sz="1400" dirty="0"/>
          </a:p>
        </p:txBody>
      </p:sp>
      <p:sp>
        <p:nvSpPr>
          <p:cNvPr id="9" name="Text 7"/>
          <p:cNvSpPr txBox="1"/>
          <p:nvPr/>
        </p:nvSpPr>
        <p:spPr>
          <a:xfrm>
            <a:off x="841248" y="2971800"/>
            <a:ext cx="2944368" cy="1920240"/>
          </a:xfrm>
          <a:prstGeom prst="rect">
            <a:avLst/>
          </a:prstGeom>
          <a:noFill/>
          <a:ln/>
        </p:spPr>
        <p:txBody>
          <a:bodyPr wrap="square" lIns="0" tIns="0" rIns="0" bIns="0" rtlCol="0" anchor="t"/>
          <a:lstStyle/>
          <a:p>
            <a:pPr marL="342900" indent="-342900">
              <a:spcAft>
                <a:spcPts val="1200"/>
              </a:spcAft>
              <a:buSzPct val="100000"/>
              <a:buChar char="•"/>
            </a:pPr>
            <a:r>
              <a:rPr lang="en-US" sz="1300" dirty="0">
                <a:solidFill>
                  <a:srgbClr val="101420"/>
                </a:solidFill>
                <a:latin typeface="맑은 고딕" pitchFamily="34" charset="0"/>
                <a:ea typeface="맑은 고딕" pitchFamily="34" charset="-122"/>
                <a:cs typeface="맑은 고딕" pitchFamily="34" charset="-120"/>
              </a:rPr>
              <a:t>산 사람이 산 것만 안다</a:t>
            </a:r>
            <a:endParaRPr lang="en-US" sz="1300" dirty="0"/>
          </a:p>
          <a:p>
            <a:pPr marL="342900" indent="-342900">
              <a:spcAft>
                <a:spcPts val="1200"/>
              </a:spcAft>
              <a:buSzPct val="100000"/>
              <a:buChar char="•"/>
            </a:pPr>
            <a:r>
              <a:rPr lang="en-US" sz="1300" dirty="0">
                <a:solidFill>
                  <a:srgbClr val="101420"/>
                </a:solidFill>
                <a:latin typeface="맑은 고딕" pitchFamily="34" charset="0"/>
                <a:ea typeface="맑은 고딕" pitchFamily="34" charset="-122"/>
                <a:cs typeface="맑은 고딕" pitchFamily="34" charset="-120"/>
              </a:rPr>
              <a:t>안 산 사람은 존재조차 모름</a:t>
            </a:r>
            <a:endParaRPr lang="en-US" sz="1300" dirty="0"/>
          </a:p>
          <a:p>
            <a:pPr marL="342900" indent="-342900">
              <a:spcAft>
                <a:spcPts val="1200"/>
              </a:spcAft>
              <a:buSzPct val="100000"/>
              <a:buChar char="•"/>
            </a:pPr>
            <a:r>
              <a:rPr lang="en-US" sz="1300" dirty="0">
                <a:solidFill>
                  <a:srgbClr val="101420"/>
                </a:solidFill>
                <a:latin typeface="맑은 고딕" pitchFamily="34" charset="0"/>
                <a:ea typeface="맑은 고딕" pitchFamily="34" charset="-122"/>
                <a:cs typeface="맑은 고딕" pitchFamily="34" charset="-120"/>
              </a:rPr>
              <a:t>매장 밖은 전혀 모름</a:t>
            </a:r>
            <a:endParaRPr lang="en-US" sz="1300" dirty="0"/>
          </a:p>
        </p:txBody>
      </p:sp>
      <p:sp>
        <p:nvSpPr>
          <p:cNvPr id="10" name="Shape 8"/>
          <p:cNvSpPr/>
          <p:nvPr/>
        </p:nvSpPr>
        <p:spPr>
          <a:xfrm>
            <a:off x="4270248" y="1572768"/>
            <a:ext cx="3529584" cy="2926080"/>
          </a:xfrm>
          <a:prstGeom prst="roundRect">
            <a:avLst>
              <a:gd name="adj" fmla="val 2188"/>
            </a:avLst>
          </a:prstGeom>
          <a:solidFill>
            <a:srgbClr val="F6F7F9"/>
          </a:solidFill>
          <a:ln w="12700">
            <a:solidFill>
              <a:srgbClr val="E3E6EB"/>
            </a:solidFill>
            <a:prstDash val="solid"/>
          </a:ln>
          <a:effectLst>
            <a:outerShdw sx="100000" sy="100000" kx="0" ky="0" algn="bl" rotWithShape="0" blurRad="177800" dist="38100" dir="5400000">
              <a:srgbClr val="9AA3B0">
                <a:alpha val="20000"/>
              </a:srgbClr>
            </a:outerShdw>
          </a:effectLst>
        </p:spPr>
      </p:sp>
      <p:sp>
        <p:nvSpPr>
          <p:cNvPr id="11" name="Text 9"/>
          <p:cNvSpPr txBox="1"/>
          <p:nvPr/>
        </p:nvSpPr>
        <p:spPr>
          <a:xfrm>
            <a:off x="4562856" y="1828800"/>
            <a:ext cx="2944368" cy="365760"/>
          </a:xfrm>
          <a:prstGeom prst="rect">
            <a:avLst/>
          </a:prstGeom>
          <a:noFill/>
          <a:ln/>
        </p:spPr>
        <p:txBody>
          <a:bodyPr wrap="square" lIns="0" tIns="0" rIns="0" bIns="0" rtlCol="0" anchor="ctr"/>
          <a:lstStyle/>
          <a:p>
            <a:pPr indent="0" marL="0">
              <a:buNone/>
            </a:pPr>
            <a:r>
              <a:rPr lang="en-US" sz="1600" b="1" dirty="0">
                <a:solidFill>
                  <a:srgbClr val="101420"/>
                </a:solidFill>
                <a:latin typeface="맑은 고딕" pitchFamily="34" charset="0"/>
                <a:ea typeface="맑은 고딕" pitchFamily="34" charset="-122"/>
                <a:cs typeface="맑은 고딕" pitchFamily="34" charset="-120"/>
              </a:rPr>
              <a:t>메이아이 등 비전 AI</a:t>
            </a:r>
            <a:endParaRPr lang="en-US" sz="1600" dirty="0"/>
          </a:p>
        </p:txBody>
      </p:sp>
      <p:sp>
        <p:nvSpPr>
          <p:cNvPr id="12" name="Text 10"/>
          <p:cNvSpPr txBox="1"/>
          <p:nvPr/>
        </p:nvSpPr>
        <p:spPr>
          <a:xfrm>
            <a:off x="4562856" y="2240280"/>
            <a:ext cx="2944368" cy="603504"/>
          </a:xfrm>
          <a:prstGeom prst="rect">
            <a:avLst/>
          </a:prstGeom>
          <a:noFill/>
          <a:ln/>
        </p:spPr>
        <p:txBody>
          <a:bodyPr wrap="square" lIns="0" tIns="0" rIns="0" bIns="0" rtlCol="0" anchor="ctr"/>
          <a:lstStyle/>
          <a:p>
            <a:pPr indent="0" marL="0">
              <a:lnSpc>
                <a:spcPts val="2200"/>
              </a:lnSpc>
              <a:buNone/>
            </a:pPr>
            <a:r>
              <a:rPr lang="en-US" sz="1400" b="1" dirty="0">
                <a:solidFill>
                  <a:srgbClr val="5D6675"/>
                </a:solidFill>
                <a:latin typeface="맑은 고딕" pitchFamily="34" charset="0"/>
                <a:ea typeface="맑은 고딕" pitchFamily="34" charset="-122"/>
                <a:cs typeface="맑은 고딕" pitchFamily="34" charset="-120"/>
              </a:rPr>
              <a:t>설치한 매장 안이 끝</a:t>
            </a:r>
            <a:endParaRPr lang="en-US" sz="1400" dirty="0"/>
          </a:p>
        </p:txBody>
      </p:sp>
      <p:sp>
        <p:nvSpPr>
          <p:cNvPr id="13" name="Text 11"/>
          <p:cNvSpPr txBox="1"/>
          <p:nvPr/>
        </p:nvSpPr>
        <p:spPr>
          <a:xfrm>
            <a:off x="4562856" y="2971800"/>
            <a:ext cx="2944368" cy="1920240"/>
          </a:xfrm>
          <a:prstGeom prst="rect">
            <a:avLst/>
          </a:prstGeom>
          <a:noFill/>
          <a:ln/>
        </p:spPr>
        <p:txBody>
          <a:bodyPr wrap="square" lIns="0" tIns="0" rIns="0" bIns="0" rtlCol="0" anchor="t"/>
          <a:lstStyle/>
          <a:p>
            <a:pPr marL="342900" indent="-342900">
              <a:spcAft>
                <a:spcPts val="1200"/>
              </a:spcAft>
              <a:buSzPct val="100000"/>
              <a:buChar char="•"/>
            </a:pPr>
            <a:r>
              <a:rPr lang="en-US" sz="1300" dirty="0">
                <a:solidFill>
                  <a:srgbClr val="101420"/>
                </a:solidFill>
                <a:latin typeface="맑은 고딕" pitchFamily="34" charset="0"/>
                <a:ea typeface="맑은 고딕" pitchFamily="34" charset="-122"/>
                <a:cs typeface="맑은 고딕" pitchFamily="34" charset="-120"/>
              </a:rPr>
              <a:t>익명 숫자에서 종료</a:t>
            </a:r>
            <a:endParaRPr lang="en-US" sz="1300" dirty="0"/>
          </a:p>
          <a:p>
            <a:pPr marL="342900" indent="-342900">
              <a:spcAft>
                <a:spcPts val="1200"/>
              </a:spcAft>
              <a:buSzPct val="100000"/>
              <a:buChar char="•"/>
            </a:pPr>
            <a:r>
              <a:rPr lang="en-US" sz="1300" dirty="0">
                <a:solidFill>
                  <a:srgbClr val="101420"/>
                </a:solidFill>
                <a:latin typeface="맑은 고딕" pitchFamily="34" charset="0"/>
                <a:ea typeface="맑은 고딕" pitchFamily="34" charset="-122"/>
                <a:cs typeface="맑은 고딕" pitchFamily="34" charset="-120"/>
              </a:rPr>
              <a:t>고객이 누구인지 모름</a:t>
            </a:r>
            <a:endParaRPr lang="en-US" sz="1300" dirty="0"/>
          </a:p>
          <a:p>
            <a:pPr marL="342900" indent="-342900">
              <a:spcAft>
                <a:spcPts val="1200"/>
              </a:spcAft>
              <a:buSzPct val="100000"/>
              <a:buChar char="•"/>
            </a:pPr>
            <a:r>
              <a:rPr lang="en-US" sz="1300" dirty="0">
                <a:solidFill>
                  <a:srgbClr val="101420"/>
                </a:solidFill>
                <a:latin typeface="맑은 고딕" pitchFamily="34" charset="0"/>
                <a:ea typeface="맑은 고딕" pitchFamily="34" charset="-122"/>
                <a:cs typeface="맑은 고딕" pitchFamily="34" charset="-120"/>
              </a:rPr>
              <a:t>처방 효과를 증명 못 함</a:t>
            </a:r>
            <a:endParaRPr lang="en-US" sz="1300" dirty="0"/>
          </a:p>
        </p:txBody>
      </p:sp>
      <p:sp>
        <p:nvSpPr>
          <p:cNvPr id="14" name="Shape 12"/>
          <p:cNvSpPr/>
          <p:nvPr/>
        </p:nvSpPr>
        <p:spPr>
          <a:xfrm>
            <a:off x="7991856" y="1572768"/>
            <a:ext cx="3529584" cy="2926080"/>
          </a:xfrm>
          <a:prstGeom prst="roundRect">
            <a:avLst>
              <a:gd name="adj" fmla="val 2188"/>
            </a:avLst>
          </a:prstGeom>
          <a:solidFill>
            <a:srgbClr val="101420"/>
          </a:solidFill>
          <a:ln w="12700">
            <a:solidFill>
              <a:srgbClr val="101420"/>
            </a:solidFill>
            <a:prstDash val="solid"/>
          </a:ln>
          <a:effectLst>
            <a:outerShdw sx="100000" sy="100000" kx="0" ky="0" algn="bl" rotWithShape="0" blurRad="177800" dist="38100" dir="5400000">
              <a:srgbClr val="9AA3B0">
                <a:alpha val="20000"/>
              </a:srgbClr>
            </a:outerShdw>
          </a:effectLst>
        </p:spPr>
      </p:sp>
      <p:sp>
        <p:nvSpPr>
          <p:cNvPr id="15" name="Text 13"/>
          <p:cNvSpPr txBox="1"/>
          <p:nvPr/>
        </p:nvSpPr>
        <p:spPr>
          <a:xfrm>
            <a:off x="8284464" y="1828800"/>
            <a:ext cx="2944368" cy="365760"/>
          </a:xfrm>
          <a:prstGeom prst="rect">
            <a:avLst/>
          </a:prstGeom>
          <a:noFill/>
          <a:ln/>
        </p:spPr>
        <p:txBody>
          <a:bodyPr wrap="square" lIns="0" tIns="0" rIns="0" bIns="0" rtlCol="0" anchor="ctr"/>
          <a:lstStyle/>
          <a:p>
            <a:pPr indent="0" marL="0">
              <a:buNone/>
            </a:pPr>
            <a:r>
              <a:rPr lang="en-US" sz="1600" b="1" dirty="0">
                <a:solidFill>
                  <a:srgbClr val="FFFFFF"/>
                </a:solidFill>
                <a:latin typeface="맑은 고딕" pitchFamily="34" charset="0"/>
                <a:ea typeface="맑은 고딕" pitchFamily="34" charset="-122"/>
                <a:cs typeface="맑은 고딕" pitchFamily="34" charset="-120"/>
              </a:rPr>
              <a:t>L.GA (롯데)</a:t>
            </a:r>
            <a:endParaRPr lang="en-US" sz="1600" dirty="0"/>
          </a:p>
        </p:txBody>
      </p:sp>
      <p:sp>
        <p:nvSpPr>
          <p:cNvPr id="16" name="Text 14"/>
          <p:cNvSpPr txBox="1"/>
          <p:nvPr/>
        </p:nvSpPr>
        <p:spPr>
          <a:xfrm>
            <a:off x="8284464" y="2240280"/>
            <a:ext cx="2944368" cy="603504"/>
          </a:xfrm>
          <a:prstGeom prst="rect">
            <a:avLst/>
          </a:prstGeom>
          <a:noFill/>
          <a:ln/>
        </p:spPr>
        <p:txBody>
          <a:bodyPr wrap="square" lIns="0" tIns="0" rIns="0" bIns="0" rtlCol="0" anchor="ctr"/>
          <a:lstStyle/>
          <a:p>
            <a:pPr indent="0" marL="0">
              <a:lnSpc>
                <a:spcPts val="2200"/>
              </a:lnSpc>
              <a:buNone/>
            </a:pPr>
            <a:r>
              <a:rPr lang="en-US" sz="1400" b="1" dirty="0">
                <a:solidFill>
                  <a:srgbClr val="F2A33C"/>
                </a:solidFill>
                <a:latin typeface="맑은 고딕" pitchFamily="34" charset="0"/>
                <a:ea typeface="맑은 고딕" pitchFamily="34" charset="-122"/>
                <a:cs typeface="맑은 고딕" pitchFamily="34" charset="-120"/>
              </a:rPr>
              <a:t>고객의 소비 생애 전체</a:t>
            </a:r>
            <a:endParaRPr lang="en-US" sz="1400" dirty="0"/>
          </a:p>
        </p:txBody>
      </p:sp>
      <p:sp>
        <p:nvSpPr>
          <p:cNvPr id="17" name="Text 15"/>
          <p:cNvSpPr txBox="1"/>
          <p:nvPr/>
        </p:nvSpPr>
        <p:spPr>
          <a:xfrm>
            <a:off x="8284464" y="2971800"/>
            <a:ext cx="2944368" cy="1920240"/>
          </a:xfrm>
          <a:prstGeom prst="rect">
            <a:avLst/>
          </a:prstGeom>
          <a:noFill/>
          <a:ln/>
        </p:spPr>
        <p:txBody>
          <a:bodyPr wrap="square" lIns="0" tIns="0" rIns="0" bIns="0" rtlCol="0" anchor="t"/>
          <a:lstStyle/>
          <a:p>
            <a:pPr marL="342900" indent="-342900">
              <a:spcAft>
                <a:spcPts val="1200"/>
              </a:spcAft>
              <a:buSzPct val="100000"/>
              <a:buChar char="•"/>
            </a:pPr>
            <a:r>
              <a:rPr lang="en-US" sz="1300" dirty="0">
                <a:solidFill>
                  <a:srgbClr val="A7AFBE"/>
                </a:solidFill>
                <a:latin typeface="맑은 고딕" pitchFamily="34" charset="0"/>
                <a:ea typeface="맑은 고딕" pitchFamily="34" charset="-122"/>
                <a:cs typeface="맑은 고딕" pitchFamily="34" charset="-120"/>
              </a:rPr>
              <a:t>누가 왔고 왜 안 샀는지</a:t>
            </a:r>
            <a:endParaRPr lang="en-US" sz="1300" dirty="0"/>
          </a:p>
          <a:p>
            <a:pPr marL="342900" indent="-342900">
              <a:spcAft>
                <a:spcPts val="1200"/>
              </a:spcAft>
              <a:buSzPct val="100000"/>
              <a:buChar char="•"/>
            </a:pPr>
            <a:r>
              <a:rPr lang="en-US" sz="1300" dirty="0">
                <a:solidFill>
                  <a:srgbClr val="A7AFBE"/>
                </a:solidFill>
                <a:latin typeface="맑은 고딕" pitchFamily="34" charset="0"/>
                <a:ea typeface="맑은 고딕" pitchFamily="34" charset="-122"/>
                <a:cs typeface="맑은 고딕" pitchFamily="34" charset="-120"/>
              </a:rPr>
              <a:t>평소 어디서 무엇을 사는지</a:t>
            </a:r>
            <a:endParaRPr lang="en-US" sz="1300" dirty="0"/>
          </a:p>
          <a:p>
            <a:pPr marL="342900" indent="-342900">
              <a:spcAft>
                <a:spcPts val="1200"/>
              </a:spcAft>
              <a:buSzPct val="100000"/>
              <a:buChar char="•"/>
            </a:pPr>
            <a:r>
              <a:rPr lang="en-US" sz="1300" dirty="0">
                <a:solidFill>
                  <a:srgbClr val="A7AFBE"/>
                </a:solidFill>
                <a:latin typeface="맑은 고딕" pitchFamily="34" charset="0"/>
                <a:ea typeface="맑은 고딕" pitchFamily="34" charset="-122"/>
                <a:cs typeface="맑은 고딕" pitchFamily="34" charset="-120"/>
              </a:rPr>
              <a:t>POS로 효과까지 증명</a:t>
            </a:r>
            <a:endParaRPr lang="en-US" sz="1300" dirty="0"/>
          </a:p>
        </p:txBody>
      </p:sp>
      <p:sp>
        <p:nvSpPr>
          <p:cNvPr id="18" name="Shape 16"/>
          <p:cNvSpPr/>
          <p:nvPr/>
        </p:nvSpPr>
        <p:spPr>
          <a:xfrm>
            <a:off x="548640" y="4937760"/>
            <a:ext cx="11091672" cy="1051560"/>
          </a:xfrm>
          <a:prstGeom prst="roundRect">
            <a:avLst>
              <a:gd name="adj" fmla="val 5217"/>
            </a:avLst>
          </a:prstGeom>
          <a:solidFill>
            <a:srgbClr val="101420"/>
          </a:solidFill>
          <a:ln/>
        </p:spPr>
      </p:sp>
      <p:sp>
        <p:nvSpPr>
          <p:cNvPr id="19" name="Text 17"/>
          <p:cNvSpPr txBox="1"/>
          <p:nvPr/>
        </p:nvSpPr>
        <p:spPr>
          <a:xfrm>
            <a:off x="548640" y="4937760"/>
            <a:ext cx="11091672" cy="1051560"/>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브랜드는 자기가 판 것만 압니다.   롯데는 그 고객의 하루 전체를 압니다.</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01420"/>
        </a:solidFill>
      </p:bgPr>
    </p:bg>
    <p:spTree>
      <p:nvGrpSpPr>
        <p:cNvPr id="1" name=""/>
        <p:cNvGrpSpPr/>
        <p:nvPr/>
      </p:nvGrpSpPr>
      <p:grpSpPr>
        <a:xfrm>
          <a:off x="0" y="0"/>
          <a:ext cx="0" cy="0"/>
          <a:chOff x="0" y="0"/>
          <a:chExt cx="0" cy="0"/>
        </a:xfrm>
      </p:grpSpPr>
      <p:sp>
        <p:nvSpPr>
          <p:cNvPr id="2" name="Shape 0"/>
          <p:cNvSpPr/>
          <p:nvPr/>
        </p:nvSpPr>
        <p:spPr>
          <a:xfrm>
            <a:off x="548640" y="457200"/>
            <a:ext cx="420624" cy="420624"/>
          </a:xfrm>
          <a:prstGeom prst="roundRect">
            <a:avLst>
              <a:gd name="adj" fmla="val 17391"/>
            </a:avLst>
          </a:prstGeom>
          <a:solidFill>
            <a:srgbClr val="E11D2E"/>
          </a:solidFill>
          <a:ln/>
        </p:spPr>
      </p:sp>
      <p:sp>
        <p:nvSpPr>
          <p:cNvPr id="3" name="Text 1"/>
          <p:cNvSpPr txBox="1"/>
          <p:nvPr/>
        </p:nvSpPr>
        <p:spPr>
          <a:xfrm>
            <a:off x="548640" y="4572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06</a:t>
            </a:r>
            <a:endParaRPr lang="en-US" sz="1500" dirty="0"/>
          </a:p>
        </p:txBody>
      </p:sp>
      <p:sp>
        <p:nvSpPr>
          <p:cNvPr id="4" name="Text 2"/>
          <p:cNvSpPr txBox="1"/>
          <p:nvPr/>
        </p:nvSpPr>
        <p:spPr>
          <a:xfrm>
            <a:off x="1115568" y="402336"/>
            <a:ext cx="10424160" cy="548640"/>
          </a:xfrm>
          <a:prstGeom prst="rect">
            <a:avLst/>
          </a:prstGeom>
          <a:noFill/>
          <a:ln/>
        </p:spPr>
        <p:txBody>
          <a:bodyPr wrap="square" lIns="0" tIns="0" rIns="0" bIns="0" rtlCol="0" anchor="ctr"/>
          <a:lstStyle/>
          <a:p>
            <a:pPr indent="0" marL="0">
              <a:buNone/>
            </a:pPr>
            <a:r>
              <a:rPr lang="en-US" sz="2900" b="1" dirty="0">
                <a:solidFill>
                  <a:srgbClr val="FFFFFF"/>
                </a:solidFill>
                <a:latin typeface="맑은 고딕" pitchFamily="34" charset="0"/>
                <a:ea typeface="맑은 고딕" pitchFamily="34" charset="-122"/>
                <a:cs typeface="맑은 고딕" pitchFamily="34" charset="-120"/>
              </a:rPr>
              <a:t>브랜드가 모르는 자기 고객</a:t>
            </a:r>
            <a:endParaRPr lang="en-US" sz="2900" dirty="0"/>
          </a:p>
        </p:txBody>
      </p:sp>
      <p:sp>
        <p:nvSpPr>
          <p:cNvPr id="5" name="Text 3"/>
          <p:cNvSpPr txBox="1"/>
          <p:nvPr/>
        </p:nvSpPr>
        <p:spPr>
          <a:xfrm>
            <a:off x="1115568" y="969264"/>
            <a:ext cx="10424160" cy="329184"/>
          </a:xfrm>
          <a:prstGeom prst="rect">
            <a:avLst/>
          </a:prstGeom>
          <a:noFill/>
          <a:ln/>
        </p:spPr>
        <p:txBody>
          <a:bodyPr wrap="square" lIns="0" tIns="0" rIns="0" bIns="0" rtlCol="0" anchor="ctr"/>
          <a:lstStyle/>
          <a:p>
            <a:pPr indent="0" marL="0">
              <a:buNone/>
            </a:pPr>
            <a:r>
              <a:rPr lang="en-US" sz="1300" dirty="0">
                <a:solidFill>
                  <a:srgbClr val="A7AFBE"/>
                </a:solidFill>
                <a:latin typeface="맑은 고딕" pitchFamily="34" charset="0"/>
                <a:ea typeface="맑은 고딕" pitchFamily="34" charset="-122"/>
                <a:cs typeface="맑은 고딕" pitchFamily="34" charset="-120"/>
              </a:rPr>
              <a:t>팝업이 끝나면 브랜드에게 드리는 다섯 가지 — 스스로는 절대 알 수 없는 답</a:t>
            </a:r>
            <a:endParaRPr lang="en-US" sz="1300" dirty="0"/>
          </a:p>
        </p:txBody>
      </p:sp>
      <p:sp>
        <p:nvSpPr>
          <p:cNvPr id="6" name="Shape 4"/>
          <p:cNvSpPr/>
          <p:nvPr/>
        </p:nvSpPr>
        <p:spPr>
          <a:xfrm>
            <a:off x="566928" y="1645920"/>
            <a:ext cx="11064240" cy="749808"/>
          </a:xfrm>
          <a:prstGeom prst="roundRect">
            <a:avLst>
              <a:gd name="adj" fmla="val 6098"/>
            </a:avLst>
          </a:prstGeom>
          <a:solidFill>
            <a:srgbClr val="1B2130"/>
          </a:solidFill>
          <a:ln/>
        </p:spPr>
      </p:sp>
      <p:sp>
        <p:nvSpPr>
          <p:cNvPr id="7" name="Shape 5"/>
          <p:cNvSpPr/>
          <p:nvPr/>
        </p:nvSpPr>
        <p:spPr>
          <a:xfrm>
            <a:off x="841248" y="1819656"/>
            <a:ext cx="402336" cy="402336"/>
          </a:xfrm>
          <a:prstGeom prst="ellipse">
            <a:avLst/>
          </a:prstGeom>
          <a:solidFill>
            <a:srgbClr val="E11D2E"/>
          </a:solidFill>
          <a:ln/>
        </p:spPr>
      </p:sp>
      <p:sp>
        <p:nvSpPr>
          <p:cNvPr id="8" name="Text 6"/>
          <p:cNvSpPr txBox="1"/>
          <p:nvPr/>
        </p:nvSpPr>
        <p:spPr>
          <a:xfrm>
            <a:off x="841248" y="181965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1</a:t>
            </a:r>
            <a:endParaRPr lang="en-US" sz="1400" dirty="0"/>
          </a:p>
        </p:txBody>
      </p:sp>
      <p:sp>
        <p:nvSpPr>
          <p:cNvPr id="9" name="Text 7"/>
          <p:cNvSpPr txBox="1"/>
          <p:nvPr/>
        </p:nvSpPr>
        <p:spPr>
          <a:xfrm>
            <a:off x="1463040" y="1719072"/>
            <a:ext cx="5029200" cy="603504"/>
          </a:xfrm>
          <a:prstGeom prst="rect">
            <a:avLst/>
          </a:prstGeom>
          <a:noFill/>
          <a:ln/>
        </p:spPr>
        <p:txBody>
          <a:bodyPr wrap="square" lIns="0" tIns="0" rIns="0" bIns="0"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이번에 온 사람 중 신규가 몇 %인가</a:t>
            </a:r>
            <a:endParaRPr lang="en-US" sz="1500" dirty="0"/>
          </a:p>
        </p:txBody>
      </p:sp>
      <p:sp>
        <p:nvSpPr>
          <p:cNvPr id="10" name="Text 8"/>
          <p:cNvSpPr txBox="1"/>
          <p:nvPr/>
        </p:nvSpPr>
        <p:spPr>
          <a:xfrm>
            <a:off x="6629400" y="1719072"/>
            <a:ext cx="4754880" cy="603504"/>
          </a:xfrm>
          <a:prstGeom prst="rect">
            <a:avLst/>
          </a:prstGeom>
          <a:noFill/>
          <a:ln/>
        </p:spPr>
        <p:txBody>
          <a:bodyPr wrap="square" lIns="0" tIns="0" rIns="0" bIns="0" rtlCol="0" anchor="ctr"/>
          <a:lstStyle/>
          <a:p>
            <a:pPr indent="0" marL="0">
              <a:buNone/>
            </a:pPr>
            <a:r>
              <a:rPr lang="en-US" sz="1200" dirty="0">
                <a:solidFill>
                  <a:srgbClr val="A7AFBE"/>
                </a:solidFill>
                <a:latin typeface="맑은 고딕" pitchFamily="34" charset="0"/>
                <a:ea typeface="맑은 고딕" pitchFamily="34" charset="-122"/>
                <a:cs typeface="맑은 고딕" pitchFamily="34" charset="-120"/>
              </a:rPr>
              <a:t>매출만 보면 성공 같지만, 기존 고객만 다시 온 것일 수 있습니다</a:t>
            </a:r>
            <a:endParaRPr lang="en-US" sz="1200" dirty="0"/>
          </a:p>
        </p:txBody>
      </p:sp>
      <p:sp>
        <p:nvSpPr>
          <p:cNvPr id="11" name="Shape 9"/>
          <p:cNvSpPr/>
          <p:nvPr/>
        </p:nvSpPr>
        <p:spPr>
          <a:xfrm>
            <a:off x="566928" y="2496312"/>
            <a:ext cx="11064240" cy="749808"/>
          </a:xfrm>
          <a:prstGeom prst="roundRect">
            <a:avLst>
              <a:gd name="adj" fmla="val 6098"/>
            </a:avLst>
          </a:prstGeom>
          <a:solidFill>
            <a:srgbClr val="1B2130"/>
          </a:solidFill>
          <a:ln/>
        </p:spPr>
      </p:sp>
      <p:sp>
        <p:nvSpPr>
          <p:cNvPr id="12" name="Shape 10"/>
          <p:cNvSpPr/>
          <p:nvPr/>
        </p:nvSpPr>
        <p:spPr>
          <a:xfrm>
            <a:off x="841248" y="2670048"/>
            <a:ext cx="402336" cy="402336"/>
          </a:xfrm>
          <a:prstGeom prst="ellipse">
            <a:avLst/>
          </a:prstGeom>
          <a:solidFill>
            <a:srgbClr val="E11D2E"/>
          </a:solidFill>
          <a:ln/>
        </p:spPr>
      </p:sp>
      <p:sp>
        <p:nvSpPr>
          <p:cNvPr id="13" name="Text 11"/>
          <p:cNvSpPr txBox="1"/>
          <p:nvPr/>
        </p:nvSpPr>
        <p:spPr>
          <a:xfrm>
            <a:off x="841248" y="267004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2</a:t>
            </a:r>
            <a:endParaRPr lang="en-US" sz="1400" dirty="0"/>
          </a:p>
        </p:txBody>
      </p:sp>
      <p:sp>
        <p:nvSpPr>
          <p:cNvPr id="14" name="Text 12"/>
          <p:cNvSpPr txBox="1"/>
          <p:nvPr/>
        </p:nvSpPr>
        <p:spPr>
          <a:xfrm>
            <a:off x="1463040" y="2569464"/>
            <a:ext cx="5029200" cy="603504"/>
          </a:xfrm>
          <a:prstGeom prst="rect">
            <a:avLst/>
          </a:prstGeom>
          <a:noFill/>
          <a:ln/>
        </p:spPr>
        <p:txBody>
          <a:bodyPr wrap="square" lIns="0" tIns="0" rIns="0" bIns="0"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들어왔는데 안 산 사람은 누구였나</a:t>
            </a:r>
            <a:endParaRPr lang="en-US" sz="1500" dirty="0"/>
          </a:p>
        </p:txBody>
      </p:sp>
      <p:sp>
        <p:nvSpPr>
          <p:cNvPr id="15" name="Text 13"/>
          <p:cNvSpPr txBox="1"/>
          <p:nvPr/>
        </p:nvSpPr>
        <p:spPr>
          <a:xfrm>
            <a:off x="6629400" y="2569464"/>
            <a:ext cx="4754880" cy="603504"/>
          </a:xfrm>
          <a:prstGeom prst="rect">
            <a:avLst/>
          </a:prstGeom>
          <a:noFill/>
          <a:ln/>
        </p:spPr>
        <p:txBody>
          <a:bodyPr wrap="square" lIns="0" tIns="0" rIns="0" bIns="0" rtlCol="0" anchor="ctr"/>
          <a:lstStyle/>
          <a:p>
            <a:pPr indent="0" marL="0">
              <a:buNone/>
            </a:pPr>
            <a:r>
              <a:rPr lang="en-US" sz="1200" dirty="0">
                <a:solidFill>
                  <a:srgbClr val="A7AFBE"/>
                </a:solidFill>
                <a:latin typeface="맑은 고딕" pitchFamily="34" charset="0"/>
                <a:ea typeface="맑은 고딕" pitchFamily="34" charset="-122"/>
                <a:cs typeface="맑은 고딕" pitchFamily="34" charset="-120"/>
              </a:rPr>
              <a:t>가격대가 안 맞았는지, 타깃을 잘못 잡았는지가 여기서 나옵니다</a:t>
            </a:r>
            <a:endParaRPr lang="en-US" sz="1200" dirty="0"/>
          </a:p>
        </p:txBody>
      </p:sp>
      <p:sp>
        <p:nvSpPr>
          <p:cNvPr id="16" name="Shape 14"/>
          <p:cNvSpPr/>
          <p:nvPr/>
        </p:nvSpPr>
        <p:spPr>
          <a:xfrm>
            <a:off x="566928" y="3346704"/>
            <a:ext cx="11064240" cy="749808"/>
          </a:xfrm>
          <a:prstGeom prst="roundRect">
            <a:avLst>
              <a:gd name="adj" fmla="val 6098"/>
            </a:avLst>
          </a:prstGeom>
          <a:solidFill>
            <a:srgbClr val="1B2130"/>
          </a:solidFill>
          <a:ln/>
        </p:spPr>
      </p:sp>
      <p:sp>
        <p:nvSpPr>
          <p:cNvPr id="17" name="Shape 15"/>
          <p:cNvSpPr/>
          <p:nvPr/>
        </p:nvSpPr>
        <p:spPr>
          <a:xfrm>
            <a:off x="841248" y="3520440"/>
            <a:ext cx="402336" cy="402336"/>
          </a:xfrm>
          <a:prstGeom prst="ellipse">
            <a:avLst/>
          </a:prstGeom>
          <a:solidFill>
            <a:srgbClr val="E11D2E"/>
          </a:solidFill>
          <a:ln/>
        </p:spPr>
      </p:sp>
      <p:sp>
        <p:nvSpPr>
          <p:cNvPr id="18" name="Text 16"/>
          <p:cNvSpPr txBox="1"/>
          <p:nvPr/>
        </p:nvSpPr>
        <p:spPr>
          <a:xfrm>
            <a:off x="841248" y="352044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3</a:t>
            </a:r>
            <a:endParaRPr lang="en-US" sz="1400" dirty="0"/>
          </a:p>
        </p:txBody>
      </p:sp>
      <p:sp>
        <p:nvSpPr>
          <p:cNvPr id="19" name="Text 17"/>
          <p:cNvSpPr txBox="1"/>
          <p:nvPr/>
        </p:nvSpPr>
        <p:spPr>
          <a:xfrm>
            <a:off x="1463040" y="3419856"/>
            <a:ext cx="5029200" cy="603504"/>
          </a:xfrm>
          <a:prstGeom prst="rect">
            <a:avLst/>
          </a:prstGeom>
          <a:noFill/>
          <a:ln/>
        </p:spPr>
        <p:txBody>
          <a:bodyPr wrap="square" lIns="0" tIns="0" rIns="0" bIns="0"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우리 방문객이 평소 어디서 무엇을 사는가</a:t>
            </a:r>
            <a:endParaRPr lang="en-US" sz="1500" dirty="0"/>
          </a:p>
        </p:txBody>
      </p:sp>
      <p:sp>
        <p:nvSpPr>
          <p:cNvPr id="20" name="Text 18"/>
          <p:cNvSpPr txBox="1"/>
          <p:nvPr/>
        </p:nvSpPr>
        <p:spPr>
          <a:xfrm>
            <a:off x="6629400" y="3419856"/>
            <a:ext cx="4754880" cy="603504"/>
          </a:xfrm>
          <a:prstGeom prst="rect">
            <a:avLst/>
          </a:prstGeom>
          <a:noFill/>
          <a:ln/>
        </p:spPr>
        <p:txBody>
          <a:bodyPr wrap="square" lIns="0" tIns="0" rIns="0" bIns="0" rtlCol="0" anchor="ctr"/>
          <a:lstStyle/>
          <a:p>
            <a:pPr indent="0" marL="0">
              <a:buNone/>
            </a:pPr>
            <a:r>
              <a:rPr lang="en-US" sz="1200" dirty="0">
                <a:solidFill>
                  <a:srgbClr val="A7AFBE"/>
                </a:solidFill>
                <a:latin typeface="맑은 고딕" pitchFamily="34" charset="0"/>
                <a:ea typeface="맑은 고딕" pitchFamily="34" charset="-122"/>
                <a:cs typeface="맑은 고딕" pitchFamily="34" charset="-120"/>
              </a:rPr>
              <a:t>"우리 고객의 38%가 경쟁사 A 구매 이력" — 포지셔닝과 가격 전략을 바꿉니다</a:t>
            </a:r>
            <a:endParaRPr lang="en-US" sz="1200" dirty="0"/>
          </a:p>
        </p:txBody>
      </p:sp>
      <p:sp>
        <p:nvSpPr>
          <p:cNvPr id="21" name="Shape 19"/>
          <p:cNvSpPr/>
          <p:nvPr/>
        </p:nvSpPr>
        <p:spPr>
          <a:xfrm>
            <a:off x="566928" y="4197096"/>
            <a:ext cx="11064240" cy="749808"/>
          </a:xfrm>
          <a:prstGeom prst="roundRect">
            <a:avLst>
              <a:gd name="adj" fmla="val 6098"/>
            </a:avLst>
          </a:prstGeom>
          <a:solidFill>
            <a:srgbClr val="1B2130"/>
          </a:solidFill>
          <a:ln/>
        </p:spPr>
      </p:sp>
      <p:sp>
        <p:nvSpPr>
          <p:cNvPr id="22" name="Shape 20"/>
          <p:cNvSpPr/>
          <p:nvPr/>
        </p:nvSpPr>
        <p:spPr>
          <a:xfrm>
            <a:off x="841248" y="4370832"/>
            <a:ext cx="402336" cy="402336"/>
          </a:xfrm>
          <a:prstGeom prst="ellipse">
            <a:avLst/>
          </a:prstGeom>
          <a:solidFill>
            <a:srgbClr val="E11D2E"/>
          </a:solidFill>
          <a:ln/>
        </p:spPr>
      </p:sp>
      <p:sp>
        <p:nvSpPr>
          <p:cNvPr id="23" name="Text 21"/>
          <p:cNvSpPr txBox="1"/>
          <p:nvPr/>
        </p:nvSpPr>
        <p:spPr>
          <a:xfrm>
            <a:off x="841248" y="437083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4</a:t>
            </a:r>
            <a:endParaRPr lang="en-US" sz="1400" dirty="0"/>
          </a:p>
        </p:txBody>
      </p:sp>
      <p:sp>
        <p:nvSpPr>
          <p:cNvPr id="24" name="Text 22"/>
          <p:cNvSpPr txBox="1"/>
          <p:nvPr/>
        </p:nvSpPr>
        <p:spPr>
          <a:xfrm>
            <a:off x="1463040" y="4270248"/>
            <a:ext cx="5029200" cy="603504"/>
          </a:xfrm>
          <a:prstGeom prst="rect">
            <a:avLst/>
          </a:prstGeom>
          <a:noFill/>
          <a:ln/>
        </p:spPr>
        <p:txBody>
          <a:bodyPr wrap="square" lIns="0" tIns="0" rIns="0" bIns="0"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집었는데 안 산 상품</a:t>
            </a:r>
            <a:endParaRPr lang="en-US" sz="1500" dirty="0"/>
          </a:p>
        </p:txBody>
      </p:sp>
      <p:sp>
        <p:nvSpPr>
          <p:cNvPr id="25" name="Text 23"/>
          <p:cNvSpPr txBox="1"/>
          <p:nvPr/>
        </p:nvSpPr>
        <p:spPr>
          <a:xfrm>
            <a:off x="6629400" y="4270248"/>
            <a:ext cx="4754880" cy="603504"/>
          </a:xfrm>
          <a:prstGeom prst="rect">
            <a:avLst/>
          </a:prstGeom>
          <a:noFill/>
          <a:ln/>
        </p:spPr>
        <p:txBody>
          <a:bodyPr wrap="square" lIns="0" tIns="0" rIns="0" bIns="0" rtlCol="0" anchor="ctr"/>
          <a:lstStyle/>
          <a:p>
            <a:pPr indent="0" marL="0">
              <a:buNone/>
            </a:pPr>
            <a:r>
              <a:rPr lang="en-US" sz="1200" dirty="0">
                <a:solidFill>
                  <a:srgbClr val="A7AFBE"/>
                </a:solidFill>
                <a:latin typeface="맑은 고딕" pitchFamily="34" charset="0"/>
                <a:ea typeface="맑은 고딕" pitchFamily="34" charset="-122"/>
                <a:cs typeface="맑은 고딕" pitchFamily="34" charset="-120"/>
              </a:rPr>
              <a:t>온라인의 장바구니 이탈과 같습니다. 그대로 상품기획 피드백이 됩니다</a:t>
            </a:r>
            <a:endParaRPr lang="en-US" sz="1200" dirty="0"/>
          </a:p>
        </p:txBody>
      </p:sp>
      <p:sp>
        <p:nvSpPr>
          <p:cNvPr id="26" name="Shape 24"/>
          <p:cNvSpPr/>
          <p:nvPr/>
        </p:nvSpPr>
        <p:spPr>
          <a:xfrm>
            <a:off x="566928" y="5047488"/>
            <a:ext cx="11064240" cy="749808"/>
          </a:xfrm>
          <a:prstGeom prst="roundRect">
            <a:avLst>
              <a:gd name="adj" fmla="val 6098"/>
            </a:avLst>
          </a:prstGeom>
          <a:solidFill>
            <a:srgbClr val="1B2130"/>
          </a:solidFill>
          <a:ln/>
        </p:spPr>
      </p:sp>
      <p:sp>
        <p:nvSpPr>
          <p:cNvPr id="27" name="Shape 25"/>
          <p:cNvSpPr/>
          <p:nvPr/>
        </p:nvSpPr>
        <p:spPr>
          <a:xfrm>
            <a:off x="841248" y="5221224"/>
            <a:ext cx="402336" cy="402336"/>
          </a:xfrm>
          <a:prstGeom prst="ellipse">
            <a:avLst/>
          </a:prstGeom>
          <a:solidFill>
            <a:srgbClr val="E11D2E"/>
          </a:solidFill>
          <a:ln/>
        </p:spPr>
      </p:sp>
      <p:sp>
        <p:nvSpPr>
          <p:cNvPr id="28" name="Text 26"/>
          <p:cNvSpPr txBox="1"/>
          <p:nvPr/>
        </p:nvSpPr>
        <p:spPr>
          <a:xfrm>
            <a:off x="841248" y="522122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5</a:t>
            </a:r>
            <a:endParaRPr lang="en-US" sz="1400" dirty="0"/>
          </a:p>
        </p:txBody>
      </p:sp>
      <p:sp>
        <p:nvSpPr>
          <p:cNvPr id="29" name="Text 27"/>
          <p:cNvSpPr txBox="1"/>
          <p:nvPr/>
        </p:nvSpPr>
        <p:spPr>
          <a:xfrm>
            <a:off x="1463040" y="5120640"/>
            <a:ext cx="5029200" cy="603504"/>
          </a:xfrm>
          <a:prstGeom prst="rect">
            <a:avLst/>
          </a:prstGeom>
          <a:noFill/>
          <a:ln/>
        </p:spPr>
        <p:txBody>
          <a:bodyPr wrap="square" lIns="0" tIns="0" rIns="0" bIns="0"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다음 팝업은 어디에, 언제, 어느 층에</a:t>
            </a:r>
            <a:endParaRPr lang="en-US" sz="1500" dirty="0"/>
          </a:p>
        </p:txBody>
      </p:sp>
      <p:sp>
        <p:nvSpPr>
          <p:cNvPr id="30" name="Text 28"/>
          <p:cNvSpPr txBox="1"/>
          <p:nvPr/>
        </p:nvSpPr>
        <p:spPr>
          <a:xfrm>
            <a:off x="6629400" y="5120640"/>
            <a:ext cx="4754880" cy="603504"/>
          </a:xfrm>
          <a:prstGeom prst="rect">
            <a:avLst/>
          </a:prstGeom>
          <a:noFill/>
          <a:ln/>
        </p:spPr>
        <p:txBody>
          <a:bodyPr wrap="square" lIns="0" tIns="0" rIns="0" bIns="0" rtlCol="0" anchor="ctr"/>
          <a:lstStyle/>
          <a:p>
            <a:pPr indent="0" marL="0">
              <a:buNone/>
            </a:pPr>
            <a:r>
              <a:rPr lang="en-US" sz="1200" dirty="0">
                <a:solidFill>
                  <a:srgbClr val="A7AFBE"/>
                </a:solidFill>
                <a:latin typeface="맑은 고딕" pitchFamily="34" charset="0"/>
                <a:ea typeface="맑은 고딕" pitchFamily="34" charset="-122"/>
                <a:cs typeface="맑은 고딕" pitchFamily="34" charset="-120"/>
              </a:rPr>
              <a:t>롯데 전점 트래픽이 있어야만 나오는 처방입니다</a:t>
            </a:r>
            <a:endParaRPr lang="en-US" sz="1200" dirty="0"/>
          </a:p>
        </p:txBody>
      </p:sp>
      <p:sp>
        <p:nvSpPr>
          <p:cNvPr id="31" name="Text 29"/>
          <p:cNvSpPr txBox="1"/>
          <p:nvPr/>
        </p:nvSpPr>
        <p:spPr>
          <a:xfrm>
            <a:off x="566928" y="5989320"/>
            <a:ext cx="11064240" cy="384048"/>
          </a:xfrm>
          <a:prstGeom prst="rect">
            <a:avLst/>
          </a:prstGeom>
          <a:noFill/>
          <a:ln/>
        </p:spPr>
        <p:txBody>
          <a:bodyPr wrap="square" lIns="0" tIns="0" rIns="0" bIns="0" rtlCol="0" anchor="ctr"/>
          <a:lstStyle/>
          <a:p>
            <a:pPr algn="ctr" indent="0" marL="0">
              <a:buNone/>
            </a:pPr>
            <a:r>
              <a:rPr lang="en-US" sz="1500" b="1" dirty="0">
                <a:solidFill>
                  <a:srgbClr val="F2A33C"/>
                </a:solidFill>
                <a:latin typeface="맑은 고딕" pitchFamily="34" charset="0"/>
                <a:ea typeface="맑은 고딕" pitchFamily="34" charset="-122"/>
                <a:cs typeface="맑은 고딕" pitchFamily="34" charset="-120"/>
              </a:rPr>
              <a:t>L.POINT 소비 이력과 롯데 전점 트래픽이 동시에 있어야만 나오는 답입니다.</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457200"/>
            <a:ext cx="420624" cy="420624"/>
          </a:xfrm>
          <a:prstGeom prst="roundRect">
            <a:avLst>
              <a:gd name="adj" fmla="val 17391"/>
            </a:avLst>
          </a:prstGeom>
          <a:solidFill>
            <a:srgbClr val="E11D2E"/>
          </a:solidFill>
          <a:ln/>
        </p:spPr>
      </p:sp>
      <p:sp>
        <p:nvSpPr>
          <p:cNvPr id="3" name="Text 1"/>
          <p:cNvSpPr txBox="1"/>
          <p:nvPr/>
        </p:nvSpPr>
        <p:spPr>
          <a:xfrm>
            <a:off x="548640" y="4572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07</a:t>
            </a:r>
            <a:endParaRPr lang="en-US" sz="1500" dirty="0"/>
          </a:p>
        </p:txBody>
      </p:sp>
      <p:sp>
        <p:nvSpPr>
          <p:cNvPr id="4" name="Text 2"/>
          <p:cNvSpPr txBox="1"/>
          <p:nvPr/>
        </p:nvSpPr>
        <p:spPr>
          <a:xfrm>
            <a:off x="1115568" y="402336"/>
            <a:ext cx="10424160" cy="548640"/>
          </a:xfrm>
          <a:prstGeom prst="rect">
            <a:avLst/>
          </a:prstGeom>
          <a:noFill/>
          <a:ln/>
        </p:spPr>
        <p:txBody>
          <a:bodyPr wrap="square" lIns="0" tIns="0" rIns="0" bIns="0" rtlCol="0" anchor="ctr"/>
          <a:lstStyle/>
          <a:p>
            <a:pPr indent="0" marL="0">
              <a:buNone/>
            </a:pPr>
            <a:r>
              <a:rPr lang="en-US" sz="2900" b="1" dirty="0">
                <a:solidFill>
                  <a:srgbClr val="101420"/>
                </a:solidFill>
                <a:latin typeface="맑은 고딕" pitchFamily="34" charset="0"/>
                <a:ea typeface="맑은 고딕" pitchFamily="34" charset="-122"/>
                <a:cs typeface="맑은 고딕" pitchFamily="34" charset="-120"/>
              </a:rPr>
              <a:t>처방의 효과를 POS로 증명합니다</a:t>
            </a:r>
            <a:endParaRPr lang="en-US" sz="2900" dirty="0"/>
          </a:p>
        </p:txBody>
      </p:sp>
      <p:sp>
        <p:nvSpPr>
          <p:cNvPr id="5" name="Text 3"/>
          <p:cNvSpPr txBox="1"/>
          <p:nvPr/>
        </p:nvSpPr>
        <p:spPr>
          <a:xfrm>
            <a:off x="1115568" y="969264"/>
            <a:ext cx="10424160" cy="32918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경쟁사는 결제 데이터가 없어 자기 처방이 통했는지 증명할 수 없습니다</a:t>
            </a:r>
            <a:endParaRPr lang="en-US" sz="1300" dirty="0"/>
          </a:p>
        </p:txBody>
      </p:sp>
      <p:graphicFrame>
        <p:nvGraphicFramePr>
          <p:cNvPr id="6" name="Chart 0" descr=""/>
          <p:cNvGraphicFramePr/>
          <p:nvPr/>
        </p:nvGraphicFramePr>
        <p:xfrm>
          <a:off x="548640" y="1600200"/>
          <a:ext cx="6492240" cy="41148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315200" y="1600200"/>
            <a:ext cx="4325112" cy="2148840"/>
          </a:xfrm>
          <a:prstGeom prst="roundRect">
            <a:avLst>
              <a:gd name="adj" fmla="val 2553"/>
            </a:avLst>
          </a:prstGeom>
          <a:solidFill>
            <a:srgbClr val="F6F7F9"/>
          </a:solidFill>
          <a:ln w="12700">
            <a:solidFill>
              <a:srgbClr val="E3E6EB"/>
            </a:solidFill>
            <a:prstDash val="solid"/>
          </a:ln>
          <a:effectLst>
            <a:outerShdw sx="100000" sy="100000" kx="0" ky="0" algn="bl" rotWithShape="0" blurRad="177800" dist="38100" dir="5400000">
              <a:srgbClr val="9AA3B0">
                <a:alpha val="20000"/>
              </a:srgbClr>
            </a:outerShdw>
          </a:effectLst>
        </p:spPr>
      </p:sp>
      <p:sp>
        <p:nvSpPr>
          <p:cNvPr id="8" name="Text 5"/>
          <p:cNvSpPr txBox="1"/>
          <p:nvPr/>
        </p:nvSpPr>
        <p:spPr>
          <a:xfrm>
            <a:off x="7635240" y="1828800"/>
            <a:ext cx="3657600" cy="310896"/>
          </a:xfrm>
          <a:prstGeom prst="rect">
            <a:avLst/>
          </a:prstGeom>
          <a:noFill/>
          <a:ln/>
        </p:spPr>
        <p:txBody>
          <a:bodyPr wrap="square" lIns="0" tIns="0" rIns="0" bIns="0" rtlCol="0" anchor="ctr"/>
          <a:lstStyle/>
          <a:p>
            <a:pPr indent="0" marL="0">
              <a:buNone/>
            </a:pPr>
            <a:r>
              <a:rPr lang="en-US" sz="1300" b="1" dirty="0">
                <a:solidFill>
                  <a:srgbClr val="5D6675"/>
                </a:solidFill>
                <a:latin typeface="맑은 고딕" pitchFamily="34" charset="0"/>
                <a:ea typeface="맑은 고딕" pitchFamily="34" charset="-122"/>
                <a:cs typeface="맑은 고딕" pitchFamily="34" charset="-120"/>
              </a:rPr>
              <a:t>개선 → 적용 → 검증</a:t>
            </a:r>
            <a:endParaRPr lang="en-US" sz="1300" dirty="0"/>
          </a:p>
        </p:txBody>
      </p:sp>
      <p:sp>
        <p:nvSpPr>
          <p:cNvPr id="9" name="Text 6"/>
          <p:cNvSpPr txBox="1"/>
          <p:nvPr/>
        </p:nvSpPr>
        <p:spPr>
          <a:xfrm>
            <a:off x="7635240" y="2240280"/>
            <a:ext cx="3657600" cy="1371600"/>
          </a:xfrm>
          <a:prstGeom prst="rect">
            <a:avLst/>
          </a:prstGeom>
          <a:noFill/>
          <a:ln/>
        </p:spPr>
        <p:txBody>
          <a:bodyPr wrap="square" lIns="0" tIns="0" rIns="0" bIns="0" rtlCol="0" anchor="t"/>
          <a:lstStyle/>
          <a:p>
            <a:pPr marL="342900" indent="-342900">
              <a:spcAft>
                <a:spcPts val="1000"/>
              </a:spcAft>
              <a:buSzPct val="100000"/>
              <a:buChar char="•"/>
            </a:pPr>
            <a:r>
              <a:rPr lang="en-US" sz="1300" dirty="0">
                <a:solidFill>
                  <a:srgbClr val="101420"/>
                </a:solidFill>
                <a:latin typeface="맑은 고딕" pitchFamily="34" charset="0"/>
                <a:ea typeface="맑은 고딕" pitchFamily="34" charset="-122"/>
                <a:cs typeface="맑은 고딕" pitchFamily="34" charset="-120"/>
              </a:rPr>
              <a:t>진열·동선·상품 배치 개선안 제시</a:t>
            </a:r>
            <a:endParaRPr lang="en-US" sz="1300" dirty="0"/>
          </a:p>
          <a:p>
            <a:pPr marL="342900" indent="-342900">
              <a:spcAft>
                <a:spcPts val="1000"/>
              </a:spcAft>
              <a:buSzPct val="100000"/>
              <a:buChar char="•"/>
            </a:pPr>
            <a:r>
              <a:rPr lang="en-US" sz="1300" dirty="0">
                <a:solidFill>
                  <a:srgbClr val="101420"/>
                </a:solidFill>
                <a:latin typeface="맑은 고딕" pitchFamily="34" charset="0"/>
                <a:ea typeface="맑은 고딕" pitchFamily="34" charset="-122"/>
                <a:cs typeface="맑은 고딕" pitchFamily="34" charset="-120"/>
              </a:rPr>
              <a:t>2~4주 적용</a:t>
            </a:r>
            <a:endParaRPr lang="en-US" sz="1300" dirty="0"/>
          </a:p>
          <a:p>
            <a:pPr marL="342900" indent="-342900">
              <a:spcAft>
                <a:spcPts val="1000"/>
              </a:spcAft>
              <a:buSzPct val="100000"/>
              <a:buChar char="•"/>
            </a:pPr>
            <a:r>
              <a:rPr lang="en-US" sz="1300" dirty="0">
                <a:solidFill>
                  <a:srgbClr val="101420"/>
                </a:solidFill>
                <a:latin typeface="맑은 고딕" pitchFamily="34" charset="0"/>
                <a:ea typeface="맑은 고딕" pitchFamily="34" charset="-122"/>
                <a:cs typeface="맑은 고딕" pitchFamily="34" charset="-120"/>
              </a:rPr>
              <a:t>POS 결제 데이터로 전후 실측 비교</a:t>
            </a:r>
            <a:endParaRPr lang="en-US" sz="1300" dirty="0"/>
          </a:p>
        </p:txBody>
      </p:sp>
      <p:sp>
        <p:nvSpPr>
          <p:cNvPr id="10" name="Shape 7"/>
          <p:cNvSpPr/>
          <p:nvPr/>
        </p:nvSpPr>
        <p:spPr>
          <a:xfrm>
            <a:off x="7315200" y="3931920"/>
            <a:ext cx="4325112" cy="1783080"/>
          </a:xfrm>
          <a:prstGeom prst="roundRect">
            <a:avLst>
              <a:gd name="adj" fmla="val 3077"/>
            </a:avLst>
          </a:prstGeom>
          <a:solidFill>
            <a:srgbClr val="101420"/>
          </a:solidFill>
          <a:ln/>
        </p:spPr>
      </p:sp>
      <p:sp>
        <p:nvSpPr>
          <p:cNvPr id="11" name="Text 8"/>
          <p:cNvSpPr txBox="1"/>
          <p:nvPr/>
        </p:nvSpPr>
        <p:spPr>
          <a:xfrm>
            <a:off x="7635240" y="4160520"/>
            <a:ext cx="3703320" cy="731520"/>
          </a:xfrm>
          <a:prstGeom prst="rect">
            <a:avLst/>
          </a:prstGeom>
          <a:noFill/>
          <a:ln/>
        </p:spPr>
        <p:txBody>
          <a:bodyPr wrap="square" lIns="0" tIns="0" rIns="0" bIns="0" rtlCol="0" anchor="ctr"/>
          <a:lstStyle/>
          <a:p>
            <a:pPr indent="0" marL="0">
              <a:lnSpc>
                <a:spcPts val="2200"/>
              </a:lnSpc>
              <a:buNone/>
            </a:pPr>
            <a:r>
              <a:rPr lang="en-US" sz="1400" dirty="0">
                <a:solidFill>
                  <a:srgbClr val="A7AFBE"/>
                </a:solidFill>
                <a:latin typeface="맑은 고딕" pitchFamily="34" charset="0"/>
                <a:ea typeface="맑은 고딕" pitchFamily="34" charset="-122"/>
                <a:cs typeface="맑은 고딕" pitchFamily="34" charset="-120"/>
              </a:rPr>
              <a:t>효과를 증명 못 하는 컨설팅은</a:t>
            </a:r>
            <a:endParaRPr lang="en-US" sz="1400" dirty="0"/>
          </a:p>
          <a:p>
            <a:pPr indent="0" marL="0">
              <a:lnSpc>
                <a:spcPts val="2200"/>
              </a:lnSpc>
              <a:buNone/>
            </a:pPr>
            <a:r>
              <a:rPr lang="en-US" sz="1400" dirty="0">
                <a:solidFill>
                  <a:srgbClr val="A7AFBE"/>
                </a:solidFill>
                <a:latin typeface="맑은 고딕" pitchFamily="34" charset="0"/>
                <a:ea typeface="맑은 고딕" pitchFamily="34" charset="-122"/>
                <a:cs typeface="맑은 고딕" pitchFamily="34" charset="-120"/>
              </a:rPr>
              <a:t>한 번 팔리고 끝납니다.</a:t>
            </a:r>
            <a:endParaRPr lang="en-US" sz="1400" dirty="0"/>
          </a:p>
        </p:txBody>
      </p:sp>
      <p:sp>
        <p:nvSpPr>
          <p:cNvPr id="12" name="Text 9"/>
          <p:cNvSpPr txBox="1"/>
          <p:nvPr/>
        </p:nvSpPr>
        <p:spPr>
          <a:xfrm>
            <a:off x="7635240" y="4983480"/>
            <a:ext cx="3703320" cy="548640"/>
          </a:xfrm>
          <a:prstGeom prst="rect">
            <a:avLst/>
          </a:prstGeom>
          <a:noFill/>
          <a:ln/>
        </p:spPr>
        <p:txBody>
          <a:bodyPr wrap="square" lIns="0" tIns="0" rIns="0" bIns="0" rtlCol="0" anchor="ctr"/>
          <a:lstStyle/>
          <a:p>
            <a:pPr indent="0" marL="0">
              <a:buNone/>
            </a:pPr>
            <a:r>
              <a:rPr lang="en-US" sz="1600" b="1" dirty="0">
                <a:solidFill>
                  <a:srgbClr val="F2A33C"/>
                </a:solidFill>
                <a:latin typeface="맑은 고딕" pitchFamily="34" charset="0"/>
                <a:ea typeface="맑은 고딕" pitchFamily="34" charset="-122"/>
                <a:cs typeface="맑은 고딕" pitchFamily="34" charset="-120"/>
              </a:rPr>
              <a:t>증명하는 컨설팅은 갱신됩니다.</a:t>
            </a:r>
            <a:endParaRPr lang="en-US" sz="1600" dirty="0"/>
          </a:p>
        </p:txBody>
      </p:sp>
      <p:sp>
        <p:nvSpPr>
          <p:cNvPr id="13" name="Text 10"/>
          <p:cNvSpPr txBox="1"/>
          <p:nvPr/>
        </p:nvSpPr>
        <p:spPr>
          <a:xfrm>
            <a:off x="548640" y="5943600"/>
            <a:ext cx="11091672" cy="384048"/>
          </a:xfrm>
          <a:prstGeom prst="rect">
            <a:avLst/>
          </a:prstGeom>
          <a:noFill/>
          <a:ln/>
        </p:spPr>
        <p:txBody>
          <a:bodyPr wrap="square" lIns="0" tIns="0" rIns="0" bIns="0" rtlCol="0" anchor="ctr"/>
          <a:lstStyle/>
          <a:p>
            <a:pPr algn="ctr" indent="0" marL="0">
              <a:buNone/>
            </a:pPr>
            <a:r>
              <a:rPr lang="en-US" sz="1400" b="1" dirty="0">
                <a:solidFill>
                  <a:srgbClr val="101420"/>
                </a:solidFill>
                <a:latin typeface="맑은 고딕" pitchFamily="34" charset="0"/>
                <a:ea typeface="맑은 고딕" pitchFamily="34" charset="-122"/>
                <a:cs typeface="맑은 고딕" pitchFamily="34" charset="-120"/>
              </a:rPr>
              <a:t>이것이 재구매 엔진이자, 성과 연동 과금(증분 매출의 5~10%)이 가능한 근거입니다.</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548640" y="457200"/>
            <a:ext cx="420624" cy="420624"/>
          </a:xfrm>
          <a:prstGeom prst="roundRect">
            <a:avLst>
              <a:gd name="adj" fmla="val 17391"/>
            </a:avLst>
          </a:prstGeom>
          <a:solidFill>
            <a:srgbClr val="E11D2E"/>
          </a:solidFill>
          <a:ln/>
        </p:spPr>
      </p:sp>
      <p:sp>
        <p:nvSpPr>
          <p:cNvPr id="3" name="Text 1"/>
          <p:cNvSpPr txBox="1"/>
          <p:nvPr/>
        </p:nvSpPr>
        <p:spPr>
          <a:xfrm>
            <a:off x="548640" y="4572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08</a:t>
            </a:r>
            <a:endParaRPr lang="en-US" sz="1500" dirty="0"/>
          </a:p>
        </p:txBody>
      </p:sp>
      <p:sp>
        <p:nvSpPr>
          <p:cNvPr id="4" name="Text 2"/>
          <p:cNvSpPr txBox="1"/>
          <p:nvPr/>
        </p:nvSpPr>
        <p:spPr>
          <a:xfrm>
            <a:off x="1115568" y="402336"/>
            <a:ext cx="10424160" cy="548640"/>
          </a:xfrm>
          <a:prstGeom prst="rect">
            <a:avLst/>
          </a:prstGeom>
          <a:noFill/>
          <a:ln/>
        </p:spPr>
        <p:txBody>
          <a:bodyPr wrap="square" lIns="0" tIns="0" rIns="0" bIns="0" rtlCol="0" anchor="ctr"/>
          <a:lstStyle/>
          <a:p>
            <a:pPr indent="0" marL="0">
              <a:buNone/>
            </a:pPr>
            <a:r>
              <a:rPr lang="en-US" sz="2900" b="1" dirty="0">
                <a:solidFill>
                  <a:srgbClr val="101420"/>
                </a:solidFill>
                <a:latin typeface="맑은 고딕" pitchFamily="34" charset="0"/>
                <a:ea typeface="맑은 고딕" pitchFamily="34" charset="-122"/>
                <a:cs typeface="맑은 고딕" pitchFamily="34" charset="-120"/>
              </a:rPr>
              <a:t>사람을 추적하지 않습니다. 공간을 측정합니다</a:t>
            </a:r>
            <a:endParaRPr lang="en-US" sz="2900" dirty="0"/>
          </a:p>
        </p:txBody>
      </p:sp>
      <p:sp>
        <p:nvSpPr>
          <p:cNvPr id="5" name="Text 3"/>
          <p:cNvSpPr txBox="1"/>
          <p:nvPr/>
        </p:nvSpPr>
        <p:spPr>
          <a:xfrm>
            <a:off x="1115568" y="969264"/>
            <a:ext cx="10424160" cy="32918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설계를 두 층으로 완전히 분리했습니다</a:t>
            </a:r>
            <a:endParaRPr lang="en-US" sz="1300" dirty="0"/>
          </a:p>
        </p:txBody>
      </p:sp>
      <p:sp>
        <p:nvSpPr>
          <p:cNvPr id="6" name="Shape 4"/>
          <p:cNvSpPr/>
          <p:nvPr/>
        </p:nvSpPr>
        <p:spPr>
          <a:xfrm>
            <a:off x="548640" y="1600200"/>
            <a:ext cx="5486400" cy="2148840"/>
          </a:xfrm>
          <a:prstGeom prst="roundRect">
            <a:avLst>
              <a:gd name="adj" fmla="val 2553"/>
            </a:avLst>
          </a:prstGeom>
          <a:solidFill>
            <a:srgbClr val="F6F7F9"/>
          </a:solidFill>
          <a:ln w="12700">
            <a:solidFill>
              <a:srgbClr val="E3E6EB"/>
            </a:solidFill>
            <a:prstDash val="solid"/>
          </a:ln>
          <a:effectLst>
            <a:outerShdw sx="100000" sy="100000" kx="0" ky="0" algn="bl" rotWithShape="0" blurRad="177800" dist="38100" dir="5400000">
              <a:srgbClr val="9AA3B0">
                <a:alpha val="20000"/>
              </a:srgbClr>
            </a:outerShdw>
          </a:effectLst>
        </p:spPr>
      </p:sp>
      <p:sp>
        <p:nvSpPr>
          <p:cNvPr id="7" name="Text 5"/>
          <p:cNvSpPr txBox="1"/>
          <p:nvPr/>
        </p:nvSpPr>
        <p:spPr>
          <a:xfrm>
            <a:off x="868680" y="1828800"/>
            <a:ext cx="4846320" cy="292608"/>
          </a:xfrm>
          <a:prstGeom prst="rect">
            <a:avLst/>
          </a:prstGeom>
          <a:noFill/>
          <a:ln/>
        </p:spPr>
        <p:txBody>
          <a:bodyPr wrap="square" lIns="0" tIns="0" rIns="0" bIns="0" rtlCol="0" anchor="ctr"/>
          <a:lstStyle/>
          <a:p>
            <a:pPr indent="0" marL="0">
              <a:buNone/>
            </a:pPr>
            <a:r>
              <a:rPr lang="en-US" sz="1200" b="1" spc="100" kern="0" dirty="0">
                <a:solidFill>
                  <a:srgbClr val="5D6675"/>
                </a:solidFill>
                <a:latin typeface="맑은 고딕" pitchFamily="34" charset="0"/>
                <a:ea typeface="맑은 고딕" pitchFamily="34" charset="-122"/>
                <a:cs typeface="맑은 고딕" pitchFamily="34" charset="-120"/>
              </a:rPr>
              <a:t>LAYER 1  ·  공간</a:t>
            </a:r>
            <a:endParaRPr lang="en-US" sz="1200" dirty="0"/>
          </a:p>
        </p:txBody>
      </p:sp>
      <p:sp>
        <p:nvSpPr>
          <p:cNvPr id="8" name="Text 6"/>
          <p:cNvSpPr txBox="1"/>
          <p:nvPr/>
        </p:nvSpPr>
        <p:spPr>
          <a:xfrm>
            <a:off x="868680" y="2176272"/>
            <a:ext cx="4846320" cy="411480"/>
          </a:xfrm>
          <a:prstGeom prst="rect">
            <a:avLst/>
          </a:prstGeom>
          <a:noFill/>
          <a:ln/>
        </p:spPr>
        <p:txBody>
          <a:bodyPr wrap="square" lIns="0" tIns="0" rIns="0" bIns="0" rtlCol="0" anchor="ctr"/>
          <a:lstStyle/>
          <a:p>
            <a:pPr indent="0" marL="0">
              <a:buNone/>
            </a:pPr>
            <a:r>
              <a:rPr lang="en-US" sz="2200" b="1" dirty="0">
                <a:solidFill>
                  <a:srgbClr val="101420"/>
                </a:solidFill>
                <a:latin typeface="맑은 고딕" pitchFamily="34" charset="0"/>
                <a:ea typeface="맑은 고딕" pitchFamily="34" charset="-122"/>
                <a:cs typeface="맑은 고딕" pitchFamily="34" charset="-120"/>
              </a:rPr>
              <a:t>완전 익명</a:t>
            </a:r>
            <a:endParaRPr lang="en-US" sz="2200" dirty="0"/>
          </a:p>
        </p:txBody>
      </p:sp>
      <p:sp>
        <p:nvSpPr>
          <p:cNvPr id="9" name="Text 7"/>
          <p:cNvSpPr txBox="1"/>
          <p:nvPr/>
        </p:nvSpPr>
        <p:spPr>
          <a:xfrm>
            <a:off x="868680" y="2697480"/>
            <a:ext cx="4846320" cy="868680"/>
          </a:xfrm>
          <a:prstGeom prst="rect">
            <a:avLst/>
          </a:prstGeom>
          <a:noFill/>
          <a:ln/>
        </p:spPr>
        <p:txBody>
          <a:bodyPr wrap="square" lIns="0" tIns="0" rIns="0" bIns="0" rtlCol="0" anchor="ctr"/>
          <a:lstStyle/>
          <a:p>
            <a:pPr indent="0" marL="0">
              <a:lnSpc>
                <a:spcPts val="2200"/>
              </a:lnSpc>
              <a:buNone/>
            </a:pPr>
            <a:r>
              <a:rPr lang="en-US" sz="1300" dirty="0">
                <a:solidFill>
                  <a:srgbClr val="101420"/>
                </a:solidFill>
                <a:latin typeface="맑은 고딕" pitchFamily="34" charset="0"/>
                <a:ea typeface="맑은 고딕" pitchFamily="34" charset="-122"/>
                <a:cs typeface="맑은 고딕" pitchFamily="34" charset="-120"/>
              </a:rPr>
              <a:t>영상은 카메라 안에서 즉시 좌표·세그먼트 숫자로 변환.</a:t>
            </a:r>
            <a:endParaRPr lang="en-US" sz="1300" dirty="0"/>
          </a:p>
          <a:p>
            <a:pPr indent="0" marL="0">
              <a:lnSpc>
                <a:spcPts val="2200"/>
              </a:lnSpc>
              <a:buNone/>
            </a:pPr>
            <a:r>
              <a:rPr lang="en-US" sz="1300" dirty="0">
                <a:solidFill>
                  <a:srgbClr val="101420"/>
                </a:solidFill>
                <a:latin typeface="맑은 고딕" pitchFamily="34" charset="0"/>
                <a:ea typeface="맑은 고딕" pitchFamily="34" charset="-122"/>
                <a:cs typeface="맑은 고딕" pitchFamily="34" charset="-120"/>
              </a:rPr>
              <a:t>원본은 밖으로 나가지 않고, 얼굴 특징값은 저장하지 않습니다.</a:t>
            </a:r>
            <a:endParaRPr lang="en-US" sz="1300" dirty="0"/>
          </a:p>
        </p:txBody>
      </p:sp>
      <p:sp>
        <p:nvSpPr>
          <p:cNvPr id="10" name="Shape 8"/>
          <p:cNvSpPr/>
          <p:nvPr/>
        </p:nvSpPr>
        <p:spPr>
          <a:xfrm>
            <a:off x="6153912" y="1600200"/>
            <a:ext cx="5486400" cy="2148840"/>
          </a:xfrm>
          <a:prstGeom prst="roundRect">
            <a:avLst>
              <a:gd name="adj" fmla="val 2553"/>
            </a:avLst>
          </a:prstGeom>
          <a:solidFill>
            <a:srgbClr val="F6F7F9"/>
          </a:solidFill>
          <a:ln w="12700">
            <a:solidFill>
              <a:srgbClr val="E3E6EB"/>
            </a:solidFill>
            <a:prstDash val="solid"/>
          </a:ln>
          <a:effectLst>
            <a:outerShdw sx="100000" sy="100000" kx="0" ky="0" algn="bl" rotWithShape="0" blurRad="177800" dist="38100" dir="5400000">
              <a:srgbClr val="9AA3B0">
                <a:alpha val="20000"/>
              </a:srgbClr>
            </a:outerShdw>
          </a:effectLst>
        </p:spPr>
      </p:sp>
      <p:sp>
        <p:nvSpPr>
          <p:cNvPr id="11" name="Text 9"/>
          <p:cNvSpPr txBox="1"/>
          <p:nvPr/>
        </p:nvSpPr>
        <p:spPr>
          <a:xfrm>
            <a:off x="6473952" y="1828800"/>
            <a:ext cx="4846320" cy="292608"/>
          </a:xfrm>
          <a:prstGeom prst="rect">
            <a:avLst/>
          </a:prstGeom>
          <a:noFill/>
          <a:ln/>
        </p:spPr>
        <p:txBody>
          <a:bodyPr wrap="square" lIns="0" tIns="0" rIns="0" bIns="0" rtlCol="0" anchor="ctr"/>
          <a:lstStyle/>
          <a:p>
            <a:pPr indent="0" marL="0">
              <a:buNone/>
            </a:pPr>
            <a:r>
              <a:rPr lang="en-US" sz="1200" b="1" spc="100" kern="0" dirty="0">
                <a:solidFill>
                  <a:srgbClr val="5D6675"/>
                </a:solidFill>
                <a:latin typeface="맑은 고딕" pitchFamily="34" charset="0"/>
                <a:ea typeface="맑은 고딕" pitchFamily="34" charset="-122"/>
                <a:cs typeface="맑은 고딕" pitchFamily="34" charset="-120"/>
              </a:rPr>
              <a:t>LAYER 2  ·  고객</a:t>
            </a:r>
            <a:endParaRPr lang="en-US" sz="1200" dirty="0"/>
          </a:p>
        </p:txBody>
      </p:sp>
      <p:sp>
        <p:nvSpPr>
          <p:cNvPr id="12" name="Text 10"/>
          <p:cNvSpPr txBox="1"/>
          <p:nvPr/>
        </p:nvSpPr>
        <p:spPr>
          <a:xfrm>
            <a:off x="6473952" y="2176272"/>
            <a:ext cx="4846320" cy="411480"/>
          </a:xfrm>
          <a:prstGeom prst="rect">
            <a:avLst/>
          </a:prstGeom>
          <a:noFill/>
          <a:ln/>
        </p:spPr>
        <p:txBody>
          <a:bodyPr wrap="square" lIns="0" tIns="0" rIns="0" bIns="0" rtlCol="0" anchor="ctr"/>
          <a:lstStyle/>
          <a:p>
            <a:pPr indent="0" marL="0">
              <a:buNone/>
            </a:pPr>
            <a:r>
              <a:rPr lang="en-US" sz="2200" b="1" dirty="0">
                <a:solidFill>
                  <a:srgbClr val="E11D2E"/>
                </a:solidFill>
                <a:latin typeface="맑은 고딕" pitchFamily="34" charset="0"/>
                <a:ea typeface="맑은 고딕" pitchFamily="34" charset="-122"/>
                <a:cs typeface="맑은 고딕" pitchFamily="34" charset="-120"/>
              </a:rPr>
              <a:t>동의 기반 식별</a:t>
            </a:r>
            <a:endParaRPr lang="en-US" sz="2200" dirty="0"/>
          </a:p>
        </p:txBody>
      </p:sp>
      <p:sp>
        <p:nvSpPr>
          <p:cNvPr id="13" name="Text 11"/>
          <p:cNvSpPr txBox="1"/>
          <p:nvPr/>
        </p:nvSpPr>
        <p:spPr>
          <a:xfrm>
            <a:off x="6473952" y="2697480"/>
            <a:ext cx="4846320" cy="868680"/>
          </a:xfrm>
          <a:prstGeom prst="rect">
            <a:avLst/>
          </a:prstGeom>
          <a:noFill/>
          <a:ln/>
        </p:spPr>
        <p:txBody>
          <a:bodyPr wrap="square" lIns="0" tIns="0" rIns="0" bIns="0" rtlCol="0" anchor="ctr"/>
          <a:lstStyle/>
          <a:p>
            <a:pPr indent="0" marL="0">
              <a:lnSpc>
                <a:spcPts val="2200"/>
              </a:lnSpc>
              <a:buNone/>
            </a:pPr>
            <a:r>
              <a:rPr lang="en-US" sz="1300" dirty="0">
                <a:solidFill>
                  <a:srgbClr val="101420"/>
                </a:solidFill>
                <a:latin typeface="맑은 고딕" pitchFamily="34" charset="0"/>
                <a:ea typeface="맑은 고딕" pitchFamily="34" charset="-122"/>
                <a:cs typeface="맑은 고딕" pitchFamily="34" charset="-120"/>
              </a:rPr>
              <a:t>L.POINT 앱 체크인·QR·결제 적립 등</a:t>
            </a:r>
            <a:endParaRPr lang="en-US" sz="1300" dirty="0"/>
          </a:p>
          <a:p>
            <a:pPr indent="0" marL="0">
              <a:lnSpc>
                <a:spcPts val="2200"/>
              </a:lnSpc>
              <a:buNone/>
            </a:pPr>
            <a:r>
              <a:rPr lang="en-US" sz="1300" dirty="0">
                <a:solidFill>
                  <a:srgbClr val="101420"/>
                </a:solidFill>
                <a:latin typeface="맑은 고딕" pitchFamily="34" charset="0"/>
                <a:ea typeface="맑은 고딕" pitchFamily="34" charset="-122"/>
                <a:cs typeface="맑은 고딕" pitchFamily="34" charset="-120"/>
              </a:rPr>
              <a:t>고객이 직접 동의한 경우에만 연결됩니다.</a:t>
            </a:r>
            <a:endParaRPr lang="en-US" sz="1300" dirty="0"/>
          </a:p>
        </p:txBody>
      </p:sp>
      <p:sp>
        <p:nvSpPr>
          <p:cNvPr id="14" name="Shape 12"/>
          <p:cNvSpPr/>
          <p:nvPr/>
        </p:nvSpPr>
        <p:spPr>
          <a:xfrm>
            <a:off x="548640" y="3977640"/>
            <a:ext cx="11091672" cy="777240"/>
          </a:xfrm>
          <a:prstGeom prst="roundRect">
            <a:avLst>
              <a:gd name="adj" fmla="val 5882"/>
            </a:avLst>
          </a:prstGeom>
          <a:solidFill>
            <a:srgbClr val="F6F7F9"/>
          </a:solidFill>
          <a:ln w="12700">
            <a:solidFill>
              <a:srgbClr val="E3E6EB"/>
            </a:solidFill>
            <a:prstDash val="solid"/>
          </a:ln>
        </p:spPr>
      </p:sp>
      <p:sp>
        <p:nvSpPr>
          <p:cNvPr id="15" name="Text 13"/>
          <p:cNvSpPr txBox="1"/>
          <p:nvPr/>
        </p:nvSpPr>
        <p:spPr>
          <a:xfrm>
            <a:off x="868680" y="3977640"/>
            <a:ext cx="10424160" cy="777240"/>
          </a:xfrm>
          <a:prstGeom prst="rect">
            <a:avLst/>
          </a:prstGeom>
          <a:noFill/>
          <a:ln/>
        </p:spPr>
        <p:txBody>
          <a:bodyPr wrap="square" lIns="0" tIns="0" rIns="0" bIns="0" rtlCol="0" anchor="ctr"/>
          <a:lstStyle/>
          <a:p>
            <a:pPr indent="0" marL="0">
              <a:buNone/>
            </a:pPr>
            <a:r>
              <a:rPr lang="en-US" sz="1500" b="1" dirty="0">
                <a:solidFill>
                  <a:srgbClr val="101420"/>
                </a:solidFill>
                <a:latin typeface="맑은 고딕" pitchFamily="34" charset="0"/>
                <a:ea typeface="맑은 고딕" pitchFamily="34" charset="-122"/>
                <a:cs typeface="맑은 고딕" pitchFamily="34" charset="-120"/>
              </a:rPr>
              <a:t>두 층의 연결은 개인 단위가 아니라  ·  시간대 × 구역 × 세그먼트 집계 단위로만</a:t>
            </a:r>
            <a:endParaRPr lang="en-US" sz="1500" dirty="0"/>
          </a:p>
        </p:txBody>
      </p:sp>
      <p:sp>
        <p:nvSpPr>
          <p:cNvPr id="16" name="Shape 14"/>
          <p:cNvSpPr/>
          <p:nvPr/>
        </p:nvSpPr>
        <p:spPr>
          <a:xfrm>
            <a:off x="548640" y="4983480"/>
            <a:ext cx="11091672" cy="1325880"/>
          </a:xfrm>
          <a:prstGeom prst="roundRect">
            <a:avLst>
              <a:gd name="adj" fmla="val 4138"/>
            </a:avLst>
          </a:prstGeom>
          <a:solidFill>
            <a:srgbClr val="101420"/>
          </a:solidFill>
          <a:ln/>
        </p:spPr>
      </p:sp>
      <p:sp>
        <p:nvSpPr>
          <p:cNvPr id="17" name="Text 15"/>
          <p:cNvSpPr txBox="1"/>
          <p:nvPr/>
        </p:nvSpPr>
        <p:spPr>
          <a:xfrm>
            <a:off x="914400" y="5138928"/>
            <a:ext cx="4572000" cy="274320"/>
          </a:xfrm>
          <a:prstGeom prst="rect">
            <a:avLst/>
          </a:prstGeom>
          <a:noFill/>
          <a:ln/>
        </p:spPr>
        <p:txBody>
          <a:bodyPr wrap="square" lIns="0" tIns="0" rIns="0" bIns="0" rtlCol="0" anchor="ctr"/>
          <a:lstStyle/>
          <a:p>
            <a:pPr indent="0" marL="0">
              <a:buNone/>
            </a:pPr>
            <a:r>
              <a:rPr lang="en-US" sz="1200" dirty="0">
                <a:solidFill>
                  <a:srgbClr val="A7AFBE"/>
                </a:solidFill>
                <a:latin typeface="맑은 고딕" pitchFamily="34" charset="0"/>
                <a:ea typeface="맑은 고딕" pitchFamily="34" charset="-122"/>
                <a:cs typeface="맑은 고딕" pitchFamily="34" charset="-120"/>
              </a:rPr>
              <a:t>리포트에 적히는 문장</a:t>
            </a:r>
            <a:endParaRPr lang="en-US" sz="1200" dirty="0"/>
          </a:p>
        </p:txBody>
      </p:sp>
      <p:sp>
        <p:nvSpPr>
          <p:cNvPr id="18" name="Text 16"/>
          <p:cNvSpPr txBox="1"/>
          <p:nvPr/>
        </p:nvSpPr>
        <p:spPr>
          <a:xfrm>
            <a:off x="914400" y="5468112"/>
            <a:ext cx="10241280" cy="502920"/>
          </a:xfrm>
          <a:prstGeom prst="rect">
            <a:avLst/>
          </a:prstGeom>
          <a:noFill/>
          <a:ln/>
        </p:spPr>
        <p:txBody>
          <a:bodyPr wrap="square" lIns="0" tIns="0" rIns="0" bIns="0" rtlCol="0" anchor="ctr"/>
          <a:lstStyle/>
          <a:p>
            <a:pPr indent="0" marL="0">
              <a:buNone/>
            </a:pPr>
            <a:r>
              <a:rPr lang="en-US" sz="1600" strike="sngStrike" dirty="0">
                <a:solidFill>
                  <a:srgbClr val="6E7686"/>
                </a:solidFill>
                <a:latin typeface="맑은 고딕" pitchFamily="34" charset="0"/>
                <a:ea typeface="맑은 고딕" pitchFamily="34" charset="-122"/>
                <a:cs typeface="맑은 고딕" pitchFamily="34" charset="-120"/>
              </a:rPr>
              <a:t>"김OO씨가 왔다"  </a:t>
            </a:r>
            <a:pPr indent="0" marL="0">
              <a:buNone/>
            </a:pPr>
            <a:r>
              <a:rPr lang="en-US" sz="1600" b="1" dirty="0">
                <a:solidFill>
                  <a:srgbClr val="F2A33C"/>
                </a:solidFill>
                <a:latin typeface="맑은 고딕" pitchFamily="34" charset="0"/>
                <a:ea typeface="맑은 고딕" pitchFamily="34" charset="-122"/>
                <a:cs typeface="맑은 고딕" pitchFamily="34" charset="-120"/>
              </a:rPr>
              <a:t>→  "20대 후반 · 뷰티 고관여 · 객단가 상위 30% 세그먼트가 42%"</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48640" y="457200"/>
            <a:ext cx="420624" cy="420624"/>
          </a:xfrm>
          <a:prstGeom prst="roundRect">
            <a:avLst>
              <a:gd name="adj" fmla="val 17391"/>
            </a:avLst>
          </a:prstGeom>
          <a:solidFill>
            <a:srgbClr val="E11D2E"/>
          </a:solidFill>
          <a:ln/>
        </p:spPr>
      </p:sp>
      <p:sp>
        <p:nvSpPr>
          <p:cNvPr id="3" name="Text 1"/>
          <p:cNvSpPr txBox="1"/>
          <p:nvPr/>
        </p:nvSpPr>
        <p:spPr>
          <a:xfrm>
            <a:off x="548640" y="4572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09</a:t>
            </a:r>
            <a:endParaRPr lang="en-US" sz="1500" dirty="0"/>
          </a:p>
        </p:txBody>
      </p:sp>
      <p:sp>
        <p:nvSpPr>
          <p:cNvPr id="4" name="Text 2"/>
          <p:cNvSpPr txBox="1"/>
          <p:nvPr/>
        </p:nvSpPr>
        <p:spPr>
          <a:xfrm>
            <a:off x="1115568" y="402336"/>
            <a:ext cx="10424160" cy="548640"/>
          </a:xfrm>
          <a:prstGeom prst="rect">
            <a:avLst/>
          </a:prstGeom>
          <a:noFill/>
          <a:ln/>
        </p:spPr>
        <p:txBody>
          <a:bodyPr wrap="square" lIns="0" tIns="0" rIns="0" bIns="0" rtlCol="0" anchor="ctr"/>
          <a:lstStyle/>
          <a:p>
            <a:pPr indent="0" marL="0">
              <a:buNone/>
            </a:pPr>
            <a:r>
              <a:rPr lang="en-US" sz="2900" b="1" dirty="0">
                <a:solidFill>
                  <a:srgbClr val="101420"/>
                </a:solidFill>
                <a:latin typeface="맑은 고딕" pitchFamily="34" charset="0"/>
                <a:ea typeface="맑은 고딕" pitchFamily="34" charset="-122"/>
                <a:cs typeface="맑은 고딕" pitchFamily="34" charset="-120"/>
              </a:rPr>
              <a:t>수익은 다섯 단계로 쌓입니다</a:t>
            </a:r>
            <a:endParaRPr lang="en-US" sz="2900" dirty="0"/>
          </a:p>
        </p:txBody>
      </p:sp>
      <p:sp>
        <p:nvSpPr>
          <p:cNvPr id="5" name="Text 3"/>
          <p:cNvSpPr txBox="1"/>
          <p:nvPr/>
        </p:nvSpPr>
        <p:spPr>
          <a:xfrm>
            <a:off x="1115568" y="969264"/>
            <a:ext cx="10424160" cy="32918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팝업은 매출 엔진이 아니라 유입 깔때기 — 3년차 매출의 51%가 반복 매출</a:t>
            </a:r>
            <a:endParaRPr lang="en-US" sz="1300" dirty="0"/>
          </a:p>
        </p:txBody>
      </p:sp>
      <p:sp>
        <p:nvSpPr>
          <p:cNvPr id="6" name="Shape 4"/>
          <p:cNvSpPr/>
          <p:nvPr/>
        </p:nvSpPr>
        <p:spPr>
          <a:xfrm>
            <a:off x="548640" y="1627632"/>
            <a:ext cx="11091672" cy="768096"/>
          </a:xfrm>
          <a:prstGeom prst="roundRect">
            <a:avLst>
              <a:gd name="adj" fmla="val 5952"/>
            </a:avLst>
          </a:prstGeom>
          <a:solidFill>
            <a:srgbClr val="F6F7F9"/>
          </a:solidFill>
          <a:ln w="12700">
            <a:solidFill>
              <a:srgbClr val="E3E6EB"/>
            </a:solidFill>
            <a:prstDash val="solid"/>
          </a:ln>
        </p:spPr>
      </p:sp>
      <p:sp>
        <p:nvSpPr>
          <p:cNvPr id="7" name="Text 5"/>
          <p:cNvSpPr txBox="1"/>
          <p:nvPr/>
        </p:nvSpPr>
        <p:spPr>
          <a:xfrm>
            <a:off x="777240" y="1627632"/>
            <a:ext cx="502920" cy="768096"/>
          </a:xfrm>
          <a:prstGeom prst="rect">
            <a:avLst/>
          </a:prstGeom>
          <a:noFill/>
          <a:ln/>
        </p:spPr>
        <p:txBody>
          <a:bodyPr wrap="square" lIns="0" tIns="0" rIns="0" bIns="0" rtlCol="0" anchor="ctr"/>
          <a:lstStyle/>
          <a:p>
            <a:pPr algn="ctr" indent="0" marL="0">
              <a:buNone/>
            </a:pPr>
            <a:r>
              <a:rPr lang="en-US" sz="2000" b="1" dirty="0">
                <a:solidFill>
                  <a:srgbClr val="E11D2E"/>
                </a:solidFill>
                <a:latin typeface="맑은 고딕" pitchFamily="34" charset="0"/>
                <a:ea typeface="맑은 고딕" pitchFamily="34" charset="-122"/>
                <a:cs typeface="맑은 고딕" pitchFamily="34" charset="-120"/>
              </a:rPr>
              <a:t>①</a:t>
            </a:r>
            <a:endParaRPr lang="en-US" sz="2000" dirty="0"/>
          </a:p>
        </p:txBody>
      </p:sp>
      <p:sp>
        <p:nvSpPr>
          <p:cNvPr id="8" name="Text 6"/>
          <p:cNvSpPr txBox="1"/>
          <p:nvPr/>
        </p:nvSpPr>
        <p:spPr>
          <a:xfrm>
            <a:off x="1371600" y="1627632"/>
            <a:ext cx="2926080" cy="768096"/>
          </a:xfrm>
          <a:prstGeom prst="rect">
            <a:avLst/>
          </a:prstGeom>
          <a:noFill/>
          <a:ln/>
        </p:spPr>
        <p:txBody>
          <a:bodyPr wrap="square" lIns="0" tIns="0" rIns="0" bIns="0" rtlCol="0" anchor="ctr"/>
          <a:lstStyle/>
          <a:p>
            <a:pPr indent="0" marL="0">
              <a:buNone/>
            </a:pPr>
            <a:r>
              <a:rPr lang="en-US" sz="1500" b="1" dirty="0">
                <a:solidFill>
                  <a:srgbClr val="101420"/>
                </a:solidFill>
                <a:latin typeface="맑은 고딕" pitchFamily="34" charset="0"/>
                <a:ea typeface="맑은 고딕" pitchFamily="34" charset="-122"/>
                <a:cs typeface="맑은 고딕" pitchFamily="34" charset="-120"/>
              </a:rPr>
              <a:t>팝업 솔루션 패키지</a:t>
            </a:r>
            <a:endParaRPr lang="en-US" sz="1500" dirty="0"/>
          </a:p>
        </p:txBody>
      </p:sp>
      <p:sp>
        <p:nvSpPr>
          <p:cNvPr id="9" name="Text 7"/>
          <p:cNvSpPr txBox="1"/>
          <p:nvPr/>
        </p:nvSpPr>
        <p:spPr>
          <a:xfrm>
            <a:off x="4343400" y="1627632"/>
            <a:ext cx="3383280" cy="768096"/>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리포트 + 고객 인사이트 + 개선 처방</a:t>
            </a:r>
            <a:endParaRPr lang="en-US" sz="1200" dirty="0"/>
          </a:p>
        </p:txBody>
      </p:sp>
      <p:sp>
        <p:nvSpPr>
          <p:cNvPr id="10" name="Text 8"/>
          <p:cNvSpPr txBox="1"/>
          <p:nvPr/>
        </p:nvSpPr>
        <p:spPr>
          <a:xfrm>
            <a:off x="7726680" y="1627632"/>
            <a:ext cx="2788920" cy="768096"/>
          </a:xfrm>
          <a:prstGeom prst="rect">
            <a:avLst/>
          </a:prstGeom>
          <a:noFill/>
          <a:ln/>
        </p:spPr>
        <p:txBody>
          <a:bodyPr wrap="square" lIns="0" tIns="0" rIns="0" bIns="0" rtlCol="0" anchor="ctr"/>
          <a:lstStyle/>
          <a:p>
            <a:pPr algn="r" indent="0" marL="0">
              <a:buNone/>
            </a:pPr>
            <a:r>
              <a:rPr lang="en-US" sz="1400" b="1" dirty="0">
                <a:solidFill>
                  <a:srgbClr val="101420"/>
                </a:solidFill>
                <a:latin typeface="맑은 고딕" pitchFamily="34" charset="0"/>
                <a:ea typeface="맑은 고딕" pitchFamily="34" charset="-122"/>
                <a:cs typeface="맑은 고딕" pitchFamily="34" charset="-120"/>
              </a:rPr>
              <a:t>ASP 320만원 / 건</a:t>
            </a:r>
            <a:endParaRPr lang="en-US" sz="1400" dirty="0"/>
          </a:p>
        </p:txBody>
      </p:sp>
      <p:sp>
        <p:nvSpPr>
          <p:cNvPr id="11" name="Shape 9"/>
          <p:cNvSpPr/>
          <p:nvPr/>
        </p:nvSpPr>
        <p:spPr>
          <a:xfrm>
            <a:off x="10716768" y="1847088"/>
            <a:ext cx="777240" cy="329184"/>
          </a:xfrm>
          <a:prstGeom prst="roundRect">
            <a:avLst>
              <a:gd name="adj" fmla="val 13889"/>
            </a:avLst>
          </a:prstGeom>
          <a:solidFill>
            <a:srgbClr val="E3E6EB"/>
          </a:solidFill>
          <a:ln/>
        </p:spPr>
      </p:sp>
      <p:sp>
        <p:nvSpPr>
          <p:cNvPr id="12" name="Text 10"/>
          <p:cNvSpPr txBox="1"/>
          <p:nvPr/>
        </p:nvSpPr>
        <p:spPr>
          <a:xfrm>
            <a:off x="10716768" y="1847088"/>
            <a:ext cx="777240" cy="329184"/>
          </a:xfrm>
          <a:prstGeom prst="rect">
            <a:avLst/>
          </a:prstGeom>
          <a:noFill/>
          <a:ln/>
        </p:spPr>
        <p:txBody>
          <a:bodyPr wrap="square" lIns="0" tIns="0" rIns="0" bIns="0" rtlCol="0" anchor="ctr"/>
          <a:lstStyle/>
          <a:p>
            <a:pPr algn="ctr" indent="0" marL="0">
              <a:buNone/>
            </a:pPr>
            <a:r>
              <a:rPr lang="en-US" sz="1000" b="1" dirty="0">
                <a:solidFill>
                  <a:srgbClr val="5D6675"/>
                </a:solidFill>
                <a:latin typeface="맑은 고딕" pitchFamily="34" charset="0"/>
                <a:ea typeface="맑은 고딕" pitchFamily="34" charset="-122"/>
                <a:cs typeface="맑은 고딕" pitchFamily="34" charset="-120"/>
              </a:rPr>
              <a:t>유입</a:t>
            </a:r>
            <a:endParaRPr lang="en-US" sz="1000" dirty="0"/>
          </a:p>
        </p:txBody>
      </p:sp>
      <p:sp>
        <p:nvSpPr>
          <p:cNvPr id="13" name="Shape 11"/>
          <p:cNvSpPr/>
          <p:nvPr/>
        </p:nvSpPr>
        <p:spPr>
          <a:xfrm>
            <a:off x="548640" y="2505456"/>
            <a:ext cx="11091672" cy="768096"/>
          </a:xfrm>
          <a:prstGeom prst="roundRect">
            <a:avLst>
              <a:gd name="adj" fmla="val 5952"/>
            </a:avLst>
          </a:prstGeom>
          <a:solidFill>
            <a:srgbClr val="FFFFFF"/>
          </a:solidFill>
          <a:ln w="12700">
            <a:solidFill>
              <a:srgbClr val="E3E6EB"/>
            </a:solidFill>
            <a:prstDash val="solid"/>
          </a:ln>
        </p:spPr>
      </p:sp>
      <p:sp>
        <p:nvSpPr>
          <p:cNvPr id="14" name="Text 12"/>
          <p:cNvSpPr txBox="1"/>
          <p:nvPr/>
        </p:nvSpPr>
        <p:spPr>
          <a:xfrm>
            <a:off x="777240" y="2505456"/>
            <a:ext cx="502920" cy="768096"/>
          </a:xfrm>
          <a:prstGeom prst="rect">
            <a:avLst/>
          </a:prstGeom>
          <a:noFill/>
          <a:ln/>
        </p:spPr>
        <p:txBody>
          <a:bodyPr wrap="square" lIns="0" tIns="0" rIns="0" bIns="0" rtlCol="0" anchor="ctr"/>
          <a:lstStyle/>
          <a:p>
            <a:pPr algn="ctr" indent="0" marL="0">
              <a:buNone/>
            </a:pPr>
            <a:r>
              <a:rPr lang="en-US" sz="2000" b="1" dirty="0">
                <a:solidFill>
                  <a:srgbClr val="E11D2E"/>
                </a:solidFill>
                <a:latin typeface="맑은 고딕" pitchFamily="34" charset="0"/>
                <a:ea typeface="맑은 고딕" pitchFamily="34" charset="-122"/>
                <a:cs typeface="맑은 고딕" pitchFamily="34" charset="-120"/>
              </a:rPr>
              <a:t>②</a:t>
            </a:r>
            <a:endParaRPr lang="en-US" sz="2000" dirty="0"/>
          </a:p>
        </p:txBody>
      </p:sp>
      <p:sp>
        <p:nvSpPr>
          <p:cNvPr id="15" name="Text 13"/>
          <p:cNvSpPr txBox="1"/>
          <p:nvPr/>
        </p:nvSpPr>
        <p:spPr>
          <a:xfrm>
            <a:off x="1371600" y="2505456"/>
            <a:ext cx="2926080" cy="768096"/>
          </a:xfrm>
          <a:prstGeom prst="rect">
            <a:avLst/>
          </a:prstGeom>
          <a:noFill/>
          <a:ln/>
        </p:spPr>
        <p:txBody>
          <a:bodyPr wrap="square" lIns="0" tIns="0" rIns="0" bIns="0" rtlCol="0" anchor="ctr"/>
          <a:lstStyle/>
          <a:p>
            <a:pPr indent="0" marL="0">
              <a:buNone/>
            </a:pPr>
            <a:r>
              <a:rPr lang="en-US" sz="1500" b="1" dirty="0">
                <a:solidFill>
                  <a:srgbClr val="101420"/>
                </a:solidFill>
                <a:latin typeface="맑은 고딕" pitchFamily="34" charset="0"/>
                <a:ea typeface="맑은 고딕" pitchFamily="34" charset="-122"/>
                <a:cs typeface="맑은 고딕" pitchFamily="34" charset="-120"/>
              </a:rPr>
              <a:t>상설 매장 구독</a:t>
            </a:r>
            <a:endParaRPr lang="en-US" sz="1500" dirty="0"/>
          </a:p>
        </p:txBody>
      </p:sp>
      <p:sp>
        <p:nvSpPr>
          <p:cNvPr id="16" name="Text 14"/>
          <p:cNvSpPr txBox="1"/>
          <p:nvPr/>
        </p:nvSpPr>
        <p:spPr>
          <a:xfrm>
            <a:off x="4343400" y="2505456"/>
            <a:ext cx="3383280" cy="768096"/>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월간 처방 리포트 + 대시보드</a:t>
            </a:r>
            <a:endParaRPr lang="en-US" sz="1200" dirty="0"/>
          </a:p>
        </p:txBody>
      </p:sp>
      <p:sp>
        <p:nvSpPr>
          <p:cNvPr id="17" name="Text 15"/>
          <p:cNvSpPr txBox="1"/>
          <p:nvPr/>
        </p:nvSpPr>
        <p:spPr>
          <a:xfrm>
            <a:off x="7726680" y="2505456"/>
            <a:ext cx="2788920" cy="768096"/>
          </a:xfrm>
          <a:prstGeom prst="rect">
            <a:avLst/>
          </a:prstGeom>
          <a:noFill/>
          <a:ln/>
        </p:spPr>
        <p:txBody>
          <a:bodyPr wrap="square" lIns="0" tIns="0" rIns="0" bIns="0" rtlCol="0" anchor="ctr"/>
          <a:lstStyle/>
          <a:p>
            <a:pPr algn="r" indent="0" marL="0">
              <a:buNone/>
            </a:pPr>
            <a:r>
              <a:rPr lang="en-US" sz="1400" b="1" dirty="0">
                <a:solidFill>
                  <a:srgbClr val="101420"/>
                </a:solidFill>
                <a:latin typeface="맑은 고딕" pitchFamily="34" charset="0"/>
                <a:ea typeface="맑은 고딕" pitchFamily="34" charset="-122"/>
                <a:cs typeface="맑은 고딕" pitchFamily="34" charset="-120"/>
              </a:rPr>
              <a:t>월 45만원 / 매장</a:t>
            </a:r>
            <a:endParaRPr lang="en-US" sz="1400" dirty="0"/>
          </a:p>
        </p:txBody>
      </p:sp>
      <p:sp>
        <p:nvSpPr>
          <p:cNvPr id="18" name="Shape 16"/>
          <p:cNvSpPr/>
          <p:nvPr/>
        </p:nvSpPr>
        <p:spPr>
          <a:xfrm>
            <a:off x="10716768" y="2724912"/>
            <a:ext cx="777240" cy="329184"/>
          </a:xfrm>
          <a:prstGeom prst="roundRect">
            <a:avLst>
              <a:gd name="adj" fmla="val 13889"/>
            </a:avLst>
          </a:prstGeom>
          <a:solidFill>
            <a:srgbClr val="E11D2E"/>
          </a:solidFill>
          <a:ln/>
        </p:spPr>
      </p:sp>
      <p:sp>
        <p:nvSpPr>
          <p:cNvPr id="19" name="Text 17"/>
          <p:cNvSpPr txBox="1"/>
          <p:nvPr/>
        </p:nvSpPr>
        <p:spPr>
          <a:xfrm>
            <a:off x="10716768" y="2724912"/>
            <a:ext cx="777240"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맑은 고딕" pitchFamily="34" charset="0"/>
                <a:ea typeface="맑은 고딕" pitchFamily="34" charset="-122"/>
                <a:cs typeface="맑은 고딕" pitchFamily="34" charset="-120"/>
              </a:rPr>
              <a:t>리커링</a:t>
            </a:r>
            <a:endParaRPr lang="en-US" sz="1000" dirty="0"/>
          </a:p>
        </p:txBody>
      </p:sp>
      <p:sp>
        <p:nvSpPr>
          <p:cNvPr id="20" name="Shape 18"/>
          <p:cNvSpPr/>
          <p:nvPr/>
        </p:nvSpPr>
        <p:spPr>
          <a:xfrm>
            <a:off x="548640" y="3383280"/>
            <a:ext cx="11091672" cy="768096"/>
          </a:xfrm>
          <a:prstGeom prst="roundRect">
            <a:avLst>
              <a:gd name="adj" fmla="val 5952"/>
            </a:avLst>
          </a:prstGeom>
          <a:solidFill>
            <a:srgbClr val="F6F7F9"/>
          </a:solidFill>
          <a:ln w="12700">
            <a:solidFill>
              <a:srgbClr val="E3E6EB"/>
            </a:solidFill>
            <a:prstDash val="solid"/>
          </a:ln>
        </p:spPr>
      </p:sp>
      <p:sp>
        <p:nvSpPr>
          <p:cNvPr id="21" name="Text 19"/>
          <p:cNvSpPr txBox="1"/>
          <p:nvPr/>
        </p:nvSpPr>
        <p:spPr>
          <a:xfrm>
            <a:off x="777240" y="3383280"/>
            <a:ext cx="502920" cy="768096"/>
          </a:xfrm>
          <a:prstGeom prst="rect">
            <a:avLst/>
          </a:prstGeom>
          <a:noFill/>
          <a:ln/>
        </p:spPr>
        <p:txBody>
          <a:bodyPr wrap="square" lIns="0" tIns="0" rIns="0" bIns="0" rtlCol="0" anchor="ctr"/>
          <a:lstStyle/>
          <a:p>
            <a:pPr algn="ctr" indent="0" marL="0">
              <a:buNone/>
            </a:pPr>
            <a:r>
              <a:rPr lang="en-US" sz="2000" b="1" dirty="0">
                <a:solidFill>
                  <a:srgbClr val="E11D2E"/>
                </a:solidFill>
                <a:latin typeface="맑은 고딕" pitchFamily="34" charset="0"/>
                <a:ea typeface="맑은 고딕" pitchFamily="34" charset="-122"/>
                <a:cs typeface="맑은 고딕" pitchFamily="34" charset="-120"/>
              </a:rPr>
              <a:t>③</a:t>
            </a:r>
            <a:endParaRPr lang="en-US" sz="2000" dirty="0"/>
          </a:p>
        </p:txBody>
      </p:sp>
      <p:sp>
        <p:nvSpPr>
          <p:cNvPr id="22" name="Text 20"/>
          <p:cNvSpPr txBox="1"/>
          <p:nvPr/>
        </p:nvSpPr>
        <p:spPr>
          <a:xfrm>
            <a:off x="1371600" y="3383280"/>
            <a:ext cx="2926080" cy="768096"/>
          </a:xfrm>
          <a:prstGeom prst="rect">
            <a:avLst/>
          </a:prstGeom>
          <a:noFill/>
          <a:ln/>
        </p:spPr>
        <p:txBody>
          <a:bodyPr wrap="square" lIns="0" tIns="0" rIns="0" bIns="0" rtlCol="0" anchor="ctr"/>
          <a:lstStyle/>
          <a:p>
            <a:pPr indent="0" marL="0">
              <a:buNone/>
            </a:pPr>
            <a:r>
              <a:rPr lang="en-US" sz="1500" b="1" dirty="0">
                <a:solidFill>
                  <a:srgbClr val="101420"/>
                </a:solidFill>
                <a:latin typeface="맑은 고딕" pitchFamily="34" charset="0"/>
                <a:ea typeface="맑은 고딕" pitchFamily="34" charset="-122"/>
                <a:cs typeface="맑은 고딕" pitchFamily="34" charset="-120"/>
              </a:rPr>
              <a:t>성장 컨설팅 + 성과연동</a:t>
            </a:r>
            <a:endParaRPr lang="en-US" sz="1500" dirty="0"/>
          </a:p>
        </p:txBody>
      </p:sp>
      <p:sp>
        <p:nvSpPr>
          <p:cNvPr id="23" name="Text 21"/>
          <p:cNvSpPr txBox="1"/>
          <p:nvPr/>
        </p:nvSpPr>
        <p:spPr>
          <a:xfrm>
            <a:off x="4343400" y="3383280"/>
            <a:ext cx="3383280" cy="768096"/>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VMD · 상품기획 · 출점전략</a:t>
            </a:r>
            <a:endParaRPr lang="en-US" sz="1200" dirty="0"/>
          </a:p>
        </p:txBody>
      </p:sp>
      <p:sp>
        <p:nvSpPr>
          <p:cNvPr id="24" name="Text 22"/>
          <p:cNvSpPr txBox="1"/>
          <p:nvPr/>
        </p:nvSpPr>
        <p:spPr>
          <a:xfrm>
            <a:off x="7726680" y="3383280"/>
            <a:ext cx="2788920" cy="768096"/>
          </a:xfrm>
          <a:prstGeom prst="rect">
            <a:avLst/>
          </a:prstGeom>
          <a:noFill/>
          <a:ln/>
        </p:spPr>
        <p:txBody>
          <a:bodyPr wrap="square" lIns="0" tIns="0" rIns="0" bIns="0" rtlCol="0" anchor="ctr"/>
          <a:lstStyle/>
          <a:p>
            <a:pPr algn="r" indent="0" marL="0">
              <a:buNone/>
            </a:pPr>
            <a:r>
              <a:rPr lang="en-US" sz="1400" b="1" dirty="0">
                <a:solidFill>
                  <a:srgbClr val="101420"/>
                </a:solidFill>
                <a:latin typeface="맑은 고딕" pitchFamily="34" charset="0"/>
                <a:ea typeface="맑은 고딕" pitchFamily="34" charset="-122"/>
                <a:cs typeface="맑은 고딕" pitchFamily="34" charset="-120"/>
              </a:rPr>
              <a:t>1,500만원 + 성과 5~10%</a:t>
            </a:r>
            <a:endParaRPr lang="en-US" sz="1400" dirty="0"/>
          </a:p>
        </p:txBody>
      </p:sp>
      <p:sp>
        <p:nvSpPr>
          <p:cNvPr id="25" name="Shape 23"/>
          <p:cNvSpPr/>
          <p:nvPr/>
        </p:nvSpPr>
        <p:spPr>
          <a:xfrm>
            <a:off x="10716768" y="3602736"/>
            <a:ext cx="777240" cy="329184"/>
          </a:xfrm>
          <a:prstGeom prst="roundRect">
            <a:avLst>
              <a:gd name="adj" fmla="val 13889"/>
            </a:avLst>
          </a:prstGeom>
          <a:solidFill>
            <a:srgbClr val="E3E6EB"/>
          </a:solidFill>
          <a:ln/>
        </p:spPr>
      </p:sp>
      <p:sp>
        <p:nvSpPr>
          <p:cNvPr id="26" name="Text 24"/>
          <p:cNvSpPr txBox="1"/>
          <p:nvPr/>
        </p:nvSpPr>
        <p:spPr>
          <a:xfrm>
            <a:off x="10716768" y="3602736"/>
            <a:ext cx="777240" cy="329184"/>
          </a:xfrm>
          <a:prstGeom prst="rect">
            <a:avLst/>
          </a:prstGeom>
          <a:noFill/>
          <a:ln/>
        </p:spPr>
        <p:txBody>
          <a:bodyPr wrap="square" lIns="0" tIns="0" rIns="0" bIns="0" rtlCol="0" anchor="ctr"/>
          <a:lstStyle/>
          <a:p>
            <a:pPr algn="ctr" indent="0" marL="0">
              <a:buNone/>
            </a:pPr>
            <a:r>
              <a:rPr lang="en-US" sz="1000" b="1" dirty="0">
                <a:solidFill>
                  <a:srgbClr val="5D6675"/>
                </a:solidFill>
                <a:latin typeface="맑은 고딕" pitchFamily="34" charset="0"/>
                <a:ea typeface="맑은 고딕" pitchFamily="34" charset="-122"/>
                <a:cs typeface="맑은 고딕" pitchFamily="34" charset="-120"/>
              </a:rPr>
              <a:t>고부가</a:t>
            </a:r>
            <a:endParaRPr lang="en-US" sz="1000" dirty="0"/>
          </a:p>
        </p:txBody>
      </p:sp>
      <p:sp>
        <p:nvSpPr>
          <p:cNvPr id="27" name="Shape 25"/>
          <p:cNvSpPr/>
          <p:nvPr/>
        </p:nvSpPr>
        <p:spPr>
          <a:xfrm>
            <a:off x="548640" y="4261104"/>
            <a:ext cx="11091672" cy="768096"/>
          </a:xfrm>
          <a:prstGeom prst="roundRect">
            <a:avLst>
              <a:gd name="adj" fmla="val 5952"/>
            </a:avLst>
          </a:prstGeom>
          <a:solidFill>
            <a:srgbClr val="FFFFFF"/>
          </a:solidFill>
          <a:ln w="12700">
            <a:solidFill>
              <a:srgbClr val="E3E6EB"/>
            </a:solidFill>
            <a:prstDash val="solid"/>
          </a:ln>
        </p:spPr>
      </p:sp>
      <p:sp>
        <p:nvSpPr>
          <p:cNvPr id="28" name="Text 26"/>
          <p:cNvSpPr txBox="1"/>
          <p:nvPr/>
        </p:nvSpPr>
        <p:spPr>
          <a:xfrm>
            <a:off x="777240" y="4261104"/>
            <a:ext cx="502920" cy="768096"/>
          </a:xfrm>
          <a:prstGeom prst="rect">
            <a:avLst/>
          </a:prstGeom>
          <a:noFill/>
          <a:ln/>
        </p:spPr>
        <p:txBody>
          <a:bodyPr wrap="square" lIns="0" tIns="0" rIns="0" bIns="0" rtlCol="0" anchor="ctr"/>
          <a:lstStyle/>
          <a:p>
            <a:pPr algn="ctr" indent="0" marL="0">
              <a:buNone/>
            </a:pPr>
            <a:r>
              <a:rPr lang="en-US" sz="2000" b="1" dirty="0">
                <a:solidFill>
                  <a:srgbClr val="E11D2E"/>
                </a:solidFill>
                <a:latin typeface="맑은 고딕" pitchFamily="34" charset="0"/>
                <a:ea typeface="맑은 고딕" pitchFamily="34" charset="-122"/>
                <a:cs typeface="맑은 고딕" pitchFamily="34" charset="-120"/>
              </a:rPr>
              <a:t>④</a:t>
            </a:r>
            <a:endParaRPr lang="en-US" sz="2000" dirty="0"/>
          </a:p>
        </p:txBody>
      </p:sp>
      <p:sp>
        <p:nvSpPr>
          <p:cNvPr id="29" name="Text 27"/>
          <p:cNvSpPr txBox="1"/>
          <p:nvPr/>
        </p:nvSpPr>
        <p:spPr>
          <a:xfrm>
            <a:off x="1371600" y="4261104"/>
            <a:ext cx="2926080" cy="768096"/>
          </a:xfrm>
          <a:prstGeom prst="rect">
            <a:avLst/>
          </a:prstGeom>
          <a:noFill/>
          <a:ln/>
        </p:spPr>
        <p:txBody>
          <a:bodyPr wrap="square" lIns="0" tIns="0" rIns="0" bIns="0" rtlCol="0" anchor="ctr"/>
          <a:lstStyle/>
          <a:p>
            <a:pPr indent="0" marL="0">
              <a:buNone/>
            </a:pPr>
            <a:r>
              <a:rPr lang="en-US" sz="1500" b="1" dirty="0">
                <a:solidFill>
                  <a:srgbClr val="101420"/>
                </a:solidFill>
                <a:latin typeface="맑은 고딕" pitchFamily="34" charset="0"/>
                <a:ea typeface="맑은 고딕" pitchFamily="34" charset="-122"/>
                <a:cs typeface="맑은 고딕" pitchFamily="34" charset="-120"/>
              </a:rPr>
              <a:t>L.POINT 리타게팅</a:t>
            </a:r>
            <a:endParaRPr lang="en-US" sz="1500" dirty="0"/>
          </a:p>
        </p:txBody>
      </p:sp>
      <p:sp>
        <p:nvSpPr>
          <p:cNvPr id="30" name="Text 28"/>
          <p:cNvSpPr txBox="1"/>
          <p:nvPr/>
        </p:nvSpPr>
        <p:spPr>
          <a:xfrm>
            <a:off x="4343400" y="4261104"/>
            <a:ext cx="3383280" cy="768096"/>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안 산 고객에게 앱 쿠폰 발송</a:t>
            </a:r>
            <a:endParaRPr lang="en-US" sz="1200" dirty="0"/>
          </a:p>
        </p:txBody>
      </p:sp>
      <p:sp>
        <p:nvSpPr>
          <p:cNvPr id="31" name="Text 29"/>
          <p:cNvSpPr txBox="1"/>
          <p:nvPr/>
        </p:nvSpPr>
        <p:spPr>
          <a:xfrm>
            <a:off x="7726680" y="4261104"/>
            <a:ext cx="2788920" cy="768096"/>
          </a:xfrm>
          <a:prstGeom prst="rect">
            <a:avLst/>
          </a:prstGeom>
          <a:noFill/>
          <a:ln/>
        </p:spPr>
        <p:txBody>
          <a:bodyPr wrap="square" lIns="0" tIns="0" rIns="0" bIns="0" rtlCol="0" anchor="ctr"/>
          <a:lstStyle/>
          <a:p>
            <a:pPr algn="r" indent="0" marL="0">
              <a:buNone/>
            </a:pPr>
            <a:r>
              <a:rPr lang="en-US" sz="1400" b="1" dirty="0">
                <a:solidFill>
                  <a:srgbClr val="101420"/>
                </a:solidFill>
                <a:latin typeface="맑은 고딕" pitchFamily="34" charset="0"/>
                <a:ea typeface="맑은 고딕" pitchFamily="34" charset="-122"/>
                <a:cs typeface="맑은 고딕" pitchFamily="34" charset="-120"/>
              </a:rPr>
              <a:t>CPM / CPA</a:t>
            </a:r>
            <a:endParaRPr lang="en-US" sz="1400" dirty="0"/>
          </a:p>
        </p:txBody>
      </p:sp>
      <p:sp>
        <p:nvSpPr>
          <p:cNvPr id="32" name="Shape 30"/>
          <p:cNvSpPr/>
          <p:nvPr/>
        </p:nvSpPr>
        <p:spPr>
          <a:xfrm>
            <a:off x="10716768" y="4480560"/>
            <a:ext cx="777240" cy="329184"/>
          </a:xfrm>
          <a:prstGeom prst="roundRect">
            <a:avLst>
              <a:gd name="adj" fmla="val 13889"/>
            </a:avLst>
          </a:prstGeom>
          <a:solidFill>
            <a:srgbClr val="E11D2E"/>
          </a:solidFill>
          <a:ln/>
        </p:spPr>
      </p:sp>
      <p:sp>
        <p:nvSpPr>
          <p:cNvPr id="33" name="Text 31"/>
          <p:cNvSpPr txBox="1"/>
          <p:nvPr/>
        </p:nvSpPr>
        <p:spPr>
          <a:xfrm>
            <a:off x="10716768" y="4480560"/>
            <a:ext cx="777240"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맑은 고딕" pitchFamily="34" charset="0"/>
                <a:ea typeface="맑은 고딕" pitchFamily="34" charset="-122"/>
                <a:cs typeface="맑은 고딕" pitchFamily="34" charset="-120"/>
              </a:rPr>
              <a:t>리커링</a:t>
            </a:r>
            <a:endParaRPr lang="en-US" sz="1000" dirty="0"/>
          </a:p>
        </p:txBody>
      </p:sp>
      <p:sp>
        <p:nvSpPr>
          <p:cNvPr id="34" name="Shape 32"/>
          <p:cNvSpPr/>
          <p:nvPr/>
        </p:nvSpPr>
        <p:spPr>
          <a:xfrm>
            <a:off x="548640" y="5138928"/>
            <a:ext cx="11091672" cy="768096"/>
          </a:xfrm>
          <a:prstGeom prst="roundRect">
            <a:avLst>
              <a:gd name="adj" fmla="val 5952"/>
            </a:avLst>
          </a:prstGeom>
          <a:solidFill>
            <a:srgbClr val="F6F7F9"/>
          </a:solidFill>
          <a:ln w="12700">
            <a:solidFill>
              <a:srgbClr val="E3E6EB"/>
            </a:solidFill>
            <a:prstDash val="solid"/>
          </a:ln>
        </p:spPr>
      </p:sp>
      <p:sp>
        <p:nvSpPr>
          <p:cNvPr id="35" name="Text 33"/>
          <p:cNvSpPr txBox="1"/>
          <p:nvPr/>
        </p:nvSpPr>
        <p:spPr>
          <a:xfrm>
            <a:off x="777240" y="5138928"/>
            <a:ext cx="502920" cy="768096"/>
          </a:xfrm>
          <a:prstGeom prst="rect">
            <a:avLst/>
          </a:prstGeom>
          <a:noFill/>
          <a:ln/>
        </p:spPr>
        <p:txBody>
          <a:bodyPr wrap="square" lIns="0" tIns="0" rIns="0" bIns="0" rtlCol="0" anchor="ctr"/>
          <a:lstStyle/>
          <a:p>
            <a:pPr algn="ctr" indent="0" marL="0">
              <a:buNone/>
            </a:pPr>
            <a:r>
              <a:rPr lang="en-US" sz="2000" b="1" dirty="0">
                <a:solidFill>
                  <a:srgbClr val="E11D2E"/>
                </a:solidFill>
                <a:latin typeface="맑은 고딕" pitchFamily="34" charset="0"/>
                <a:ea typeface="맑은 고딕" pitchFamily="34" charset="-122"/>
                <a:cs typeface="맑은 고딕" pitchFamily="34" charset="-120"/>
              </a:rPr>
              <a:t>⑤</a:t>
            </a:r>
            <a:endParaRPr lang="en-US" sz="2000" dirty="0"/>
          </a:p>
        </p:txBody>
      </p:sp>
      <p:sp>
        <p:nvSpPr>
          <p:cNvPr id="36" name="Text 34"/>
          <p:cNvSpPr txBox="1"/>
          <p:nvPr/>
        </p:nvSpPr>
        <p:spPr>
          <a:xfrm>
            <a:off x="1371600" y="5138928"/>
            <a:ext cx="2926080" cy="768096"/>
          </a:xfrm>
          <a:prstGeom prst="rect">
            <a:avLst/>
          </a:prstGeom>
          <a:noFill/>
          <a:ln/>
        </p:spPr>
        <p:txBody>
          <a:bodyPr wrap="square" lIns="0" tIns="0" rIns="0" bIns="0" rtlCol="0" anchor="ctr"/>
          <a:lstStyle/>
          <a:p>
            <a:pPr indent="0" marL="0">
              <a:buNone/>
            </a:pPr>
            <a:r>
              <a:rPr lang="en-US" sz="1500" b="1" dirty="0">
                <a:solidFill>
                  <a:srgbClr val="101420"/>
                </a:solidFill>
                <a:latin typeface="맑은 고딕" pitchFamily="34" charset="0"/>
                <a:ea typeface="맑은 고딕" pitchFamily="34" charset="-122"/>
                <a:cs typeface="맑은 고딕" pitchFamily="34" charset="-120"/>
              </a:rPr>
              <a:t>벤치마크 라이선스</a:t>
            </a:r>
            <a:endParaRPr lang="en-US" sz="1500" dirty="0"/>
          </a:p>
        </p:txBody>
      </p:sp>
      <p:sp>
        <p:nvSpPr>
          <p:cNvPr id="37" name="Text 35"/>
          <p:cNvSpPr txBox="1"/>
          <p:nvPr/>
        </p:nvSpPr>
        <p:spPr>
          <a:xfrm>
            <a:off x="4343400" y="5138928"/>
            <a:ext cx="3383280" cy="768096"/>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카테고리 기준치 정기 리포트</a:t>
            </a:r>
            <a:endParaRPr lang="en-US" sz="1200" dirty="0"/>
          </a:p>
        </p:txBody>
      </p:sp>
      <p:sp>
        <p:nvSpPr>
          <p:cNvPr id="38" name="Text 36"/>
          <p:cNvSpPr txBox="1"/>
          <p:nvPr/>
        </p:nvSpPr>
        <p:spPr>
          <a:xfrm>
            <a:off x="7726680" y="5138928"/>
            <a:ext cx="2788920" cy="768096"/>
          </a:xfrm>
          <a:prstGeom prst="rect">
            <a:avLst/>
          </a:prstGeom>
          <a:noFill/>
          <a:ln/>
        </p:spPr>
        <p:txBody>
          <a:bodyPr wrap="square" lIns="0" tIns="0" rIns="0" bIns="0" rtlCol="0" anchor="ctr"/>
          <a:lstStyle/>
          <a:p>
            <a:pPr algn="r" indent="0" marL="0">
              <a:buNone/>
            </a:pPr>
            <a:r>
              <a:rPr lang="en-US" sz="1400" b="1" dirty="0">
                <a:solidFill>
                  <a:srgbClr val="101420"/>
                </a:solidFill>
                <a:latin typeface="맑은 고딕" pitchFamily="34" charset="0"/>
                <a:ea typeface="맑은 고딕" pitchFamily="34" charset="-122"/>
                <a:cs typeface="맑은 고딕" pitchFamily="34" charset="-120"/>
              </a:rPr>
              <a:t>연 2,000~5,000만원</a:t>
            </a:r>
            <a:endParaRPr lang="en-US" sz="1400" dirty="0"/>
          </a:p>
        </p:txBody>
      </p:sp>
      <p:sp>
        <p:nvSpPr>
          <p:cNvPr id="39" name="Shape 37"/>
          <p:cNvSpPr/>
          <p:nvPr/>
        </p:nvSpPr>
        <p:spPr>
          <a:xfrm>
            <a:off x="10716768" y="5358384"/>
            <a:ext cx="777240" cy="329184"/>
          </a:xfrm>
          <a:prstGeom prst="roundRect">
            <a:avLst>
              <a:gd name="adj" fmla="val 13889"/>
            </a:avLst>
          </a:prstGeom>
          <a:solidFill>
            <a:srgbClr val="E11D2E"/>
          </a:solidFill>
          <a:ln/>
        </p:spPr>
      </p:sp>
      <p:sp>
        <p:nvSpPr>
          <p:cNvPr id="40" name="Text 38"/>
          <p:cNvSpPr txBox="1"/>
          <p:nvPr/>
        </p:nvSpPr>
        <p:spPr>
          <a:xfrm>
            <a:off x="10716768" y="5358384"/>
            <a:ext cx="777240"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맑은 고딕" pitchFamily="34" charset="0"/>
                <a:ea typeface="맑은 고딕" pitchFamily="34" charset="-122"/>
                <a:cs typeface="맑은 고딕" pitchFamily="34" charset="-120"/>
              </a:rPr>
              <a:t>리커링</a:t>
            </a:r>
            <a:endParaRPr lang="en-US" sz="1000" dirty="0"/>
          </a:p>
        </p:txBody>
      </p:sp>
      <p:sp>
        <p:nvSpPr>
          <p:cNvPr id="41" name="Text 39"/>
          <p:cNvSpPr txBox="1"/>
          <p:nvPr/>
        </p:nvSpPr>
        <p:spPr>
          <a:xfrm>
            <a:off x="548640" y="6053328"/>
            <a:ext cx="11091672" cy="384048"/>
          </a:xfrm>
          <a:prstGeom prst="rect">
            <a:avLst/>
          </a:prstGeom>
          <a:noFill/>
          <a:ln/>
        </p:spPr>
        <p:txBody>
          <a:bodyPr wrap="square" lIns="0" tIns="0" rIns="0" bIns="0" rtlCol="0" anchor="ctr"/>
          <a:lstStyle/>
          <a:p>
            <a:pPr algn="ctr" indent="0" marL="0">
              <a:buNone/>
            </a:pPr>
            <a:r>
              <a:rPr lang="en-US" sz="1500" b="1" dirty="0">
                <a:solidFill>
                  <a:srgbClr val="101420"/>
                </a:solidFill>
                <a:latin typeface="맑은 고딕" pitchFamily="34" charset="0"/>
                <a:ea typeface="맑은 고딕" pitchFamily="34" charset="-122"/>
                <a:cs typeface="맑은 고딕" pitchFamily="34" charset="-120"/>
              </a:rPr>
              <a:t>구글 애널리틱스는 무료입니다. 구글은 측정이 아니라 광고로 법니다. 저희도 같습니다.</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457200"/>
            <a:ext cx="420624" cy="420624"/>
          </a:xfrm>
          <a:prstGeom prst="roundRect">
            <a:avLst>
              <a:gd name="adj" fmla="val 17391"/>
            </a:avLst>
          </a:prstGeom>
          <a:solidFill>
            <a:srgbClr val="E11D2E"/>
          </a:solidFill>
          <a:ln/>
        </p:spPr>
      </p:sp>
      <p:sp>
        <p:nvSpPr>
          <p:cNvPr id="3" name="Text 1"/>
          <p:cNvSpPr txBox="1"/>
          <p:nvPr/>
        </p:nvSpPr>
        <p:spPr>
          <a:xfrm>
            <a:off x="548640" y="4572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10</a:t>
            </a:r>
            <a:endParaRPr lang="en-US" sz="1500" dirty="0"/>
          </a:p>
        </p:txBody>
      </p:sp>
      <p:sp>
        <p:nvSpPr>
          <p:cNvPr id="4" name="Text 2"/>
          <p:cNvSpPr txBox="1"/>
          <p:nvPr/>
        </p:nvSpPr>
        <p:spPr>
          <a:xfrm>
            <a:off x="1115568" y="402336"/>
            <a:ext cx="10424160" cy="548640"/>
          </a:xfrm>
          <a:prstGeom prst="rect">
            <a:avLst/>
          </a:prstGeom>
          <a:noFill/>
          <a:ln/>
        </p:spPr>
        <p:txBody>
          <a:bodyPr wrap="square" lIns="0" tIns="0" rIns="0" bIns="0" rtlCol="0" anchor="ctr"/>
          <a:lstStyle/>
          <a:p>
            <a:pPr indent="0" marL="0">
              <a:buNone/>
            </a:pPr>
            <a:r>
              <a:rPr lang="en-US" sz="2900" b="1" dirty="0">
                <a:solidFill>
                  <a:srgbClr val="101420"/>
                </a:solidFill>
                <a:latin typeface="맑은 고딕" pitchFamily="34" charset="0"/>
                <a:ea typeface="맑은 고딕" pitchFamily="34" charset="-122"/>
                <a:cs typeface="맑은 고딕" pitchFamily="34" charset="-120"/>
              </a:rPr>
              <a:t>영상을 클라우드로 올리지 않습니다</a:t>
            </a:r>
            <a:endParaRPr lang="en-US" sz="2900" dirty="0"/>
          </a:p>
        </p:txBody>
      </p:sp>
      <p:sp>
        <p:nvSpPr>
          <p:cNvPr id="5" name="Text 3"/>
          <p:cNvSpPr txBox="1"/>
          <p:nvPr/>
        </p:nvSpPr>
        <p:spPr>
          <a:xfrm>
            <a:off x="1115568" y="969264"/>
            <a:ext cx="10424160" cy="32918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경쟁사 이익률이 낮은 이유는 기술이 아니라 원가 구조였습니다</a:t>
            </a:r>
            <a:endParaRPr lang="en-US" sz="1300" dirty="0"/>
          </a:p>
        </p:txBody>
      </p:sp>
      <p:graphicFrame>
        <p:nvGraphicFramePr>
          <p:cNvPr id="6" name="Chart 0" descr=""/>
          <p:cNvGraphicFramePr/>
          <p:nvPr/>
        </p:nvGraphicFramePr>
        <p:xfrm>
          <a:off x="548640" y="1600200"/>
          <a:ext cx="6492240" cy="41148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315200" y="1664208"/>
            <a:ext cx="4325112" cy="804672"/>
          </a:xfrm>
          <a:prstGeom prst="roundRect">
            <a:avLst>
              <a:gd name="adj" fmla="val 5682"/>
            </a:avLst>
          </a:prstGeom>
          <a:solidFill>
            <a:srgbClr val="F6F7F9"/>
          </a:solidFill>
          <a:ln w="12700">
            <a:solidFill>
              <a:srgbClr val="E3E6EB"/>
            </a:solidFill>
            <a:prstDash val="solid"/>
          </a:ln>
        </p:spPr>
      </p:sp>
      <p:sp>
        <p:nvSpPr>
          <p:cNvPr id="8" name="Text 5"/>
          <p:cNvSpPr txBox="1"/>
          <p:nvPr/>
        </p:nvSpPr>
        <p:spPr>
          <a:xfrm>
            <a:off x="7607808" y="1737360"/>
            <a:ext cx="3749040" cy="301752"/>
          </a:xfrm>
          <a:prstGeom prst="rect">
            <a:avLst/>
          </a:prstGeom>
          <a:noFill/>
          <a:ln/>
        </p:spPr>
        <p:txBody>
          <a:bodyPr wrap="square" lIns="0" tIns="0" rIns="0" bIns="0" rtlCol="0" anchor="ctr"/>
          <a:lstStyle/>
          <a:p>
            <a:pPr indent="0" marL="0">
              <a:buNone/>
            </a:pPr>
            <a:r>
              <a:rPr lang="en-US" sz="1400" b="1" dirty="0">
                <a:solidFill>
                  <a:srgbClr val="E11D2E"/>
                </a:solidFill>
                <a:latin typeface="맑은 고딕" pitchFamily="34" charset="0"/>
                <a:ea typeface="맑은 고딕" pitchFamily="34" charset="-122"/>
                <a:cs typeface="맑은 고딕" pitchFamily="34" charset="-120"/>
              </a:rPr>
              <a:t>영상 전송 없음</a:t>
            </a:r>
            <a:endParaRPr lang="en-US" sz="1400" dirty="0"/>
          </a:p>
        </p:txBody>
      </p:sp>
      <p:sp>
        <p:nvSpPr>
          <p:cNvPr id="9" name="Text 6"/>
          <p:cNvSpPr txBox="1"/>
          <p:nvPr/>
        </p:nvSpPr>
        <p:spPr>
          <a:xfrm>
            <a:off x="7607808" y="2048256"/>
            <a:ext cx="3749040" cy="384048"/>
          </a:xfrm>
          <a:prstGeom prst="rect">
            <a:avLst/>
          </a:prstGeom>
          <a:noFill/>
          <a:ln/>
        </p:spPr>
        <p:txBody>
          <a:bodyPr wrap="square" lIns="0" tIns="0" rIns="0" bIns="0" rtlCol="0" anchor="ctr"/>
          <a:lstStyle/>
          <a:p>
            <a:pPr indent="0" marL="0">
              <a:lnSpc>
                <a:spcPts val="1600"/>
              </a:lnSpc>
              <a:buNone/>
            </a:pPr>
            <a:r>
              <a:rPr lang="en-US" sz="1100" dirty="0">
                <a:solidFill>
                  <a:srgbClr val="101420"/>
                </a:solidFill>
                <a:latin typeface="맑은 고딕" pitchFamily="34" charset="0"/>
                <a:ea typeface="맑은 고딕" pitchFamily="34" charset="-122"/>
                <a:cs typeface="맑은 고딕" pitchFamily="34" charset="-120"/>
              </a:rPr>
              <a:t>카메라·NVR 단에서 추론을 끝내고 결과 숫자만 전송</a:t>
            </a:r>
            <a:endParaRPr lang="en-US" sz="1100" dirty="0"/>
          </a:p>
        </p:txBody>
      </p:sp>
      <p:sp>
        <p:nvSpPr>
          <p:cNvPr id="10" name="Shape 7"/>
          <p:cNvSpPr/>
          <p:nvPr/>
        </p:nvSpPr>
        <p:spPr>
          <a:xfrm>
            <a:off x="7315200" y="2743200"/>
            <a:ext cx="4325112" cy="804672"/>
          </a:xfrm>
          <a:prstGeom prst="roundRect">
            <a:avLst>
              <a:gd name="adj" fmla="val 5682"/>
            </a:avLst>
          </a:prstGeom>
          <a:solidFill>
            <a:srgbClr val="F6F7F9"/>
          </a:solidFill>
          <a:ln w="12700">
            <a:solidFill>
              <a:srgbClr val="E3E6EB"/>
            </a:solidFill>
            <a:prstDash val="solid"/>
          </a:ln>
        </p:spPr>
      </p:sp>
      <p:sp>
        <p:nvSpPr>
          <p:cNvPr id="11" name="Text 8"/>
          <p:cNvSpPr txBox="1"/>
          <p:nvPr/>
        </p:nvSpPr>
        <p:spPr>
          <a:xfrm>
            <a:off x="7607808" y="2816352"/>
            <a:ext cx="3749040" cy="301752"/>
          </a:xfrm>
          <a:prstGeom prst="rect">
            <a:avLst/>
          </a:prstGeom>
          <a:noFill/>
          <a:ln/>
        </p:spPr>
        <p:txBody>
          <a:bodyPr wrap="square" lIns="0" tIns="0" rIns="0" bIns="0" rtlCol="0" anchor="ctr"/>
          <a:lstStyle/>
          <a:p>
            <a:pPr indent="0" marL="0">
              <a:buNone/>
            </a:pPr>
            <a:r>
              <a:rPr lang="en-US" sz="1400" b="1" dirty="0">
                <a:solidFill>
                  <a:srgbClr val="E11D2E"/>
                </a:solidFill>
                <a:latin typeface="맑은 고딕" pitchFamily="34" charset="0"/>
                <a:ea typeface="맑은 고딕" pitchFamily="34" charset="-122"/>
                <a:cs typeface="맑은 고딕" pitchFamily="34" charset="-120"/>
              </a:rPr>
              <a:t>클라우드 비용 1/10</a:t>
            </a:r>
            <a:endParaRPr lang="en-US" sz="1400" dirty="0"/>
          </a:p>
        </p:txBody>
      </p:sp>
      <p:sp>
        <p:nvSpPr>
          <p:cNvPr id="12" name="Text 9"/>
          <p:cNvSpPr txBox="1"/>
          <p:nvPr/>
        </p:nvSpPr>
        <p:spPr>
          <a:xfrm>
            <a:off x="7607808" y="3127248"/>
            <a:ext cx="3749040" cy="384048"/>
          </a:xfrm>
          <a:prstGeom prst="rect">
            <a:avLst/>
          </a:prstGeom>
          <a:noFill/>
          <a:ln/>
        </p:spPr>
        <p:txBody>
          <a:bodyPr wrap="square" lIns="0" tIns="0" rIns="0" bIns="0" rtlCol="0" anchor="ctr"/>
          <a:lstStyle/>
          <a:p>
            <a:pPr indent="0" marL="0">
              <a:lnSpc>
                <a:spcPts val="1600"/>
              </a:lnSpc>
              <a:buNone/>
            </a:pPr>
            <a:r>
              <a:rPr lang="en-US" sz="1100" dirty="0">
                <a:solidFill>
                  <a:srgbClr val="101420"/>
                </a:solidFill>
                <a:latin typeface="맑은 고딕" pitchFamily="34" charset="0"/>
                <a:ea typeface="맑은 고딕" pitchFamily="34" charset="-122"/>
                <a:cs typeface="맑은 고딕" pitchFamily="34" charset="-120"/>
              </a:rPr>
              <a:t>매장이 10배 늘어도 비용은 10배 늘지 않습니다</a:t>
            </a:r>
            <a:endParaRPr lang="en-US" sz="1100" dirty="0"/>
          </a:p>
        </p:txBody>
      </p:sp>
      <p:sp>
        <p:nvSpPr>
          <p:cNvPr id="13" name="Shape 10"/>
          <p:cNvSpPr/>
          <p:nvPr/>
        </p:nvSpPr>
        <p:spPr>
          <a:xfrm>
            <a:off x="7315200" y="3822192"/>
            <a:ext cx="4325112" cy="804672"/>
          </a:xfrm>
          <a:prstGeom prst="roundRect">
            <a:avLst>
              <a:gd name="adj" fmla="val 5682"/>
            </a:avLst>
          </a:prstGeom>
          <a:solidFill>
            <a:srgbClr val="F6F7F9"/>
          </a:solidFill>
          <a:ln w="12700">
            <a:solidFill>
              <a:srgbClr val="E3E6EB"/>
            </a:solidFill>
            <a:prstDash val="solid"/>
          </a:ln>
        </p:spPr>
      </p:sp>
      <p:sp>
        <p:nvSpPr>
          <p:cNvPr id="14" name="Text 11"/>
          <p:cNvSpPr txBox="1"/>
          <p:nvPr/>
        </p:nvSpPr>
        <p:spPr>
          <a:xfrm>
            <a:off x="7607808" y="3895344"/>
            <a:ext cx="3749040" cy="301752"/>
          </a:xfrm>
          <a:prstGeom prst="rect">
            <a:avLst/>
          </a:prstGeom>
          <a:noFill/>
          <a:ln/>
        </p:spPr>
        <p:txBody>
          <a:bodyPr wrap="square" lIns="0" tIns="0" rIns="0" bIns="0" rtlCol="0" anchor="ctr"/>
          <a:lstStyle/>
          <a:p>
            <a:pPr indent="0" marL="0">
              <a:buNone/>
            </a:pPr>
            <a:r>
              <a:rPr lang="en-US" sz="1400" b="1" dirty="0">
                <a:solidFill>
                  <a:srgbClr val="E11D2E"/>
                </a:solidFill>
                <a:latin typeface="맑은 고딕" pitchFamily="34" charset="0"/>
                <a:ea typeface="맑은 고딕" pitchFamily="34" charset="-122"/>
                <a:cs typeface="맑은 고딕" pitchFamily="34" charset="-120"/>
              </a:rPr>
              <a:t>개인정보 문제 동시 해결</a:t>
            </a:r>
            <a:endParaRPr lang="en-US" sz="1400" dirty="0"/>
          </a:p>
        </p:txBody>
      </p:sp>
      <p:sp>
        <p:nvSpPr>
          <p:cNvPr id="15" name="Text 12"/>
          <p:cNvSpPr txBox="1"/>
          <p:nvPr/>
        </p:nvSpPr>
        <p:spPr>
          <a:xfrm>
            <a:off x="7607808" y="4206240"/>
            <a:ext cx="3749040" cy="384048"/>
          </a:xfrm>
          <a:prstGeom prst="rect">
            <a:avLst/>
          </a:prstGeom>
          <a:noFill/>
          <a:ln/>
        </p:spPr>
        <p:txBody>
          <a:bodyPr wrap="square" lIns="0" tIns="0" rIns="0" bIns="0" rtlCol="0" anchor="ctr"/>
          <a:lstStyle/>
          <a:p>
            <a:pPr indent="0" marL="0">
              <a:lnSpc>
                <a:spcPts val="1600"/>
              </a:lnSpc>
              <a:buNone/>
            </a:pPr>
            <a:r>
              <a:rPr lang="en-US" sz="1100" dirty="0">
                <a:solidFill>
                  <a:srgbClr val="101420"/>
                </a:solidFill>
                <a:latin typeface="맑은 고딕" pitchFamily="34" charset="0"/>
                <a:ea typeface="맑은 고딕" pitchFamily="34" charset="-122"/>
                <a:cs typeface="맑은 고딕" pitchFamily="34" charset="-120"/>
              </a:rPr>
              <a:t>원본이 밖으로 나가지 않으므로 Layer 1이 성립</a:t>
            </a:r>
            <a:endParaRPr lang="en-US" sz="1100" dirty="0"/>
          </a:p>
        </p:txBody>
      </p:sp>
      <p:sp>
        <p:nvSpPr>
          <p:cNvPr id="16" name="Shape 13"/>
          <p:cNvSpPr/>
          <p:nvPr/>
        </p:nvSpPr>
        <p:spPr>
          <a:xfrm>
            <a:off x="7315200" y="4901184"/>
            <a:ext cx="4325112" cy="804672"/>
          </a:xfrm>
          <a:prstGeom prst="roundRect">
            <a:avLst>
              <a:gd name="adj" fmla="val 5682"/>
            </a:avLst>
          </a:prstGeom>
          <a:solidFill>
            <a:srgbClr val="F6F7F9"/>
          </a:solidFill>
          <a:ln w="12700">
            <a:solidFill>
              <a:srgbClr val="E3E6EB"/>
            </a:solidFill>
            <a:prstDash val="solid"/>
          </a:ln>
        </p:spPr>
      </p:sp>
      <p:sp>
        <p:nvSpPr>
          <p:cNvPr id="17" name="Text 14"/>
          <p:cNvSpPr txBox="1"/>
          <p:nvPr/>
        </p:nvSpPr>
        <p:spPr>
          <a:xfrm>
            <a:off x="7607808" y="4974336"/>
            <a:ext cx="3749040" cy="301752"/>
          </a:xfrm>
          <a:prstGeom prst="rect">
            <a:avLst/>
          </a:prstGeom>
          <a:noFill/>
          <a:ln/>
        </p:spPr>
        <p:txBody>
          <a:bodyPr wrap="square" lIns="0" tIns="0" rIns="0" bIns="0" rtlCol="0" anchor="ctr"/>
          <a:lstStyle/>
          <a:p>
            <a:pPr indent="0" marL="0">
              <a:buNone/>
            </a:pPr>
            <a:r>
              <a:rPr lang="en-US" sz="1400" b="1" dirty="0">
                <a:solidFill>
                  <a:srgbClr val="E11D2E"/>
                </a:solidFill>
                <a:latin typeface="맑은 고딕" pitchFamily="34" charset="0"/>
                <a:ea typeface="맑은 고딕" pitchFamily="34" charset="-122"/>
                <a:cs typeface="맑은 고딕" pitchFamily="34" charset="-120"/>
              </a:rPr>
              <a:t>리포트 자동화</a:t>
            </a:r>
            <a:endParaRPr lang="en-US" sz="1400" dirty="0"/>
          </a:p>
        </p:txBody>
      </p:sp>
      <p:sp>
        <p:nvSpPr>
          <p:cNvPr id="18" name="Text 15"/>
          <p:cNvSpPr txBox="1"/>
          <p:nvPr/>
        </p:nvSpPr>
        <p:spPr>
          <a:xfrm>
            <a:off x="7607808" y="5285232"/>
            <a:ext cx="3749040" cy="384048"/>
          </a:xfrm>
          <a:prstGeom prst="rect">
            <a:avLst/>
          </a:prstGeom>
          <a:noFill/>
          <a:ln/>
        </p:spPr>
        <p:txBody>
          <a:bodyPr wrap="square" lIns="0" tIns="0" rIns="0" bIns="0" rtlCol="0" anchor="ctr"/>
          <a:lstStyle/>
          <a:p>
            <a:pPr indent="0" marL="0">
              <a:lnSpc>
                <a:spcPts val="1600"/>
              </a:lnSpc>
              <a:buNone/>
            </a:pPr>
            <a:r>
              <a:rPr lang="en-US" sz="1100" dirty="0">
                <a:solidFill>
                  <a:srgbClr val="101420"/>
                </a:solidFill>
                <a:latin typeface="맑은 고딕" pitchFamily="34" charset="0"/>
                <a:ea typeface="맑은 고딕" pitchFamily="34" charset="-122"/>
                <a:cs typeface="맑은 고딕" pitchFamily="34" charset="-120"/>
              </a:rPr>
              <a:t>사람은 처방과 검증에만 투입</a:t>
            </a:r>
            <a:endParaRPr lang="en-US" sz="1100" dirty="0"/>
          </a:p>
        </p:txBody>
      </p:sp>
      <p:sp>
        <p:nvSpPr>
          <p:cNvPr id="19" name="Text 16"/>
          <p:cNvSpPr txBox="1"/>
          <p:nvPr/>
        </p:nvSpPr>
        <p:spPr>
          <a:xfrm>
            <a:off x="548640" y="5943600"/>
            <a:ext cx="11091672" cy="384048"/>
          </a:xfrm>
          <a:prstGeom prst="rect">
            <a:avLst/>
          </a:prstGeom>
          <a:noFill/>
          <a:ln/>
        </p:spPr>
        <p:txBody>
          <a:bodyPr wrap="square" lIns="0" tIns="0" rIns="0" bIns="0" rtlCol="0" anchor="ctr"/>
          <a:lstStyle/>
          <a:p>
            <a:pPr algn="ctr" indent="0" marL="0">
              <a:buNone/>
            </a:pPr>
            <a:r>
              <a:rPr lang="en-US" sz="1600" b="1" dirty="0">
                <a:solidFill>
                  <a:srgbClr val="101420"/>
                </a:solidFill>
                <a:latin typeface="맑은 고딕" pitchFamily="34" charset="0"/>
                <a:ea typeface="맑은 고딕" pitchFamily="34" charset="-122"/>
                <a:cs typeface="맑은 고딕" pitchFamily="34" charset="-120"/>
              </a:rPr>
              <a:t>그래서 매출총이익률 77%가 나옵니다.</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48640" y="457200"/>
            <a:ext cx="420624" cy="420624"/>
          </a:xfrm>
          <a:prstGeom prst="roundRect">
            <a:avLst>
              <a:gd name="adj" fmla="val 17391"/>
            </a:avLst>
          </a:prstGeom>
          <a:solidFill>
            <a:srgbClr val="E11D2E"/>
          </a:solidFill>
          <a:ln/>
        </p:spPr>
      </p:sp>
      <p:sp>
        <p:nvSpPr>
          <p:cNvPr id="3" name="Text 1"/>
          <p:cNvSpPr txBox="1"/>
          <p:nvPr/>
        </p:nvSpPr>
        <p:spPr>
          <a:xfrm>
            <a:off x="548640" y="4572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11</a:t>
            </a:r>
            <a:endParaRPr lang="en-US" sz="1500" dirty="0"/>
          </a:p>
        </p:txBody>
      </p:sp>
      <p:sp>
        <p:nvSpPr>
          <p:cNvPr id="4" name="Text 2"/>
          <p:cNvSpPr txBox="1"/>
          <p:nvPr/>
        </p:nvSpPr>
        <p:spPr>
          <a:xfrm>
            <a:off x="1115568" y="402336"/>
            <a:ext cx="10424160" cy="548640"/>
          </a:xfrm>
          <a:prstGeom prst="rect">
            <a:avLst/>
          </a:prstGeom>
          <a:noFill/>
          <a:ln/>
        </p:spPr>
        <p:txBody>
          <a:bodyPr wrap="square" lIns="0" tIns="0" rIns="0" bIns="0" rtlCol="0" anchor="ctr"/>
          <a:lstStyle/>
          <a:p>
            <a:pPr indent="0" marL="0">
              <a:buNone/>
            </a:pPr>
            <a:r>
              <a:rPr lang="en-US" sz="2900" b="1" dirty="0">
                <a:solidFill>
                  <a:srgbClr val="101420"/>
                </a:solidFill>
                <a:latin typeface="맑은 고딕" pitchFamily="34" charset="0"/>
                <a:ea typeface="맑은 고딕" pitchFamily="34" charset="-122"/>
                <a:cs typeface="맑은 고딕" pitchFamily="34" charset="-120"/>
              </a:rPr>
              <a:t>24개월에 손익분기, 3년차 영업이익률 35%</a:t>
            </a:r>
            <a:endParaRPr lang="en-US" sz="2900" dirty="0"/>
          </a:p>
        </p:txBody>
      </p:sp>
      <p:sp>
        <p:nvSpPr>
          <p:cNvPr id="5" name="Text 3"/>
          <p:cNvSpPr txBox="1"/>
          <p:nvPr/>
        </p:nvSpPr>
        <p:spPr>
          <a:xfrm>
            <a:off x="1115568" y="969264"/>
            <a:ext cx="10424160" cy="32918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 내부 검증 전 추정치 — 롯데 내부 데이터로 재검증 필요</a:t>
            </a:r>
            <a:endParaRPr lang="en-US" sz="1300" dirty="0"/>
          </a:p>
        </p:txBody>
      </p:sp>
      <p:graphicFrame>
        <p:nvGraphicFramePr>
          <p:cNvPr id="6" name="Chart 0" descr=""/>
          <p:cNvGraphicFramePr/>
          <p:nvPr/>
        </p:nvGraphicFramePr>
        <p:xfrm>
          <a:off x="548640" y="1600200"/>
          <a:ext cx="7315200" cy="37033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8092440" y="1691640"/>
            <a:ext cx="3547872" cy="804672"/>
          </a:xfrm>
          <a:prstGeom prst="roundRect">
            <a:avLst>
              <a:gd name="adj" fmla="val 5682"/>
            </a:avLst>
          </a:prstGeom>
          <a:solidFill>
            <a:srgbClr val="F6F7F9"/>
          </a:solidFill>
          <a:ln w="12700">
            <a:solidFill>
              <a:srgbClr val="E3E6EB"/>
            </a:solidFill>
            <a:prstDash val="solid"/>
          </a:ln>
        </p:spPr>
      </p:sp>
      <p:sp>
        <p:nvSpPr>
          <p:cNvPr id="8" name="Text 5"/>
          <p:cNvSpPr txBox="1"/>
          <p:nvPr/>
        </p:nvSpPr>
        <p:spPr>
          <a:xfrm>
            <a:off x="8366760" y="1691640"/>
            <a:ext cx="1828800" cy="804672"/>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누적 손익분기</a:t>
            </a:r>
            <a:endParaRPr lang="en-US" sz="1200" dirty="0"/>
          </a:p>
        </p:txBody>
      </p:sp>
      <p:sp>
        <p:nvSpPr>
          <p:cNvPr id="9" name="Text 6"/>
          <p:cNvSpPr txBox="1"/>
          <p:nvPr/>
        </p:nvSpPr>
        <p:spPr>
          <a:xfrm>
            <a:off x="10058400" y="1691640"/>
            <a:ext cx="1371600" cy="804672"/>
          </a:xfrm>
          <a:prstGeom prst="rect">
            <a:avLst/>
          </a:prstGeom>
          <a:noFill/>
          <a:ln/>
        </p:spPr>
        <p:txBody>
          <a:bodyPr wrap="square" lIns="0" tIns="0" rIns="0" bIns="0" rtlCol="0" anchor="ctr"/>
          <a:lstStyle/>
          <a:p>
            <a:pPr algn="r" indent="0" marL="0">
              <a:buNone/>
            </a:pPr>
            <a:r>
              <a:rPr lang="en-US" sz="1900" b="1" dirty="0">
                <a:solidFill>
                  <a:srgbClr val="E11D2E"/>
                </a:solidFill>
                <a:latin typeface="맑은 고딕" pitchFamily="34" charset="0"/>
                <a:ea typeface="맑은 고딕" pitchFamily="34" charset="-122"/>
                <a:cs typeface="맑은 고딕" pitchFamily="34" charset="-120"/>
              </a:rPr>
              <a:t>24개월</a:t>
            </a:r>
            <a:endParaRPr lang="en-US" sz="1900" dirty="0"/>
          </a:p>
        </p:txBody>
      </p:sp>
      <p:sp>
        <p:nvSpPr>
          <p:cNvPr id="10" name="Shape 7"/>
          <p:cNvSpPr/>
          <p:nvPr/>
        </p:nvSpPr>
        <p:spPr>
          <a:xfrm>
            <a:off x="8092440" y="2606040"/>
            <a:ext cx="3547872" cy="804672"/>
          </a:xfrm>
          <a:prstGeom prst="roundRect">
            <a:avLst>
              <a:gd name="adj" fmla="val 5682"/>
            </a:avLst>
          </a:prstGeom>
          <a:solidFill>
            <a:srgbClr val="F6F7F9"/>
          </a:solidFill>
          <a:ln w="12700">
            <a:solidFill>
              <a:srgbClr val="E3E6EB"/>
            </a:solidFill>
            <a:prstDash val="solid"/>
          </a:ln>
        </p:spPr>
      </p:sp>
      <p:sp>
        <p:nvSpPr>
          <p:cNvPr id="11" name="Text 8"/>
          <p:cNvSpPr txBox="1"/>
          <p:nvPr/>
        </p:nvSpPr>
        <p:spPr>
          <a:xfrm>
            <a:off x="8366760" y="2606040"/>
            <a:ext cx="1828800" cy="804672"/>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매출총이익률</a:t>
            </a:r>
            <a:endParaRPr lang="en-US" sz="1200" dirty="0"/>
          </a:p>
        </p:txBody>
      </p:sp>
      <p:sp>
        <p:nvSpPr>
          <p:cNvPr id="12" name="Text 9"/>
          <p:cNvSpPr txBox="1"/>
          <p:nvPr/>
        </p:nvSpPr>
        <p:spPr>
          <a:xfrm>
            <a:off x="10058400" y="2606040"/>
            <a:ext cx="1371600" cy="804672"/>
          </a:xfrm>
          <a:prstGeom prst="rect">
            <a:avLst/>
          </a:prstGeom>
          <a:noFill/>
          <a:ln/>
        </p:spPr>
        <p:txBody>
          <a:bodyPr wrap="square" lIns="0" tIns="0" rIns="0" bIns="0" rtlCol="0" anchor="ctr"/>
          <a:lstStyle/>
          <a:p>
            <a:pPr algn="r" indent="0" marL="0">
              <a:buNone/>
            </a:pPr>
            <a:r>
              <a:rPr lang="en-US" sz="1900" b="1" dirty="0">
                <a:solidFill>
                  <a:srgbClr val="E11D2E"/>
                </a:solidFill>
                <a:latin typeface="맑은 고딕" pitchFamily="34" charset="0"/>
                <a:ea typeface="맑은 고딕" pitchFamily="34" charset="-122"/>
                <a:cs typeface="맑은 고딕" pitchFamily="34" charset="-120"/>
              </a:rPr>
              <a:t>77%</a:t>
            </a:r>
            <a:endParaRPr lang="en-US" sz="1900" dirty="0"/>
          </a:p>
        </p:txBody>
      </p:sp>
      <p:sp>
        <p:nvSpPr>
          <p:cNvPr id="13" name="Shape 10"/>
          <p:cNvSpPr/>
          <p:nvPr/>
        </p:nvSpPr>
        <p:spPr>
          <a:xfrm>
            <a:off x="8092440" y="3520440"/>
            <a:ext cx="3547872" cy="804672"/>
          </a:xfrm>
          <a:prstGeom prst="roundRect">
            <a:avLst>
              <a:gd name="adj" fmla="val 5682"/>
            </a:avLst>
          </a:prstGeom>
          <a:solidFill>
            <a:srgbClr val="F6F7F9"/>
          </a:solidFill>
          <a:ln w="12700">
            <a:solidFill>
              <a:srgbClr val="E3E6EB"/>
            </a:solidFill>
            <a:prstDash val="solid"/>
          </a:ln>
        </p:spPr>
      </p:sp>
      <p:sp>
        <p:nvSpPr>
          <p:cNvPr id="14" name="Text 11"/>
          <p:cNvSpPr txBox="1"/>
          <p:nvPr/>
        </p:nvSpPr>
        <p:spPr>
          <a:xfrm>
            <a:off x="8366760" y="3520440"/>
            <a:ext cx="1828800" cy="804672"/>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3년 설비투자</a:t>
            </a:r>
            <a:endParaRPr lang="en-US" sz="1200" dirty="0"/>
          </a:p>
        </p:txBody>
      </p:sp>
      <p:sp>
        <p:nvSpPr>
          <p:cNvPr id="15" name="Text 12"/>
          <p:cNvSpPr txBox="1"/>
          <p:nvPr/>
        </p:nvSpPr>
        <p:spPr>
          <a:xfrm>
            <a:off x="10058400" y="3520440"/>
            <a:ext cx="1371600" cy="804672"/>
          </a:xfrm>
          <a:prstGeom prst="rect">
            <a:avLst/>
          </a:prstGeom>
          <a:noFill/>
          <a:ln/>
        </p:spPr>
        <p:txBody>
          <a:bodyPr wrap="square" lIns="0" tIns="0" rIns="0" bIns="0" rtlCol="0" anchor="ctr"/>
          <a:lstStyle/>
          <a:p>
            <a:pPr algn="r" indent="0" marL="0">
              <a:buNone/>
            </a:pPr>
            <a:r>
              <a:rPr lang="en-US" sz="1900" b="1" dirty="0">
                <a:solidFill>
                  <a:srgbClr val="E11D2E"/>
                </a:solidFill>
                <a:latin typeface="맑은 고딕" pitchFamily="34" charset="0"/>
                <a:ea typeface="맑은 고딕" pitchFamily="34" charset="-122"/>
                <a:cs typeface="맑은 고딕" pitchFamily="34" charset="-120"/>
              </a:rPr>
              <a:t>11억원</a:t>
            </a:r>
            <a:endParaRPr lang="en-US" sz="1900" dirty="0"/>
          </a:p>
        </p:txBody>
      </p:sp>
      <p:sp>
        <p:nvSpPr>
          <p:cNvPr id="16" name="Shape 13"/>
          <p:cNvSpPr/>
          <p:nvPr/>
        </p:nvSpPr>
        <p:spPr>
          <a:xfrm>
            <a:off x="8092440" y="4434840"/>
            <a:ext cx="3547872" cy="804672"/>
          </a:xfrm>
          <a:prstGeom prst="roundRect">
            <a:avLst>
              <a:gd name="adj" fmla="val 5682"/>
            </a:avLst>
          </a:prstGeom>
          <a:solidFill>
            <a:srgbClr val="F6F7F9"/>
          </a:solidFill>
          <a:ln w="12700">
            <a:solidFill>
              <a:srgbClr val="E3E6EB"/>
            </a:solidFill>
            <a:prstDash val="solid"/>
          </a:ln>
        </p:spPr>
      </p:sp>
      <p:sp>
        <p:nvSpPr>
          <p:cNvPr id="17" name="Text 14"/>
          <p:cNvSpPr txBox="1"/>
          <p:nvPr/>
        </p:nvSpPr>
        <p:spPr>
          <a:xfrm>
            <a:off x="8366760" y="4434840"/>
            <a:ext cx="1828800" cy="804672"/>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파일럿 시작 비용</a:t>
            </a:r>
            <a:endParaRPr lang="en-US" sz="1200" dirty="0"/>
          </a:p>
        </p:txBody>
      </p:sp>
      <p:sp>
        <p:nvSpPr>
          <p:cNvPr id="18" name="Text 15"/>
          <p:cNvSpPr txBox="1"/>
          <p:nvPr/>
        </p:nvSpPr>
        <p:spPr>
          <a:xfrm>
            <a:off x="10058400" y="4434840"/>
            <a:ext cx="1371600" cy="804672"/>
          </a:xfrm>
          <a:prstGeom prst="rect">
            <a:avLst/>
          </a:prstGeom>
          <a:noFill/>
          <a:ln/>
        </p:spPr>
        <p:txBody>
          <a:bodyPr wrap="square" lIns="0" tIns="0" rIns="0" bIns="0" rtlCol="0" anchor="ctr"/>
          <a:lstStyle/>
          <a:p>
            <a:pPr algn="r" indent="0" marL="0">
              <a:buNone/>
            </a:pPr>
            <a:r>
              <a:rPr lang="en-US" sz="1900" b="1" dirty="0">
                <a:solidFill>
                  <a:srgbClr val="E11D2E"/>
                </a:solidFill>
                <a:latin typeface="맑은 고딕" pitchFamily="34" charset="0"/>
                <a:ea typeface="맑은 고딕" pitchFamily="34" charset="-122"/>
                <a:cs typeface="맑은 고딕" pitchFamily="34" charset="-120"/>
              </a:rPr>
              <a:t>1.5억원</a:t>
            </a:r>
            <a:endParaRPr lang="en-US" sz="1900" dirty="0"/>
          </a:p>
        </p:txBody>
      </p:sp>
      <p:sp>
        <p:nvSpPr>
          <p:cNvPr id="19" name="Shape 16"/>
          <p:cNvSpPr/>
          <p:nvPr/>
        </p:nvSpPr>
        <p:spPr>
          <a:xfrm>
            <a:off x="8092440" y="5349240"/>
            <a:ext cx="3547872" cy="868680"/>
          </a:xfrm>
          <a:prstGeom prst="roundRect">
            <a:avLst>
              <a:gd name="adj" fmla="val 5263"/>
            </a:avLst>
          </a:prstGeom>
          <a:solidFill>
            <a:srgbClr val="101420"/>
          </a:solidFill>
          <a:ln/>
        </p:spPr>
      </p:sp>
      <p:sp>
        <p:nvSpPr>
          <p:cNvPr id="20" name="Text 17"/>
          <p:cNvSpPr txBox="1"/>
          <p:nvPr/>
        </p:nvSpPr>
        <p:spPr>
          <a:xfrm>
            <a:off x="8321040" y="5349240"/>
            <a:ext cx="3108960" cy="868680"/>
          </a:xfrm>
          <a:prstGeom prst="rect">
            <a:avLst/>
          </a:prstGeom>
          <a:noFill/>
          <a:ln/>
        </p:spPr>
        <p:txBody>
          <a:bodyPr wrap="square" lIns="0" tIns="0" rIns="0" bIns="0" rtlCol="0" anchor="ctr"/>
          <a:lstStyle/>
          <a:p>
            <a:pPr indent="0" marL="0">
              <a:lnSpc>
                <a:spcPts val="1700"/>
              </a:lnSpc>
              <a:buNone/>
            </a:pPr>
            <a:r>
              <a:rPr lang="en-US" sz="1100" b="1" dirty="0">
                <a:solidFill>
                  <a:srgbClr val="F2A33C"/>
                </a:solidFill>
                <a:latin typeface="맑은 고딕" pitchFamily="34" charset="0"/>
                <a:ea typeface="맑은 고딕" pitchFamily="34" charset="-122"/>
                <a:cs typeface="맑은 고딕" pitchFamily="34" charset="-120"/>
              </a:rPr>
              <a:t>침투율 저조 + 구독 저조 + 광고 미실행이</a:t>
            </a:r>
            <a:endParaRPr lang="en-US" sz="1100" dirty="0"/>
          </a:p>
          <a:p>
            <a:pPr indent="0" marL="0">
              <a:lnSpc>
                <a:spcPts val="1700"/>
              </a:lnSpc>
              <a:buNone/>
            </a:pPr>
            <a:r>
              <a:rPr lang="en-US" sz="1100" b="1" dirty="0">
                <a:solidFill>
                  <a:srgbClr val="F2A33C"/>
                </a:solidFill>
                <a:latin typeface="맑은 고딕" pitchFamily="34" charset="0"/>
                <a:ea typeface="맑은 고딕" pitchFamily="34" charset="-122"/>
                <a:cs typeface="맑은 고딕" pitchFamily="34" charset="-120"/>
              </a:rPr>
              <a:t>동시에 일어나도 Y3는 흑자 (+5.1억)</a:t>
            </a:r>
            <a:endParaRPr lang="en-US" sz="1100" dirty="0"/>
          </a:p>
        </p:txBody>
      </p:sp>
      <p:sp>
        <p:nvSpPr>
          <p:cNvPr id="21" name="Text 18"/>
          <p:cNvSpPr txBox="1"/>
          <p:nvPr/>
        </p:nvSpPr>
        <p:spPr>
          <a:xfrm>
            <a:off x="548640" y="5440680"/>
            <a:ext cx="7315200" cy="384048"/>
          </a:xfrm>
          <a:prstGeom prst="rect">
            <a:avLst/>
          </a:prstGeom>
          <a:noFill/>
          <a:ln/>
        </p:spPr>
        <p:txBody>
          <a:bodyPr wrap="square" lIns="0" tIns="0" rIns="0" bIns="0" rtlCol="0" anchor="ctr"/>
          <a:lstStyle/>
          <a:p>
            <a:pPr algn="ctr" indent="0" marL="0">
              <a:buNone/>
            </a:pPr>
            <a:r>
              <a:rPr lang="en-US" sz="1400" b="1" dirty="0">
                <a:solidFill>
                  <a:srgbClr val="101420"/>
                </a:solidFill>
                <a:latin typeface="맑은 고딕" pitchFamily="34" charset="0"/>
                <a:ea typeface="맑은 고딕" pitchFamily="34" charset="-122"/>
                <a:cs typeface="맑은 고딕" pitchFamily="34" charset="-120"/>
              </a:rPr>
              <a:t>파일럿 1.5억으로 시작해 24개월에 손익분기를 넘습니다.</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457200"/>
            <a:ext cx="420624" cy="420624"/>
          </a:xfrm>
          <a:prstGeom prst="roundRect">
            <a:avLst>
              <a:gd name="adj" fmla="val 17391"/>
            </a:avLst>
          </a:prstGeom>
          <a:solidFill>
            <a:srgbClr val="E11D2E"/>
          </a:solidFill>
          <a:ln/>
        </p:spPr>
      </p:sp>
      <p:sp>
        <p:nvSpPr>
          <p:cNvPr id="3" name="Text 1"/>
          <p:cNvSpPr txBox="1"/>
          <p:nvPr/>
        </p:nvSpPr>
        <p:spPr>
          <a:xfrm>
            <a:off x="548640" y="4572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12</a:t>
            </a:r>
            <a:endParaRPr lang="en-US" sz="1500" dirty="0"/>
          </a:p>
        </p:txBody>
      </p:sp>
      <p:sp>
        <p:nvSpPr>
          <p:cNvPr id="4" name="Text 2"/>
          <p:cNvSpPr txBox="1"/>
          <p:nvPr/>
        </p:nvSpPr>
        <p:spPr>
          <a:xfrm>
            <a:off x="1115568" y="402336"/>
            <a:ext cx="10424160" cy="548640"/>
          </a:xfrm>
          <a:prstGeom prst="rect">
            <a:avLst/>
          </a:prstGeom>
          <a:noFill/>
          <a:ln/>
        </p:spPr>
        <p:txBody>
          <a:bodyPr wrap="square" lIns="0" tIns="0" rIns="0" bIns="0" rtlCol="0" anchor="ctr"/>
          <a:lstStyle/>
          <a:p>
            <a:pPr indent="0" marL="0">
              <a:buNone/>
            </a:pPr>
            <a:r>
              <a:rPr lang="en-US" sz="2900" b="1" dirty="0">
                <a:solidFill>
                  <a:srgbClr val="101420"/>
                </a:solidFill>
                <a:latin typeface="맑은 고딕" pitchFamily="34" charset="0"/>
                <a:ea typeface="맑은 고딕" pitchFamily="34" charset="-122"/>
                <a:cs typeface="맑은 고딕" pitchFamily="34" charset="-120"/>
              </a:rPr>
              <a:t>밖이 아니라 안에서 시작합니다</a:t>
            </a:r>
            <a:endParaRPr lang="en-US" sz="2900" dirty="0"/>
          </a:p>
        </p:txBody>
      </p:sp>
      <p:sp>
        <p:nvSpPr>
          <p:cNvPr id="5" name="Text 3"/>
          <p:cNvSpPr txBox="1"/>
          <p:nvPr/>
        </p:nvSpPr>
        <p:spPr>
          <a:xfrm>
            <a:off x="1115568" y="969264"/>
            <a:ext cx="10424160" cy="32918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롯데가 먼저 쓰고, 데이터와 벤치마크를 확보한 다음 판매합니다</a:t>
            </a:r>
            <a:endParaRPr lang="en-US" sz="1300" dirty="0"/>
          </a:p>
        </p:txBody>
      </p:sp>
      <p:sp>
        <p:nvSpPr>
          <p:cNvPr id="6" name="Shape 4"/>
          <p:cNvSpPr/>
          <p:nvPr/>
        </p:nvSpPr>
        <p:spPr>
          <a:xfrm>
            <a:off x="548640" y="1627632"/>
            <a:ext cx="2615184" cy="2286000"/>
          </a:xfrm>
          <a:prstGeom prst="roundRect">
            <a:avLst>
              <a:gd name="adj" fmla="val 2400"/>
            </a:avLst>
          </a:prstGeom>
          <a:solidFill>
            <a:srgbClr val="101420"/>
          </a:solidFill>
          <a:ln w="12700">
            <a:solidFill>
              <a:srgbClr val="101420"/>
            </a:solidFill>
            <a:prstDash val="solid"/>
          </a:ln>
          <a:effectLst>
            <a:outerShdw sx="100000" sy="100000" kx="0" ky="0" algn="bl" rotWithShape="0" blurRad="177800" dist="38100" dir="5400000">
              <a:srgbClr val="9AA3B0">
                <a:alpha val="20000"/>
              </a:srgbClr>
            </a:outerShdw>
          </a:effectLst>
        </p:spPr>
      </p:sp>
      <p:sp>
        <p:nvSpPr>
          <p:cNvPr id="7" name="Text 5"/>
          <p:cNvSpPr txBox="1"/>
          <p:nvPr/>
        </p:nvSpPr>
        <p:spPr>
          <a:xfrm>
            <a:off x="804672" y="1828800"/>
            <a:ext cx="2103120" cy="320040"/>
          </a:xfrm>
          <a:prstGeom prst="rect">
            <a:avLst/>
          </a:prstGeom>
          <a:noFill/>
          <a:ln/>
        </p:spPr>
        <p:txBody>
          <a:bodyPr wrap="square" lIns="0" tIns="0" rIns="0" bIns="0" rtlCol="0" anchor="ctr"/>
          <a:lstStyle/>
          <a:p>
            <a:pPr indent="0" marL="0">
              <a:buNone/>
            </a:pPr>
            <a:r>
              <a:rPr lang="en-US" sz="1500" b="1" dirty="0">
                <a:solidFill>
                  <a:srgbClr val="F2A33C"/>
                </a:solidFill>
                <a:latin typeface="맑은 고딕" pitchFamily="34" charset="0"/>
                <a:ea typeface="맑은 고딕" pitchFamily="34" charset="-122"/>
                <a:cs typeface="맑은 고딕" pitchFamily="34" charset="-120"/>
              </a:rPr>
              <a:t>Phase 0</a:t>
            </a:r>
            <a:endParaRPr lang="en-US" sz="1500" dirty="0"/>
          </a:p>
        </p:txBody>
      </p:sp>
      <p:sp>
        <p:nvSpPr>
          <p:cNvPr id="8" name="Text 6"/>
          <p:cNvSpPr txBox="1"/>
          <p:nvPr/>
        </p:nvSpPr>
        <p:spPr>
          <a:xfrm>
            <a:off x="804672" y="2176272"/>
            <a:ext cx="2103120" cy="274320"/>
          </a:xfrm>
          <a:prstGeom prst="rect">
            <a:avLst/>
          </a:prstGeom>
          <a:noFill/>
          <a:ln/>
        </p:spPr>
        <p:txBody>
          <a:bodyPr wrap="square" lIns="0" tIns="0" rIns="0" bIns="0" rtlCol="0" anchor="ctr"/>
          <a:lstStyle/>
          <a:p>
            <a:pPr indent="0" marL="0">
              <a:buNone/>
            </a:pPr>
            <a:r>
              <a:rPr lang="en-US" sz="1100" dirty="0">
                <a:solidFill>
                  <a:srgbClr val="A7AFBE"/>
                </a:solidFill>
                <a:latin typeface="맑은 고딕" pitchFamily="34" charset="0"/>
                <a:ea typeface="맑은 고딕" pitchFamily="34" charset="-122"/>
                <a:cs typeface="맑은 고딕" pitchFamily="34" charset="-120"/>
              </a:rPr>
              <a:t>0~3개월</a:t>
            </a:r>
            <a:endParaRPr lang="en-US" sz="1100" dirty="0"/>
          </a:p>
        </p:txBody>
      </p:sp>
      <p:sp>
        <p:nvSpPr>
          <p:cNvPr id="9" name="Text 7"/>
          <p:cNvSpPr txBox="1"/>
          <p:nvPr/>
        </p:nvSpPr>
        <p:spPr>
          <a:xfrm>
            <a:off x="804672" y="2542032"/>
            <a:ext cx="2103120" cy="1143000"/>
          </a:xfrm>
          <a:prstGeom prst="rect">
            <a:avLst/>
          </a:prstGeom>
          <a:noFill/>
          <a:ln/>
        </p:spPr>
        <p:txBody>
          <a:bodyPr wrap="square" lIns="0" tIns="0" rIns="0" bIns="0" rtlCol="0" anchor="ctr"/>
          <a:lstStyle/>
          <a:p>
            <a:pPr indent="0" marL="0">
              <a:lnSpc>
                <a:spcPts val="1900"/>
              </a:lnSpc>
              <a:buNone/>
            </a:pPr>
            <a:r>
              <a:rPr lang="en-US" sz="1200" dirty="0">
                <a:solidFill>
                  <a:srgbClr val="FFFFFF"/>
                </a:solidFill>
                <a:latin typeface="맑은 고딕" pitchFamily="34" charset="0"/>
                <a:ea typeface="맑은 고딕" pitchFamily="34" charset="-122"/>
                <a:cs typeface="맑은 고딕" pitchFamily="34" charset="-120"/>
              </a:rPr>
              <a:t>롯데백화점 내부 도입</a:t>
            </a:r>
            <a:endParaRPr lang="en-US" sz="1200" dirty="0"/>
          </a:p>
          <a:p>
            <a:pPr indent="0" marL="0">
              <a:lnSpc>
                <a:spcPts val="1900"/>
              </a:lnSpc>
              <a:buNone/>
            </a:pPr>
            <a:r>
              <a:rPr lang="en-US" sz="1200" dirty="0">
                <a:solidFill>
                  <a:srgbClr val="FFFFFF"/>
                </a:solidFill>
                <a:latin typeface="맑은 고딕" pitchFamily="34" charset="0"/>
                <a:ea typeface="맑은 고딕" pitchFamily="34" charset="-122"/>
                <a:cs typeface="맑은 고딕" pitchFamily="34" charset="-120"/>
              </a:rPr>
              <a:t>10개점 파일럿 · 매출 0원</a:t>
            </a:r>
            <a:endParaRPr lang="en-US" sz="1200" dirty="0"/>
          </a:p>
        </p:txBody>
      </p:sp>
      <p:sp>
        <p:nvSpPr>
          <p:cNvPr id="10" name="Shape 8"/>
          <p:cNvSpPr/>
          <p:nvPr/>
        </p:nvSpPr>
        <p:spPr>
          <a:xfrm>
            <a:off x="3346704" y="1627632"/>
            <a:ext cx="2615184" cy="2286000"/>
          </a:xfrm>
          <a:prstGeom prst="roundRect">
            <a:avLst>
              <a:gd name="adj" fmla="val 2400"/>
            </a:avLst>
          </a:prstGeom>
          <a:solidFill>
            <a:srgbClr val="F6F7F9"/>
          </a:solidFill>
          <a:ln w="12700">
            <a:solidFill>
              <a:srgbClr val="E3E6EB"/>
            </a:solidFill>
            <a:prstDash val="solid"/>
          </a:ln>
          <a:effectLst>
            <a:outerShdw sx="100000" sy="100000" kx="0" ky="0" algn="bl" rotWithShape="0" blurRad="177800" dist="38100" dir="5400000">
              <a:srgbClr val="9AA3B0">
                <a:alpha val="20000"/>
              </a:srgbClr>
            </a:outerShdw>
          </a:effectLst>
        </p:spPr>
      </p:sp>
      <p:sp>
        <p:nvSpPr>
          <p:cNvPr id="11" name="Text 9"/>
          <p:cNvSpPr txBox="1"/>
          <p:nvPr/>
        </p:nvSpPr>
        <p:spPr>
          <a:xfrm>
            <a:off x="3602736" y="1828800"/>
            <a:ext cx="2103120" cy="320040"/>
          </a:xfrm>
          <a:prstGeom prst="rect">
            <a:avLst/>
          </a:prstGeom>
          <a:noFill/>
          <a:ln/>
        </p:spPr>
        <p:txBody>
          <a:bodyPr wrap="square" lIns="0" tIns="0" rIns="0" bIns="0" rtlCol="0" anchor="ctr"/>
          <a:lstStyle/>
          <a:p>
            <a:pPr indent="0" marL="0">
              <a:buNone/>
            </a:pPr>
            <a:r>
              <a:rPr lang="en-US" sz="1500" b="1" dirty="0">
                <a:solidFill>
                  <a:srgbClr val="E11D2E"/>
                </a:solidFill>
                <a:latin typeface="맑은 고딕" pitchFamily="34" charset="0"/>
                <a:ea typeface="맑은 고딕" pitchFamily="34" charset="-122"/>
                <a:cs typeface="맑은 고딕" pitchFamily="34" charset="-120"/>
              </a:rPr>
              <a:t>Phase 1</a:t>
            </a:r>
            <a:endParaRPr lang="en-US" sz="1500" dirty="0"/>
          </a:p>
        </p:txBody>
      </p:sp>
      <p:sp>
        <p:nvSpPr>
          <p:cNvPr id="12" name="Text 10"/>
          <p:cNvSpPr txBox="1"/>
          <p:nvPr/>
        </p:nvSpPr>
        <p:spPr>
          <a:xfrm>
            <a:off x="3602736" y="2176272"/>
            <a:ext cx="2103120" cy="274320"/>
          </a:xfrm>
          <a:prstGeom prst="rect">
            <a:avLst/>
          </a:prstGeom>
          <a:noFill/>
          <a:ln/>
        </p:spPr>
        <p:txBody>
          <a:bodyPr wrap="square" lIns="0" tIns="0" rIns="0" bIns="0" rtlCol="0" anchor="ctr"/>
          <a:lstStyle/>
          <a:p>
            <a:pPr indent="0" marL="0">
              <a:buNone/>
            </a:pPr>
            <a:r>
              <a:rPr lang="en-US" sz="1100" dirty="0">
                <a:solidFill>
                  <a:srgbClr val="5D6675"/>
                </a:solidFill>
                <a:latin typeface="맑은 고딕" pitchFamily="34" charset="0"/>
                <a:ea typeface="맑은 고딕" pitchFamily="34" charset="-122"/>
                <a:cs typeface="맑은 고딕" pitchFamily="34" charset="-120"/>
              </a:rPr>
              <a:t>4~12개월</a:t>
            </a:r>
            <a:endParaRPr lang="en-US" sz="1100" dirty="0"/>
          </a:p>
        </p:txBody>
      </p:sp>
      <p:sp>
        <p:nvSpPr>
          <p:cNvPr id="13" name="Text 11"/>
          <p:cNvSpPr txBox="1"/>
          <p:nvPr/>
        </p:nvSpPr>
        <p:spPr>
          <a:xfrm>
            <a:off x="3602736" y="2542032"/>
            <a:ext cx="2103120" cy="1143000"/>
          </a:xfrm>
          <a:prstGeom prst="rect">
            <a:avLst/>
          </a:prstGeom>
          <a:noFill/>
          <a:ln/>
        </p:spPr>
        <p:txBody>
          <a:bodyPr wrap="square" lIns="0" tIns="0" rIns="0" bIns="0" rtlCol="0" anchor="ctr"/>
          <a:lstStyle/>
          <a:p>
            <a:pPr indent="0" marL="0">
              <a:lnSpc>
                <a:spcPts val="1900"/>
              </a:lnSpc>
              <a:buNone/>
            </a:pPr>
            <a:r>
              <a:rPr lang="en-US" sz="1200" dirty="0">
                <a:solidFill>
                  <a:srgbClr val="101420"/>
                </a:solidFill>
                <a:latin typeface="맑은 고딕" pitchFamily="34" charset="0"/>
                <a:ea typeface="맑은 고딕" pitchFamily="34" charset="-122"/>
                <a:cs typeface="맑은 고딕" pitchFamily="34" charset="-120"/>
              </a:rPr>
              <a:t>팝업 브랜드 유료 판매</a:t>
            </a:r>
            <a:endParaRPr lang="en-US" sz="1200" dirty="0"/>
          </a:p>
          <a:p>
            <a:pPr indent="0" marL="0">
              <a:lnSpc>
                <a:spcPts val="1900"/>
              </a:lnSpc>
              <a:buNone/>
            </a:pPr>
            <a:r>
              <a:rPr lang="en-US" sz="1200" dirty="0">
                <a:solidFill>
                  <a:srgbClr val="101420"/>
                </a:solidFill>
                <a:latin typeface="맑은 고딕" pitchFamily="34" charset="0"/>
                <a:ea typeface="맑은 고딕" pitchFamily="34" charset="-122"/>
                <a:cs typeface="맑은 고딕" pitchFamily="34" charset="-120"/>
              </a:rPr>
              <a:t>검증된 개선 케이스 3건 확보</a:t>
            </a:r>
            <a:endParaRPr lang="en-US" sz="1200" dirty="0"/>
          </a:p>
        </p:txBody>
      </p:sp>
      <p:sp>
        <p:nvSpPr>
          <p:cNvPr id="14" name="Shape 12"/>
          <p:cNvSpPr/>
          <p:nvPr/>
        </p:nvSpPr>
        <p:spPr>
          <a:xfrm>
            <a:off x="6144768" y="1627632"/>
            <a:ext cx="2615184" cy="2286000"/>
          </a:xfrm>
          <a:prstGeom prst="roundRect">
            <a:avLst>
              <a:gd name="adj" fmla="val 2400"/>
            </a:avLst>
          </a:prstGeom>
          <a:solidFill>
            <a:srgbClr val="F6F7F9"/>
          </a:solidFill>
          <a:ln w="12700">
            <a:solidFill>
              <a:srgbClr val="E3E6EB"/>
            </a:solidFill>
            <a:prstDash val="solid"/>
          </a:ln>
          <a:effectLst>
            <a:outerShdw sx="100000" sy="100000" kx="0" ky="0" algn="bl" rotWithShape="0" blurRad="177800" dist="38100" dir="5400000">
              <a:srgbClr val="9AA3B0">
                <a:alpha val="20000"/>
              </a:srgbClr>
            </a:outerShdw>
          </a:effectLst>
        </p:spPr>
      </p:sp>
      <p:sp>
        <p:nvSpPr>
          <p:cNvPr id="15" name="Text 13"/>
          <p:cNvSpPr txBox="1"/>
          <p:nvPr/>
        </p:nvSpPr>
        <p:spPr>
          <a:xfrm>
            <a:off x="6400800" y="1828800"/>
            <a:ext cx="2103120" cy="320040"/>
          </a:xfrm>
          <a:prstGeom prst="rect">
            <a:avLst/>
          </a:prstGeom>
          <a:noFill/>
          <a:ln/>
        </p:spPr>
        <p:txBody>
          <a:bodyPr wrap="square" lIns="0" tIns="0" rIns="0" bIns="0" rtlCol="0" anchor="ctr"/>
          <a:lstStyle/>
          <a:p>
            <a:pPr indent="0" marL="0">
              <a:buNone/>
            </a:pPr>
            <a:r>
              <a:rPr lang="en-US" sz="1500" b="1" dirty="0">
                <a:solidFill>
                  <a:srgbClr val="E11D2E"/>
                </a:solidFill>
                <a:latin typeface="맑은 고딕" pitchFamily="34" charset="0"/>
                <a:ea typeface="맑은 고딕" pitchFamily="34" charset="-122"/>
                <a:cs typeface="맑은 고딕" pitchFamily="34" charset="-120"/>
              </a:rPr>
              <a:t>Phase 2</a:t>
            </a:r>
            <a:endParaRPr lang="en-US" sz="1500" dirty="0"/>
          </a:p>
        </p:txBody>
      </p:sp>
      <p:sp>
        <p:nvSpPr>
          <p:cNvPr id="16" name="Text 14"/>
          <p:cNvSpPr txBox="1"/>
          <p:nvPr/>
        </p:nvSpPr>
        <p:spPr>
          <a:xfrm>
            <a:off x="6400800" y="2176272"/>
            <a:ext cx="2103120" cy="274320"/>
          </a:xfrm>
          <a:prstGeom prst="rect">
            <a:avLst/>
          </a:prstGeom>
          <a:noFill/>
          <a:ln/>
        </p:spPr>
        <p:txBody>
          <a:bodyPr wrap="square" lIns="0" tIns="0" rIns="0" bIns="0" rtlCol="0" anchor="ctr"/>
          <a:lstStyle/>
          <a:p>
            <a:pPr indent="0" marL="0">
              <a:buNone/>
            </a:pPr>
            <a:r>
              <a:rPr lang="en-US" sz="1100" dirty="0">
                <a:solidFill>
                  <a:srgbClr val="5D6675"/>
                </a:solidFill>
                <a:latin typeface="맑은 고딕" pitchFamily="34" charset="0"/>
                <a:ea typeface="맑은 고딕" pitchFamily="34" charset="-122"/>
                <a:cs typeface="맑은 고딕" pitchFamily="34" charset="-120"/>
              </a:rPr>
              <a:t>13~24개월</a:t>
            </a:r>
            <a:endParaRPr lang="en-US" sz="1100" dirty="0"/>
          </a:p>
        </p:txBody>
      </p:sp>
      <p:sp>
        <p:nvSpPr>
          <p:cNvPr id="17" name="Text 15"/>
          <p:cNvSpPr txBox="1"/>
          <p:nvPr/>
        </p:nvSpPr>
        <p:spPr>
          <a:xfrm>
            <a:off x="6400800" y="2542032"/>
            <a:ext cx="2103120" cy="1143000"/>
          </a:xfrm>
          <a:prstGeom prst="rect">
            <a:avLst/>
          </a:prstGeom>
          <a:noFill/>
          <a:ln/>
        </p:spPr>
        <p:txBody>
          <a:bodyPr wrap="square" lIns="0" tIns="0" rIns="0" bIns="0" rtlCol="0" anchor="ctr"/>
          <a:lstStyle/>
          <a:p>
            <a:pPr indent="0" marL="0">
              <a:lnSpc>
                <a:spcPts val="1900"/>
              </a:lnSpc>
              <a:buNone/>
            </a:pPr>
            <a:r>
              <a:rPr lang="en-US" sz="1200" dirty="0">
                <a:solidFill>
                  <a:srgbClr val="101420"/>
                </a:solidFill>
                <a:latin typeface="맑은 고딕" pitchFamily="34" charset="0"/>
                <a:ea typeface="맑은 고딕" pitchFamily="34" charset="-122"/>
                <a:cs typeface="맑은 고딕" pitchFamily="34" charset="-120"/>
              </a:rPr>
              <a:t>전점 확산 · 상설 구독</a:t>
            </a:r>
            <a:endParaRPr lang="en-US" sz="1200" dirty="0"/>
          </a:p>
          <a:p>
            <a:pPr indent="0" marL="0">
              <a:lnSpc>
                <a:spcPts val="1900"/>
              </a:lnSpc>
              <a:buNone/>
            </a:pPr>
            <a:r>
              <a:rPr lang="en-US" sz="1200" dirty="0">
                <a:solidFill>
                  <a:srgbClr val="101420"/>
                </a:solidFill>
                <a:latin typeface="맑은 고딕" pitchFamily="34" charset="0"/>
                <a:ea typeface="맑은 고딕" pitchFamily="34" charset="-122"/>
                <a:cs typeface="맑은 고딕" pitchFamily="34" charset="-120"/>
              </a:rPr>
              <a:t>L.POINT 리타게팅 출시</a:t>
            </a:r>
            <a:endParaRPr lang="en-US" sz="1200" dirty="0"/>
          </a:p>
        </p:txBody>
      </p:sp>
      <p:sp>
        <p:nvSpPr>
          <p:cNvPr id="18" name="Shape 16"/>
          <p:cNvSpPr/>
          <p:nvPr/>
        </p:nvSpPr>
        <p:spPr>
          <a:xfrm>
            <a:off x="8942832" y="1627632"/>
            <a:ext cx="2615184" cy="2286000"/>
          </a:xfrm>
          <a:prstGeom prst="roundRect">
            <a:avLst>
              <a:gd name="adj" fmla="val 2400"/>
            </a:avLst>
          </a:prstGeom>
          <a:solidFill>
            <a:srgbClr val="F6F7F9"/>
          </a:solidFill>
          <a:ln w="12700">
            <a:solidFill>
              <a:srgbClr val="E3E6EB"/>
            </a:solidFill>
            <a:prstDash val="solid"/>
          </a:ln>
          <a:effectLst>
            <a:outerShdw sx="100000" sy="100000" kx="0" ky="0" algn="bl" rotWithShape="0" blurRad="177800" dist="38100" dir="5400000">
              <a:srgbClr val="9AA3B0">
                <a:alpha val="20000"/>
              </a:srgbClr>
            </a:outerShdw>
          </a:effectLst>
        </p:spPr>
      </p:sp>
      <p:sp>
        <p:nvSpPr>
          <p:cNvPr id="19" name="Text 17"/>
          <p:cNvSpPr txBox="1"/>
          <p:nvPr/>
        </p:nvSpPr>
        <p:spPr>
          <a:xfrm>
            <a:off x="9198864" y="1828800"/>
            <a:ext cx="2103120" cy="320040"/>
          </a:xfrm>
          <a:prstGeom prst="rect">
            <a:avLst/>
          </a:prstGeom>
          <a:noFill/>
          <a:ln/>
        </p:spPr>
        <p:txBody>
          <a:bodyPr wrap="square" lIns="0" tIns="0" rIns="0" bIns="0" rtlCol="0" anchor="ctr"/>
          <a:lstStyle/>
          <a:p>
            <a:pPr indent="0" marL="0">
              <a:buNone/>
            </a:pPr>
            <a:r>
              <a:rPr lang="en-US" sz="1500" b="1" dirty="0">
                <a:solidFill>
                  <a:srgbClr val="E11D2E"/>
                </a:solidFill>
                <a:latin typeface="맑은 고딕" pitchFamily="34" charset="0"/>
                <a:ea typeface="맑은 고딕" pitchFamily="34" charset="-122"/>
                <a:cs typeface="맑은 고딕" pitchFamily="34" charset="-120"/>
              </a:rPr>
              <a:t>Phase 3</a:t>
            </a:r>
            <a:endParaRPr lang="en-US" sz="1500" dirty="0"/>
          </a:p>
        </p:txBody>
      </p:sp>
      <p:sp>
        <p:nvSpPr>
          <p:cNvPr id="20" name="Text 18"/>
          <p:cNvSpPr txBox="1"/>
          <p:nvPr/>
        </p:nvSpPr>
        <p:spPr>
          <a:xfrm>
            <a:off x="9198864" y="2176272"/>
            <a:ext cx="2103120" cy="274320"/>
          </a:xfrm>
          <a:prstGeom prst="rect">
            <a:avLst/>
          </a:prstGeom>
          <a:noFill/>
          <a:ln/>
        </p:spPr>
        <p:txBody>
          <a:bodyPr wrap="square" lIns="0" tIns="0" rIns="0" bIns="0" rtlCol="0" anchor="ctr"/>
          <a:lstStyle/>
          <a:p>
            <a:pPr indent="0" marL="0">
              <a:buNone/>
            </a:pPr>
            <a:r>
              <a:rPr lang="en-US" sz="1100" dirty="0">
                <a:solidFill>
                  <a:srgbClr val="5D6675"/>
                </a:solidFill>
                <a:latin typeface="맑은 고딕" pitchFamily="34" charset="0"/>
                <a:ea typeface="맑은 고딕" pitchFamily="34" charset="-122"/>
                <a:cs typeface="맑은 고딕" pitchFamily="34" charset="-120"/>
              </a:rPr>
              <a:t>25~36개월</a:t>
            </a:r>
            <a:endParaRPr lang="en-US" sz="1100" dirty="0"/>
          </a:p>
        </p:txBody>
      </p:sp>
      <p:sp>
        <p:nvSpPr>
          <p:cNvPr id="21" name="Text 19"/>
          <p:cNvSpPr txBox="1"/>
          <p:nvPr/>
        </p:nvSpPr>
        <p:spPr>
          <a:xfrm>
            <a:off x="9198864" y="2542032"/>
            <a:ext cx="2103120" cy="1143000"/>
          </a:xfrm>
          <a:prstGeom prst="rect">
            <a:avLst/>
          </a:prstGeom>
          <a:noFill/>
          <a:ln/>
        </p:spPr>
        <p:txBody>
          <a:bodyPr wrap="square" lIns="0" tIns="0" rIns="0" bIns="0" rtlCol="0" anchor="ctr"/>
          <a:lstStyle/>
          <a:p>
            <a:pPr indent="0" marL="0">
              <a:lnSpc>
                <a:spcPts val="1900"/>
              </a:lnSpc>
              <a:buNone/>
            </a:pPr>
            <a:r>
              <a:rPr lang="en-US" sz="1200" dirty="0">
                <a:solidFill>
                  <a:srgbClr val="101420"/>
                </a:solidFill>
                <a:latin typeface="맑은 고딕" pitchFamily="34" charset="0"/>
                <a:ea typeface="맑은 고딕" pitchFamily="34" charset="-122"/>
                <a:cs typeface="맑은 고딕" pitchFamily="34" charset="-120"/>
              </a:rPr>
              <a:t>계열사 · 외부 유통사</a:t>
            </a:r>
            <a:endParaRPr lang="en-US" sz="1200" dirty="0"/>
          </a:p>
          <a:p>
            <a:pPr indent="0" marL="0">
              <a:lnSpc>
                <a:spcPts val="1900"/>
              </a:lnSpc>
              <a:buNone/>
            </a:pPr>
            <a:r>
              <a:rPr lang="en-US" sz="1200" dirty="0">
                <a:solidFill>
                  <a:srgbClr val="101420"/>
                </a:solidFill>
                <a:latin typeface="맑은 고딕" pitchFamily="34" charset="0"/>
                <a:ea typeface="맑은 고딕" pitchFamily="34" charset="-122"/>
                <a:cs typeface="맑은 고딕" pitchFamily="34" charset="-120"/>
              </a:rPr>
              <a:t>베트남 · 인도네시아 롯데몰</a:t>
            </a:r>
            <a:endParaRPr lang="en-US" sz="1200" dirty="0"/>
          </a:p>
        </p:txBody>
      </p:sp>
      <p:sp>
        <p:nvSpPr>
          <p:cNvPr id="22" name="Text 20"/>
          <p:cNvSpPr txBox="1"/>
          <p:nvPr/>
        </p:nvSpPr>
        <p:spPr>
          <a:xfrm>
            <a:off x="548640" y="4160520"/>
            <a:ext cx="11091672" cy="347472"/>
          </a:xfrm>
          <a:prstGeom prst="rect">
            <a:avLst/>
          </a:prstGeom>
          <a:noFill/>
          <a:ln/>
        </p:spPr>
        <p:txBody>
          <a:bodyPr wrap="square" lIns="0" tIns="0" rIns="0" bIns="0" rtlCol="0" anchor="ctr"/>
          <a:lstStyle/>
          <a:p>
            <a:pPr indent="0" marL="0">
              <a:buNone/>
            </a:pPr>
            <a:r>
              <a:rPr lang="en-US" sz="1500" b="1" dirty="0">
                <a:solidFill>
                  <a:srgbClr val="101420"/>
                </a:solidFill>
                <a:latin typeface="맑은 고딕" pitchFamily="34" charset="0"/>
                <a:ea typeface="맑은 고딕" pitchFamily="34" charset="-122"/>
                <a:cs typeface="맑은 고딕" pitchFamily="34" charset="-120"/>
              </a:rPr>
              <a:t>3사 합작 — 세 조각이 다 모여야 성립하는 사업입니다</a:t>
            </a:r>
            <a:endParaRPr lang="en-US" sz="1500" dirty="0"/>
          </a:p>
        </p:txBody>
      </p:sp>
      <p:sp>
        <p:nvSpPr>
          <p:cNvPr id="23" name="Shape 21"/>
          <p:cNvSpPr/>
          <p:nvPr/>
        </p:nvSpPr>
        <p:spPr>
          <a:xfrm>
            <a:off x="548640" y="4617720"/>
            <a:ext cx="3529584" cy="1051560"/>
          </a:xfrm>
          <a:prstGeom prst="roundRect">
            <a:avLst>
              <a:gd name="adj" fmla="val 4348"/>
            </a:avLst>
          </a:prstGeom>
          <a:solidFill>
            <a:srgbClr val="F6F7F9"/>
          </a:solidFill>
          <a:ln w="12700">
            <a:solidFill>
              <a:srgbClr val="E3E6EB"/>
            </a:solidFill>
            <a:prstDash val="solid"/>
          </a:ln>
        </p:spPr>
      </p:sp>
      <p:sp>
        <p:nvSpPr>
          <p:cNvPr id="24" name="Text 22"/>
          <p:cNvSpPr txBox="1"/>
          <p:nvPr/>
        </p:nvSpPr>
        <p:spPr>
          <a:xfrm>
            <a:off x="822960" y="4736592"/>
            <a:ext cx="3017520" cy="320040"/>
          </a:xfrm>
          <a:prstGeom prst="rect">
            <a:avLst/>
          </a:prstGeom>
          <a:noFill/>
          <a:ln/>
        </p:spPr>
        <p:txBody>
          <a:bodyPr wrap="square" lIns="0" tIns="0" rIns="0" bIns="0" rtlCol="0" anchor="ctr"/>
          <a:lstStyle/>
          <a:p>
            <a:pPr indent="0" marL="0">
              <a:buNone/>
            </a:pPr>
            <a:r>
              <a:rPr lang="en-US" sz="1400" b="1" dirty="0">
                <a:solidFill>
                  <a:srgbClr val="101420"/>
                </a:solidFill>
                <a:latin typeface="맑은 고딕" pitchFamily="34" charset="0"/>
                <a:ea typeface="맑은 고딕" pitchFamily="34" charset="-122"/>
                <a:cs typeface="맑은 고딕" pitchFamily="34" charset="-120"/>
              </a:rPr>
              <a:t>롯데백화점</a:t>
            </a:r>
            <a:endParaRPr lang="en-US" sz="1400" dirty="0"/>
          </a:p>
        </p:txBody>
      </p:sp>
      <p:sp>
        <p:nvSpPr>
          <p:cNvPr id="25" name="Text 23"/>
          <p:cNvSpPr txBox="1"/>
          <p:nvPr/>
        </p:nvSpPr>
        <p:spPr>
          <a:xfrm>
            <a:off x="822960" y="5102352"/>
            <a:ext cx="3017520" cy="457200"/>
          </a:xfrm>
          <a:prstGeom prst="rect">
            <a:avLst/>
          </a:prstGeom>
          <a:noFill/>
          <a:ln/>
        </p:spPr>
        <p:txBody>
          <a:bodyPr wrap="square" lIns="0" tIns="0" rIns="0" bIns="0" rtlCol="0" anchor="ctr"/>
          <a:lstStyle/>
          <a:p>
            <a:pPr indent="0" marL="0">
              <a:lnSpc>
                <a:spcPts val="1600"/>
              </a:lnSpc>
              <a:buNone/>
            </a:pPr>
            <a:r>
              <a:rPr lang="en-US" sz="1100" dirty="0">
                <a:solidFill>
                  <a:srgbClr val="5D6675"/>
                </a:solidFill>
                <a:latin typeface="맑은 고딕" pitchFamily="34" charset="0"/>
                <a:ea typeface="맑은 고딕" pitchFamily="34" charset="-122"/>
                <a:cs typeface="맑은 고딕" pitchFamily="34" charset="-120"/>
              </a:rPr>
              <a:t>공간 · 트래픽 · POS · MD 지식</a:t>
            </a:r>
            <a:endParaRPr lang="en-US" sz="1100" dirty="0"/>
          </a:p>
        </p:txBody>
      </p:sp>
      <p:sp>
        <p:nvSpPr>
          <p:cNvPr id="26" name="Shape 24"/>
          <p:cNvSpPr/>
          <p:nvPr/>
        </p:nvSpPr>
        <p:spPr>
          <a:xfrm>
            <a:off x="4270248" y="4617720"/>
            <a:ext cx="3529584" cy="1051560"/>
          </a:xfrm>
          <a:prstGeom prst="roundRect">
            <a:avLst>
              <a:gd name="adj" fmla="val 4348"/>
            </a:avLst>
          </a:prstGeom>
          <a:solidFill>
            <a:srgbClr val="F6F7F9"/>
          </a:solidFill>
          <a:ln w="12700">
            <a:solidFill>
              <a:srgbClr val="E3E6EB"/>
            </a:solidFill>
            <a:prstDash val="solid"/>
          </a:ln>
        </p:spPr>
      </p:sp>
      <p:sp>
        <p:nvSpPr>
          <p:cNvPr id="27" name="Text 25"/>
          <p:cNvSpPr txBox="1"/>
          <p:nvPr/>
        </p:nvSpPr>
        <p:spPr>
          <a:xfrm>
            <a:off x="4544568" y="4736592"/>
            <a:ext cx="3017520" cy="320040"/>
          </a:xfrm>
          <a:prstGeom prst="rect">
            <a:avLst/>
          </a:prstGeom>
          <a:noFill/>
          <a:ln/>
        </p:spPr>
        <p:txBody>
          <a:bodyPr wrap="square" lIns="0" tIns="0" rIns="0" bIns="0" rtlCol="0" anchor="ctr"/>
          <a:lstStyle/>
          <a:p>
            <a:pPr indent="0" marL="0">
              <a:buNone/>
            </a:pPr>
            <a:r>
              <a:rPr lang="en-US" sz="1400" b="1" dirty="0">
                <a:solidFill>
                  <a:srgbClr val="101420"/>
                </a:solidFill>
                <a:latin typeface="맑은 고딕" pitchFamily="34" charset="0"/>
                <a:ea typeface="맑은 고딕" pitchFamily="34" charset="-122"/>
                <a:cs typeface="맑은 고딕" pitchFamily="34" charset="-120"/>
              </a:rPr>
              <a:t>롯데이노베이트</a:t>
            </a:r>
            <a:endParaRPr lang="en-US" sz="1400" dirty="0"/>
          </a:p>
        </p:txBody>
      </p:sp>
      <p:sp>
        <p:nvSpPr>
          <p:cNvPr id="28" name="Text 26"/>
          <p:cNvSpPr txBox="1"/>
          <p:nvPr/>
        </p:nvSpPr>
        <p:spPr>
          <a:xfrm>
            <a:off x="4544568" y="5102352"/>
            <a:ext cx="3017520" cy="457200"/>
          </a:xfrm>
          <a:prstGeom prst="rect">
            <a:avLst/>
          </a:prstGeom>
          <a:noFill/>
          <a:ln/>
        </p:spPr>
        <p:txBody>
          <a:bodyPr wrap="square" lIns="0" tIns="0" rIns="0" bIns="0" rtlCol="0" anchor="ctr"/>
          <a:lstStyle/>
          <a:p>
            <a:pPr indent="0" marL="0">
              <a:lnSpc>
                <a:spcPts val="1600"/>
              </a:lnSpc>
              <a:buNone/>
            </a:pPr>
            <a:r>
              <a:rPr lang="en-US" sz="1100" dirty="0">
                <a:solidFill>
                  <a:srgbClr val="5D6675"/>
                </a:solidFill>
                <a:latin typeface="맑은 고딕" pitchFamily="34" charset="0"/>
                <a:ea typeface="맑은 고딕" pitchFamily="34" charset="-122"/>
                <a:cs typeface="맑은 고딕" pitchFamily="34" charset="-120"/>
              </a:rPr>
              <a:t>비전 AI 엔진 · 엣지 인프라</a:t>
            </a:r>
            <a:endParaRPr lang="en-US" sz="1100" dirty="0"/>
          </a:p>
        </p:txBody>
      </p:sp>
      <p:sp>
        <p:nvSpPr>
          <p:cNvPr id="29" name="Shape 27"/>
          <p:cNvSpPr/>
          <p:nvPr/>
        </p:nvSpPr>
        <p:spPr>
          <a:xfrm>
            <a:off x="7991856" y="4617720"/>
            <a:ext cx="3529584" cy="1051560"/>
          </a:xfrm>
          <a:prstGeom prst="roundRect">
            <a:avLst>
              <a:gd name="adj" fmla="val 4348"/>
            </a:avLst>
          </a:prstGeom>
          <a:solidFill>
            <a:srgbClr val="F6F7F9"/>
          </a:solidFill>
          <a:ln w="12700">
            <a:solidFill>
              <a:srgbClr val="E3E6EB"/>
            </a:solidFill>
            <a:prstDash val="solid"/>
          </a:ln>
        </p:spPr>
      </p:sp>
      <p:sp>
        <p:nvSpPr>
          <p:cNvPr id="30" name="Text 28"/>
          <p:cNvSpPr txBox="1"/>
          <p:nvPr/>
        </p:nvSpPr>
        <p:spPr>
          <a:xfrm>
            <a:off x="8266176" y="4736592"/>
            <a:ext cx="3017520" cy="320040"/>
          </a:xfrm>
          <a:prstGeom prst="rect">
            <a:avLst/>
          </a:prstGeom>
          <a:noFill/>
          <a:ln/>
        </p:spPr>
        <p:txBody>
          <a:bodyPr wrap="square" lIns="0" tIns="0" rIns="0" bIns="0" rtlCol="0" anchor="ctr"/>
          <a:lstStyle/>
          <a:p>
            <a:pPr indent="0" marL="0">
              <a:buNone/>
            </a:pPr>
            <a:r>
              <a:rPr lang="en-US" sz="1400" b="1" dirty="0">
                <a:solidFill>
                  <a:srgbClr val="101420"/>
                </a:solidFill>
                <a:latin typeface="맑은 고딕" pitchFamily="34" charset="0"/>
                <a:ea typeface="맑은 고딕" pitchFamily="34" charset="-122"/>
                <a:cs typeface="맑은 고딕" pitchFamily="34" charset="-120"/>
              </a:rPr>
              <a:t>롯데멤버스</a:t>
            </a:r>
            <a:endParaRPr lang="en-US" sz="1400" dirty="0"/>
          </a:p>
        </p:txBody>
      </p:sp>
      <p:sp>
        <p:nvSpPr>
          <p:cNvPr id="31" name="Text 29"/>
          <p:cNvSpPr txBox="1"/>
          <p:nvPr/>
        </p:nvSpPr>
        <p:spPr>
          <a:xfrm>
            <a:off x="8266176" y="5102352"/>
            <a:ext cx="3017520" cy="457200"/>
          </a:xfrm>
          <a:prstGeom prst="rect">
            <a:avLst/>
          </a:prstGeom>
          <a:noFill/>
          <a:ln/>
        </p:spPr>
        <p:txBody>
          <a:bodyPr wrap="square" lIns="0" tIns="0" rIns="0" bIns="0" rtlCol="0" anchor="ctr"/>
          <a:lstStyle/>
          <a:p>
            <a:pPr indent="0" marL="0">
              <a:lnSpc>
                <a:spcPts val="1600"/>
              </a:lnSpc>
              <a:buNone/>
            </a:pPr>
            <a:r>
              <a:rPr lang="en-US" sz="1100" dirty="0">
                <a:solidFill>
                  <a:srgbClr val="5D6675"/>
                </a:solidFill>
                <a:latin typeface="맑은 고딕" pitchFamily="34" charset="0"/>
                <a:ea typeface="맑은 고딕" pitchFamily="34" charset="-122"/>
                <a:cs typeface="맑은 고딕" pitchFamily="34" charset="-120"/>
              </a:rPr>
              <a:t>L.POINT 소비 이력 · 도달 채널</a:t>
            </a:r>
            <a:endParaRPr lang="en-US" sz="1100" dirty="0"/>
          </a:p>
        </p:txBody>
      </p:sp>
      <p:sp>
        <p:nvSpPr>
          <p:cNvPr id="32" name="Text 30"/>
          <p:cNvSpPr txBox="1"/>
          <p:nvPr/>
        </p:nvSpPr>
        <p:spPr>
          <a:xfrm>
            <a:off x="548640" y="5897880"/>
            <a:ext cx="11091672" cy="365760"/>
          </a:xfrm>
          <a:prstGeom prst="rect">
            <a:avLst/>
          </a:prstGeom>
          <a:noFill/>
          <a:ln/>
        </p:spPr>
        <p:txBody>
          <a:bodyPr wrap="square" lIns="0" tIns="0" rIns="0" bIns="0" rtlCol="0" anchor="ctr"/>
          <a:lstStyle/>
          <a:p>
            <a:pPr algn="ctr" indent="0" marL="0">
              <a:buNone/>
            </a:pPr>
            <a:r>
              <a:rPr lang="en-US" sz="1500" b="1" dirty="0">
                <a:solidFill>
                  <a:srgbClr val="E11D2E"/>
                </a:solidFill>
                <a:latin typeface="맑은 고딕" pitchFamily="34" charset="0"/>
                <a:ea typeface="맑은 고딕" pitchFamily="34" charset="-122"/>
                <a:cs typeface="맑은 고딕" pitchFamily="34" charset="-120"/>
              </a:rPr>
              <a:t>그래서 지금까지 아무도 못 했습니다.</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548640" y="457200"/>
            <a:ext cx="420624" cy="420624"/>
          </a:xfrm>
          <a:prstGeom prst="roundRect">
            <a:avLst>
              <a:gd name="adj" fmla="val 17391"/>
            </a:avLst>
          </a:prstGeom>
          <a:solidFill>
            <a:srgbClr val="E11D2E"/>
          </a:solidFill>
          <a:ln/>
        </p:spPr>
      </p:sp>
      <p:sp>
        <p:nvSpPr>
          <p:cNvPr id="3" name="Text 1"/>
          <p:cNvSpPr txBox="1"/>
          <p:nvPr/>
        </p:nvSpPr>
        <p:spPr>
          <a:xfrm>
            <a:off x="548640" y="4572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13</a:t>
            </a:r>
            <a:endParaRPr lang="en-US" sz="1500" dirty="0"/>
          </a:p>
        </p:txBody>
      </p:sp>
      <p:sp>
        <p:nvSpPr>
          <p:cNvPr id="4" name="Text 2"/>
          <p:cNvSpPr txBox="1"/>
          <p:nvPr/>
        </p:nvSpPr>
        <p:spPr>
          <a:xfrm>
            <a:off x="1115568" y="402336"/>
            <a:ext cx="10424160" cy="548640"/>
          </a:xfrm>
          <a:prstGeom prst="rect">
            <a:avLst/>
          </a:prstGeom>
          <a:noFill/>
          <a:ln/>
        </p:spPr>
        <p:txBody>
          <a:bodyPr wrap="square" lIns="0" tIns="0" rIns="0" bIns="0" rtlCol="0" anchor="ctr"/>
          <a:lstStyle/>
          <a:p>
            <a:pPr indent="0" marL="0">
              <a:buNone/>
            </a:pPr>
            <a:r>
              <a:rPr lang="en-US" sz="2900" b="1" dirty="0">
                <a:solidFill>
                  <a:srgbClr val="101420"/>
                </a:solidFill>
                <a:latin typeface="맑은 고딕" pitchFamily="34" charset="0"/>
                <a:ea typeface="맑은 고딕" pitchFamily="34" charset="-122"/>
                <a:cs typeface="맑은 고딕" pitchFamily="34" charset="-120"/>
              </a:rPr>
              <a:t>리스크와 대응</a:t>
            </a:r>
            <a:endParaRPr lang="en-US" sz="2900" dirty="0"/>
          </a:p>
        </p:txBody>
      </p:sp>
      <p:sp>
        <p:nvSpPr>
          <p:cNvPr id="5" name="Text 3"/>
          <p:cNvSpPr txBox="1"/>
          <p:nvPr/>
        </p:nvSpPr>
        <p:spPr>
          <a:xfrm>
            <a:off x="1115568" y="969264"/>
            <a:ext cx="10424160" cy="32918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백업 슬라이드 — Q&amp;A 대응용</a:t>
            </a:r>
            <a:endParaRPr lang="en-US" sz="1300" dirty="0"/>
          </a:p>
        </p:txBody>
      </p:sp>
      <p:sp>
        <p:nvSpPr>
          <p:cNvPr id="6" name="Shape 4"/>
          <p:cNvSpPr/>
          <p:nvPr/>
        </p:nvSpPr>
        <p:spPr>
          <a:xfrm>
            <a:off x="548640" y="1591056"/>
            <a:ext cx="11091672" cy="658368"/>
          </a:xfrm>
          <a:prstGeom prst="roundRect">
            <a:avLst>
              <a:gd name="adj" fmla="val 6944"/>
            </a:avLst>
          </a:prstGeom>
          <a:solidFill>
            <a:srgbClr val="FFFFFF"/>
          </a:solidFill>
          <a:ln w="12700">
            <a:solidFill>
              <a:srgbClr val="E3E6EB"/>
            </a:solidFill>
            <a:prstDash val="solid"/>
          </a:ln>
        </p:spPr>
      </p:sp>
      <p:sp>
        <p:nvSpPr>
          <p:cNvPr id="7" name="Text 5"/>
          <p:cNvSpPr txBox="1"/>
          <p:nvPr/>
        </p:nvSpPr>
        <p:spPr>
          <a:xfrm>
            <a:off x="841248" y="1591056"/>
            <a:ext cx="2788920" cy="658368"/>
          </a:xfrm>
          <a:prstGeom prst="rect">
            <a:avLst/>
          </a:prstGeom>
          <a:noFill/>
          <a:ln/>
        </p:spPr>
        <p:txBody>
          <a:bodyPr wrap="square" lIns="0" tIns="0" rIns="0" bIns="0" rtlCol="0" anchor="ctr"/>
          <a:lstStyle/>
          <a:p>
            <a:pPr indent="0" marL="0">
              <a:buNone/>
            </a:pPr>
            <a:r>
              <a:rPr lang="en-US" sz="1400" b="1" dirty="0">
                <a:solidFill>
                  <a:srgbClr val="E11D2E"/>
                </a:solidFill>
                <a:latin typeface="맑은 고딕" pitchFamily="34" charset="0"/>
                <a:ea typeface="맑은 고딕" pitchFamily="34" charset="-122"/>
                <a:cs typeface="맑은 고딕" pitchFamily="34" charset="-120"/>
              </a:rPr>
              <a:t>개인정보 규제</a:t>
            </a:r>
            <a:endParaRPr lang="en-US" sz="1400" dirty="0"/>
          </a:p>
        </p:txBody>
      </p:sp>
      <p:sp>
        <p:nvSpPr>
          <p:cNvPr id="8" name="Text 6"/>
          <p:cNvSpPr txBox="1"/>
          <p:nvPr/>
        </p:nvSpPr>
        <p:spPr>
          <a:xfrm>
            <a:off x="3794760" y="1591056"/>
            <a:ext cx="7589520" cy="658368"/>
          </a:xfrm>
          <a:prstGeom prst="rect">
            <a:avLst/>
          </a:prstGeom>
          <a:noFill/>
          <a:ln/>
        </p:spPr>
        <p:txBody>
          <a:bodyPr wrap="square" lIns="0" tIns="0" rIns="0" bIns="0" rtlCol="0" anchor="ctr"/>
          <a:lstStyle/>
          <a:p>
            <a:pPr indent="0" marL="0">
              <a:buNone/>
            </a:pPr>
            <a:r>
              <a:rPr lang="en-US" sz="1200" dirty="0">
                <a:solidFill>
                  <a:srgbClr val="101420"/>
                </a:solidFill>
                <a:latin typeface="맑은 고딕" pitchFamily="34" charset="0"/>
                <a:ea typeface="맑은 고딕" pitchFamily="34" charset="-122"/>
                <a:cs typeface="맑은 고딕" pitchFamily="34" charset="-120"/>
              </a:rPr>
              <a:t>엣지 추론 · 원본 미저장 · 동의 기반 2계층 설계. 착수 전 법무·DPO 검토 및 영향평가</a:t>
            </a:r>
            <a:endParaRPr lang="en-US" sz="1200" dirty="0"/>
          </a:p>
        </p:txBody>
      </p:sp>
      <p:sp>
        <p:nvSpPr>
          <p:cNvPr id="9" name="Shape 7"/>
          <p:cNvSpPr/>
          <p:nvPr/>
        </p:nvSpPr>
        <p:spPr>
          <a:xfrm>
            <a:off x="548640" y="2340864"/>
            <a:ext cx="11091672" cy="658368"/>
          </a:xfrm>
          <a:prstGeom prst="roundRect">
            <a:avLst>
              <a:gd name="adj" fmla="val 6944"/>
            </a:avLst>
          </a:prstGeom>
          <a:solidFill>
            <a:srgbClr val="F6F7F9"/>
          </a:solidFill>
          <a:ln w="12700">
            <a:solidFill>
              <a:srgbClr val="E3E6EB"/>
            </a:solidFill>
            <a:prstDash val="solid"/>
          </a:ln>
        </p:spPr>
      </p:sp>
      <p:sp>
        <p:nvSpPr>
          <p:cNvPr id="10" name="Text 8"/>
          <p:cNvSpPr txBox="1"/>
          <p:nvPr/>
        </p:nvSpPr>
        <p:spPr>
          <a:xfrm>
            <a:off x="841248" y="2340864"/>
            <a:ext cx="2788920" cy="658368"/>
          </a:xfrm>
          <a:prstGeom prst="rect">
            <a:avLst/>
          </a:prstGeom>
          <a:noFill/>
          <a:ln/>
        </p:spPr>
        <p:txBody>
          <a:bodyPr wrap="square" lIns="0" tIns="0" rIns="0" bIns="0" rtlCol="0" anchor="ctr"/>
          <a:lstStyle/>
          <a:p>
            <a:pPr indent="0" marL="0">
              <a:buNone/>
            </a:pPr>
            <a:r>
              <a:rPr lang="en-US" sz="1400" b="1" dirty="0">
                <a:solidFill>
                  <a:srgbClr val="E11D2E"/>
                </a:solidFill>
                <a:latin typeface="맑은 고딕" pitchFamily="34" charset="0"/>
                <a:ea typeface="맑은 고딕" pitchFamily="34" charset="-122"/>
                <a:cs typeface="맑은 고딕" pitchFamily="34" charset="-120"/>
              </a:rPr>
              <a:t>기존 CCTV 사양 부적합</a:t>
            </a:r>
            <a:endParaRPr lang="en-US" sz="1400" dirty="0"/>
          </a:p>
        </p:txBody>
      </p:sp>
      <p:sp>
        <p:nvSpPr>
          <p:cNvPr id="11" name="Text 9"/>
          <p:cNvSpPr txBox="1"/>
          <p:nvPr/>
        </p:nvSpPr>
        <p:spPr>
          <a:xfrm>
            <a:off x="3794760" y="2340864"/>
            <a:ext cx="7589520" cy="658368"/>
          </a:xfrm>
          <a:prstGeom prst="rect">
            <a:avLst/>
          </a:prstGeom>
          <a:noFill/>
          <a:ln/>
        </p:spPr>
        <p:txBody>
          <a:bodyPr wrap="square" lIns="0" tIns="0" rIns="0" bIns="0" rtlCol="0" anchor="ctr"/>
          <a:lstStyle/>
          <a:p>
            <a:pPr indent="0" marL="0">
              <a:buNone/>
            </a:pPr>
            <a:r>
              <a:rPr lang="en-US" sz="1200" dirty="0">
                <a:solidFill>
                  <a:srgbClr val="101420"/>
                </a:solidFill>
                <a:latin typeface="맑은 고딕" pitchFamily="34" charset="0"/>
                <a:ea typeface="맑은 고딕" pitchFamily="34" charset="-122"/>
                <a:cs typeface="맑은 고딕" pitchFamily="34" charset="-120"/>
              </a:rPr>
              <a:t>팝업존 한정 저가 보완 카메라(대당 약 25만원) 설치를 CAPEX에 반영</a:t>
            </a:r>
            <a:endParaRPr lang="en-US" sz="1200" dirty="0"/>
          </a:p>
        </p:txBody>
      </p:sp>
      <p:sp>
        <p:nvSpPr>
          <p:cNvPr id="12" name="Shape 10"/>
          <p:cNvSpPr/>
          <p:nvPr/>
        </p:nvSpPr>
        <p:spPr>
          <a:xfrm>
            <a:off x="548640" y="3090672"/>
            <a:ext cx="11091672" cy="658368"/>
          </a:xfrm>
          <a:prstGeom prst="roundRect">
            <a:avLst>
              <a:gd name="adj" fmla="val 6944"/>
            </a:avLst>
          </a:prstGeom>
          <a:solidFill>
            <a:srgbClr val="FFFFFF"/>
          </a:solidFill>
          <a:ln w="12700">
            <a:solidFill>
              <a:srgbClr val="E3E6EB"/>
            </a:solidFill>
            <a:prstDash val="solid"/>
          </a:ln>
        </p:spPr>
      </p:sp>
      <p:sp>
        <p:nvSpPr>
          <p:cNvPr id="13" name="Text 11"/>
          <p:cNvSpPr txBox="1"/>
          <p:nvPr/>
        </p:nvSpPr>
        <p:spPr>
          <a:xfrm>
            <a:off x="841248" y="3090672"/>
            <a:ext cx="2788920" cy="658368"/>
          </a:xfrm>
          <a:prstGeom prst="rect">
            <a:avLst/>
          </a:prstGeom>
          <a:noFill/>
          <a:ln/>
        </p:spPr>
        <p:txBody>
          <a:bodyPr wrap="square" lIns="0" tIns="0" rIns="0" bIns="0" rtlCol="0" anchor="ctr"/>
          <a:lstStyle/>
          <a:p>
            <a:pPr indent="0" marL="0">
              <a:buNone/>
            </a:pPr>
            <a:r>
              <a:rPr lang="en-US" sz="1400" b="1" dirty="0">
                <a:solidFill>
                  <a:srgbClr val="E11D2E"/>
                </a:solidFill>
                <a:latin typeface="맑은 고딕" pitchFamily="34" charset="0"/>
                <a:ea typeface="맑은 고딕" pitchFamily="34" charset="-122"/>
                <a:cs typeface="맑은 고딕" pitchFamily="34" charset="-120"/>
              </a:rPr>
              <a:t>브랜드 지불 의사 부족</a:t>
            </a:r>
            <a:endParaRPr lang="en-US" sz="1400" dirty="0"/>
          </a:p>
        </p:txBody>
      </p:sp>
      <p:sp>
        <p:nvSpPr>
          <p:cNvPr id="14" name="Text 12"/>
          <p:cNvSpPr txBox="1"/>
          <p:nvPr/>
        </p:nvSpPr>
        <p:spPr>
          <a:xfrm>
            <a:off x="3794760" y="3090672"/>
            <a:ext cx="7589520" cy="658368"/>
          </a:xfrm>
          <a:prstGeom prst="rect">
            <a:avLst/>
          </a:prstGeom>
          <a:noFill/>
          <a:ln/>
        </p:spPr>
        <p:txBody>
          <a:bodyPr wrap="square" lIns="0" tIns="0" rIns="0" bIns="0" rtlCol="0" anchor="ctr"/>
          <a:lstStyle/>
          <a:p>
            <a:pPr indent="0" marL="0">
              <a:buNone/>
            </a:pPr>
            <a:r>
              <a:rPr lang="en-US" sz="1200" dirty="0">
                <a:solidFill>
                  <a:srgbClr val="101420"/>
                </a:solidFill>
                <a:latin typeface="맑은 고딕" pitchFamily="34" charset="0"/>
                <a:ea typeface="맑은 고딕" pitchFamily="34" charset="-122"/>
                <a:cs typeface="맑은 고딕" pitchFamily="34" charset="-120"/>
              </a:rPr>
              <a:t>1년차 파일럿 무상 제공 → 가치 검증 후 과금. 지불 의사를 가정하지 않음</a:t>
            </a:r>
            <a:endParaRPr lang="en-US" sz="1200" dirty="0"/>
          </a:p>
        </p:txBody>
      </p:sp>
      <p:sp>
        <p:nvSpPr>
          <p:cNvPr id="15" name="Shape 13"/>
          <p:cNvSpPr/>
          <p:nvPr/>
        </p:nvSpPr>
        <p:spPr>
          <a:xfrm>
            <a:off x="548640" y="3840480"/>
            <a:ext cx="11091672" cy="658368"/>
          </a:xfrm>
          <a:prstGeom prst="roundRect">
            <a:avLst>
              <a:gd name="adj" fmla="val 6944"/>
            </a:avLst>
          </a:prstGeom>
          <a:solidFill>
            <a:srgbClr val="F6F7F9"/>
          </a:solidFill>
          <a:ln w="12700">
            <a:solidFill>
              <a:srgbClr val="E3E6EB"/>
            </a:solidFill>
            <a:prstDash val="solid"/>
          </a:ln>
        </p:spPr>
      </p:sp>
      <p:sp>
        <p:nvSpPr>
          <p:cNvPr id="16" name="Text 14"/>
          <p:cNvSpPr txBox="1"/>
          <p:nvPr/>
        </p:nvSpPr>
        <p:spPr>
          <a:xfrm>
            <a:off x="841248" y="3840480"/>
            <a:ext cx="2788920" cy="658368"/>
          </a:xfrm>
          <a:prstGeom prst="rect">
            <a:avLst/>
          </a:prstGeom>
          <a:noFill/>
          <a:ln/>
        </p:spPr>
        <p:txBody>
          <a:bodyPr wrap="square" lIns="0" tIns="0" rIns="0" bIns="0" rtlCol="0" anchor="ctr"/>
          <a:lstStyle/>
          <a:p>
            <a:pPr indent="0" marL="0">
              <a:buNone/>
            </a:pPr>
            <a:r>
              <a:rPr lang="en-US" sz="1400" b="1" dirty="0">
                <a:solidFill>
                  <a:srgbClr val="E11D2E"/>
                </a:solidFill>
                <a:latin typeface="맑은 고딕" pitchFamily="34" charset="0"/>
                <a:ea typeface="맑은 고딕" pitchFamily="34" charset="-122"/>
                <a:cs typeface="맑은 고딕" pitchFamily="34" charset="-120"/>
              </a:rPr>
              <a:t>인식 정확도 논란</a:t>
            </a:r>
            <a:endParaRPr lang="en-US" sz="1400" dirty="0"/>
          </a:p>
        </p:txBody>
      </p:sp>
      <p:sp>
        <p:nvSpPr>
          <p:cNvPr id="17" name="Text 15"/>
          <p:cNvSpPr txBox="1"/>
          <p:nvPr/>
        </p:nvSpPr>
        <p:spPr>
          <a:xfrm>
            <a:off x="3794760" y="3840480"/>
            <a:ext cx="7589520" cy="658368"/>
          </a:xfrm>
          <a:prstGeom prst="rect">
            <a:avLst/>
          </a:prstGeom>
          <a:noFill/>
          <a:ln/>
        </p:spPr>
        <p:txBody>
          <a:bodyPr wrap="square" lIns="0" tIns="0" rIns="0" bIns="0" rtlCol="0" anchor="ctr"/>
          <a:lstStyle/>
          <a:p>
            <a:pPr indent="0" marL="0">
              <a:buNone/>
            </a:pPr>
            <a:r>
              <a:rPr lang="en-US" sz="1200" dirty="0">
                <a:solidFill>
                  <a:srgbClr val="101420"/>
                </a:solidFill>
                <a:latin typeface="맑은 고딕" pitchFamily="34" charset="0"/>
                <a:ea typeface="맑은 고딕" pitchFamily="34" charset="-122"/>
                <a:cs typeface="맑은 고딕" pitchFamily="34" charset="-120"/>
              </a:rPr>
              <a:t>개인 정확도가 아닌 집계 정확도로 KPI 정의. 핵심 인사이트는 L.POINT·POS 실데이터 기반</a:t>
            </a:r>
            <a:endParaRPr lang="en-US" sz="1200" dirty="0"/>
          </a:p>
        </p:txBody>
      </p:sp>
      <p:sp>
        <p:nvSpPr>
          <p:cNvPr id="18" name="Shape 16"/>
          <p:cNvSpPr/>
          <p:nvPr/>
        </p:nvSpPr>
        <p:spPr>
          <a:xfrm>
            <a:off x="548640" y="4590288"/>
            <a:ext cx="11091672" cy="658368"/>
          </a:xfrm>
          <a:prstGeom prst="roundRect">
            <a:avLst>
              <a:gd name="adj" fmla="val 6944"/>
            </a:avLst>
          </a:prstGeom>
          <a:solidFill>
            <a:srgbClr val="FFFFFF"/>
          </a:solidFill>
          <a:ln w="12700">
            <a:solidFill>
              <a:srgbClr val="E3E6EB"/>
            </a:solidFill>
            <a:prstDash val="solid"/>
          </a:ln>
        </p:spPr>
      </p:sp>
      <p:sp>
        <p:nvSpPr>
          <p:cNvPr id="19" name="Text 17"/>
          <p:cNvSpPr txBox="1"/>
          <p:nvPr/>
        </p:nvSpPr>
        <p:spPr>
          <a:xfrm>
            <a:off x="841248" y="4590288"/>
            <a:ext cx="2788920" cy="658368"/>
          </a:xfrm>
          <a:prstGeom prst="rect">
            <a:avLst/>
          </a:prstGeom>
          <a:noFill/>
          <a:ln/>
        </p:spPr>
        <p:txBody>
          <a:bodyPr wrap="square" lIns="0" tIns="0" rIns="0" bIns="0" rtlCol="0" anchor="ctr"/>
          <a:lstStyle/>
          <a:p>
            <a:pPr indent="0" marL="0">
              <a:buNone/>
            </a:pPr>
            <a:r>
              <a:rPr lang="en-US" sz="1400" b="1" dirty="0">
                <a:solidFill>
                  <a:srgbClr val="E11D2E"/>
                </a:solidFill>
                <a:latin typeface="맑은 고딕" pitchFamily="34" charset="0"/>
                <a:ea typeface="맑은 고딕" pitchFamily="34" charset="-122"/>
                <a:cs typeface="맑은 고딕" pitchFamily="34" charset="-120"/>
              </a:rPr>
              <a:t>계열사 데이터 거버넌스</a:t>
            </a:r>
            <a:endParaRPr lang="en-US" sz="1400" dirty="0"/>
          </a:p>
        </p:txBody>
      </p:sp>
      <p:sp>
        <p:nvSpPr>
          <p:cNvPr id="20" name="Text 18"/>
          <p:cNvSpPr txBox="1"/>
          <p:nvPr/>
        </p:nvSpPr>
        <p:spPr>
          <a:xfrm>
            <a:off x="3794760" y="4590288"/>
            <a:ext cx="7589520" cy="658368"/>
          </a:xfrm>
          <a:prstGeom prst="rect">
            <a:avLst/>
          </a:prstGeom>
          <a:noFill/>
          <a:ln/>
        </p:spPr>
        <p:txBody>
          <a:bodyPr wrap="square" lIns="0" tIns="0" rIns="0" bIns="0" rtlCol="0" anchor="ctr"/>
          <a:lstStyle/>
          <a:p>
            <a:pPr indent="0" marL="0">
              <a:buNone/>
            </a:pPr>
            <a:r>
              <a:rPr lang="en-US" sz="1200" dirty="0">
                <a:solidFill>
                  <a:srgbClr val="101420"/>
                </a:solidFill>
                <a:latin typeface="맑은 고딕" pitchFamily="34" charset="0"/>
                <a:ea typeface="맑은 고딕" pitchFamily="34" charset="-122"/>
                <a:cs typeface="맑은 고딕" pitchFamily="34" charset="-120"/>
              </a:rPr>
              <a:t>3사 데이터 제공 협약·수익 배분 사전 합의 (마일스톤 1번)</a:t>
            </a:r>
            <a:endParaRPr lang="en-US" sz="1200" dirty="0"/>
          </a:p>
        </p:txBody>
      </p:sp>
      <p:sp>
        <p:nvSpPr>
          <p:cNvPr id="21" name="Shape 19"/>
          <p:cNvSpPr/>
          <p:nvPr/>
        </p:nvSpPr>
        <p:spPr>
          <a:xfrm>
            <a:off x="548640" y="5340096"/>
            <a:ext cx="11091672" cy="658368"/>
          </a:xfrm>
          <a:prstGeom prst="roundRect">
            <a:avLst>
              <a:gd name="adj" fmla="val 6944"/>
            </a:avLst>
          </a:prstGeom>
          <a:solidFill>
            <a:srgbClr val="F6F7F9"/>
          </a:solidFill>
          <a:ln w="12700">
            <a:solidFill>
              <a:srgbClr val="E3E6EB"/>
            </a:solidFill>
            <a:prstDash val="solid"/>
          </a:ln>
        </p:spPr>
      </p:sp>
      <p:sp>
        <p:nvSpPr>
          <p:cNvPr id="22" name="Text 20"/>
          <p:cNvSpPr txBox="1"/>
          <p:nvPr/>
        </p:nvSpPr>
        <p:spPr>
          <a:xfrm>
            <a:off x="841248" y="5340096"/>
            <a:ext cx="2788920" cy="658368"/>
          </a:xfrm>
          <a:prstGeom prst="rect">
            <a:avLst/>
          </a:prstGeom>
          <a:noFill/>
          <a:ln/>
        </p:spPr>
        <p:txBody>
          <a:bodyPr wrap="square" lIns="0" tIns="0" rIns="0" bIns="0" rtlCol="0" anchor="ctr"/>
          <a:lstStyle/>
          <a:p>
            <a:pPr indent="0" marL="0">
              <a:buNone/>
            </a:pPr>
            <a:r>
              <a:rPr lang="en-US" sz="1400" b="1" dirty="0">
                <a:solidFill>
                  <a:srgbClr val="E11D2E"/>
                </a:solidFill>
                <a:latin typeface="맑은 고딕" pitchFamily="34" charset="0"/>
                <a:ea typeface="맑은 고딕" pitchFamily="34" charset="-122"/>
                <a:cs typeface="맑은 고딕" pitchFamily="34" charset="-120"/>
              </a:rPr>
              <a:t>경쟁사 선점</a:t>
            </a:r>
            <a:endParaRPr lang="en-US" sz="1400" dirty="0"/>
          </a:p>
        </p:txBody>
      </p:sp>
      <p:sp>
        <p:nvSpPr>
          <p:cNvPr id="23" name="Text 21"/>
          <p:cNvSpPr txBox="1"/>
          <p:nvPr/>
        </p:nvSpPr>
        <p:spPr>
          <a:xfrm>
            <a:off x="3794760" y="5340096"/>
            <a:ext cx="7589520" cy="658368"/>
          </a:xfrm>
          <a:prstGeom prst="rect">
            <a:avLst/>
          </a:prstGeom>
          <a:noFill/>
          <a:ln/>
        </p:spPr>
        <p:txBody>
          <a:bodyPr wrap="square" lIns="0" tIns="0" rIns="0" bIns="0" rtlCol="0" anchor="ctr"/>
          <a:lstStyle/>
          <a:p>
            <a:pPr indent="0" marL="0">
              <a:buNone/>
            </a:pPr>
            <a:r>
              <a:rPr lang="en-US" sz="1200" dirty="0">
                <a:solidFill>
                  <a:srgbClr val="101420"/>
                </a:solidFill>
                <a:latin typeface="맑은 고딕" pitchFamily="34" charset="0"/>
                <a:ea typeface="맑은 고딕" pitchFamily="34" charset="-122"/>
                <a:cs typeface="맑은 고딕" pitchFamily="34" charset="-120"/>
              </a:rPr>
              <a:t>벤치마크 DB는 시간으로만 축적. 인수(M&amp;A)도 옵션으로 병행 검토</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01420"/>
        </a:solidFill>
      </p:bgPr>
    </p:bg>
    <p:spTree>
      <p:nvGrpSpPr>
        <p:cNvPr id="1" name=""/>
        <p:cNvGrpSpPr/>
        <p:nvPr/>
      </p:nvGrpSpPr>
      <p:grpSpPr>
        <a:xfrm>
          <a:off x="0" y="0"/>
          <a:ext cx="0" cy="0"/>
          <a:chOff x="0" y="0"/>
          <a:chExt cx="0" cy="0"/>
        </a:xfrm>
      </p:grpSpPr>
      <p:sp>
        <p:nvSpPr>
          <p:cNvPr id="2" name="Text 0"/>
          <p:cNvSpPr txBox="1"/>
          <p:nvPr/>
        </p:nvSpPr>
        <p:spPr>
          <a:xfrm>
            <a:off x="1005840" y="1965960"/>
            <a:ext cx="10149840" cy="777240"/>
          </a:xfrm>
          <a:prstGeom prst="rect">
            <a:avLst/>
          </a:prstGeom>
          <a:noFill/>
          <a:ln/>
        </p:spPr>
        <p:txBody>
          <a:bodyPr wrap="square" lIns="0" tIns="0" rIns="0" bIns="0" rtlCol="0" anchor="ctr"/>
          <a:lstStyle/>
          <a:p>
            <a:pPr indent="0" marL="0">
              <a:buNone/>
            </a:pPr>
            <a:r>
              <a:rPr lang="en-US" sz="3800" b="1" dirty="0">
                <a:solidFill>
                  <a:srgbClr val="A7AFBE"/>
                </a:solidFill>
                <a:latin typeface="맑은 고딕" pitchFamily="34" charset="0"/>
                <a:ea typeface="맑은 고딕" pitchFamily="34" charset="-122"/>
                <a:cs typeface="맑은 고딕" pitchFamily="34" charset="-120"/>
              </a:rPr>
              <a:t>브랜드는 자기가 판 것만 압니다.</a:t>
            </a:r>
            <a:endParaRPr lang="en-US" sz="3800" dirty="0"/>
          </a:p>
        </p:txBody>
      </p:sp>
      <p:sp>
        <p:nvSpPr>
          <p:cNvPr id="3" name="Text 1"/>
          <p:cNvSpPr txBox="1"/>
          <p:nvPr/>
        </p:nvSpPr>
        <p:spPr>
          <a:xfrm>
            <a:off x="1005840" y="2743200"/>
            <a:ext cx="10149840" cy="868680"/>
          </a:xfrm>
          <a:prstGeom prst="rect">
            <a:avLst/>
          </a:prstGeom>
          <a:noFill/>
          <a:ln/>
        </p:spPr>
        <p:txBody>
          <a:bodyPr wrap="square" lIns="0" tIns="0" rIns="0" bIns="0" rtlCol="0" anchor="ctr"/>
          <a:lstStyle/>
          <a:p>
            <a:pPr indent="0" marL="0">
              <a:buNone/>
            </a:pPr>
            <a:r>
              <a:rPr lang="en-US" sz="3800" b="1" dirty="0">
                <a:solidFill>
                  <a:srgbClr val="FFFFFF"/>
                </a:solidFill>
                <a:latin typeface="맑은 고딕" pitchFamily="34" charset="0"/>
                <a:ea typeface="맑은 고딕" pitchFamily="34" charset="-122"/>
                <a:cs typeface="맑은 고딕" pitchFamily="34" charset="-120"/>
              </a:rPr>
              <a:t>저희는 놓친 사람이 누구였는지 알려줍니다.</a:t>
            </a:r>
            <a:endParaRPr lang="en-US" sz="3800" dirty="0"/>
          </a:p>
        </p:txBody>
      </p:sp>
      <p:sp>
        <p:nvSpPr>
          <p:cNvPr id="4" name="Text 2"/>
          <p:cNvSpPr txBox="1"/>
          <p:nvPr/>
        </p:nvSpPr>
        <p:spPr>
          <a:xfrm>
            <a:off x="1005840" y="3794760"/>
            <a:ext cx="10149840" cy="411480"/>
          </a:xfrm>
          <a:prstGeom prst="rect">
            <a:avLst/>
          </a:prstGeom>
          <a:noFill/>
          <a:ln/>
        </p:spPr>
        <p:txBody>
          <a:bodyPr wrap="square" lIns="0" tIns="0" rIns="0" bIns="0" rtlCol="0" anchor="ctr"/>
          <a:lstStyle/>
          <a:p>
            <a:pPr indent="0" marL="0">
              <a:buNone/>
            </a:pPr>
            <a:r>
              <a:rPr lang="en-US" sz="1600" dirty="0">
                <a:solidFill>
                  <a:srgbClr val="A7AFBE"/>
                </a:solidFill>
                <a:latin typeface="맑은 고딕" pitchFamily="34" charset="0"/>
                <a:ea typeface="맑은 고딕" pitchFamily="34" charset="-122"/>
                <a:cs typeface="맑은 고딕" pitchFamily="34" charset="-120"/>
              </a:rPr>
              <a:t>매일 삭제되던 97명의 데이터를, 브랜드에게는 성장의 답으로 · 롯데에게는 새로운 수익으로</a:t>
            </a:r>
            <a:endParaRPr lang="en-US" sz="1600" dirty="0"/>
          </a:p>
        </p:txBody>
      </p:sp>
      <p:sp>
        <p:nvSpPr>
          <p:cNvPr id="5" name="Shape 3"/>
          <p:cNvSpPr/>
          <p:nvPr/>
        </p:nvSpPr>
        <p:spPr>
          <a:xfrm>
            <a:off x="1005840" y="4572000"/>
            <a:ext cx="7680960" cy="914400"/>
          </a:xfrm>
          <a:prstGeom prst="roundRect">
            <a:avLst>
              <a:gd name="adj" fmla="val 6000"/>
            </a:avLst>
          </a:prstGeom>
          <a:solidFill>
            <a:srgbClr val="1B2130"/>
          </a:solidFill>
          <a:ln/>
        </p:spPr>
      </p:sp>
      <p:sp>
        <p:nvSpPr>
          <p:cNvPr id="6" name="Text 4"/>
          <p:cNvSpPr txBox="1"/>
          <p:nvPr/>
        </p:nvSpPr>
        <p:spPr>
          <a:xfrm>
            <a:off x="1371600" y="4572000"/>
            <a:ext cx="7040880" cy="914400"/>
          </a:xfrm>
          <a:prstGeom prst="rect">
            <a:avLst/>
          </a:prstGeom>
          <a:noFill/>
          <a:ln/>
        </p:spPr>
        <p:txBody>
          <a:bodyPr wrap="square" lIns="0" tIns="0" rIns="0" bIns="0" rtlCol="0" anchor="ctr"/>
          <a:lstStyle/>
          <a:p>
            <a:pPr indent="0" marL="0">
              <a:buNone/>
            </a:pPr>
            <a:r>
              <a:rPr lang="en-US" sz="2000" b="1" dirty="0">
                <a:solidFill>
                  <a:srgbClr val="F2A33C"/>
                </a:solidFill>
                <a:latin typeface="맑은 고딕" pitchFamily="34" charset="0"/>
                <a:ea typeface="맑은 고딕" pitchFamily="34" charset="-122"/>
                <a:cs typeface="맑은 고딕" pitchFamily="34" charset="-120"/>
              </a:rPr>
              <a:t>온라인에 GA가 있다면,  오프라인에는 L.GA가 있습니다.</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L.GA - Lotte Growth Analytics</dc:title>
  <dc:subject>PptxGenJS Presentation</dc:subject>
  <dc:creator>LMBA Team</dc:creator>
  <cp:lastModifiedBy>LMBA Team</cp:lastModifiedBy>
  <cp:revision>1</cp:revision>
  <dcterms:created xsi:type="dcterms:W3CDTF">2026-09-16T00:05:11Z</dcterms:created>
  <dcterms:modified xsi:type="dcterms:W3CDTF">2026-09-16T00:05:11Z</dcterms:modified>
</cp:coreProperties>
</file>