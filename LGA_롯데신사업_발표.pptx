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E6979"/>
                </a:solidFill>
                <a:latin typeface="Pretendard"/>
              </a:defRPr>
            </a:pPr>
            <a:r>
              <a:rPr sz="1200" b="0" i="0" u="none" strike="noStrike">
                <a:solidFill>
                  <a:srgbClr val="5E6979"/>
                </a:solidFill>
                <a:latin typeface="Pretendard"/>
              </a:rPr>
              <a:t>개선안 적용 전후 (단위: %)  ※ 실적이 아니라 리포트 형식 예시</a:t>
            </a:r>
          </a:p>
        </c:rich>
      </c:tx>
      <c:layout/>
      <c:overlay val="0"/>
    </c:title>
    <c:autoTitleDeleted val="0"/>
    <c:plotArea>
      <c:layout/>
      <c:barChart>
        <c:barDir val="col"/>
        <c:grouping val="clustered"/>
        <c:varyColors val="0"/>
        <c:ser>
          <c:idx val="0"/>
          <c:order val="0"/>
          <c:tx>
            <c:strRef>
              <c:f>Sheet1!$B$1</c:f>
              <c:strCache>
                <c:ptCount val="1"/>
                <c:pt idx="0">
                  <c:v>개선 전</c:v>
                </c:pt>
              </c:strCache>
            </c:strRef>
          </c:tx>
          <c:spPr>
            <a:solidFill>
              <a:srgbClr val="5E6979"/>
            </a:solidFill>
            <a:effectLst/>
          </c:spPr>
          <c:invertIfNegative val="0"/>
          <c:dLbls>
            <c:numFmt formatCode="0.0&quot;%&quot;" sourceLinked="0"/>
            <c:txPr>
              <a:bodyPr/>
              <a:lstStyle/>
              <a:p>
                <a:pPr>
                  <a:defRPr b="0" i="0" strike="noStrike" sz="1100" u="none">
                    <a:solidFill>
                      <a:srgbClr val="0E1420"/>
                    </a:solidFill>
                    <a:latin typeface="Pretendard"/>
                  </a:defRPr>
                </a:pPr>
              </a:p>
            </c:txPr>
            <c:showLegendKey val="0"/>
            <c:showVal val="1"/>
            <c:showCatName val="0"/>
            <c:showSerName val="0"/>
            <c:showPercent val="0"/>
            <c:showBubbleSize val="0"/>
            <c:showLeaderLines val="0"/>
          </c:dLbls>
          <c:cat>
            <c:multiLvlStrRef>
              <c:f>Sheet1!$A$2:$A$4</c:f>
              <c:multiLvlStrCache>
                <c:ptCount val="3"/>
                <c:lvl>
                  <c:pt idx="0">
                    <c:v>유입률</c:v>
                  </c:pt>
                  <c:pt idx="1">
                    <c:v>집품률</c:v>
                  </c:pt>
                  <c:pt idx="2">
                    <c:v>구매 전환율</c:v>
                  </c:pt>
                </c:lvl>
              </c:multiLvlStrCache>
            </c:multiLvlStrRef>
          </c:cat>
          <c:val>
            <c:numRef>
              <c:f>Sheet1!$B$2:$B$4</c:f>
              <c:numCache>
                <c:formatCode>General</c:formatCode>
                <c:ptCount val="3"/>
                <c:pt idx="0">
                  <c:v>5.2</c:v>
                </c:pt>
                <c:pt idx="1">
                  <c:v>18.4</c:v>
                </c:pt>
                <c:pt idx="2">
                  <c:v>8.1</c:v>
                </c:pt>
              </c:numCache>
            </c:numRef>
          </c:val>
        </c:ser>
        <c:ser>
          <c:idx val="1"/>
          <c:order val="1"/>
          <c:tx>
            <c:strRef>
              <c:f>Sheet1!$C$1</c:f>
              <c:strCache>
                <c:ptCount val="1"/>
                <c:pt idx="0">
                  <c:v>개선 후</c:v>
                </c:pt>
              </c:strCache>
            </c:strRef>
          </c:tx>
          <c:spPr>
            <a:solidFill>
              <a:srgbClr val="E11D2E"/>
            </a:solidFill>
            <a:effectLst/>
          </c:spPr>
          <c:invertIfNegative val="0"/>
          <c:dLbls>
            <c:numFmt formatCode="0.0&quot;%&quot;" sourceLinked="0"/>
            <c:txPr>
              <a:bodyPr/>
              <a:lstStyle/>
              <a:p>
                <a:pPr>
                  <a:defRPr b="0" i="0" strike="noStrike" sz="1100" u="none">
                    <a:solidFill>
                      <a:srgbClr val="0E1420"/>
                    </a:solidFill>
                    <a:latin typeface="Pretendard"/>
                  </a:defRPr>
                </a:pPr>
              </a:p>
            </c:txPr>
            <c:showLegendKey val="0"/>
            <c:showVal val="1"/>
            <c:showCatName val="0"/>
            <c:showSerName val="0"/>
            <c:showPercent val="0"/>
            <c:showBubbleSize val="0"/>
            <c:showLeaderLines val="0"/>
          </c:dLbls>
          <c:cat>
            <c:multiLvlStrRef>
              <c:f>Sheet1!$A$2:$A$4</c:f>
              <c:multiLvlStrCache>
                <c:ptCount val="3"/>
                <c:lvl>
                  <c:pt idx="0">
                    <c:v>유입률</c:v>
                  </c:pt>
                  <c:pt idx="1">
                    <c:v>집품률</c:v>
                  </c:pt>
                  <c:pt idx="2">
                    <c:v>구매 전환율</c:v>
                  </c:pt>
                </c:lvl>
              </c:multiLvlStrCache>
            </c:multiLvlStrRef>
          </c:cat>
          <c:val>
            <c:numRef>
              <c:f>Sheet1!$C$2:$C$4</c:f>
              <c:numCache>
                <c:formatCode>General</c:formatCode>
                <c:ptCount val="3"/>
                <c:pt idx="0">
                  <c:v>6.8</c:v>
                </c:pt>
                <c:pt idx="1">
                  <c:v>22.1</c:v>
                </c:pt>
                <c:pt idx="2">
                  <c:v>11.4</c:v>
                </c:pt>
              </c:numCache>
            </c:numRef>
          </c:val>
        </c:ser>
        <c:dLbls>
          <c:numFmt formatCode="0.0&quot;%&quot;" sourceLinked="0"/>
          <c:txPr>
            <a:bodyPr/>
            <a:lstStyle/>
            <a:p>
              <a:pPr>
                <a:defRPr b="0" i="0" strike="noStrike" sz="1100" u="none">
                  <a:solidFill>
                    <a:srgbClr val="0E1420"/>
                  </a:solidFill>
                  <a:latin typeface="Pretendard"/>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1420"/>
                </a:solidFill>
                <a:latin typeface="Pretendard"/>
              </a:defRPr>
            </a:pPr>
            <a:endParaRPr lang="en-US"/>
          </a:p>
        </c:txPr>
        <c:crossAx val="2094734552"/>
        <c:crosses val="autoZero"/>
        <c:auto val="1"/>
        <c:lblAlgn val="ctr"/>
        <c:noMultiLvlLbl val="1"/>
      </c:catAx>
      <c:valAx>
        <c:axId val="2094734552"/>
        <c:scaling>
          <c:orientation val="minMax"/>
          <c:max val="26"/>
          <c:min val="0"/>
        </c:scaling>
        <c:delete val="0"/>
        <c:axPos val="l"/>
        <c:majorGridlines>
          <c:spPr>
            <a:ln w="12700"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79"/>
                </a:solidFill>
                <a:latin typeface="Pretendard"/>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E6979"/>
              </a:solidFill>
              <a:latin typeface="Pretendard"/>
              <a:cs typeface="Pretendard"/>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E6979"/>
                </a:solidFill>
                <a:latin typeface="Pretendard"/>
              </a:defRPr>
            </a:pPr>
            <a:r>
              <a:rPr sz="1300" b="0" i="0" u="none" strike="noStrike">
                <a:solidFill>
                  <a:srgbClr val="5E6979"/>
                </a:solidFill>
                <a:latin typeface="Pretendard"/>
              </a:rPr>
              <a:t>3개년 손익 추정 (단위: 억원)</a:t>
            </a:r>
          </a:p>
        </c:rich>
      </c:tx>
      <c:layout/>
      <c:overlay val="0"/>
    </c:title>
    <c:autoTitleDeleted val="0"/>
    <c:plotArea>
      <c:layout/>
      <c:barChart>
        <c:barDir val="col"/>
        <c:grouping val="clustered"/>
        <c:varyColors val="0"/>
        <c:ser>
          <c:idx val="0"/>
          <c:order val="0"/>
          <c:tx>
            <c:strRef>
              <c:f>Sheet1!$B$1</c:f>
              <c:strCache>
                <c:ptCount val="1"/>
                <c:pt idx="0">
                  <c:v>매출</c:v>
                </c:pt>
              </c:strCache>
            </c:strRef>
          </c:tx>
          <c:spPr>
            <a:solidFill>
              <a:srgbClr val="1A2233"/>
            </a:solidFill>
            <a:effectLst/>
          </c:spPr>
          <c:invertIfNegative val="0"/>
          <c:dLbls>
            <c:numFmt formatCode="0.0" sourceLinked="0"/>
            <c:txPr>
              <a:bodyPr/>
              <a:lstStyle/>
              <a:p>
                <a:pPr>
                  <a:defRPr b="0" i="0" strike="noStrike" sz="1200" u="none">
                    <a:solidFill>
                      <a:srgbClr val="0E1420"/>
                    </a:solidFill>
                    <a:latin typeface="Pretendard"/>
                  </a:defRPr>
                </a:pPr>
              </a:p>
            </c:txPr>
            <c:showLegendKey val="0"/>
            <c:showVal val="1"/>
            <c:showCatName val="0"/>
            <c:showSerName val="0"/>
            <c:showPercent val="0"/>
            <c:showBubbleSize val="0"/>
            <c:showLeaderLines val="0"/>
          </c:dLbls>
          <c:cat>
            <c:multiLvlStrRef>
              <c:f>Sheet1!$A$2:$A$4</c:f>
              <c:multiLvlStrCache>
                <c:ptCount val="3"/>
                <c:lvl>
                  <c:pt idx="0">
                    <c:v>Y1 파일럿</c:v>
                  </c:pt>
                  <c:pt idx="1">
                    <c:v>Y2 전점 확산</c:v>
                  </c:pt>
                  <c:pt idx="2">
                    <c:v>Y3 계열·외부 확장</c:v>
                  </c:pt>
                </c:lvl>
              </c:multiLvlStrCache>
            </c:multiLvlStrRef>
          </c:cat>
          <c:val>
            <c:numRef>
              <c:f>Sheet1!$B$2:$B$4</c:f>
              <c:numCache>
                <c:formatCode>General</c:formatCode>
                <c:ptCount val="3"/>
                <c:pt idx="0">
                  <c:v>13.2</c:v>
                </c:pt>
                <c:pt idx="1">
                  <c:v>54.2</c:v>
                </c:pt>
                <c:pt idx="2">
                  <c:v>128.6</c:v>
                </c:pt>
              </c:numCache>
            </c:numRef>
          </c:val>
        </c:ser>
        <c:ser>
          <c:idx val="1"/>
          <c:order val="1"/>
          <c:tx>
            <c:strRef>
              <c:f>Sheet1!$C$1</c:f>
              <c:strCache>
                <c:ptCount val="1"/>
                <c:pt idx="0">
                  <c:v>영업이익</c:v>
                </c:pt>
              </c:strCache>
            </c:strRef>
          </c:tx>
          <c:spPr>
            <a:solidFill>
              <a:srgbClr val="E11D2E"/>
            </a:solidFill>
            <a:effectLst/>
          </c:spPr>
          <c:invertIfNegative val="0"/>
          <c:dLbls>
            <c:numFmt formatCode="0.0" sourceLinked="0"/>
            <c:txPr>
              <a:bodyPr/>
              <a:lstStyle/>
              <a:p>
                <a:pPr>
                  <a:defRPr b="0" i="0" strike="noStrike" sz="1200" u="none">
                    <a:solidFill>
                      <a:srgbClr val="0E1420"/>
                    </a:solidFill>
                    <a:latin typeface="Pretendard"/>
                  </a:defRPr>
                </a:pPr>
              </a:p>
            </c:txPr>
            <c:showLegendKey val="0"/>
            <c:showVal val="1"/>
            <c:showCatName val="0"/>
            <c:showSerName val="0"/>
            <c:showPercent val="0"/>
            <c:showBubbleSize val="0"/>
            <c:showLeaderLines val="0"/>
          </c:dLbls>
          <c:cat>
            <c:multiLvlStrRef>
              <c:f>Sheet1!$A$2:$A$4</c:f>
              <c:multiLvlStrCache>
                <c:ptCount val="3"/>
                <c:lvl>
                  <c:pt idx="0">
                    <c:v>Y1 파일럿</c:v>
                  </c:pt>
                  <c:pt idx="1">
                    <c:v>Y2 전점 확산</c:v>
                  </c:pt>
                  <c:pt idx="2">
                    <c:v>Y3 계열·외부 확장</c:v>
                  </c:pt>
                </c:lvl>
              </c:multiLvlStrCache>
            </c:multiLvlStrRef>
          </c:cat>
          <c:val>
            <c:numRef>
              <c:f>Sheet1!$C$2:$C$4</c:f>
              <c:numCache>
                <c:formatCode>General</c:formatCode>
                <c:ptCount val="3"/>
                <c:pt idx="0">
                  <c:v>-8.2</c:v>
                </c:pt>
                <c:pt idx="1">
                  <c:v>8.8</c:v>
                </c:pt>
                <c:pt idx="2">
                  <c:v>44.9</c:v>
                </c:pt>
              </c:numCache>
            </c:numRef>
          </c:val>
        </c:ser>
        <c:dLbls>
          <c:numFmt formatCode="0.0" sourceLinked="0"/>
          <c:txPr>
            <a:bodyPr/>
            <a:lstStyle/>
            <a:p>
              <a:pPr>
                <a:defRPr b="0" i="0" strike="noStrike" sz="1200" u="none">
                  <a:solidFill>
                    <a:srgbClr val="0E1420"/>
                  </a:solidFill>
                  <a:latin typeface="Pretendard"/>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1420"/>
                </a:solidFill>
                <a:latin typeface="Pretendard"/>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979"/>
                </a:solidFill>
                <a:latin typeface="Pretendard"/>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6979"/>
              </a:solidFill>
              <a:latin typeface="Pretendard"/>
              <a:cs typeface="Pretendard"/>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E6979"/>
                </a:solidFill>
                <a:latin typeface="Pretendard"/>
              </a:defRPr>
            </a:pPr>
            <a:r>
              <a:rPr sz="1200" b="0" i="0" u="none" strike="noStrike">
                <a:solidFill>
                  <a:srgbClr val="5E6979"/>
                </a:solidFill>
                <a:latin typeface="Pretendard"/>
              </a:rPr>
              <a:t>매장 확산에 따른 연간 인프라 비용 (억원, 추정)</a:t>
            </a:r>
          </a:p>
        </c:rich>
      </c:tx>
      <c:layout/>
      <c:overlay val="0"/>
    </c:title>
    <c:autoTitleDeleted val="0"/>
    <c:plotArea>
      <c:layout/>
      <c:lineChart>
        <c:varyColors val="0"/>
        <c:ser>
          <c:idx val="0"/>
          <c:order val="0"/>
          <c:tx>
            <c:strRef>
              <c:f>Sheet1!$B$1</c:f>
              <c:strCache>
                <c:ptCount val="1"/>
                <c:pt idx="0">
                  <c:v>클라우드 방식 (경쟁사)</c:v>
                </c:pt>
              </c:strCache>
            </c:strRef>
          </c:tx>
          <c:spPr>
            <a:solidFill>
              <a:srgbClr val="5E6979"/>
            </a:solidFill>
            <a:ln w="38100" cap="flat">
              <a:solidFill>
                <a:srgbClr val="5E697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5E6979"/>
              </a:solidFill>
              <a:ln w="9525" cap="flat">
                <a:solidFill>
                  <a:srgbClr val="5E6979"/>
                </a:solidFill>
                <a:prstDash val="solid"/>
                <a:round/>
              </a:ln>
              <a:effectLst/>
            </c:spPr>
          </c:marker>
          <c:cat>
            <c:multiLvlStrRef>
              <c:f>Sheet1!$A$2:$A$5</c:f>
              <c:multiLvlStrCache>
                <c:ptCount val="4"/>
                <c:lvl>
                  <c:pt idx="0">
                    <c:v>10개점</c:v>
                  </c:pt>
                  <c:pt idx="1">
                    <c:v>50개점</c:v>
                  </c:pt>
                  <c:pt idx="2">
                    <c:v>100개점</c:v>
                  </c:pt>
                  <c:pt idx="3">
                    <c:v>300개점</c:v>
                  </c:pt>
                </c:lvl>
              </c:multiLvlStrCache>
            </c:multiLvlStrRef>
          </c:cat>
          <c:val>
            <c:numRef>
              <c:f>Sheet1!$B$2:$B$5</c:f>
              <c:numCache>
                <c:formatCode>General</c:formatCode>
                <c:ptCount val="4"/>
                <c:pt idx="0">
                  <c:v>0.8</c:v>
                </c:pt>
                <c:pt idx="1">
                  <c:v>4</c:v>
                </c:pt>
                <c:pt idx="2">
                  <c:v>8</c:v>
                </c:pt>
                <c:pt idx="3">
                  <c:v>24</c:v>
                </c:pt>
              </c:numCache>
            </c:numRef>
          </c:val>
          <c:smooth val="0"/>
        </c:ser>
        <c:ser>
          <c:idx val="1"/>
          <c:order val="1"/>
          <c:tx>
            <c:strRef>
              <c:f>Sheet1!$C$1</c:f>
              <c:strCache>
                <c:ptCount val="1"/>
                <c:pt idx="0">
                  <c:v>엣지 방식 (L.GA)</c:v>
                </c:pt>
              </c:strCache>
            </c:strRef>
          </c:tx>
          <c:spPr>
            <a:solidFill>
              <a:srgbClr val="E11D2E"/>
            </a:solidFill>
            <a:ln w="38100" cap="flat">
              <a:solidFill>
                <a:srgbClr val="E11D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11D2E"/>
              </a:solidFill>
              <a:ln w="9525" cap="flat">
                <a:solidFill>
                  <a:srgbClr val="E11D2E"/>
                </a:solidFill>
                <a:prstDash val="solid"/>
                <a:round/>
              </a:ln>
              <a:effectLst/>
            </c:spPr>
          </c:marker>
          <c:cat>
            <c:multiLvlStrRef>
              <c:f>Sheet1!$A$2:$A$5</c:f>
              <c:multiLvlStrCache>
                <c:ptCount val="4"/>
                <c:lvl>
                  <c:pt idx="0">
                    <c:v>10개점</c:v>
                  </c:pt>
                  <c:pt idx="1">
                    <c:v>50개점</c:v>
                  </c:pt>
                  <c:pt idx="2">
                    <c:v>100개점</c:v>
                  </c:pt>
                  <c:pt idx="3">
                    <c:v>300개점</c:v>
                  </c:pt>
                </c:lvl>
              </c:multiLvlStrCache>
            </c:multiLvlStrRef>
          </c:cat>
          <c:val>
            <c:numRef>
              <c:f>Sheet1!$C$2:$C$5</c:f>
              <c:numCache>
                <c:formatCode>General</c:formatCode>
                <c:ptCount val="4"/>
                <c:pt idx="0">
                  <c:v>0.3</c:v>
                </c:pt>
                <c:pt idx="1">
                  <c:v>0.7</c:v>
                </c:pt>
                <c:pt idx="2">
                  <c:v>1.2</c:v>
                </c:pt>
                <c:pt idx="3">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E1420"/>
                </a:solidFill>
                <a:latin typeface="Pretendard"/>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79"/>
                </a:solidFill>
                <a:latin typeface="Pretendard"/>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E6979"/>
              </a:solidFill>
              <a:latin typeface="Pretendard"/>
              <a:cs typeface="Pretendard"/>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온라인에 구글 애널리틱스가 있다면, 오프라인 매장에는 L.GA가 있어야 한다고 생각했습니다. 저희는 롯데가 이미 가진 CCTV와 L.POINT와 POS를 하나로 묶어, 입점 브랜드에게 자기 고객이 누구인지 알려주는 사업을 제안드립니다. 측정하고, 처방하고, 그 처방이 통했는지 결제 데이터로 증명하는 것까지가 저희 상품입니다. 오늘은 문제부터 시작해서 솔루션, 시장, 비즈니스 모델, 목표 지표, 팀, 그리고 요청 사항 순서로 말씀드리겠습니다. (40초)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문제부터 말씀드리겠습니다. 백화점 매장에 100명이 들어옵니다. 그중 구매하는 사람은 평균 3명 남짓입니다. 브랜드가 데이터로 알고 있는 고객은 이 3명뿐입니다. 나머지 97명이 무엇을 보고, 어디서 멈추고, 왜 돌아섰는지 - 그 데이터는 매일 CCTV에 찍히고, 매일 그냥 삭제됩니다. 온라인이라면 전부 로그로 남았을 데이터입니다. 그래서 팝업이 끝나면 브랜드가 손에 쥐는 건 매출 총액과 인스타 해시태그 개수뿐입니다. 온 사람 중 신규가 몇 퍼센트인지, 안 산 사람이 누구인지 모릅니다. 그래서 다음 팝업도 감으로 엽니다.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문제를 겪는 고객이 누구인지 말씀드리겠습니다. 1차 타겟은 롯데 백화점과 몰과 아울렛에 팝업을 여는 브랜드입니다. 특히 정규 입점을 노리는 D2C와 신생 브랜드가 성과 측정 니즈가 가장 절박합니다. 2차는 팝업에서 검증된 브랜드가 정규 매장을 열 때 월 구독으로 넘어오는 상설 매장입니다. 그리고 0차, 첫 고객은 롯데 자신입니다. 매출은 0원이지만 데이터와 레퍼런스를 얻습니다. 그럼 왜 지금까지 아무도 이걸 못 풀었을까요. 조각이 흩어져 있었기 때문입니다. 백화점은 공간과 트래픽과 POS를 가졌지만 측정 수단이 없고, 이노베이트는 비전 AI가 있지만 소비 이력이 없고, 멤버스는 L.POINT가 있지만 매장 안에서 무슨 일이 있었는지 모릅니다.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저희가 제시하는 해결책은 이것입니다. 팝업이 끝나면 브랜드에게 다섯 가지를 드립니다. 첫째, 이번에 온 사람 중 신규가 몇 퍼센트인가. 매출만 보면 성공 같지만 기존 고객만 다시 온 것일 수 있습니다. 둘째, 들어왔는데 안 산 사람은 누구였나. 가격대가 안 맞았는지 타깃을 잘못 잡았는지가 여기서 나옵니다. 셋째, 우리 방문객이 평소 어디서 무엇을 사는가. 우리 고객의 38퍼센트가 경쟁사 A 구매 이력이 있다 - 이런 문장은 포지셔닝과 가격 전략을 바꿉니다. 넷째, 집었는데 안 산 상품. 온라인의 장바구니 이탈과 같고 그대로 상품기획 피드백이 됩니다. 다섯째, 다음 팝업은 어디에 언제 어느 층에. 롯데 전점 트래픽이 있어야만 나오는 처방입니다. 브랜드는 자기가 판 것만 압니다. 이 답은 L.POINT 소비 이력과 롯데 전점 트래픽이 동시에 있어야만 나옵니다.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인사이트만으로는 부족합니다. 브랜드가 진짜 원하는 건 매출이니까요. 그래서 이렇게 바꾸세요까지 가고, 바꾼 다음 실제로 매출이 올랐는지를 POS로 증명합니다. 예를 들어, 집품에서 구매로 가는 전환율이 8.1퍼센트에서 11.4퍼센트로 올랐습니다 - 이런 형태의 검증 리포트를 드립니다. 화면의 숫자는 실적이 아니라 리포트 형식을 보여드리는 예시입니다. 경쟁사는 결제 데이터가 없어서 이걸 못 합니다. 효과를 증명 못 하는 컨설팅은 한 번 팔리고 끝나고, 증명하는 컨설팅은 갱신됩니다. 지표 체계는 온라인 GA와 1대1입니다. 노출은 통행 수, 클릭률은 유입률, 장바구니는 집품률, 구매는 전환율. 다른 점은 결제 데이터로 결과를 증명한다는 것입니다.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시장 규모입니다. 먼저 분명히 말씀드리면, 이 세 숫자는 공개정보와 업계 통상치로 쌓아올린 추정이고 산식을 그대로 화면에 띄웠습니다. 롯데 유통군 안의 입점 브랜드 매장을 약 1만 1천 개로 보고 연 이용료를 곱하면, 저희가 실제로 팔 수 있는 시장 SAM이 연 660억원입니다. 국내 백화점과 몰과 아울렛 전체로 넓히면 TAM이 약 1,800억원이고, 여기엔 마트와 면세와 해외 롯데몰과 광고 매출은 넣지 않은 보수적인 숫자입니다. 그리고 3년 내 저희가 잡겠다는 SOM이 128.6억원, SAM의 약 19퍼센트입니다.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지금이고 왜 롯데인가. 지금인 이유는 셋입니다. 팝업이 일회성 행사가 아니라 유통의 상시 포맷이 됐고, 엣지 AI로 영상분석 원가가 10분의 1로 떨어졌고, 그룹이 AI 트랜스포메이션을 방침으로 걸었습니다. 롯데인 이유도 셋입니다. 공간과 트래픽과 POS, L.POINT 소비 이력, 비전 AI 역량. 이 세 조각을 동시에 가진 곳은 롯데뿐이고, 그래서 이건 기술 경쟁이 아니라 자산 구조의 경쟁입니다. 결제한 순간에만 쌓이던 고객 가치를 사지 않은 순간까지 넓히는 것, 저희가 이해한 Lifetime Value Creator입니다.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돈은 어떻게 버는가. 다섯 단으로 설계했습니다. 1단은 팝업 솔루션 패키지, 건당 320만원입니다. 이게 유입 깔때기입니다. 2단은 상설 매장 구독, 월 45만원. 3단은 성장 컨설팅으로 건당 1,500만원에 성과연동 수수료 5에서 10퍼센트를 더합니다. 4단은 안 산 고객에게 L.POINT 앱으로 쿠폰을 보내는 리타게팅 광고, 5단은 카테고리 벤치마크 라이선스입니다. 핵심은 팝업이 매출 엔진이 아니라는 겁니다. 3년차 매출의 51퍼센트가 2단부터 5단의 반복 매출입니다. 구글 애널리틱스는 무료입니다. 구글은 측정이 아니라 광고로 법니다. 저희도 같은 구조입니다.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이해관계자 구조로 보면 이렇습니다. 왼쪽에 롯데 3사가 각자 자산을 냅니다. 백화점은 공간과 트래픽과 POS, 이노베이트는 비전 AI 엔진과 엣지 인프라, 멤버스는 L.POINT 소비 이력과 도달 채널입니다. 가운데 L.GA가 그걸 묶어서 측정하고 인사이트를 뽑고 처방하고 검증합니다. 오른쪽 입점 브랜드가 그 답을 받고 이용료를 냅니다. 그리고 고객은 안 사고 나간 뒤에 자기에게 맞는 쿠폰을 받습니다. 판매는 외부 영업이 아니라 MD와 영업관리팀이 팝업 계약을 맺을 때 번들로 붙입니다. 계약 시점이 곧 판매 시점이라 외부 영업비용이 거의 0입니다. 확산은 계열사, 해외 롯데몰, 그다음 외부 유통사 순서입니다.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성과 목표입니다. 아직 매출이 없는 신사업이라 달성한 실적 대신 목표점과 검증 계획을 말씀드립니다. 1년차는 파일럿이라 매출 13.2억에 영업손실 8.2억, 2년차 전점 확산으로 매출 54.2억에 흑자 전환, 3년차 매출 128.6억에 영업이익 44.9억입니다. 누적 손익분기는 24개월입니다. 매출총이익률 77퍼센트, 3년 설비투자 11억원. 그리고 침투율이 저조하고 구독이 저조하고 광고를 아예 못 해도 3년차는 흑자입니다.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그걸 어떻게 증명할 것인가. 4단계로 갑니다. 0단계 3개월은 롯데 내부 도입과 10개점 파일럿, 1단계는 팝업 유료 판매와 검증 케이스 3건, 2단계는 전점 확산과 구독과 리타게팅, 3단계는 계열사와 해외 롯데몰입니다. 판정 기준을 미리 걸어두었습니다. 파일럿 3건에서 전환율 개선이 통계적으로 유의미할 것, 무상 파일럿에서 유료 전환이 30퍼센트를 넘을 것, 24개월에 누적 손익분기를 넘을 것. 이 셋 중 하나라도 안 되면 다음 단계로 안 갑니다.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팀입니다. 이 사업의 본질은 기술이 아니라 3사 합작 구조 자체입니다. 백화점과 이노베이트와 멤버스가 각자 가진 조각을 내는 합작 TF로 시작하고, 성과가 검증되면 분사 옵션을 검토합니다. 3년차 기준 42명이고 그중 리테일 컨설턴트가 14명으로 가장 많습니다. 처방과 검증이 상품의 본체이기 때문에 의도한 구성입니다. (20초)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요청드립니다. 큰 투자를 부탁드리는 게 아닙니다. 세 가지입니다. 첫째, 3개월 파일럿 예산 1.5억원 승인. 10개 점포에 엣지박스를 놓고 팝업 브랜드 3곳에 무상으로 리포트를 드려서 지불 의사를 검증하겠습니다. 둘째, 3사 데이터 제공 협약과 수익 배분의 사전 합의. 셋째, 착수 전 법무와 DPO 검토, 개인정보 영향평가 착수입니다. 3년 설비투자는 11억이고 최대 현금소진은 10억입니다. CCTV가 이미 깔려 있어서 가볍게 시작할 수 있고, 실패해도 잃는 것이 작습니다. 파일럿 1.5억으로 판단할 수 있는 사업입니다. (40초)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매일 삭제되던 97명의 데이터를, 브랜드에게는 성장의 답으로, 고객에게는 더 나은 매장 경험으로, 롯데에게는 새로운 수익으로 바꾸는 일입니다. 온라인에 GA가 있다면, 오프라인에는 L.GA가 있습니다. 감사합니다. (20초)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백업입니다. 숫자의 근거를 물으시면 이 장을 띄우십시오. 어느 숫자가 사실이고 어느 숫자가 가정인지, 그리고 그 가정이 틀렸을 때 결론이 어떻게 바뀌는지가 정리돼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백업입니다. 개인정보 질문이 나오면 이 장입니다. 공간은 완전 익명으로, 고객은 동의 기반으로 2계층 분리했고, 연결은 개인 단위가 아니라 집계 단위로만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백업입니다. Q&amp;A에서 개인정보, CCTV 사양, 지불 의사, 인식 정확도, 데이터 거버넌스 질문이 나오면 꺼내십시오.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백업입니다. 원가 구조 질문이 나오면 이 장입니다. 경쟁사가 못 넘은 벽은 클라우드 비용이었고, 저희는 엣지로 그 벽을 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3" name="Text 0"/>
          <p:cNvSpPr txBox="1"/>
          <p:nvPr/>
        </p:nvSpPr>
        <p:spPr>
          <a:xfrm>
            <a:off x="822960" y="1170432"/>
            <a:ext cx="6035040" cy="243332"/>
          </a:xfrm>
          <a:prstGeom prst="rect">
            <a:avLst/>
          </a:prstGeom>
          <a:noFill/>
          <a:ln/>
        </p:spPr>
        <p:txBody>
          <a:bodyPr wrap="square" lIns="0" tIns="0" rIns="0" bIns="0" rtlCol="0" anchor="t"/>
          <a:lstStyle/>
          <a:p>
            <a:pPr algn="l" indent="0" marL="0">
              <a:lnSpc>
                <a:spcPts val="1700"/>
              </a:lnSpc>
              <a:buNone/>
            </a:pPr>
            <a:r>
              <a:rPr lang="en-US" sz="1100" b="1" spc="200" kern="0" dirty="0">
                <a:solidFill>
                  <a:srgbClr val="F5A623"/>
                </a:solidFill>
                <a:latin typeface="Pretendard" pitchFamily="34" charset="0"/>
                <a:ea typeface="Pretendard" pitchFamily="34" charset="-122"/>
                <a:cs typeface="Pretendard" pitchFamily="34" charset="-120"/>
              </a:rPr>
              <a:t>롯데그룹 신사업 제안</a:t>
            </a:r>
            <a:endParaRPr lang="en-US" sz="1100" dirty="0"/>
          </a:p>
        </p:txBody>
      </p:sp>
      <p:sp>
        <p:nvSpPr>
          <p:cNvPr id="4" name="Text 1"/>
          <p:cNvSpPr txBox="1"/>
          <p:nvPr/>
        </p:nvSpPr>
        <p:spPr>
          <a:xfrm>
            <a:off x="786384" y="1517904"/>
            <a:ext cx="5852160" cy="1051560"/>
          </a:xfrm>
          <a:prstGeom prst="rect">
            <a:avLst/>
          </a:prstGeom>
          <a:noFill/>
          <a:ln/>
        </p:spPr>
        <p:txBody>
          <a:bodyPr wrap="square" lIns="0" tIns="0" rIns="0" bIns="0" rtlCol="0" anchor="t"/>
          <a:lstStyle/>
          <a:p>
            <a:pPr algn="l" indent="0" marL="0">
              <a:lnSpc>
                <a:spcPts val="7400"/>
              </a:lnSpc>
              <a:buNone/>
            </a:pPr>
            <a:r>
              <a:rPr lang="en-US" sz="6200" b="1" dirty="0">
                <a:solidFill>
                  <a:srgbClr val="FFFFFF"/>
                </a:solidFill>
                <a:latin typeface="Pretendard" pitchFamily="34" charset="0"/>
                <a:ea typeface="Pretendard" pitchFamily="34" charset="-122"/>
                <a:cs typeface="Pretendard" pitchFamily="34" charset="-120"/>
              </a:rPr>
              <a:t>L.GA</a:t>
            </a:r>
            <a:endParaRPr lang="en-US" sz="6200" dirty="0"/>
          </a:p>
        </p:txBody>
      </p:sp>
      <p:sp>
        <p:nvSpPr>
          <p:cNvPr id="5" name="Text 2"/>
          <p:cNvSpPr txBox="1"/>
          <p:nvPr/>
        </p:nvSpPr>
        <p:spPr>
          <a:xfrm>
            <a:off x="822960" y="2670048"/>
            <a:ext cx="5852160" cy="319532"/>
          </a:xfrm>
          <a:prstGeom prst="rect">
            <a:avLst/>
          </a:prstGeom>
          <a:noFill/>
          <a:ln/>
        </p:spPr>
        <p:txBody>
          <a:bodyPr wrap="square" lIns="0" tIns="0" rIns="0" bIns="0" rtlCol="0" anchor="t"/>
          <a:lstStyle/>
          <a:p>
            <a:pPr algn="l" indent="0" marL="0">
              <a:lnSpc>
                <a:spcPts val="2300"/>
              </a:lnSpc>
              <a:buNone/>
            </a:pPr>
            <a:r>
              <a:rPr lang="en-US" sz="1500" dirty="0">
                <a:solidFill>
                  <a:srgbClr val="8C97A8"/>
                </a:solidFill>
                <a:latin typeface="Pretendard" pitchFamily="34" charset="0"/>
                <a:ea typeface="Pretendard" pitchFamily="34" charset="-122"/>
                <a:cs typeface="Pretendard" pitchFamily="34" charset="-120"/>
              </a:rPr>
              <a:t>Lotte Growth Analytics</a:t>
            </a:r>
            <a:endParaRPr lang="en-US" sz="1500" dirty="0"/>
          </a:p>
        </p:txBody>
      </p:sp>
      <p:sp>
        <p:nvSpPr>
          <p:cNvPr id="6" name="Text 3"/>
          <p:cNvSpPr txBox="1"/>
          <p:nvPr/>
        </p:nvSpPr>
        <p:spPr>
          <a:xfrm>
            <a:off x="822960" y="3291840"/>
            <a:ext cx="5669280" cy="891032"/>
          </a:xfrm>
          <a:prstGeom prst="rect">
            <a:avLst/>
          </a:prstGeom>
          <a:noFill/>
          <a:ln/>
        </p:spPr>
        <p:txBody>
          <a:bodyPr wrap="square" lIns="0" tIns="0" rIns="0" bIns="0" rtlCol="0" anchor="t"/>
          <a:lstStyle/>
          <a:p>
            <a:pPr algn="l" indent="0" marL="0">
              <a:lnSpc>
                <a:spcPts val="3400"/>
              </a:lnSpc>
              <a:buNone/>
            </a:pPr>
            <a:r>
              <a:rPr lang="en-US" sz="2000" b="1" dirty="0">
                <a:solidFill>
                  <a:srgbClr val="FFFFFF"/>
                </a:solidFill>
                <a:latin typeface="Pretendard" pitchFamily="34" charset="0"/>
                <a:ea typeface="Pretendard" pitchFamily="34" charset="-122"/>
                <a:cs typeface="Pretendard" pitchFamily="34" charset="-120"/>
              </a:rPr>
              <a:t>브랜드가 모르는 자기 고객을 알려주는</a:t>
            </a:r>
            <a:endParaRPr lang="en-US" sz="2000" dirty="0"/>
          </a:p>
          <a:p>
            <a:pPr algn="l" indent="0" marL="0">
              <a:lnSpc>
                <a:spcPts val="3400"/>
              </a:lnSpc>
              <a:buNone/>
            </a:pPr>
            <a:r>
              <a:rPr lang="en-US" sz="2000" b="1" dirty="0">
                <a:solidFill>
                  <a:srgbClr val="FFFFFF"/>
                </a:solidFill>
                <a:latin typeface="Pretendard" pitchFamily="34" charset="0"/>
                <a:ea typeface="Pretendard" pitchFamily="34" charset="-122"/>
                <a:cs typeface="Pretendard" pitchFamily="34" charset="-120"/>
              </a:rPr>
              <a:t>오프라인 리테일 데이터 솔루션</a:t>
            </a:r>
            <a:endParaRPr lang="en-US" sz="2000" dirty="0"/>
          </a:p>
        </p:txBody>
      </p:sp>
      <p:sp>
        <p:nvSpPr>
          <p:cNvPr id="7" name="Shape 4"/>
          <p:cNvSpPr/>
          <p:nvPr/>
        </p:nvSpPr>
        <p:spPr>
          <a:xfrm>
            <a:off x="822960" y="4773168"/>
            <a:ext cx="5669280" cy="841248"/>
          </a:xfrm>
          <a:prstGeom prst="roundRect">
            <a:avLst>
              <a:gd name="adj" fmla="val 6522"/>
            </a:avLst>
          </a:prstGeom>
          <a:solidFill>
            <a:srgbClr val="1A2233"/>
          </a:solidFill>
          <a:ln w="12700">
            <a:solidFill>
              <a:srgbClr val="1A2233"/>
            </a:solidFill>
            <a:prstDash val="solid"/>
          </a:ln>
        </p:spPr>
      </p:sp>
      <p:sp>
        <p:nvSpPr>
          <p:cNvPr id="8" name="Text 5"/>
          <p:cNvSpPr txBox="1"/>
          <p:nvPr/>
        </p:nvSpPr>
        <p:spPr>
          <a:xfrm>
            <a:off x="1133856" y="4919472"/>
            <a:ext cx="5029200" cy="268732"/>
          </a:xfrm>
          <a:prstGeom prst="rect">
            <a:avLst/>
          </a:prstGeom>
          <a:noFill/>
          <a:ln/>
        </p:spPr>
        <p:txBody>
          <a:bodyPr wrap="square" lIns="0" tIns="0" rIns="0" bIns="0" rtlCol="0" anchor="t"/>
          <a:lstStyle/>
          <a:p>
            <a:pPr algn="l" indent="0" marL="0">
              <a:lnSpc>
                <a:spcPts val="1900"/>
              </a:lnSpc>
              <a:buNone/>
            </a:pPr>
            <a:r>
              <a:rPr lang="en-US" sz="1250" b="1" dirty="0">
                <a:solidFill>
                  <a:srgbClr val="F5A623"/>
                </a:solidFill>
                <a:latin typeface="Pretendard" pitchFamily="34" charset="0"/>
                <a:ea typeface="Pretendard" pitchFamily="34" charset="-122"/>
                <a:cs typeface="Pretendard" pitchFamily="34" charset="-120"/>
              </a:rPr>
              <a:t>Lifetime Value Creator</a:t>
            </a:r>
            <a:endParaRPr lang="en-US" sz="1250" dirty="0"/>
          </a:p>
        </p:txBody>
      </p:sp>
      <p:sp>
        <p:nvSpPr>
          <p:cNvPr id="9" name="Text 6"/>
          <p:cNvSpPr txBox="1"/>
          <p:nvPr/>
        </p:nvSpPr>
        <p:spPr>
          <a:xfrm>
            <a:off x="1133856" y="5193792"/>
            <a:ext cx="5120640" cy="243332"/>
          </a:xfrm>
          <a:prstGeom prst="rect">
            <a:avLst/>
          </a:prstGeom>
          <a:noFill/>
          <a:ln/>
        </p:spPr>
        <p:txBody>
          <a:bodyPr wrap="square" lIns="0" tIns="0" rIns="0" bIns="0" rtlCol="0" anchor="t"/>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결제한 순간에만 쌓이던 고객 가치를, 사지 않은 순간까지 넓힙니다.</a:t>
            </a:r>
            <a:endParaRPr lang="en-US" sz="1150" dirty="0"/>
          </a:p>
        </p:txBody>
      </p:sp>
      <p:sp>
        <p:nvSpPr>
          <p:cNvPr id="10" name="Text 7"/>
          <p:cNvSpPr txBox="1"/>
          <p:nvPr/>
        </p:nvSpPr>
        <p:spPr>
          <a:xfrm>
            <a:off x="822960" y="6053328"/>
            <a:ext cx="5852160"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롯데그룹 핵심인재 MBA 과정  |  최종 발표</a:t>
            </a:r>
            <a:endParaRPr lang="en-US" sz="1000" dirty="0"/>
          </a:p>
        </p:txBody>
      </p:sp>
      <p:sp>
        <p:nvSpPr>
          <p:cNvPr id="11" name="Shape 8"/>
          <p:cNvSpPr/>
          <p:nvPr/>
        </p:nvSpPr>
        <p:spPr>
          <a:xfrm>
            <a:off x="7178040" y="1417320"/>
            <a:ext cx="4434840" cy="4197096"/>
          </a:xfrm>
          <a:prstGeom prst="roundRect">
            <a:avLst>
              <a:gd name="adj" fmla="val 1307"/>
            </a:avLst>
          </a:prstGeom>
          <a:solidFill>
            <a:srgbClr val="1A2233"/>
          </a:solidFill>
          <a:ln w="12700">
            <a:solidFill>
              <a:srgbClr val="1A2233"/>
            </a:solidFill>
            <a:prstDash val="solid"/>
          </a:ln>
        </p:spPr>
      </p:sp>
      <p:sp>
        <p:nvSpPr>
          <p:cNvPr id="12" name="Text 9"/>
          <p:cNvSpPr txBox="1"/>
          <p:nvPr/>
        </p:nvSpPr>
        <p:spPr>
          <a:xfrm>
            <a:off x="7571232" y="1828800"/>
            <a:ext cx="3657600" cy="217932"/>
          </a:xfrm>
          <a:prstGeom prst="rect">
            <a:avLst/>
          </a:prstGeom>
          <a:noFill/>
          <a:ln/>
        </p:spPr>
        <p:txBody>
          <a:bodyPr wrap="square" lIns="0" tIns="0" rIns="0" bIns="0" rtlCol="0" anchor="t"/>
          <a:lstStyle/>
          <a:p>
            <a:pPr algn="l" indent="0" marL="0">
              <a:lnSpc>
                <a:spcPts val="1500"/>
              </a:lnSpc>
              <a:buNone/>
            </a:pPr>
            <a:r>
              <a:rPr lang="en-US" sz="1000" b="1" spc="160" kern="0" dirty="0">
                <a:solidFill>
                  <a:srgbClr val="8C97A8"/>
                </a:solidFill>
                <a:latin typeface="Pretendard" pitchFamily="34" charset="0"/>
                <a:ea typeface="Pretendard" pitchFamily="34" charset="-122"/>
                <a:cs typeface="Pretendard" pitchFamily="34" charset="-120"/>
              </a:rPr>
              <a:t>CUSTOMER VALUE PROPOSITION</a:t>
            </a:r>
            <a:endParaRPr lang="en-US" sz="1000" dirty="0"/>
          </a:p>
        </p:txBody>
      </p:sp>
      <p:sp>
        <p:nvSpPr>
          <p:cNvPr id="13" name="Text 10"/>
          <p:cNvSpPr txBox="1"/>
          <p:nvPr/>
        </p:nvSpPr>
        <p:spPr>
          <a:xfrm>
            <a:off x="7571232" y="2249424"/>
            <a:ext cx="3749040" cy="1475232"/>
          </a:xfrm>
          <a:prstGeom prst="rect">
            <a:avLst/>
          </a:prstGeom>
          <a:noFill/>
          <a:ln/>
        </p:spPr>
        <p:txBody>
          <a:bodyPr wrap="square" lIns="0" tIns="0" rIns="0" bIns="0" rtlCol="0" anchor="t"/>
          <a:lstStyle/>
          <a:p>
            <a:pPr algn="l" indent="0" marL="0">
              <a:lnSpc>
                <a:spcPts val="3800"/>
              </a:lnSpc>
              <a:buNone/>
            </a:pPr>
            <a:r>
              <a:rPr lang="en-US" sz="2300" b="1" dirty="0">
                <a:solidFill>
                  <a:srgbClr val="FFFFFF"/>
                </a:solidFill>
                <a:latin typeface="Pretendard" pitchFamily="34" charset="0"/>
                <a:ea typeface="Pretendard" pitchFamily="34" charset="-122"/>
                <a:cs typeface="Pretendard" pitchFamily="34" charset="-120"/>
              </a:rPr>
              <a:t>온라인에 GA가 있다면,</a:t>
            </a:r>
            <a:endParaRPr lang="en-US" sz="2300" dirty="0"/>
          </a:p>
          <a:p>
            <a:pPr algn="l" indent="0" marL="0">
              <a:lnSpc>
                <a:spcPts val="3800"/>
              </a:lnSpc>
              <a:buNone/>
            </a:pPr>
            <a:r>
              <a:rPr lang="en-US" sz="2300" b="1" dirty="0">
                <a:solidFill>
                  <a:srgbClr val="FFFFFF"/>
                </a:solidFill>
                <a:latin typeface="Pretendard" pitchFamily="34" charset="0"/>
                <a:ea typeface="Pretendard" pitchFamily="34" charset="-122"/>
                <a:cs typeface="Pretendard" pitchFamily="34" charset="-120"/>
              </a:rPr>
              <a:t>오프라인 매장에는</a:t>
            </a:r>
            <a:endParaRPr lang="en-US" sz="2300" dirty="0"/>
          </a:p>
          <a:p>
            <a:pPr algn="l" indent="0" marL="0">
              <a:lnSpc>
                <a:spcPts val="3800"/>
              </a:lnSpc>
              <a:buNone/>
            </a:pPr>
            <a:r>
              <a:rPr lang="en-US" sz="2300" b="1" dirty="0">
                <a:solidFill>
                  <a:srgbClr val="FFFFFF"/>
                </a:solidFill>
                <a:latin typeface="Pretendard" pitchFamily="34" charset="0"/>
                <a:ea typeface="Pretendard" pitchFamily="34" charset="-122"/>
                <a:cs typeface="Pretendard" pitchFamily="34" charset="-120"/>
              </a:rPr>
              <a:t>L.GA가 있습니다.</a:t>
            </a:r>
            <a:endParaRPr lang="en-US" sz="2300" dirty="0"/>
          </a:p>
        </p:txBody>
      </p:sp>
      <p:sp>
        <p:nvSpPr>
          <p:cNvPr id="14" name="Shape 11"/>
          <p:cNvSpPr/>
          <p:nvPr/>
        </p:nvSpPr>
        <p:spPr>
          <a:xfrm>
            <a:off x="7571232" y="3913632"/>
            <a:ext cx="786384" cy="365760"/>
          </a:xfrm>
          <a:prstGeom prst="roundRect">
            <a:avLst>
              <a:gd name="adj" fmla="val 12500"/>
            </a:avLst>
          </a:prstGeom>
          <a:solidFill>
            <a:srgbClr val="E11D2E"/>
          </a:solidFill>
          <a:ln/>
        </p:spPr>
      </p:sp>
      <p:sp>
        <p:nvSpPr>
          <p:cNvPr id="15" name="Text 12"/>
          <p:cNvSpPr txBox="1"/>
          <p:nvPr/>
        </p:nvSpPr>
        <p:spPr>
          <a:xfrm>
            <a:off x="7571232" y="3913632"/>
            <a:ext cx="786384" cy="365760"/>
          </a:xfrm>
          <a:prstGeom prst="rect">
            <a:avLst/>
          </a:prstGeom>
          <a:noFill/>
          <a:ln/>
        </p:spPr>
        <p:txBody>
          <a:bodyPr wrap="square" lIns="0" tIns="0" rIns="0" bIns="0" rtlCol="0" anchor="ctr"/>
          <a:lstStyle/>
          <a:p>
            <a:pPr algn="ctr" indent="0" marL="0">
              <a:lnSpc>
                <a:spcPts val="1700"/>
              </a:lnSpc>
              <a:buNone/>
            </a:pPr>
            <a:r>
              <a:rPr lang="en-US" sz="1150" b="1" dirty="0">
                <a:solidFill>
                  <a:srgbClr val="FFFFFF"/>
                </a:solidFill>
                <a:latin typeface="Pretendard" pitchFamily="34" charset="0"/>
                <a:ea typeface="Pretendard" pitchFamily="34" charset="-122"/>
                <a:cs typeface="Pretendard" pitchFamily="34" charset="-120"/>
              </a:rPr>
              <a:t>측정</a:t>
            </a:r>
            <a:endParaRPr lang="en-US" sz="1150" dirty="0"/>
          </a:p>
        </p:txBody>
      </p:sp>
      <p:sp>
        <p:nvSpPr>
          <p:cNvPr id="16" name="Text 13"/>
          <p:cNvSpPr txBox="1"/>
          <p:nvPr/>
        </p:nvSpPr>
        <p:spPr>
          <a:xfrm>
            <a:off x="8503920" y="3913632"/>
            <a:ext cx="2834640" cy="365760"/>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안 산 97명을 숫자로</a:t>
            </a:r>
            <a:endParaRPr lang="en-US" sz="1150" dirty="0"/>
          </a:p>
        </p:txBody>
      </p:sp>
      <p:sp>
        <p:nvSpPr>
          <p:cNvPr id="17" name="Shape 14"/>
          <p:cNvSpPr/>
          <p:nvPr/>
        </p:nvSpPr>
        <p:spPr>
          <a:xfrm>
            <a:off x="7571232" y="4462272"/>
            <a:ext cx="786384" cy="365760"/>
          </a:xfrm>
          <a:prstGeom prst="roundRect">
            <a:avLst>
              <a:gd name="adj" fmla="val 12500"/>
            </a:avLst>
          </a:prstGeom>
          <a:solidFill>
            <a:srgbClr val="E11D2E"/>
          </a:solidFill>
          <a:ln/>
        </p:spPr>
      </p:sp>
      <p:sp>
        <p:nvSpPr>
          <p:cNvPr id="18" name="Text 15"/>
          <p:cNvSpPr txBox="1"/>
          <p:nvPr/>
        </p:nvSpPr>
        <p:spPr>
          <a:xfrm>
            <a:off x="7571232" y="4462272"/>
            <a:ext cx="786384" cy="365760"/>
          </a:xfrm>
          <a:prstGeom prst="rect">
            <a:avLst/>
          </a:prstGeom>
          <a:noFill/>
          <a:ln/>
        </p:spPr>
        <p:txBody>
          <a:bodyPr wrap="square" lIns="0" tIns="0" rIns="0" bIns="0" rtlCol="0" anchor="ctr"/>
          <a:lstStyle/>
          <a:p>
            <a:pPr algn="ctr" indent="0" marL="0">
              <a:lnSpc>
                <a:spcPts val="1700"/>
              </a:lnSpc>
              <a:buNone/>
            </a:pPr>
            <a:r>
              <a:rPr lang="en-US" sz="1150" b="1" dirty="0">
                <a:solidFill>
                  <a:srgbClr val="FFFFFF"/>
                </a:solidFill>
                <a:latin typeface="Pretendard" pitchFamily="34" charset="0"/>
                <a:ea typeface="Pretendard" pitchFamily="34" charset="-122"/>
                <a:cs typeface="Pretendard" pitchFamily="34" charset="-120"/>
              </a:rPr>
              <a:t>처방</a:t>
            </a:r>
            <a:endParaRPr lang="en-US" sz="1150" dirty="0"/>
          </a:p>
        </p:txBody>
      </p:sp>
      <p:sp>
        <p:nvSpPr>
          <p:cNvPr id="19" name="Text 16"/>
          <p:cNvSpPr txBox="1"/>
          <p:nvPr/>
        </p:nvSpPr>
        <p:spPr>
          <a:xfrm>
            <a:off x="8503920" y="4462272"/>
            <a:ext cx="2834640" cy="365760"/>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그래서 무엇을 바꿔야 하는가</a:t>
            </a:r>
            <a:endParaRPr lang="en-US" sz="1150" dirty="0"/>
          </a:p>
        </p:txBody>
      </p:sp>
      <p:sp>
        <p:nvSpPr>
          <p:cNvPr id="20" name="Shape 17"/>
          <p:cNvSpPr/>
          <p:nvPr/>
        </p:nvSpPr>
        <p:spPr>
          <a:xfrm>
            <a:off x="7571232" y="5010912"/>
            <a:ext cx="786384" cy="365760"/>
          </a:xfrm>
          <a:prstGeom prst="roundRect">
            <a:avLst>
              <a:gd name="adj" fmla="val 12500"/>
            </a:avLst>
          </a:prstGeom>
          <a:solidFill>
            <a:srgbClr val="E11D2E"/>
          </a:solidFill>
          <a:ln/>
        </p:spPr>
      </p:sp>
      <p:sp>
        <p:nvSpPr>
          <p:cNvPr id="21" name="Text 18"/>
          <p:cNvSpPr txBox="1"/>
          <p:nvPr/>
        </p:nvSpPr>
        <p:spPr>
          <a:xfrm>
            <a:off x="7571232" y="5010912"/>
            <a:ext cx="786384" cy="365760"/>
          </a:xfrm>
          <a:prstGeom prst="rect">
            <a:avLst/>
          </a:prstGeom>
          <a:noFill/>
          <a:ln/>
        </p:spPr>
        <p:txBody>
          <a:bodyPr wrap="square" lIns="0" tIns="0" rIns="0" bIns="0" rtlCol="0" anchor="ctr"/>
          <a:lstStyle/>
          <a:p>
            <a:pPr algn="ctr" indent="0" marL="0">
              <a:lnSpc>
                <a:spcPts val="1700"/>
              </a:lnSpc>
              <a:buNone/>
            </a:pPr>
            <a:r>
              <a:rPr lang="en-US" sz="1150" b="1" dirty="0">
                <a:solidFill>
                  <a:srgbClr val="FFFFFF"/>
                </a:solidFill>
                <a:latin typeface="Pretendard" pitchFamily="34" charset="0"/>
                <a:ea typeface="Pretendard" pitchFamily="34" charset="-122"/>
                <a:cs typeface="Pretendard" pitchFamily="34" charset="-120"/>
              </a:rPr>
              <a:t>증명</a:t>
            </a:r>
            <a:endParaRPr lang="en-US" sz="1150" dirty="0"/>
          </a:p>
        </p:txBody>
      </p:sp>
      <p:sp>
        <p:nvSpPr>
          <p:cNvPr id="22" name="Text 19"/>
          <p:cNvSpPr txBox="1"/>
          <p:nvPr/>
        </p:nvSpPr>
        <p:spPr>
          <a:xfrm>
            <a:off x="8503920" y="5010912"/>
            <a:ext cx="2834640" cy="365760"/>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POS 결제로 전후 실측</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20"/>
        </a:solidFill>
      </p:bgPr>
    </p:bg>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01</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FFFFFF"/>
                </a:solidFill>
                <a:latin typeface="Pretendard" pitchFamily="34" charset="0"/>
                <a:ea typeface="Pretendard" pitchFamily="34" charset="-122"/>
                <a:cs typeface="Pretendard" pitchFamily="34" charset="-120"/>
              </a:rPr>
              <a:t>매일 97명의 데이터가 그냥 삭제됩니다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AEB8C7"/>
                </a:solidFill>
                <a:latin typeface="Pretendard" pitchFamily="34" charset="0"/>
                <a:ea typeface="Pretendard" pitchFamily="34" charset="-122"/>
                <a:cs typeface="Pretendard" pitchFamily="34" charset="-120"/>
              </a:rPr>
              <a:t>브랜드가 데이터로 아는 고객은 결제한 사람뿐입니다 — 온라인이라면 전부 로그로 남았을 데이터입니다</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F5A623"/>
                </a:solidFill>
                <a:latin typeface="Pretendard" pitchFamily="34" charset="0"/>
                <a:ea typeface="Pretendard" pitchFamily="34" charset="-122"/>
                <a:cs typeface="Pretendard" pitchFamily="34" charset="-120"/>
              </a:rPr>
              <a:t>PROBLEM</a:t>
            </a:r>
            <a:endParaRPr lang="en-US" sz="1100" dirty="0"/>
          </a:p>
        </p:txBody>
      </p:sp>
      <p:sp>
        <p:nvSpPr>
          <p:cNvPr id="8" name="Shape 5"/>
          <p:cNvSpPr/>
          <p:nvPr/>
        </p:nvSpPr>
        <p:spPr>
          <a:xfrm>
            <a:off x="566928" y="1481328"/>
            <a:ext cx="4937760" cy="4462272"/>
          </a:xfrm>
          <a:prstGeom prst="roundRect">
            <a:avLst>
              <a:gd name="adj" fmla="val 1230"/>
            </a:avLst>
          </a:prstGeom>
          <a:solidFill>
            <a:srgbClr val="1A2233"/>
          </a:solidFill>
          <a:ln w="12700">
            <a:solidFill>
              <a:srgbClr val="1A2233"/>
            </a:solidFill>
            <a:prstDash val="solid"/>
          </a:ln>
        </p:spPr>
      </p:sp>
      <p:sp>
        <p:nvSpPr>
          <p:cNvPr id="9" name="Text 6"/>
          <p:cNvSpPr txBox="1"/>
          <p:nvPr/>
        </p:nvSpPr>
        <p:spPr>
          <a:xfrm>
            <a:off x="932688" y="1956816"/>
            <a:ext cx="4023360" cy="281432"/>
          </a:xfrm>
          <a:prstGeom prst="rect">
            <a:avLst/>
          </a:prstGeom>
          <a:noFill/>
          <a:ln/>
        </p:spPr>
        <p:txBody>
          <a:bodyPr wrap="square" lIns="0" tIns="0" rIns="0" bIns="0" rtlCol="0" anchor="t"/>
          <a:lstStyle/>
          <a:p>
            <a:pPr algn="l" indent="0" marL="0">
              <a:lnSpc>
                <a:spcPts val="2000"/>
              </a:lnSpc>
              <a:buNone/>
            </a:pPr>
            <a:r>
              <a:rPr lang="en-US" sz="1300" dirty="0">
                <a:solidFill>
                  <a:srgbClr val="8C97A8"/>
                </a:solidFill>
                <a:latin typeface="Pretendard" pitchFamily="34" charset="0"/>
                <a:ea typeface="Pretendard" pitchFamily="34" charset="-122"/>
                <a:cs typeface="Pretendard" pitchFamily="34" charset="-120"/>
              </a:rPr>
              <a:t>매장에 들어오는 100명 중</a:t>
            </a:r>
            <a:endParaRPr lang="en-US" sz="1300" dirty="0"/>
          </a:p>
        </p:txBody>
      </p:sp>
      <p:sp>
        <p:nvSpPr>
          <p:cNvPr id="10" name="Text 7"/>
          <p:cNvSpPr txBox="1"/>
          <p:nvPr/>
        </p:nvSpPr>
        <p:spPr>
          <a:xfrm>
            <a:off x="932688" y="2340864"/>
            <a:ext cx="4206240" cy="1335024"/>
          </a:xfrm>
          <a:prstGeom prst="rect">
            <a:avLst/>
          </a:prstGeom>
          <a:noFill/>
          <a:ln/>
        </p:spPr>
        <p:txBody>
          <a:bodyPr wrap="square" lIns="0" tIns="0" rIns="0" bIns="0" rtlCol="0" anchor="b"/>
          <a:lstStyle/>
          <a:p>
            <a:pPr indent="0" marL="0">
              <a:buNone/>
            </a:pPr>
            <a:r>
              <a:rPr lang="en-US" sz="8800" b="1" dirty="0">
                <a:solidFill>
                  <a:srgbClr val="E11D2E"/>
                </a:solidFill>
                <a:latin typeface="Pretendard" pitchFamily="34" charset="0"/>
                <a:ea typeface="Pretendard" pitchFamily="34" charset="-122"/>
                <a:cs typeface="Pretendard" pitchFamily="34" charset="-120"/>
              </a:rPr>
              <a:t>3</a:t>
            </a:r>
            <a:pPr indent="0" marL="0">
              <a:buNone/>
            </a:pPr>
            <a:r>
              <a:rPr lang="en-US" sz="2100" b="1" dirty="0">
                <a:solidFill>
                  <a:srgbClr val="FFFFFF"/>
                </a:solidFill>
                <a:latin typeface="Pretendard" pitchFamily="34" charset="0"/>
                <a:ea typeface="Pretendard" pitchFamily="34" charset="-122"/>
                <a:cs typeface="Pretendard" pitchFamily="34" charset="-120"/>
              </a:rPr>
              <a:t>명만 구매합니다.</a:t>
            </a:r>
            <a:endParaRPr lang="en-US" sz="8800" dirty="0"/>
          </a:p>
        </p:txBody>
      </p:sp>
      <p:sp>
        <p:nvSpPr>
          <p:cNvPr id="11" name="Text 8"/>
          <p:cNvSpPr txBox="1"/>
          <p:nvPr/>
        </p:nvSpPr>
        <p:spPr>
          <a:xfrm>
            <a:off x="932688" y="3968496"/>
            <a:ext cx="4114800" cy="979932"/>
          </a:xfrm>
          <a:prstGeom prst="rect">
            <a:avLst/>
          </a:prstGeom>
          <a:noFill/>
          <a:ln/>
        </p:spPr>
        <p:txBody>
          <a:bodyPr wrap="square" lIns="0" tIns="0" rIns="0" bIns="0" rtlCol="0" anchor="t"/>
          <a:lstStyle/>
          <a:p>
            <a:pPr algn="l" indent="0" marL="0">
              <a:lnSpc>
                <a:spcPts val="2500"/>
              </a:lnSpc>
              <a:buNone/>
            </a:pPr>
            <a:r>
              <a:rPr lang="en-US" sz="1300" b="1" dirty="0">
                <a:solidFill>
                  <a:srgbClr val="F5A623"/>
                </a:solidFill>
                <a:latin typeface="Pretendard" pitchFamily="34" charset="0"/>
                <a:ea typeface="Pretendard" pitchFamily="34" charset="-122"/>
                <a:cs typeface="Pretendard" pitchFamily="34" charset="-120"/>
              </a:rPr>
              <a:t>나머지 97명이 무엇을 보고, 어디서 멈추고,</a:t>
            </a:r>
            <a:endParaRPr lang="en-US" sz="1300" dirty="0"/>
          </a:p>
          <a:p>
            <a:pPr algn="l" indent="0" marL="0">
              <a:lnSpc>
                <a:spcPts val="2500"/>
              </a:lnSpc>
              <a:buNone/>
            </a:pPr>
            <a:r>
              <a:rPr lang="en-US" sz="1300" b="1" dirty="0">
                <a:solidFill>
                  <a:srgbClr val="F5A623"/>
                </a:solidFill>
                <a:latin typeface="Pretendard" pitchFamily="34" charset="0"/>
                <a:ea typeface="Pretendard" pitchFamily="34" charset="-122"/>
                <a:cs typeface="Pretendard" pitchFamily="34" charset="-120"/>
              </a:rPr>
              <a:t>왜 돌아섰는지 —</a:t>
            </a:r>
            <a:endParaRPr lang="en-US" sz="1300" dirty="0"/>
          </a:p>
          <a:p>
            <a:pPr algn="l" indent="0" marL="0">
              <a:lnSpc>
                <a:spcPts val="2500"/>
              </a:lnSpc>
              <a:buNone/>
            </a:pPr>
            <a:r>
              <a:rPr lang="en-US" sz="1300" b="1" dirty="0">
                <a:solidFill>
                  <a:srgbClr val="F5A623"/>
                </a:solidFill>
                <a:latin typeface="Pretendard" pitchFamily="34" charset="0"/>
                <a:ea typeface="Pretendard" pitchFamily="34" charset="-122"/>
                <a:cs typeface="Pretendard" pitchFamily="34" charset="-120"/>
              </a:rPr>
              <a:t>매일 CCTV에 찍히고, 매일 그냥 삭제됩니다.</a:t>
            </a:r>
            <a:endParaRPr lang="en-US" sz="1300" dirty="0"/>
          </a:p>
        </p:txBody>
      </p:sp>
      <p:sp>
        <p:nvSpPr>
          <p:cNvPr id="12" name="Text 9"/>
          <p:cNvSpPr txBox="1"/>
          <p:nvPr/>
        </p:nvSpPr>
        <p:spPr>
          <a:xfrm>
            <a:off x="932688" y="5431536"/>
            <a:ext cx="4114800" cy="217932"/>
          </a:xfrm>
          <a:prstGeom prst="rect">
            <a:avLst/>
          </a:prstGeom>
          <a:noFill/>
          <a:ln/>
        </p:spPr>
        <p:txBody>
          <a:bodyPr wrap="square" lIns="0" tIns="0" rIns="0" bIns="0" rtlCol="0" anchor="t"/>
          <a:lstStyle/>
          <a:p>
            <a:pPr algn="l" indent="0" marL="0">
              <a:lnSpc>
                <a:spcPts val="1500"/>
              </a:lnSpc>
              <a:buNone/>
            </a:pPr>
            <a:r>
              <a:rPr lang="en-US" sz="1000" dirty="0">
                <a:solidFill>
                  <a:srgbClr val="8C97A8"/>
                </a:solidFill>
                <a:latin typeface="Pretendard" pitchFamily="34" charset="0"/>
                <a:ea typeface="Pretendard" pitchFamily="34" charset="-122"/>
                <a:cs typeface="Pretendard" pitchFamily="34" charset="-120"/>
              </a:rPr>
              <a:t>업계 통상치 기반 추정 · 롯데 내부 POS·게이트 데이터로 검증 필요</a:t>
            </a:r>
            <a:endParaRPr lang="en-US" sz="1000" dirty="0"/>
          </a:p>
        </p:txBody>
      </p:sp>
      <p:sp>
        <p:nvSpPr>
          <p:cNvPr id="13" name="Text 10"/>
          <p:cNvSpPr txBox="1"/>
          <p:nvPr/>
        </p:nvSpPr>
        <p:spPr>
          <a:xfrm>
            <a:off x="5779008" y="1499616"/>
            <a:ext cx="5843016"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8C97A8"/>
                </a:solidFill>
                <a:latin typeface="Pretendard" pitchFamily="34" charset="0"/>
                <a:ea typeface="Pretendard" pitchFamily="34" charset="-122"/>
                <a:cs typeface="Pretendard" pitchFamily="34" charset="-120"/>
              </a:rPr>
              <a:t>그래서 팝업이 끝나면</a:t>
            </a:r>
            <a:endParaRPr lang="en-US" sz="1250" dirty="0"/>
          </a:p>
        </p:txBody>
      </p:sp>
      <p:sp>
        <p:nvSpPr>
          <p:cNvPr id="14" name="Shape 11"/>
          <p:cNvSpPr/>
          <p:nvPr/>
        </p:nvSpPr>
        <p:spPr>
          <a:xfrm>
            <a:off x="5779008" y="1938528"/>
            <a:ext cx="5843016" cy="905256"/>
          </a:xfrm>
          <a:prstGeom prst="roundRect">
            <a:avLst>
              <a:gd name="adj" fmla="val 6061"/>
            </a:avLst>
          </a:prstGeom>
          <a:solidFill>
            <a:srgbClr val="1A2233"/>
          </a:solidFill>
          <a:ln w="12700">
            <a:solidFill>
              <a:srgbClr val="1A2233"/>
            </a:solidFill>
            <a:prstDash val="solid"/>
          </a:ln>
        </p:spPr>
      </p:sp>
      <p:sp>
        <p:nvSpPr>
          <p:cNvPr id="15" name="Shape 12"/>
          <p:cNvSpPr/>
          <p:nvPr/>
        </p:nvSpPr>
        <p:spPr>
          <a:xfrm>
            <a:off x="6035040" y="2199132"/>
            <a:ext cx="384048" cy="384048"/>
          </a:xfrm>
          <a:prstGeom prst="ellipse">
            <a:avLst/>
          </a:prstGeom>
          <a:solidFill>
            <a:srgbClr val="E11D2E"/>
          </a:solidFill>
          <a:ln/>
        </p:spPr>
      </p:sp>
      <p:sp>
        <p:nvSpPr>
          <p:cNvPr id="16" name="Text 13"/>
          <p:cNvSpPr txBox="1"/>
          <p:nvPr/>
        </p:nvSpPr>
        <p:spPr>
          <a:xfrm>
            <a:off x="6035040" y="2199132"/>
            <a:ext cx="384048" cy="38404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1</a:t>
            </a:r>
            <a:endParaRPr lang="en-US" sz="1300" dirty="0"/>
          </a:p>
        </p:txBody>
      </p:sp>
      <p:sp>
        <p:nvSpPr>
          <p:cNvPr id="17" name="Text 14"/>
          <p:cNvSpPr txBox="1"/>
          <p:nvPr/>
        </p:nvSpPr>
        <p:spPr>
          <a:xfrm>
            <a:off x="6565392" y="2141474"/>
            <a:ext cx="4782312"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손에 쥐는 건 매출 총액과 인스타 해시태그 개수뿐</a:t>
            </a:r>
            <a:endParaRPr lang="en-US" sz="1300" dirty="0"/>
          </a:p>
        </p:txBody>
      </p:sp>
      <p:sp>
        <p:nvSpPr>
          <p:cNvPr id="18" name="Text 15"/>
          <p:cNvSpPr txBox="1"/>
          <p:nvPr/>
        </p:nvSpPr>
        <p:spPr>
          <a:xfrm>
            <a:off x="6565392" y="2450338"/>
            <a:ext cx="4782312"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Pretendard" pitchFamily="34" charset="0"/>
                <a:ea typeface="Pretendard" pitchFamily="34" charset="-122"/>
                <a:cs typeface="Pretendard" pitchFamily="34" charset="-120"/>
              </a:rPr>
              <a:t>팝업 1회 운영비는 수천만원 단위인데, 남는 자료는 A4 한 장입니다</a:t>
            </a:r>
            <a:endParaRPr lang="en-US" sz="1000" dirty="0"/>
          </a:p>
        </p:txBody>
      </p:sp>
      <p:sp>
        <p:nvSpPr>
          <p:cNvPr id="19" name="Shape 16"/>
          <p:cNvSpPr/>
          <p:nvPr/>
        </p:nvSpPr>
        <p:spPr>
          <a:xfrm>
            <a:off x="5779008" y="2971800"/>
            <a:ext cx="5843016" cy="905256"/>
          </a:xfrm>
          <a:prstGeom prst="roundRect">
            <a:avLst>
              <a:gd name="adj" fmla="val 6061"/>
            </a:avLst>
          </a:prstGeom>
          <a:solidFill>
            <a:srgbClr val="1A2233"/>
          </a:solidFill>
          <a:ln w="12700">
            <a:solidFill>
              <a:srgbClr val="1A2233"/>
            </a:solidFill>
            <a:prstDash val="solid"/>
          </a:ln>
        </p:spPr>
      </p:sp>
      <p:sp>
        <p:nvSpPr>
          <p:cNvPr id="20" name="Shape 17"/>
          <p:cNvSpPr/>
          <p:nvPr/>
        </p:nvSpPr>
        <p:spPr>
          <a:xfrm>
            <a:off x="6035040" y="3232404"/>
            <a:ext cx="384048" cy="384048"/>
          </a:xfrm>
          <a:prstGeom prst="ellipse">
            <a:avLst/>
          </a:prstGeom>
          <a:solidFill>
            <a:srgbClr val="E11D2E"/>
          </a:solidFill>
          <a:ln/>
        </p:spPr>
      </p:sp>
      <p:sp>
        <p:nvSpPr>
          <p:cNvPr id="21" name="Text 18"/>
          <p:cNvSpPr txBox="1"/>
          <p:nvPr/>
        </p:nvSpPr>
        <p:spPr>
          <a:xfrm>
            <a:off x="6035040" y="3232404"/>
            <a:ext cx="384048" cy="38404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2</a:t>
            </a:r>
            <a:endParaRPr lang="en-US" sz="1300" dirty="0"/>
          </a:p>
        </p:txBody>
      </p:sp>
      <p:sp>
        <p:nvSpPr>
          <p:cNvPr id="22" name="Text 19"/>
          <p:cNvSpPr txBox="1"/>
          <p:nvPr/>
        </p:nvSpPr>
        <p:spPr>
          <a:xfrm>
            <a:off x="6565392" y="3174746"/>
            <a:ext cx="4782312"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온 사람 중 신규가 몇 %인지 모른다</a:t>
            </a:r>
            <a:endParaRPr lang="en-US" sz="1300" dirty="0"/>
          </a:p>
        </p:txBody>
      </p:sp>
      <p:sp>
        <p:nvSpPr>
          <p:cNvPr id="23" name="Text 20"/>
          <p:cNvSpPr txBox="1"/>
          <p:nvPr/>
        </p:nvSpPr>
        <p:spPr>
          <a:xfrm>
            <a:off x="6565392" y="3483610"/>
            <a:ext cx="4782312"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Pretendard" pitchFamily="34" charset="0"/>
                <a:ea typeface="Pretendard" pitchFamily="34" charset="-122"/>
                <a:cs typeface="Pretendard" pitchFamily="34" charset="-120"/>
              </a:rPr>
              <a:t>매출이 잘 나와도 기존 고객만 다시 온 것일 수 있습니다</a:t>
            </a:r>
            <a:endParaRPr lang="en-US" sz="1000" dirty="0"/>
          </a:p>
        </p:txBody>
      </p:sp>
      <p:sp>
        <p:nvSpPr>
          <p:cNvPr id="24" name="Shape 21"/>
          <p:cNvSpPr/>
          <p:nvPr/>
        </p:nvSpPr>
        <p:spPr>
          <a:xfrm>
            <a:off x="5779008" y="4005072"/>
            <a:ext cx="5843016" cy="905256"/>
          </a:xfrm>
          <a:prstGeom prst="roundRect">
            <a:avLst>
              <a:gd name="adj" fmla="val 6061"/>
            </a:avLst>
          </a:prstGeom>
          <a:solidFill>
            <a:srgbClr val="1A2233"/>
          </a:solidFill>
          <a:ln w="12700">
            <a:solidFill>
              <a:srgbClr val="1A2233"/>
            </a:solidFill>
            <a:prstDash val="solid"/>
          </a:ln>
        </p:spPr>
      </p:sp>
      <p:sp>
        <p:nvSpPr>
          <p:cNvPr id="25" name="Shape 22"/>
          <p:cNvSpPr/>
          <p:nvPr/>
        </p:nvSpPr>
        <p:spPr>
          <a:xfrm>
            <a:off x="6035040" y="4265676"/>
            <a:ext cx="384048" cy="384048"/>
          </a:xfrm>
          <a:prstGeom prst="ellipse">
            <a:avLst/>
          </a:prstGeom>
          <a:solidFill>
            <a:srgbClr val="E11D2E"/>
          </a:solidFill>
          <a:ln/>
        </p:spPr>
      </p:sp>
      <p:sp>
        <p:nvSpPr>
          <p:cNvPr id="26" name="Text 23"/>
          <p:cNvSpPr txBox="1"/>
          <p:nvPr/>
        </p:nvSpPr>
        <p:spPr>
          <a:xfrm>
            <a:off x="6035040" y="4265676"/>
            <a:ext cx="384048" cy="38404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3</a:t>
            </a:r>
            <a:endParaRPr lang="en-US" sz="1300" dirty="0"/>
          </a:p>
        </p:txBody>
      </p:sp>
      <p:sp>
        <p:nvSpPr>
          <p:cNvPr id="27" name="Text 24"/>
          <p:cNvSpPr txBox="1"/>
          <p:nvPr/>
        </p:nvSpPr>
        <p:spPr>
          <a:xfrm>
            <a:off x="6565392" y="4208018"/>
            <a:ext cx="4782312"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안 산 사람이 누구인지 모른다</a:t>
            </a:r>
            <a:endParaRPr lang="en-US" sz="1300" dirty="0"/>
          </a:p>
        </p:txBody>
      </p:sp>
      <p:sp>
        <p:nvSpPr>
          <p:cNvPr id="28" name="Text 25"/>
          <p:cNvSpPr txBox="1"/>
          <p:nvPr/>
        </p:nvSpPr>
        <p:spPr>
          <a:xfrm>
            <a:off x="6565392" y="4516882"/>
            <a:ext cx="4782312"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Pretendard" pitchFamily="34" charset="0"/>
                <a:ea typeface="Pretendard" pitchFamily="34" charset="-122"/>
                <a:cs typeface="Pretendard" pitchFamily="34" charset="-120"/>
              </a:rPr>
              <a:t>가격이 문제였는지 타깃이 문제였는지 끝내 알 수 없습니다</a:t>
            </a:r>
            <a:endParaRPr lang="en-US" sz="1000" dirty="0"/>
          </a:p>
        </p:txBody>
      </p:sp>
      <p:sp>
        <p:nvSpPr>
          <p:cNvPr id="29" name="Shape 26"/>
          <p:cNvSpPr/>
          <p:nvPr/>
        </p:nvSpPr>
        <p:spPr>
          <a:xfrm>
            <a:off x="5779008" y="5038344"/>
            <a:ext cx="5843016" cy="905256"/>
          </a:xfrm>
          <a:prstGeom prst="roundRect">
            <a:avLst>
              <a:gd name="adj" fmla="val 6061"/>
            </a:avLst>
          </a:prstGeom>
          <a:solidFill>
            <a:srgbClr val="1A2233"/>
          </a:solidFill>
          <a:ln w="12700">
            <a:solidFill>
              <a:srgbClr val="1A2233"/>
            </a:solidFill>
            <a:prstDash val="solid"/>
          </a:ln>
        </p:spPr>
      </p:sp>
      <p:sp>
        <p:nvSpPr>
          <p:cNvPr id="30" name="Shape 27"/>
          <p:cNvSpPr/>
          <p:nvPr/>
        </p:nvSpPr>
        <p:spPr>
          <a:xfrm>
            <a:off x="6035040" y="5298948"/>
            <a:ext cx="384048" cy="384048"/>
          </a:xfrm>
          <a:prstGeom prst="ellipse">
            <a:avLst/>
          </a:prstGeom>
          <a:solidFill>
            <a:srgbClr val="E11D2E"/>
          </a:solidFill>
          <a:ln/>
        </p:spPr>
      </p:sp>
      <p:sp>
        <p:nvSpPr>
          <p:cNvPr id="31" name="Text 28"/>
          <p:cNvSpPr txBox="1"/>
          <p:nvPr/>
        </p:nvSpPr>
        <p:spPr>
          <a:xfrm>
            <a:off x="6035040" y="5298948"/>
            <a:ext cx="384048" cy="38404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4</a:t>
            </a:r>
            <a:endParaRPr lang="en-US" sz="1300" dirty="0"/>
          </a:p>
        </p:txBody>
      </p:sp>
      <p:sp>
        <p:nvSpPr>
          <p:cNvPr id="32" name="Text 29"/>
          <p:cNvSpPr txBox="1"/>
          <p:nvPr/>
        </p:nvSpPr>
        <p:spPr>
          <a:xfrm>
            <a:off x="6565392" y="5241290"/>
            <a:ext cx="4782312" cy="281432"/>
          </a:xfrm>
          <a:prstGeom prst="rect">
            <a:avLst/>
          </a:prstGeom>
          <a:noFill/>
          <a:ln/>
        </p:spPr>
        <p:txBody>
          <a:bodyPr wrap="square" lIns="0" tIns="0" rIns="0" bIns="0" rtlCol="0" anchor="t"/>
          <a:lstStyle/>
          <a:p>
            <a:pPr algn="l"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그래서 다음 팝업도 감으로 연다</a:t>
            </a:r>
            <a:endParaRPr lang="en-US" sz="1300" dirty="0"/>
          </a:p>
        </p:txBody>
      </p:sp>
      <p:sp>
        <p:nvSpPr>
          <p:cNvPr id="33" name="Text 30"/>
          <p:cNvSpPr txBox="1"/>
          <p:nvPr/>
        </p:nvSpPr>
        <p:spPr>
          <a:xfrm>
            <a:off x="6565392" y="5550154"/>
            <a:ext cx="4782312"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Pretendard" pitchFamily="34" charset="0"/>
                <a:ea typeface="Pretendard" pitchFamily="34" charset="-122"/>
                <a:cs typeface="Pretendard" pitchFamily="34" charset="-120"/>
              </a:rPr>
              <a:t>같은 실수를 반복하고, 실패의 이유가 기록되지 않습니다</a:t>
            </a:r>
            <a:endParaRPr lang="en-US" sz="1000" dirty="0"/>
          </a:p>
        </p:txBody>
      </p:sp>
      <p:sp>
        <p:nvSpPr>
          <p:cNvPr id="34" name="Text 31"/>
          <p:cNvSpPr txBox="1"/>
          <p:nvPr/>
        </p:nvSpPr>
        <p:spPr>
          <a:xfrm>
            <a:off x="566928" y="6163056"/>
            <a:ext cx="11055096" cy="365760"/>
          </a:xfrm>
          <a:prstGeom prst="rect">
            <a:avLst/>
          </a:prstGeom>
          <a:noFill/>
          <a:ln/>
        </p:spPr>
        <p:txBody>
          <a:bodyPr wrap="square" lIns="0" tIns="0" rIns="0" bIns="0" rtlCol="0" anchor="ctr"/>
          <a:lstStyle/>
          <a:p>
            <a:pPr algn="ctr" indent="0" marL="0">
              <a:lnSpc>
                <a:spcPts val="2000"/>
              </a:lnSpc>
              <a:buNone/>
            </a:pPr>
            <a:r>
              <a:rPr lang="en-US" sz="1300" b="1" dirty="0">
                <a:solidFill>
                  <a:srgbClr val="F5A623"/>
                </a:solidFill>
                <a:latin typeface="Pretendard" pitchFamily="34" charset="0"/>
                <a:ea typeface="Pretendard" pitchFamily="34" charset="-122"/>
                <a:cs typeface="Pretendard" pitchFamily="34" charset="-120"/>
              </a:rPr>
              <a:t>온라인 쇼핑몰이라면 전부 남는 기록입니다.  오프라인에서만 사라집니다.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01</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이 문제를 가진 고객은 누구인가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성과 측정 니즈가 가장 절박한 곳부터, 안에서 밖으로</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PROBLEM</a:t>
            </a:r>
            <a:endParaRPr lang="en-US" sz="1100" dirty="0"/>
          </a:p>
        </p:txBody>
      </p:sp>
      <p:sp>
        <p:nvSpPr>
          <p:cNvPr id="8" name="Shape 5"/>
          <p:cNvSpPr/>
          <p:nvPr/>
        </p:nvSpPr>
        <p:spPr>
          <a:xfrm>
            <a:off x="566928" y="1481328"/>
            <a:ext cx="3587496" cy="1874063"/>
          </a:xfrm>
          <a:prstGeom prst="roundRect">
            <a:avLst>
              <a:gd name="adj" fmla="val 2928"/>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737132"/>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Pretendard" pitchFamily="34" charset="0"/>
                <a:ea typeface="Pretendard" pitchFamily="34" charset="-122"/>
                <a:cs typeface="Pretendard" pitchFamily="34" charset="-120"/>
              </a:rPr>
              <a:t>1차 · 핵심</a:t>
            </a:r>
            <a:endParaRPr lang="en-US" sz="1100" dirty="0"/>
          </a:p>
        </p:txBody>
      </p:sp>
      <p:sp>
        <p:nvSpPr>
          <p:cNvPr id="10" name="Text 7"/>
          <p:cNvSpPr txBox="1"/>
          <p:nvPr/>
        </p:nvSpPr>
        <p:spPr>
          <a:xfrm>
            <a:off x="841248" y="2053616"/>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Pretendard" pitchFamily="34" charset="0"/>
                <a:ea typeface="Pretendard" pitchFamily="34" charset="-122"/>
                <a:cs typeface="Pretendard" pitchFamily="34" charset="-120"/>
              </a:rPr>
              <a:t>롯데 팝업 브랜드</a:t>
            </a:r>
            <a:endParaRPr lang="en-US" sz="1800" dirty="0"/>
          </a:p>
        </p:txBody>
      </p:sp>
      <p:sp>
        <p:nvSpPr>
          <p:cNvPr id="11" name="Text 8"/>
          <p:cNvSpPr txBox="1"/>
          <p:nvPr/>
        </p:nvSpPr>
        <p:spPr>
          <a:xfrm>
            <a:off x="841248" y="2470176"/>
            <a:ext cx="3038856" cy="675132"/>
          </a:xfrm>
          <a:prstGeom prst="rect">
            <a:avLst/>
          </a:prstGeom>
          <a:noFill/>
          <a:ln/>
        </p:spPr>
        <p:txBody>
          <a:bodyPr wrap="square" lIns="0" tIns="0" rIns="0" bIns="0" rtlCol="0" anchor="t"/>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백화점·몰·아울렛에 팝업을 여는 브랜드. 특히 정규 입점을 노리는 D2C·신생 브랜드.</a:t>
            </a:r>
            <a:endParaRPr lang="en-US" sz="1150" dirty="0"/>
          </a:p>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연 약 2,000건 (가정 · 검증필요)</a:t>
            </a:r>
            <a:endParaRPr lang="en-US" sz="1150" dirty="0"/>
          </a:p>
        </p:txBody>
      </p:sp>
      <p:sp>
        <p:nvSpPr>
          <p:cNvPr id="12" name="Shape 9"/>
          <p:cNvSpPr/>
          <p:nvPr/>
        </p:nvSpPr>
        <p:spPr>
          <a:xfrm>
            <a:off x="4300728" y="1481328"/>
            <a:ext cx="3587496" cy="1874063"/>
          </a:xfrm>
          <a:prstGeom prst="roundRect">
            <a:avLst>
              <a:gd name="adj" fmla="val 2928"/>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737132"/>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2차 · 리커링</a:t>
            </a:r>
            <a:endParaRPr lang="en-US" sz="1100" dirty="0"/>
          </a:p>
        </p:txBody>
      </p:sp>
      <p:sp>
        <p:nvSpPr>
          <p:cNvPr id="14" name="Text 11"/>
          <p:cNvSpPr txBox="1"/>
          <p:nvPr/>
        </p:nvSpPr>
        <p:spPr>
          <a:xfrm>
            <a:off x="4575048" y="2053616"/>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Pretendard" pitchFamily="34" charset="0"/>
                <a:ea typeface="Pretendard" pitchFamily="34" charset="-122"/>
                <a:cs typeface="Pretendard" pitchFamily="34" charset="-120"/>
              </a:rPr>
              <a:t>상설 입점 브랜드 매장</a:t>
            </a:r>
            <a:endParaRPr lang="en-US" sz="1800" dirty="0"/>
          </a:p>
        </p:txBody>
      </p:sp>
      <p:sp>
        <p:nvSpPr>
          <p:cNvPr id="15" name="Text 12"/>
          <p:cNvSpPr txBox="1"/>
          <p:nvPr/>
        </p:nvSpPr>
        <p:spPr>
          <a:xfrm>
            <a:off x="4575048" y="2470176"/>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팝업에서 검증된 브랜드가 정규 매장을 열 때 월 구독으로 전환</a:t>
            </a:r>
            <a:endParaRPr lang="en-US" sz="1150" dirty="0"/>
          </a:p>
        </p:txBody>
      </p:sp>
      <p:sp>
        <p:nvSpPr>
          <p:cNvPr id="16" name="Shape 13"/>
          <p:cNvSpPr/>
          <p:nvPr/>
        </p:nvSpPr>
        <p:spPr>
          <a:xfrm>
            <a:off x="8034528" y="1481328"/>
            <a:ext cx="3587496" cy="1874063"/>
          </a:xfrm>
          <a:prstGeom prst="roundRect">
            <a:avLst>
              <a:gd name="adj" fmla="val 2928"/>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1737132"/>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0차 · 첫 고객</a:t>
            </a:r>
            <a:endParaRPr lang="en-US" sz="1100" dirty="0"/>
          </a:p>
        </p:txBody>
      </p:sp>
      <p:sp>
        <p:nvSpPr>
          <p:cNvPr id="18" name="Text 15"/>
          <p:cNvSpPr txBox="1"/>
          <p:nvPr/>
        </p:nvSpPr>
        <p:spPr>
          <a:xfrm>
            <a:off x="8308848" y="2053616"/>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Pretendard" pitchFamily="34" charset="0"/>
                <a:ea typeface="Pretendard" pitchFamily="34" charset="-122"/>
                <a:cs typeface="Pretendard" pitchFamily="34" charset="-120"/>
              </a:rPr>
              <a:t>롯데 내부 MD · 계열사</a:t>
            </a:r>
            <a:endParaRPr lang="en-US" sz="1800" dirty="0"/>
          </a:p>
        </p:txBody>
      </p:sp>
      <p:sp>
        <p:nvSpPr>
          <p:cNvPr id="19" name="Text 16"/>
          <p:cNvSpPr txBox="1"/>
          <p:nvPr/>
        </p:nvSpPr>
        <p:spPr>
          <a:xfrm>
            <a:off x="8308848" y="2470176"/>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백화점이 자기 매장 최적화를 위해 먼저 쓴다. 매출 0원, 대신 데이터와 레퍼런스</a:t>
            </a:r>
            <a:endParaRPr lang="en-US" sz="1150" dirty="0"/>
          </a:p>
        </p:txBody>
      </p:sp>
      <p:sp>
        <p:nvSpPr>
          <p:cNvPr id="20" name="Text 17"/>
          <p:cNvSpPr txBox="1"/>
          <p:nvPr/>
        </p:nvSpPr>
        <p:spPr>
          <a:xfrm>
            <a:off x="566928" y="3538271"/>
            <a:ext cx="11055096"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Pretendard" pitchFamily="34" charset="0"/>
                <a:ea typeface="Pretendard" pitchFamily="34" charset="-122"/>
                <a:cs typeface="Pretendard" pitchFamily="34" charset="-120"/>
              </a:rPr>
              <a:t>왜 지금까지 아무도 못 풀었나 — 조각이 흩어져 있었습니다</a:t>
            </a:r>
            <a:endParaRPr lang="en-US" sz="1250" dirty="0"/>
          </a:p>
        </p:txBody>
      </p:sp>
      <p:sp>
        <p:nvSpPr>
          <p:cNvPr id="21" name="Shape 18"/>
          <p:cNvSpPr/>
          <p:nvPr/>
        </p:nvSpPr>
        <p:spPr>
          <a:xfrm>
            <a:off x="566928" y="3867455"/>
            <a:ext cx="3587496" cy="1216609"/>
          </a:xfrm>
          <a:prstGeom prst="roundRect">
            <a:avLst>
              <a:gd name="adj" fmla="val 4510"/>
            </a:avLst>
          </a:prstGeom>
          <a:solidFill>
            <a:srgbClr val="EFF3F8"/>
          </a:solidFill>
          <a:ln w="12700">
            <a:solidFill>
              <a:srgbClr val="EFF3F8"/>
            </a:solidFill>
            <a:prstDash val="solid"/>
          </a:ln>
        </p:spPr>
      </p:sp>
      <p:sp>
        <p:nvSpPr>
          <p:cNvPr id="22" name="Text 19"/>
          <p:cNvSpPr txBox="1"/>
          <p:nvPr/>
        </p:nvSpPr>
        <p:spPr>
          <a:xfrm>
            <a:off x="841248" y="4110508"/>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롯데백화점</a:t>
            </a:r>
            <a:endParaRPr lang="en-US" sz="1350" dirty="0"/>
          </a:p>
        </p:txBody>
      </p:sp>
      <p:sp>
        <p:nvSpPr>
          <p:cNvPr id="23" name="Text 20"/>
          <p:cNvSpPr txBox="1"/>
          <p:nvPr/>
        </p:nvSpPr>
        <p:spPr>
          <a:xfrm>
            <a:off x="841248" y="4450868"/>
            <a:ext cx="303885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공간 · 트래픽 · POS는 있는데 — 매장 안을 측정할 수단이 없다</a:t>
            </a:r>
            <a:endParaRPr lang="en-US" sz="1000" dirty="0"/>
          </a:p>
        </p:txBody>
      </p:sp>
      <p:sp>
        <p:nvSpPr>
          <p:cNvPr id="24" name="Shape 21"/>
          <p:cNvSpPr/>
          <p:nvPr/>
        </p:nvSpPr>
        <p:spPr>
          <a:xfrm>
            <a:off x="4300728" y="3867455"/>
            <a:ext cx="3587496" cy="1216609"/>
          </a:xfrm>
          <a:prstGeom prst="roundRect">
            <a:avLst>
              <a:gd name="adj" fmla="val 4510"/>
            </a:avLst>
          </a:prstGeom>
          <a:solidFill>
            <a:srgbClr val="EFF3F8"/>
          </a:solidFill>
          <a:ln w="12700">
            <a:solidFill>
              <a:srgbClr val="EFF3F8"/>
            </a:solidFill>
            <a:prstDash val="solid"/>
          </a:ln>
        </p:spPr>
      </p:sp>
      <p:sp>
        <p:nvSpPr>
          <p:cNvPr id="25" name="Text 22"/>
          <p:cNvSpPr txBox="1"/>
          <p:nvPr/>
        </p:nvSpPr>
        <p:spPr>
          <a:xfrm>
            <a:off x="4575048" y="4110508"/>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롯데이노베이트</a:t>
            </a:r>
            <a:endParaRPr lang="en-US" sz="1350" dirty="0"/>
          </a:p>
        </p:txBody>
      </p:sp>
      <p:sp>
        <p:nvSpPr>
          <p:cNvPr id="26" name="Text 23"/>
          <p:cNvSpPr txBox="1"/>
          <p:nvPr/>
        </p:nvSpPr>
        <p:spPr>
          <a:xfrm>
            <a:off x="4575048" y="4450868"/>
            <a:ext cx="303885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비전 AI 기술은 있는데 — 고객 소비 이력과 결제 데이터가 없다</a:t>
            </a:r>
            <a:endParaRPr lang="en-US" sz="1000" dirty="0"/>
          </a:p>
        </p:txBody>
      </p:sp>
      <p:sp>
        <p:nvSpPr>
          <p:cNvPr id="27" name="Shape 24"/>
          <p:cNvSpPr/>
          <p:nvPr/>
        </p:nvSpPr>
        <p:spPr>
          <a:xfrm>
            <a:off x="8034528" y="3867455"/>
            <a:ext cx="3587496" cy="1216609"/>
          </a:xfrm>
          <a:prstGeom prst="roundRect">
            <a:avLst>
              <a:gd name="adj" fmla="val 4510"/>
            </a:avLst>
          </a:prstGeom>
          <a:solidFill>
            <a:srgbClr val="EFF3F8"/>
          </a:solidFill>
          <a:ln w="12700">
            <a:solidFill>
              <a:srgbClr val="EFF3F8"/>
            </a:solidFill>
            <a:prstDash val="solid"/>
          </a:ln>
        </p:spPr>
      </p:sp>
      <p:sp>
        <p:nvSpPr>
          <p:cNvPr id="28" name="Text 25"/>
          <p:cNvSpPr txBox="1"/>
          <p:nvPr/>
        </p:nvSpPr>
        <p:spPr>
          <a:xfrm>
            <a:off x="8308848" y="4110508"/>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롯데멤버스</a:t>
            </a:r>
            <a:endParaRPr lang="en-US" sz="1350" dirty="0"/>
          </a:p>
        </p:txBody>
      </p:sp>
      <p:sp>
        <p:nvSpPr>
          <p:cNvPr id="29" name="Text 26"/>
          <p:cNvSpPr txBox="1"/>
          <p:nvPr/>
        </p:nvSpPr>
        <p:spPr>
          <a:xfrm>
            <a:off x="8308848" y="4450868"/>
            <a:ext cx="303885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L.POINT 소비 이력은 있는데 — 매장 안에서 무슨 일이 있었는지 모른다</a:t>
            </a:r>
            <a:endParaRPr lang="en-US" sz="1000" dirty="0"/>
          </a:p>
        </p:txBody>
      </p:sp>
      <p:sp>
        <p:nvSpPr>
          <p:cNvPr id="30" name="Shape 27"/>
          <p:cNvSpPr/>
          <p:nvPr/>
        </p:nvSpPr>
        <p:spPr>
          <a:xfrm>
            <a:off x="566928" y="5358384"/>
            <a:ext cx="11055096" cy="749808"/>
          </a:xfrm>
          <a:prstGeom prst="roundRect">
            <a:avLst>
              <a:gd name="adj" fmla="val 7317"/>
            </a:avLst>
          </a:prstGeom>
          <a:solidFill>
            <a:srgbClr val="0E1420"/>
          </a:solidFill>
          <a:ln/>
        </p:spPr>
      </p:sp>
      <p:sp>
        <p:nvSpPr>
          <p:cNvPr id="31" name="Text 28"/>
          <p:cNvSpPr txBox="1"/>
          <p:nvPr/>
        </p:nvSpPr>
        <p:spPr>
          <a:xfrm>
            <a:off x="932688" y="5358384"/>
            <a:ext cx="10323576" cy="749808"/>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세 조각이 다 모여야 성립하는 사업입니다.  그래서 지금까지 아무도 못 했습니다.</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0"/>
        </a:solidFill>
      </p:bgPr>
    </p:bg>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02</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FFFFFF"/>
                </a:solidFill>
                <a:latin typeface="Pretendard" pitchFamily="34" charset="0"/>
                <a:ea typeface="Pretendard" pitchFamily="34" charset="-122"/>
                <a:cs typeface="Pretendard" pitchFamily="34" charset="-120"/>
              </a:rPr>
              <a:t>브랜드가 모르는 자기 고객을 알려드립니다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AEB8C7"/>
                </a:solidFill>
                <a:latin typeface="Pretendard" pitchFamily="34" charset="0"/>
                <a:ea typeface="Pretendard" pitchFamily="34" charset="-122"/>
                <a:cs typeface="Pretendard" pitchFamily="34" charset="-120"/>
              </a:rPr>
              <a:t>팝업이 끝나면 브랜드에게 드리는 다섯 가지 — 스스로는 절대 알 수 없는 답</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F5A623"/>
                </a:solidFill>
                <a:latin typeface="Pretendard" pitchFamily="34" charset="0"/>
                <a:ea typeface="Pretendard" pitchFamily="34" charset="-122"/>
                <a:cs typeface="Pretendard" pitchFamily="34" charset="-120"/>
              </a:rPr>
              <a:t>SOLUTION</a:t>
            </a:r>
            <a:endParaRPr lang="en-US" sz="1100" dirty="0"/>
          </a:p>
        </p:txBody>
      </p:sp>
      <p:sp>
        <p:nvSpPr>
          <p:cNvPr id="8" name="Shape 5"/>
          <p:cNvSpPr/>
          <p:nvPr/>
        </p:nvSpPr>
        <p:spPr>
          <a:xfrm>
            <a:off x="566928" y="1481328"/>
            <a:ext cx="11055096" cy="804672"/>
          </a:xfrm>
          <a:prstGeom prst="roundRect">
            <a:avLst>
              <a:gd name="adj" fmla="val 6818"/>
            </a:avLst>
          </a:prstGeom>
          <a:solidFill>
            <a:srgbClr val="1A2233"/>
          </a:solidFill>
          <a:ln w="12700">
            <a:solidFill>
              <a:srgbClr val="1A2233"/>
            </a:solidFill>
            <a:prstDash val="solid"/>
          </a:ln>
        </p:spPr>
      </p:sp>
      <p:sp>
        <p:nvSpPr>
          <p:cNvPr id="9" name="Shape 6"/>
          <p:cNvSpPr/>
          <p:nvPr/>
        </p:nvSpPr>
        <p:spPr>
          <a:xfrm>
            <a:off x="841248" y="1682496"/>
            <a:ext cx="402336" cy="402336"/>
          </a:xfrm>
          <a:prstGeom prst="ellipse">
            <a:avLst/>
          </a:prstGeom>
          <a:solidFill>
            <a:srgbClr val="E11D2E"/>
          </a:solidFill>
          <a:ln/>
        </p:spPr>
      </p:sp>
      <p:sp>
        <p:nvSpPr>
          <p:cNvPr id="10" name="Text 7"/>
          <p:cNvSpPr txBox="1"/>
          <p:nvPr/>
        </p:nvSpPr>
        <p:spPr>
          <a:xfrm>
            <a:off x="841248" y="16824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11" name="Text 8"/>
          <p:cNvSpPr txBox="1"/>
          <p:nvPr/>
        </p:nvSpPr>
        <p:spPr>
          <a:xfrm>
            <a:off x="1444752" y="14813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이번에 온 사람 중 신규가 몇 %인가</a:t>
            </a:r>
            <a:endParaRPr lang="en-US" sz="1500" dirty="0"/>
          </a:p>
        </p:txBody>
      </p:sp>
      <p:sp>
        <p:nvSpPr>
          <p:cNvPr id="12" name="Text 9"/>
          <p:cNvSpPr txBox="1"/>
          <p:nvPr/>
        </p:nvSpPr>
        <p:spPr>
          <a:xfrm>
            <a:off x="6583680" y="14813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매출만 보면 성공 같지만, 기존 고객만 다시 온 것일 수 있습니다</a:t>
            </a:r>
            <a:endParaRPr lang="en-US" sz="1150" dirty="0"/>
          </a:p>
        </p:txBody>
      </p:sp>
      <p:sp>
        <p:nvSpPr>
          <p:cNvPr id="13" name="Shape 10"/>
          <p:cNvSpPr/>
          <p:nvPr/>
        </p:nvSpPr>
        <p:spPr>
          <a:xfrm>
            <a:off x="566928" y="2395728"/>
            <a:ext cx="11055096" cy="804672"/>
          </a:xfrm>
          <a:prstGeom prst="roundRect">
            <a:avLst>
              <a:gd name="adj" fmla="val 6818"/>
            </a:avLst>
          </a:prstGeom>
          <a:solidFill>
            <a:srgbClr val="1A2233"/>
          </a:solidFill>
          <a:ln w="12700">
            <a:solidFill>
              <a:srgbClr val="1A2233"/>
            </a:solidFill>
            <a:prstDash val="solid"/>
          </a:ln>
        </p:spPr>
      </p:sp>
      <p:sp>
        <p:nvSpPr>
          <p:cNvPr id="14" name="Shape 11"/>
          <p:cNvSpPr/>
          <p:nvPr/>
        </p:nvSpPr>
        <p:spPr>
          <a:xfrm>
            <a:off x="841248" y="2596896"/>
            <a:ext cx="402336" cy="402336"/>
          </a:xfrm>
          <a:prstGeom prst="ellipse">
            <a:avLst/>
          </a:prstGeom>
          <a:solidFill>
            <a:srgbClr val="E11D2E"/>
          </a:solidFill>
          <a:ln/>
        </p:spPr>
      </p:sp>
      <p:sp>
        <p:nvSpPr>
          <p:cNvPr id="15" name="Text 12"/>
          <p:cNvSpPr txBox="1"/>
          <p:nvPr/>
        </p:nvSpPr>
        <p:spPr>
          <a:xfrm>
            <a:off x="841248" y="25968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16" name="Text 13"/>
          <p:cNvSpPr txBox="1"/>
          <p:nvPr/>
        </p:nvSpPr>
        <p:spPr>
          <a:xfrm>
            <a:off x="1444752" y="23957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들어왔는데 안 산 사람은 누구였나</a:t>
            </a:r>
            <a:endParaRPr lang="en-US" sz="1500" dirty="0"/>
          </a:p>
        </p:txBody>
      </p:sp>
      <p:sp>
        <p:nvSpPr>
          <p:cNvPr id="17" name="Text 14"/>
          <p:cNvSpPr txBox="1"/>
          <p:nvPr/>
        </p:nvSpPr>
        <p:spPr>
          <a:xfrm>
            <a:off x="6583680" y="23957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가격대가 안 맞았는지, 타깃을 잘못 잡았는지가 여기서 나옵니다</a:t>
            </a:r>
            <a:endParaRPr lang="en-US" sz="1150" dirty="0"/>
          </a:p>
        </p:txBody>
      </p:sp>
      <p:sp>
        <p:nvSpPr>
          <p:cNvPr id="18" name="Shape 15"/>
          <p:cNvSpPr/>
          <p:nvPr/>
        </p:nvSpPr>
        <p:spPr>
          <a:xfrm>
            <a:off x="566928" y="3310128"/>
            <a:ext cx="11055096" cy="804672"/>
          </a:xfrm>
          <a:prstGeom prst="roundRect">
            <a:avLst>
              <a:gd name="adj" fmla="val 6818"/>
            </a:avLst>
          </a:prstGeom>
          <a:solidFill>
            <a:srgbClr val="1A2233"/>
          </a:solidFill>
          <a:ln w="12700">
            <a:solidFill>
              <a:srgbClr val="1A2233"/>
            </a:solidFill>
            <a:prstDash val="solid"/>
          </a:ln>
        </p:spPr>
      </p:sp>
      <p:sp>
        <p:nvSpPr>
          <p:cNvPr id="19" name="Shape 16"/>
          <p:cNvSpPr/>
          <p:nvPr/>
        </p:nvSpPr>
        <p:spPr>
          <a:xfrm>
            <a:off x="841248" y="3511296"/>
            <a:ext cx="402336" cy="402336"/>
          </a:xfrm>
          <a:prstGeom prst="ellipse">
            <a:avLst/>
          </a:prstGeom>
          <a:solidFill>
            <a:srgbClr val="E11D2E"/>
          </a:solidFill>
          <a:ln/>
        </p:spPr>
      </p:sp>
      <p:sp>
        <p:nvSpPr>
          <p:cNvPr id="20" name="Text 17"/>
          <p:cNvSpPr txBox="1"/>
          <p:nvPr/>
        </p:nvSpPr>
        <p:spPr>
          <a:xfrm>
            <a:off x="841248" y="35112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21" name="Text 18"/>
          <p:cNvSpPr txBox="1"/>
          <p:nvPr/>
        </p:nvSpPr>
        <p:spPr>
          <a:xfrm>
            <a:off x="1444752" y="33101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우리 방문객이 평소 어디서 무엇을 사는가</a:t>
            </a:r>
            <a:endParaRPr lang="en-US" sz="1500" dirty="0"/>
          </a:p>
        </p:txBody>
      </p:sp>
      <p:sp>
        <p:nvSpPr>
          <p:cNvPr id="22" name="Text 19"/>
          <p:cNvSpPr txBox="1"/>
          <p:nvPr/>
        </p:nvSpPr>
        <p:spPr>
          <a:xfrm>
            <a:off x="6583680" y="33101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"우리 고객의 38%가 경쟁사 A 구매 이력" — 포지셔닝과 가격 전략을 바꿉니다</a:t>
            </a:r>
            <a:endParaRPr lang="en-US" sz="1150" dirty="0"/>
          </a:p>
        </p:txBody>
      </p:sp>
      <p:sp>
        <p:nvSpPr>
          <p:cNvPr id="23" name="Shape 20"/>
          <p:cNvSpPr/>
          <p:nvPr/>
        </p:nvSpPr>
        <p:spPr>
          <a:xfrm>
            <a:off x="566928" y="4224528"/>
            <a:ext cx="11055096" cy="804672"/>
          </a:xfrm>
          <a:prstGeom prst="roundRect">
            <a:avLst>
              <a:gd name="adj" fmla="val 6818"/>
            </a:avLst>
          </a:prstGeom>
          <a:solidFill>
            <a:srgbClr val="1A2233"/>
          </a:solidFill>
          <a:ln w="12700">
            <a:solidFill>
              <a:srgbClr val="1A2233"/>
            </a:solidFill>
            <a:prstDash val="solid"/>
          </a:ln>
        </p:spPr>
      </p:sp>
      <p:sp>
        <p:nvSpPr>
          <p:cNvPr id="24" name="Shape 21"/>
          <p:cNvSpPr/>
          <p:nvPr/>
        </p:nvSpPr>
        <p:spPr>
          <a:xfrm>
            <a:off x="841248" y="4425696"/>
            <a:ext cx="402336" cy="402336"/>
          </a:xfrm>
          <a:prstGeom prst="ellipse">
            <a:avLst/>
          </a:prstGeom>
          <a:solidFill>
            <a:srgbClr val="E11D2E"/>
          </a:solidFill>
          <a:ln/>
        </p:spPr>
      </p:sp>
      <p:sp>
        <p:nvSpPr>
          <p:cNvPr id="25" name="Text 22"/>
          <p:cNvSpPr txBox="1"/>
          <p:nvPr/>
        </p:nvSpPr>
        <p:spPr>
          <a:xfrm>
            <a:off x="841248" y="44256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26" name="Text 23"/>
          <p:cNvSpPr txBox="1"/>
          <p:nvPr/>
        </p:nvSpPr>
        <p:spPr>
          <a:xfrm>
            <a:off x="1444752" y="42245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집었는데 안 산 상품</a:t>
            </a:r>
            <a:endParaRPr lang="en-US" sz="1500" dirty="0"/>
          </a:p>
        </p:txBody>
      </p:sp>
      <p:sp>
        <p:nvSpPr>
          <p:cNvPr id="27" name="Text 24"/>
          <p:cNvSpPr txBox="1"/>
          <p:nvPr/>
        </p:nvSpPr>
        <p:spPr>
          <a:xfrm>
            <a:off x="6583680" y="42245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온라인의 장바구니 이탈과 같습니다. 그대로 상품기획 피드백이 됩니다</a:t>
            </a:r>
            <a:endParaRPr lang="en-US" sz="1150" dirty="0"/>
          </a:p>
        </p:txBody>
      </p:sp>
      <p:sp>
        <p:nvSpPr>
          <p:cNvPr id="28" name="Shape 25"/>
          <p:cNvSpPr/>
          <p:nvPr/>
        </p:nvSpPr>
        <p:spPr>
          <a:xfrm>
            <a:off x="566928" y="5138928"/>
            <a:ext cx="11055096" cy="804672"/>
          </a:xfrm>
          <a:prstGeom prst="roundRect">
            <a:avLst>
              <a:gd name="adj" fmla="val 6818"/>
            </a:avLst>
          </a:prstGeom>
          <a:solidFill>
            <a:srgbClr val="1A2233"/>
          </a:solidFill>
          <a:ln w="12700">
            <a:solidFill>
              <a:srgbClr val="1A2233"/>
            </a:solidFill>
            <a:prstDash val="solid"/>
          </a:ln>
        </p:spPr>
      </p:sp>
      <p:sp>
        <p:nvSpPr>
          <p:cNvPr id="29" name="Shape 26"/>
          <p:cNvSpPr/>
          <p:nvPr/>
        </p:nvSpPr>
        <p:spPr>
          <a:xfrm>
            <a:off x="841248" y="5340096"/>
            <a:ext cx="402336" cy="402336"/>
          </a:xfrm>
          <a:prstGeom prst="ellipse">
            <a:avLst/>
          </a:prstGeom>
          <a:solidFill>
            <a:srgbClr val="E11D2E"/>
          </a:solidFill>
          <a:ln/>
        </p:spPr>
      </p:sp>
      <p:sp>
        <p:nvSpPr>
          <p:cNvPr id="30" name="Text 27"/>
          <p:cNvSpPr txBox="1"/>
          <p:nvPr/>
        </p:nvSpPr>
        <p:spPr>
          <a:xfrm>
            <a:off x="841248" y="5340096"/>
            <a:ext cx="402336" cy="402336"/>
          </a:xfrm>
          <a:prstGeom prst="rect">
            <a:avLst/>
          </a:prstGeom>
          <a:noFill/>
          <a:ln/>
        </p:spPr>
        <p:txBody>
          <a:bodyPr wrap="square" lIns="0" tIns="0" rIns="0" bIns="0" rtlCol="0" anchor="ctr"/>
          <a:lstStyle/>
          <a:p>
            <a:pPr algn="ctr" indent="0" marL="0">
              <a:lnSpc>
                <a:spcPts val="2100"/>
              </a:lnSpc>
              <a:buNone/>
            </a:pPr>
            <a:r>
              <a:rPr lang="en-US" sz="1400" b="1" dirty="0">
                <a:solidFill>
                  <a:srgbClr val="FFFFFF"/>
                </a:solidFill>
                <a:latin typeface="Pretendard" pitchFamily="34" charset="0"/>
                <a:ea typeface="Pretendard" pitchFamily="34" charset="-122"/>
                <a:cs typeface="Pretendard" pitchFamily="34" charset="-120"/>
              </a:rPr>
              <a:t>5</a:t>
            </a:r>
            <a:endParaRPr lang="en-US" sz="1400" dirty="0"/>
          </a:p>
        </p:txBody>
      </p:sp>
      <p:sp>
        <p:nvSpPr>
          <p:cNvPr id="31" name="Text 28"/>
          <p:cNvSpPr txBox="1"/>
          <p:nvPr/>
        </p:nvSpPr>
        <p:spPr>
          <a:xfrm>
            <a:off x="1444752" y="5138928"/>
            <a:ext cx="4937760" cy="804672"/>
          </a:xfrm>
          <a:prstGeom prst="rect">
            <a:avLst/>
          </a:prstGeom>
          <a:noFill/>
          <a:ln/>
        </p:spPr>
        <p:txBody>
          <a:bodyPr wrap="square" lIns="0" tIns="0" rIns="0" bIns="0" rtlCol="0" anchor="ctr"/>
          <a:lstStyle/>
          <a:p>
            <a:pPr algn="l"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다음 팝업은 어디에, 언제, 어느 층에</a:t>
            </a:r>
            <a:endParaRPr lang="en-US" sz="1500" dirty="0"/>
          </a:p>
        </p:txBody>
      </p:sp>
      <p:sp>
        <p:nvSpPr>
          <p:cNvPr id="32" name="Text 29"/>
          <p:cNvSpPr txBox="1"/>
          <p:nvPr/>
        </p:nvSpPr>
        <p:spPr>
          <a:xfrm>
            <a:off x="6583680" y="5138928"/>
            <a:ext cx="4663440" cy="80467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롯데 전점 트래픽이 있어야만 나오는 처방입니다</a:t>
            </a:r>
            <a:endParaRPr lang="en-US" sz="1150" dirty="0"/>
          </a:p>
        </p:txBody>
      </p:sp>
      <p:sp>
        <p:nvSpPr>
          <p:cNvPr id="33" name="Text 30"/>
          <p:cNvSpPr txBox="1"/>
          <p:nvPr/>
        </p:nvSpPr>
        <p:spPr>
          <a:xfrm>
            <a:off x="566928" y="6163056"/>
            <a:ext cx="11055096" cy="365760"/>
          </a:xfrm>
          <a:prstGeom prst="rect">
            <a:avLst/>
          </a:prstGeom>
          <a:noFill/>
          <a:ln/>
        </p:spPr>
        <p:txBody>
          <a:bodyPr wrap="square" lIns="0" tIns="0" rIns="0" bIns="0" rtlCol="0" anchor="ctr"/>
          <a:lstStyle/>
          <a:p>
            <a:pPr algn="ctr" indent="0" marL="0">
              <a:lnSpc>
                <a:spcPts val="2000"/>
              </a:lnSpc>
              <a:buNone/>
            </a:pPr>
            <a:r>
              <a:rPr lang="en-US" sz="1300" b="1" dirty="0">
                <a:solidFill>
                  <a:srgbClr val="F5A623"/>
                </a:solidFill>
                <a:latin typeface="Pretendard" pitchFamily="34" charset="0"/>
                <a:ea typeface="Pretendard" pitchFamily="34" charset="-122"/>
                <a:cs typeface="Pretendard" pitchFamily="34" charset="-120"/>
              </a:rPr>
              <a:t>브랜드는 자기가 판 것만 압니다.  L.POINT 소비 이력과 롯데 전점 트래픽이 동시에 있어야만 나오는 답입니다.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02</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그리고 그 처방이 통했는지 POS로 증명합니다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경쟁사는 결제 데이터가 없어 자기 처방이 통했는지 증명할 수 없습니다</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SOLUTION</a:t>
            </a:r>
            <a:endParaRPr lang="en-US" sz="1100" dirty="0"/>
          </a:p>
        </p:txBody>
      </p:sp>
      <p:graphicFrame>
        <p:nvGraphicFramePr>
          <p:cNvPr id="8" name="Chart 0" descr=""/>
          <p:cNvGraphicFramePr/>
          <p:nvPr/>
        </p:nvGraphicFramePr>
        <p:xfrm>
          <a:off x="566928" y="1481328"/>
          <a:ext cx="5989320" cy="3328416"/>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830568" y="1481328"/>
            <a:ext cx="4791456" cy="1285240"/>
          </a:xfrm>
          <a:prstGeom prst="roundRect">
            <a:avLst>
              <a:gd name="adj" fmla="val 4269"/>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0" name="Text 6"/>
          <p:cNvSpPr txBox="1"/>
          <p:nvPr/>
        </p:nvSpPr>
        <p:spPr>
          <a:xfrm>
            <a:off x="7104888" y="1700784"/>
            <a:ext cx="424281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개선 → 적용 → 검증</a:t>
            </a:r>
            <a:endParaRPr lang="en-US" sz="1100" dirty="0"/>
          </a:p>
        </p:txBody>
      </p:sp>
      <p:sp>
        <p:nvSpPr>
          <p:cNvPr id="11" name="Text 7"/>
          <p:cNvSpPr txBox="1"/>
          <p:nvPr/>
        </p:nvSpPr>
        <p:spPr>
          <a:xfrm>
            <a:off x="7104888" y="2017268"/>
            <a:ext cx="424281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진열·동선·상품 배치 개선안 제시</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2~4주 적용 후 POS 결제 데이터로 전후 실측 비교</a:t>
            </a:r>
            <a:endParaRPr lang="en-US" sz="1150" dirty="0"/>
          </a:p>
        </p:txBody>
      </p:sp>
      <p:sp>
        <p:nvSpPr>
          <p:cNvPr id="12" name="Shape 8"/>
          <p:cNvSpPr/>
          <p:nvPr/>
        </p:nvSpPr>
        <p:spPr>
          <a:xfrm>
            <a:off x="6830568" y="2967736"/>
            <a:ext cx="4791456" cy="1842008"/>
          </a:xfrm>
          <a:prstGeom prst="roundRect">
            <a:avLst>
              <a:gd name="adj" fmla="val 2978"/>
            </a:avLst>
          </a:prstGeom>
          <a:solidFill>
            <a:srgbClr val="0E1420"/>
          </a:solidFill>
          <a:ln w="12700">
            <a:solidFill>
              <a:srgbClr val="0E1420"/>
            </a:solidFill>
            <a:prstDash val="solid"/>
          </a:ln>
        </p:spPr>
      </p:sp>
      <p:sp>
        <p:nvSpPr>
          <p:cNvPr id="13" name="Text 9"/>
          <p:cNvSpPr txBox="1"/>
          <p:nvPr/>
        </p:nvSpPr>
        <p:spPr>
          <a:xfrm>
            <a:off x="7104888" y="3223768"/>
            <a:ext cx="4242816" cy="535432"/>
          </a:xfrm>
          <a:prstGeom prst="rect">
            <a:avLst/>
          </a:prstGeom>
          <a:noFill/>
          <a:ln/>
        </p:spPr>
        <p:txBody>
          <a:bodyPr wrap="square" lIns="0" tIns="0" rIns="0" bIns="0" rtlCol="0" anchor="t"/>
          <a:lstStyle/>
          <a:p>
            <a:pPr algn="l" indent="0" marL="0">
              <a:lnSpc>
                <a:spcPts val="2000"/>
              </a:lnSpc>
              <a:buNone/>
            </a:pPr>
            <a:r>
              <a:rPr lang="en-US" sz="1300" dirty="0">
                <a:solidFill>
                  <a:srgbClr val="AEB8C7"/>
                </a:solidFill>
                <a:latin typeface="Pretendard" pitchFamily="34" charset="0"/>
                <a:ea typeface="Pretendard" pitchFamily="34" charset="-122"/>
                <a:cs typeface="Pretendard" pitchFamily="34" charset="-120"/>
              </a:rPr>
              <a:t>효과를 증명 못 하는 컨설팅은</a:t>
            </a:r>
            <a:endParaRPr lang="en-US" sz="1300" dirty="0"/>
          </a:p>
          <a:p>
            <a:pPr algn="l" indent="0" marL="0">
              <a:lnSpc>
                <a:spcPts val="2000"/>
              </a:lnSpc>
              <a:buNone/>
            </a:pPr>
            <a:r>
              <a:rPr lang="en-US" sz="1300" dirty="0">
                <a:solidFill>
                  <a:srgbClr val="AEB8C7"/>
                </a:solidFill>
                <a:latin typeface="Pretendard" pitchFamily="34" charset="0"/>
                <a:ea typeface="Pretendard" pitchFamily="34" charset="-122"/>
                <a:cs typeface="Pretendard" pitchFamily="34" charset="-120"/>
              </a:rPr>
              <a:t>한 번 팔리고 끝납니다.</a:t>
            </a:r>
            <a:endParaRPr lang="en-US" sz="1300" dirty="0"/>
          </a:p>
        </p:txBody>
      </p:sp>
      <p:sp>
        <p:nvSpPr>
          <p:cNvPr id="14" name="Text 10"/>
          <p:cNvSpPr txBox="1"/>
          <p:nvPr/>
        </p:nvSpPr>
        <p:spPr>
          <a:xfrm>
            <a:off x="7104888" y="4242816"/>
            <a:ext cx="4242816" cy="319532"/>
          </a:xfrm>
          <a:prstGeom prst="rect">
            <a:avLst/>
          </a:prstGeom>
          <a:noFill/>
          <a:ln/>
        </p:spPr>
        <p:txBody>
          <a:bodyPr wrap="square" lIns="0" tIns="0" rIns="0" bIns="0" rtlCol="0" anchor="t"/>
          <a:lstStyle/>
          <a:p>
            <a:pPr algn="l" indent="0" marL="0">
              <a:lnSpc>
                <a:spcPts val="2300"/>
              </a:lnSpc>
              <a:buNone/>
            </a:pPr>
            <a:r>
              <a:rPr lang="en-US" sz="1500" b="1" dirty="0">
                <a:solidFill>
                  <a:srgbClr val="F5A623"/>
                </a:solidFill>
                <a:latin typeface="Pretendard" pitchFamily="34" charset="0"/>
                <a:ea typeface="Pretendard" pitchFamily="34" charset="-122"/>
                <a:cs typeface="Pretendard" pitchFamily="34" charset="-120"/>
              </a:rPr>
              <a:t>증명하는 컨설팅은 갱신됩니다.</a:t>
            </a:r>
            <a:endParaRPr lang="en-US" sz="1500" dirty="0"/>
          </a:p>
        </p:txBody>
      </p:sp>
      <p:sp>
        <p:nvSpPr>
          <p:cNvPr id="15" name="Shape 11"/>
          <p:cNvSpPr/>
          <p:nvPr/>
        </p:nvSpPr>
        <p:spPr>
          <a:xfrm>
            <a:off x="566928" y="5102352"/>
            <a:ext cx="11055096" cy="841248"/>
          </a:xfrm>
          <a:prstGeom prst="roundRect">
            <a:avLst>
              <a:gd name="adj" fmla="val 6522"/>
            </a:avLst>
          </a:prstGeom>
          <a:solidFill>
            <a:srgbClr val="F7F8FA"/>
          </a:solidFill>
          <a:ln w="12700">
            <a:solidFill>
              <a:srgbClr val="E4E8EE"/>
            </a:solidFill>
            <a:prstDash val="solid"/>
          </a:ln>
        </p:spPr>
      </p:sp>
      <p:sp>
        <p:nvSpPr>
          <p:cNvPr id="16" name="Text 12"/>
          <p:cNvSpPr txBox="1"/>
          <p:nvPr/>
        </p:nvSpPr>
        <p:spPr>
          <a:xfrm>
            <a:off x="877824" y="5102352"/>
            <a:ext cx="2286000" cy="841248"/>
          </a:xfrm>
          <a:prstGeom prst="rect">
            <a:avLst/>
          </a:prstGeom>
          <a:noFill/>
          <a:ln/>
        </p:spPr>
        <p:txBody>
          <a:bodyPr wrap="square" lIns="0" tIns="0" rIns="0" bIns="0" rtlCol="0" anchor="ctr"/>
          <a:lstStyle/>
          <a:p>
            <a:pPr algn="l" indent="0" marL="0">
              <a:lnSpc>
                <a:spcPts val="1700"/>
              </a:lnSpc>
              <a:buNone/>
            </a:pPr>
            <a:r>
              <a:rPr lang="en-US" sz="1150" b="1" dirty="0">
                <a:solidFill>
                  <a:srgbClr val="5E6979"/>
                </a:solidFill>
                <a:latin typeface="Pretendard" pitchFamily="34" charset="0"/>
                <a:ea typeface="Pretendard" pitchFamily="34" charset="-122"/>
                <a:cs typeface="Pretendard" pitchFamily="34" charset="-120"/>
              </a:rPr>
              <a:t>온라인 GA의 오프라인 구현</a:t>
            </a:r>
            <a:endParaRPr lang="en-US" sz="1150" dirty="0"/>
          </a:p>
        </p:txBody>
      </p:sp>
      <p:sp>
        <p:nvSpPr>
          <p:cNvPr id="17" name="Text 13"/>
          <p:cNvSpPr txBox="1"/>
          <p:nvPr/>
        </p:nvSpPr>
        <p:spPr>
          <a:xfrm>
            <a:off x="3200400"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Pretendard" pitchFamily="34" charset="0"/>
                <a:ea typeface="Pretendard" pitchFamily="34" charset="-122"/>
                <a:cs typeface="Pretendard" pitchFamily="34" charset="-120"/>
              </a:rPr>
              <a:t>노출  →  </a:t>
            </a:r>
            <a:pPr indent="0" marL="0">
              <a:buNone/>
            </a:pPr>
            <a:r>
              <a:rPr lang="en-US" sz="1150" b="1" dirty="0">
                <a:solidFill>
                  <a:srgbClr val="0E1420"/>
                </a:solidFill>
                <a:latin typeface="Pretendard" pitchFamily="34" charset="0"/>
                <a:ea typeface="Pretendard" pitchFamily="34" charset="-122"/>
                <a:cs typeface="Pretendard" pitchFamily="34" charset="-120"/>
              </a:rPr>
              <a:t>통행 수</a:t>
            </a:r>
            <a:endParaRPr lang="en-US" sz="1150" dirty="0"/>
          </a:p>
        </p:txBody>
      </p:sp>
      <p:sp>
        <p:nvSpPr>
          <p:cNvPr id="18" name="Text 14"/>
          <p:cNvSpPr txBox="1"/>
          <p:nvPr/>
        </p:nvSpPr>
        <p:spPr>
          <a:xfrm>
            <a:off x="4864608"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Pretendard" pitchFamily="34" charset="0"/>
                <a:ea typeface="Pretendard" pitchFamily="34" charset="-122"/>
                <a:cs typeface="Pretendard" pitchFamily="34" charset="-120"/>
              </a:rPr>
              <a:t>클릭률  →  </a:t>
            </a:r>
            <a:pPr indent="0" marL="0">
              <a:buNone/>
            </a:pPr>
            <a:r>
              <a:rPr lang="en-US" sz="1150" b="1" dirty="0">
                <a:solidFill>
                  <a:srgbClr val="E11D2E"/>
                </a:solidFill>
                <a:latin typeface="Pretendard" pitchFamily="34" charset="0"/>
                <a:ea typeface="Pretendard" pitchFamily="34" charset="-122"/>
                <a:cs typeface="Pretendard" pitchFamily="34" charset="-120"/>
              </a:rPr>
              <a:t>유입률 ★</a:t>
            </a:r>
            <a:endParaRPr lang="en-US" sz="1150" dirty="0"/>
          </a:p>
        </p:txBody>
      </p:sp>
      <p:sp>
        <p:nvSpPr>
          <p:cNvPr id="19" name="Text 15"/>
          <p:cNvSpPr txBox="1"/>
          <p:nvPr/>
        </p:nvSpPr>
        <p:spPr>
          <a:xfrm>
            <a:off x="6528816"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Pretendard" pitchFamily="34" charset="0"/>
                <a:ea typeface="Pretendard" pitchFamily="34" charset="-122"/>
                <a:cs typeface="Pretendard" pitchFamily="34" charset="-120"/>
              </a:rPr>
              <a:t>장바구니  →  </a:t>
            </a:r>
            <a:pPr indent="0" marL="0">
              <a:buNone/>
            </a:pPr>
            <a:r>
              <a:rPr lang="en-US" sz="1150" b="1" dirty="0">
                <a:solidFill>
                  <a:srgbClr val="0E1420"/>
                </a:solidFill>
                <a:latin typeface="Pretendard" pitchFamily="34" charset="0"/>
                <a:ea typeface="Pretendard" pitchFamily="34" charset="-122"/>
                <a:cs typeface="Pretendard" pitchFamily="34" charset="-120"/>
              </a:rPr>
              <a:t>집품률</a:t>
            </a:r>
            <a:endParaRPr lang="en-US" sz="1150" dirty="0"/>
          </a:p>
        </p:txBody>
      </p:sp>
      <p:sp>
        <p:nvSpPr>
          <p:cNvPr id="20" name="Text 16"/>
          <p:cNvSpPr txBox="1"/>
          <p:nvPr/>
        </p:nvSpPr>
        <p:spPr>
          <a:xfrm>
            <a:off x="8193024"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Pretendard" pitchFamily="34" charset="0"/>
                <a:ea typeface="Pretendard" pitchFamily="34" charset="-122"/>
                <a:cs typeface="Pretendard" pitchFamily="34" charset="-120"/>
              </a:rPr>
              <a:t>구매  →  </a:t>
            </a:r>
            <a:pPr indent="0" marL="0">
              <a:buNone/>
            </a:pPr>
            <a:r>
              <a:rPr lang="en-US" sz="1150" b="1" dirty="0">
                <a:solidFill>
                  <a:srgbClr val="0E1420"/>
                </a:solidFill>
                <a:latin typeface="Pretendard" pitchFamily="34" charset="0"/>
                <a:ea typeface="Pretendard" pitchFamily="34" charset="-122"/>
                <a:cs typeface="Pretendard" pitchFamily="34" charset="-120"/>
              </a:rPr>
              <a:t>전환율</a:t>
            </a:r>
            <a:endParaRPr lang="en-US" sz="1150" dirty="0"/>
          </a:p>
        </p:txBody>
      </p:sp>
      <p:sp>
        <p:nvSpPr>
          <p:cNvPr id="21" name="Text 17"/>
          <p:cNvSpPr txBox="1"/>
          <p:nvPr/>
        </p:nvSpPr>
        <p:spPr>
          <a:xfrm>
            <a:off x="9857232" y="5102352"/>
            <a:ext cx="1627632" cy="841248"/>
          </a:xfrm>
          <a:prstGeom prst="rect">
            <a:avLst/>
          </a:prstGeom>
          <a:noFill/>
          <a:ln/>
        </p:spPr>
        <p:txBody>
          <a:bodyPr wrap="square" lIns="0" tIns="0" rIns="0" bIns="0" rtlCol="0" anchor="ctr"/>
          <a:lstStyle/>
          <a:p>
            <a:pPr indent="0" marL="0">
              <a:buNone/>
            </a:pPr>
            <a:r>
              <a:rPr lang="en-US" sz="1150" dirty="0">
                <a:solidFill>
                  <a:srgbClr val="5E6979"/>
                </a:solidFill>
                <a:latin typeface="Pretendard" pitchFamily="34" charset="0"/>
                <a:ea typeface="Pretendard" pitchFamily="34" charset="-122"/>
                <a:cs typeface="Pretendard" pitchFamily="34" charset="-120"/>
              </a:rPr>
              <a:t>이탈률  →  </a:t>
            </a:r>
            <a:pPr indent="0" marL="0">
              <a:buNone/>
            </a:pPr>
            <a:r>
              <a:rPr lang="en-US" sz="1150" b="1" dirty="0">
                <a:solidFill>
                  <a:srgbClr val="0E1420"/>
                </a:solidFill>
                <a:latin typeface="Pretendard" pitchFamily="34" charset="0"/>
                <a:ea typeface="Pretendard" pitchFamily="34" charset="-122"/>
                <a:cs typeface="Pretendard" pitchFamily="34" charset="-120"/>
              </a:rPr>
              <a:t>3초 이탈</a:t>
            </a:r>
            <a:endParaRPr lang="en-US" sz="1150" dirty="0"/>
          </a:p>
        </p:txBody>
      </p:sp>
      <p:sp>
        <p:nvSpPr>
          <p:cNvPr id="22" name="Text 18"/>
          <p:cNvSpPr txBox="1"/>
          <p:nvPr/>
        </p:nvSpPr>
        <p:spPr>
          <a:xfrm>
            <a:off x="566928" y="6163056"/>
            <a:ext cx="11055096" cy="365760"/>
          </a:xfrm>
          <a:prstGeom prst="rect">
            <a:avLst/>
          </a:prstGeom>
          <a:noFill/>
          <a:ln/>
        </p:spPr>
        <p:txBody>
          <a:bodyPr wrap="square" lIns="0" tIns="0" rIns="0" bIns="0" rtlCol="0" anchor="ctr"/>
          <a:lstStyle/>
          <a:p>
            <a:pPr algn="ctr" indent="0" marL="0">
              <a:lnSpc>
                <a:spcPts val="1900"/>
              </a:lnSpc>
              <a:buNone/>
            </a:pPr>
            <a:r>
              <a:rPr lang="en-US" sz="1250" b="1" dirty="0">
                <a:solidFill>
                  <a:srgbClr val="0E1420"/>
                </a:solidFill>
                <a:latin typeface="Pretendard" pitchFamily="34" charset="0"/>
                <a:ea typeface="Pretendard" pitchFamily="34" charset="-122"/>
                <a:cs typeface="Pretendard" pitchFamily="34" charset="-120"/>
              </a:rPr>
              <a:t>지표 체계는 온라인 GA와 1:1입니다.  다른 점은 결제 데이터로 결과를 증명한다는 것입니다.</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03</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시장 규모  |  TAM · SAM · SOM</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모든 수치는 공개정보·업계 통상치 기반 추정입니다 — 산식을 그대로 공개하고, 롯데 내부 데이터로 검증하겠습니다</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MARKET</a:t>
            </a:r>
            <a:endParaRPr lang="en-US" sz="1100" dirty="0"/>
          </a:p>
        </p:txBody>
      </p:sp>
      <p:sp>
        <p:nvSpPr>
          <p:cNvPr id="8" name="Shape 5"/>
          <p:cNvSpPr/>
          <p:nvPr/>
        </p:nvSpPr>
        <p:spPr>
          <a:xfrm>
            <a:off x="566928" y="1481328"/>
            <a:ext cx="11055096" cy="926592"/>
          </a:xfrm>
          <a:prstGeom prst="roundRect">
            <a:avLst>
              <a:gd name="adj" fmla="val 5921"/>
            </a:avLst>
          </a:prstGeom>
          <a:solidFill>
            <a:srgbClr val="F7F8FA"/>
          </a:solidFill>
          <a:ln w="12700">
            <a:solidFill>
              <a:srgbClr val="E4E8EE"/>
            </a:solidFill>
            <a:prstDash val="solid"/>
          </a:ln>
        </p:spPr>
      </p:sp>
      <p:sp>
        <p:nvSpPr>
          <p:cNvPr id="9" name="Text 6"/>
          <p:cNvSpPr txBox="1"/>
          <p:nvPr/>
        </p:nvSpPr>
        <p:spPr>
          <a:xfrm>
            <a:off x="877824" y="1481328"/>
            <a:ext cx="1005840" cy="926592"/>
          </a:xfrm>
          <a:prstGeom prst="rect">
            <a:avLst/>
          </a:prstGeom>
          <a:noFill/>
          <a:ln/>
        </p:spPr>
        <p:txBody>
          <a:bodyPr wrap="square" lIns="0" tIns="0" rIns="0" bIns="0" rtlCol="0" anchor="ctr"/>
          <a:lstStyle/>
          <a:p>
            <a:pPr algn="l" indent="0" marL="0">
              <a:lnSpc>
                <a:spcPts val="3300"/>
              </a:lnSpc>
              <a:buNone/>
            </a:pPr>
            <a:r>
              <a:rPr lang="en-US" sz="2200" b="1" dirty="0">
                <a:solidFill>
                  <a:srgbClr val="E11D2E"/>
                </a:solidFill>
                <a:latin typeface="Pretendard" pitchFamily="34" charset="0"/>
                <a:ea typeface="Pretendard" pitchFamily="34" charset="-122"/>
                <a:cs typeface="Pretendard" pitchFamily="34" charset="-120"/>
              </a:rPr>
              <a:t>TAM</a:t>
            </a:r>
            <a:endParaRPr lang="en-US" sz="2200" dirty="0"/>
          </a:p>
        </p:txBody>
      </p:sp>
      <p:sp>
        <p:nvSpPr>
          <p:cNvPr id="10" name="Text 7"/>
          <p:cNvSpPr txBox="1"/>
          <p:nvPr/>
        </p:nvSpPr>
        <p:spPr>
          <a:xfrm>
            <a:off x="1645920" y="1481328"/>
            <a:ext cx="3200400" cy="926592"/>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국내 백화점 · 몰 · 아울렛 입점 브랜드 전체</a:t>
            </a:r>
            <a:endParaRPr lang="en-US" sz="1300" dirty="0"/>
          </a:p>
        </p:txBody>
      </p:sp>
      <p:sp>
        <p:nvSpPr>
          <p:cNvPr id="11" name="Text 8"/>
          <p:cNvSpPr txBox="1"/>
          <p:nvPr/>
        </p:nvSpPr>
        <p:spPr>
          <a:xfrm>
            <a:off x="4974336" y="1481328"/>
            <a:ext cx="3931920" cy="926592"/>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약 3.3만 매장  ×  연 ARPU 540만원</a:t>
            </a:r>
            <a:endParaRPr lang="en-US" sz="1150" dirty="0"/>
          </a:p>
        </p:txBody>
      </p:sp>
      <p:sp>
        <p:nvSpPr>
          <p:cNvPr id="12" name="Text 9"/>
          <p:cNvSpPr txBox="1"/>
          <p:nvPr/>
        </p:nvSpPr>
        <p:spPr>
          <a:xfrm>
            <a:off x="9015984" y="1481328"/>
            <a:ext cx="1920240" cy="926592"/>
          </a:xfrm>
          <a:prstGeom prst="rect">
            <a:avLst/>
          </a:prstGeom>
          <a:noFill/>
          <a:ln/>
        </p:spPr>
        <p:txBody>
          <a:bodyPr wrap="square" lIns="0" tIns="0" rIns="0" bIns="0" rtlCol="0" anchor="ctr"/>
          <a:lstStyle/>
          <a:p>
            <a:pPr algn="r" indent="0" marL="0">
              <a:lnSpc>
                <a:spcPts val="2700"/>
              </a:lnSpc>
              <a:buNone/>
            </a:pPr>
            <a:r>
              <a:rPr lang="en-US" sz="1800" b="1" dirty="0">
                <a:solidFill>
                  <a:srgbClr val="0E1420"/>
                </a:solidFill>
                <a:latin typeface="Pretendard" pitchFamily="34" charset="0"/>
                <a:ea typeface="Pretendard" pitchFamily="34" charset="-122"/>
                <a:cs typeface="Pretendard" pitchFamily="34" charset="-120"/>
              </a:rPr>
              <a:t>약 1,800억원</a:t>
            </a:r>
            <a:endParaRPr lang="en-US" sz="1800" dirty="0"/>
          </a:p>
        </p:txBody>
      </p:sp>
      <p:sp>
        <p:nvSpPr>
          <p:cNvPr id="13" name="Shape 10"/>
          <p:cNvSpPr/>
          <p:nvPr/>
        </p:nvSpPr>
        <p:spPr>
          <a:xfrm>
            <a:off x="11027664" y="1789176"/>
            <a:ext cx="594360" cy="310896"/>
          </a:xfrm>
          <a:prstGeom prst="roundRect">
            <a:avLst>
              <a:gd name="adj" fmla="val 14706"/>
            </a:avLst>
          </a:prstGeom>
          <a:solidFill>
            <a:srgbClr val="E4E8EE"/>
          </a:solidFill>
          <a:ln/>
        </p:spPr>
      </p:sp>
      <p:sp>
        <p:nvSpPr>
          <p:cNvPr id="14" name="Text 11"/>
          <p:cNvSpPr txBox="1"/>
          <p:nvPr/>
        </p:nvSpPr>
        <p:spPr>
          <a:xfrm>
            <a:off x="11027664" y="1789176"/>
            <a:ext cx="594360" cy="310896"/>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가정</a:t>
            </a:r>
            <a:endParaRPr lang="en-US" sz="1000" dirty="0"/>
          </a:p>
        </p:txBody>
      </p:sp>
      <p:sp>
        <p:nvSpPr>
          <p:cNvPr id="15" name="Shape 12"/>
          <p:cNvSpPr/>
          <p:nvPr/>
        </p:nvSpPr>
        <p:spPr>
          <a:xfrm>
            <a:off x="566928" y="2535936"/>
            <a:ext cx="11055096" cy="926592"/>
          </a:xfrm>
          <a:prstGeom prst="roundRect">
            <a:avLst>
              <a:gd name="adj" fmla="val 5921"/>
            </a:avLst>
          </a:prstGeom>
          <a:solidFill>
            <a:srgbClr val="FFFFFF"/>
          </a:solidFill>
          <a:ln w="12700">
            <a:solidFill>
              <a:srgbClr val="E4E8EE"/>
            </a:solidFill>
            <a:prstDash val="solid"/>
          </a:ln>
        </p:spPr>
      </p:sp>
      <p:sp>
        <p:nvSpPr>
          <p:cNvPr id="16" name="Text 13"/>
          <p:cNvSpPr txBox="1"/>
          <p:nvPr/>
        </p:nvSpPr>
        <p:spPr>
          <a:xfrm>
            <a:off x="877824" y="2535936"/>
            <a:ext cx="1005840" cy="926592"/>
          </a:xfrm>
          <a:prstGeom prst="rect">
            <a:avLst/>
          </a:prstGeom>
          <a:noFill/>
          <a:ln/>
        </p:spPr>
        <p:txBody>
          <a:bodyPr wrap="square" lIns="0" tIns="0" rIns="0" bIns="0" rtlCol="0" anchor="ctr"/>
          <a:lstStyle/>
          <a:p>
            <a:pPr algn="l" indent="0" marL="0">
              <a:lnSpc>
                <a:spcPts val="3300"/>
              </a:lnSpc>
              <a:buNone/>
            </a:pPr>
            <a:r>
              <a:rPr lang="en-US" sz="2200" b="1" dirty="0">
                <a:solidFill>
                  <a:srgbClr val="E11D2E"/>
                </a:solidFill>
                <a:latin typeface="Pretendard" pitchFamily="34" charset="0"/>
                <a:ea typeface="Pretendard" pitchFamily="34" charset="-122"/>
                <a:cs typeface="Pretendard" pitchFamily="34" charset="-120"/>
              </a:rPr>
              <a:t>SAM</a:t>
            </a:r>
            <a:endParaRPr lang="en-US" sz="2200" dirty="0"/>
          </a:p>
        </p:txBody>
      </p:sp>
      <p:sp>
        <p:nvSpPr>
          <p:cNvPr id="17" name="Text 14"/>
          <p:cNvSpPr txBox="1"/>
          <p:nvPr/>
        </p:nvSpPr>
        <p:spPr>
          <a:xfrm>
            <a:off x="1645920" y="2535936"/>
            <a:ext cx="3200400" cy="926592"/>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롯데 유통군 내 팝업 + 상설 입점 브랜드</a:t>
            </a:r>
            <a:endParaRPr lang="en-US" sz="1300" dirty="0"/>
          </a:p>
        </p:txBody>
      </p:sp>
      <p:sp>
        <p:nvSpPr>
          <p:cNvPr id="18" name="Text 15"/>
          <p:cNvSpPr txBox="1"/>
          <p:nvPr/>
        </p:nvSpPr>
        <p:spPr>
          <a:xfrm>
            <a:off x="4974336" y="2535936"/>
            <a:ext cx="3931920" cy="926592"/>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1.1만 매장 × 540만원  +  팝업 2,000건 × 320만원</a:t>
            </a:r>
            <a:endParaRPr lang="en-US" sz="1150" dirty="0"/>
          </a:p>
        </p:txBody>
      </p:sp>
      <p:sp>
        <p:nvSpPr>
          <p:cNvPr id="19" name="Text 16"/>
          <p:cNvSpPr txBox="1"/>
          <p:nvPr/>
        </p:nvSpPr>
        <p:spPr>
          <a:xfrm>
            <a:off x="9015984" y="2535936"/>
            <a:ext cx="1920240" cy="926592"/>
          </a:xfrm>
          <a:prstGeom prst="rect">
            <a:avLst/>
          </a:prstGeom>
          <a:noFill/>
          <a:ln/>
        </p:spPr>
        <p:txBody>
          <a:bodyPr wrap="square" lIns="0" tIns="0" rIns="0" bIns="0" rtlCol="0" anchor="ctr"/>
          <a:lstStyle/>
          <a:p>
            <a:pPr algn="r" indent="0" marL="0">
              <a:lnSpc>
                <a:spcPts val="2700"/>
              </a:lnSpc>
              <a:buNone/>
            </a:pPr>
            <a:r>
              <a:rPr lang="en-US" sz="1800" b="1" dirty="0">
                <a:solidFill>
                  <a:srgbClr val="0E1420"/>
                </a:solidFill>
                <a:latin typeface="Pretendard" pitchFamily="34" charset="0"/>
                <a:ea typeface="Pretendard" pitchFamily="34" charset="-122"/>
                <a:cs typeface="Pretendard" pitchFamily="34" charset="-120"/>
              </a:rPr>
              <a:t>약 660억원</a:t>
            </a:r>
            <a:endParaRPr lang="en-US" sz="1800" dirty="0"/>
          </a:p>
        </p:txBody>
      </p:sp>
      <p:sp>
        <p:nvSpPr>
          <p:cNvPr id="20" name="Shape 17"/>
          <p:cNvSpPr/>
          <p:nvPr/>
        </p:nvSpPr>
        <p:spPr>
          <a:xfrm>
            <a:off x="11027664" y="2843784"/>
            <a:ext cx="594360" cy="310896"/>
          </a:xfrm>
          <a:prstGeom prst="roundRect">
            <a:avLst>
              <a:gd name="adj" fmla="val 14706"/>
            </a:avLst>
          </a:prstGeom>
          <a:solidFill>
            <a:srgbClr val="E4E8EE"/>
          </a:solidFill>
          <a:ln/>
        </p:spPr>
      </p:sp>
      <p:sp>
        <p:nvSpPr>
          <p:cNvPr id="21" name="Text 18"/>
          <p:cNvSpPr txBox="1"/>
          <p:nvPr/>
        </p:nvSpPr>
        <p:spPr>
          <a:xfrm>
            <a:off x="11027664" y="2843784"/>
            <a:ext cx="594360" cy="310896"/>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가정</a:t>
            </a:r>
            <a:endParaRPr lang="en-US" sz="1000" dirty="0"/>
          </a:p>
        </p:txBody>
      </p:sp>
      <p:sp>
        <p:nvSpPr>
          <p:cNvPr id="22" name="Shape 19"/>
          <p:cNvSpPr/>
          <p:nvPr/>
        </p:nvSpPr>
        <p:spPr>
          <a:xfrm>
            <a:off x="566928" y="3590544"/>
            <a:ext cx="11055096" cy="926592"/>
          </a:xfrm>
          <a:prstGeom prst="roundRect">
            <a:avLst>
              <a:gd name="adj" fmla="val 5921"/>
            </a:avLst>
          </a:prstGeom>
          <a:solidFill>
            <a:srgbClr val="0E1420"/>
          </a:solidFill>
          <a:ln w="12700">
            <a:solidFill>
              <a:srgbClr val="0E1420"/>
            </a:solidFill>
            <a:prstDash val="solid"/>
          </a:ln>
        </p:spPr>
      </p:sp>
      <p:sp>
        <p:nvSpPr>
          <p:cNvPr id="23" name="Text 20"/>
          <p:cNvSpPr txBox="1"/>
          <p:nvPr/>
        </p:nvSpPr>
        <p:spPr>
          <a:xfrm>
            <a:off x="877824" y="3590544"/>
            <a:ext cx="1005840" cy="926592"/>
          </a:xfrm>
          <a:prstGeom prst="rect">
            <a:avLst/>
          </a:prstGeom>
          <a:noFill/>
          <a:ln/>
        </p:spPr>
        <p:txBody>
          <a:bodyPr wrap="square" lIns="0" tIns="0" rIns="0" bIns="0" rtlCol="0" anchor="ctr"/>
          <a:lstStyle/>
          <a:p>
            <a:pPr algn="l" indent="0" marL="0">
              <a:lnSpc>
                <a:spcPts val="3300"/>
              </a:lnSpc>
              <a:buNone/>
            </a:pPr>
            <a:r>
              <a:rPr lang="en-US" sz="2200" b="1" dirty="0">
                <a:solidFill>
                  <a:srgbClr val="F5A623"/>
                </a:solidFill>
                <a:latin typeface="Pretendard" pitchFamily="34" charset="0"/>
                <a:ea typeface="Pretendard" pitchFamily="34" charset="-122"/>
                <a:cs typeface="Pretendard" pitchFamily="34" charset="-120"/>
              </a:rPr>
              <a:t>SOM</a:t>
            </a:r>
            <a:endParaRPr lang="en-US" sz="2200" dirty="0"/>
          </a:p>
        </p:txBody>
      </p:sp>
      <p:sp>
        <p:nvSpPr>
          <p:cNvPr id="24" name="Text 21"/>
          <p:cNvSpPr txBox="1"/>
          <p:nvPr/>
        </p:nvSpPr>
        <p:spPr>
          <a:xfrm>
            <a:off x="1645920" y="3590544"/>
            <a:ext cx="3200400" cy="926592"/>
          </a:xfrm>
          <a:prstGeom prst="rect">
            <a:avLst/>
          </a:prstGeom>
          <a:noFill/>
          <a:ln/>
        </p:spPr>
        <p:txBody>
          <a:bodyPr wrap="square" lIns="0" tIns="0" rIns="0" bIns="0" rtlCol="0" anchor="ctr"/>
          <a:lstStyle/>
          <a:p>
            <a:pPr algn="l"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3년 내 확보 목표 (Y3)</a:t>
            </a:r>
            <a:endParaRPr lang="en-US" sz="1300" dirty="0"/>
          </a:p>
        </p:txBody>
      </p:sp>
      <p:sp>
        <p:nvSpPr>
          <p:cNvPr id="25" name="Text 22"/>
          <p:cNvSpPr txBox="1"/>
          <p:nvPr/>
        </p:nvSpPr>
        <p:spPr>
          <a:xfrm>
            <a:off x="4974336" y="3590544"/>
            <a:ext cx="3931920" cy="926592"/>
          </a:xfrm>
          <a:prstGeom prst="rect">
            <a:avLst/>
          </a:prstGeom>
          <a:noFill/>
          <a:ln/>
        </p:spPr>
        <p:txBody>
          <a:bodyPr wrap="square" lIns="0" tIns="0" rIns="0" bIns="0" rtlCol="0" anchor="ctr"/>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팝업 1,200건 + 구독 620매장 + 컨설팅 110건 + 리타게팅</a:t>
            </a:r>
            <a:endParaRPr lang="en-US" sz="1150" dirty="0"/>
          </a:p>
        </p:txBody>
      </p:sp>
      <p:sp>
        <p:nvSpPr>
          <p:cNvPr id="26" name="Text 23"/>
          <p:cNvSpPr txBox="1"/>
          <p:nvPr/>
        </p:nvSpPr>
        <p:spPr>
          <a:xfrm>
            <a:off x="9015984" y="3590544"/>
            <a:ext cx="1920240" cy="926592"/>
          </a:xfrm>
          <a:prstGeom prst="rect">
            <a:avLst/>
          </a:prstGeom>
          <a:noFill/>
          <a:ln/>
        </p:spPr>
        <p:txBody>
          <a:bodyPr wrap="square" lIns="0" tIns="0" rIns="0" bIns="0" rtlCol="0" anchor="ctr"/>
          <a:lstStyle/>
          <a:p>
            <a:pPr algn="r" indent="0" marL="0">
              <a:lnSpc>
                <a:spcPts val="2700"/>
              </a:lnSpc>
              <a:buNone/>
            </a:pPr>
            <a:r>
              <a:rPr lang="en-US" sz="1800" b="1" dirty="0">
                <a:solidFill>
                  <a:srgbClr val="F5A623"/>
                </a:solidFill>
                <a:latin typeface="Pretendard" pitchFamily="34" charset="0"/>
                <a:ea typeface="Pretendard" pitchFamily="34" charset="-122"/>
                <a:cs typeface="Pretendard" pitchFamily="34" charset="-120"/>
              </a:rPr>
              <a:t>128.6억원</a:t>
            </a:r>
            <a:endParaRPr lang="en-US" sz="1800" dirty="0"/>
          </a:p>
        </p:txBody>
      </p:sp>
      <p:sp>
        <p:nvSpPr>
          <p:cNvPr id="27" name="Shape 24"/>
          <p:cNvSpPr/>
          <p:nvPr/>
        </p:nvSpPr>
        <p:spPr>
          <a:xfrm>
            <a:off x="11027664" y="3898392"/>
            <a:ext cx="594360" cy="310896"/>
          </a:xfrm>
          <a:prstGeom prst="roundRect">
            <a:avLst>
              <a:gd name="adj" fmla="val 14706"/>
            </a:avLst>
          </a:prstGeom>
          <a:solidFill>
            <a:srgbClr val="0E1420"/>
          </a:solidFill>
          <a:ln/>
        </p:spPr>
      </p:sp>
      <p:sp>
        <p:nvSpPr>
          <p:cNvPr id="28" name="Text 25"/>
          <p:cNvSpPr txBox="1"/>
          <p:nvPr/>
        </p:nvSpPr>
        <p:spPr>
          <a:xfrm>
            <a:off x="11027664" y="3898392"/>
            <a:ext cx="594360" cy="310896"/>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Pretendard" pitchFamily="34" charset="0"/>
                <a:ea typeface="Pretendard" pitchFamily="34" charset="-122"/>
                <a:cs typeface="Pretendard" pitchFamily="34" charset="-120"/>
              </a:rPr>
              <a:t>산출</a:t>
            </a:r>
            <a:endParaRPr lang="en-US" sz="1000" dirty="0"/>
          </a:p>
        </p:txBody>
      </p:sp>
      <p:sp>
        <p:nvSpPr>
          <p:cNvPr id="29" name="Text 26"/>
          <p:cNvSpPr txBox="1"/>
          <p:nvPr/>
        </p:nvSpPr>
        <p:spPr>
          <a:xfrm>
            <a:off x="566928" y="4645152"/>
            <a:ext cx="11055096" cy="512064"/>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산식의 입력값 — 3.3만 매장은 롯데 유통군 약 1.1만 매장의 3배로 본 추정, 1.1만 매장은 55개점 × 점당 200브랜드 가정입니다. 연 ARPU 540만원은 상설 구독 월 45만원 × 12개월. 마트 · 하이마트 · 시네마 · 면세 · 해외 롯데몰과 광고(RMN) 매출은 제외한 보수적 수치입니다.</a:t>
            </a:r>
            <a:endParaRPr lang="en-US" sz="1000" dirty="0"/>
          </a:p>
        </p:txBody>
      </p:sp>
      <p:sp>
        <p:nvSpPr>
          <p:cNvPr id="30" name="Shape 27"/>
          <p:cNvSpPr/>
          <p:nvPr/>
        </p:nvSpPr>
        <p:spPr>
          <a:xfrm>
            <a:off x="566928" y="5358384"/>
            <a:ext cx="11055096" cy="749808"/>
          </a:xfrm>
          <a:prstGeom prst="roundRect">
            <a:avLst>
              <a:gd name="adj" fmla="val 7317"/>
            </a:avLst>
          </a:prstGeom>
          <a:solidFill>
            <a:srgbClr val="0E1420"/>
          </a:solidFill>
          <a:ln/>
        </p:spPr>
      </p:sp>
      <p:sp>
        <p:nvSpPr>
          <p:cNvPr id="31" name="Text 28"/>
          <p:cNvSpPr txBox="1"/>
          <p:nvPr/>
        </p:nvSpPr>
        <p:spPr>
          <a:xfrm>
            <a:off x="932688" y="5358384"/>
            <a:ext cx="10323576" cy="74980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SOM 128.6억원은 SAM의 약 19%.  롯데 유통군 안에서만 달성하는 숫자이고, 계열사·해외는 여기 없습니다.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03</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왜 지금인가, 왜 롯데인가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시장이 열렸고, 기술 원가가 떨어졌고, 그룹 방침이 같은 방향을 가리킵니다</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MARKET</a:t>
            </a:r>
            <a:endParaRPr lang="en-US" sz="1100" dirty="0"/>
          </a:p>
        </p:txBody>
      </p:sp>
      <p:sp>
        <p:nvSpPr>
          <p:cNvPr id="8" name="Shape 5"/>
          <p:cNvSpPr/>
          <p:nvPr/>
        </p:nvSpPr>
        <p:spPr>
          <a:xfrm>
            <a:off x="566928" y="1481328"/>
            <a:ext cx="3587496" cy="1588452"/>
          </a:xfrm>
          <a:prstGeom prst="roundRect">
            <a:avLst>
              <a:gd name="adj" fmla="val 3454"/>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727676"/>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시장</a:t>
            </a:r>
            <a:endParaRPr lang="en-US" sz="1100" dirty="0"/>
          </a:p>
        </p:txBody>
      </p:sp>
      <p:sp>
        <p:nvSpPr>
          <p:cNvPr id="10" name="Text 7"/>
          <p:cNvSpPr txBox="1"/>
          <p:nvPr/>
        </p:nvSpPr>
        <p:spPr>
          <a:xfrm>
            <a:off x="841248" y="2044160"/>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0E1420"/>
                </a:solidFill>
                <a:latin typeface="Pretendard" pitchFamily="34" charset="0"/>
                <a:ea typeface="Pretendard" pitchFamily="34" charset="-122"/>
                <a:cs typeface="Pretendard" pitchFamily="34" charset="-120"/>
              </a:rPr>
              <a:t>팝업은 상시 포맷이 됐다</a:t>
            </a:r>
            <a:endParaRPr lang="en-US" sz="1500" dirty="0"/>
          </a:p>
        </p:txBody>
      </p:sp>
      <p:sp>
        <p:nvSpPr>
          <p:cNvPr id="11" name="Text 8"/>
          <p:cNvSpPr txBox="1"/>
          <p:nvPr/>
        </p:nvSpPr>
        <p:spPr>
          <a:xfrm>
            <a:off x="841248" y="2409920"/>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일회성 행사가 아니라 브랜드 발굴과 MD 검증의 상시 채널이 됐습니다.</a:t>
            </a:r>
            <a:endParaRPr lang="en-US" sz="1150" dirty="0"/>
          </a:p>
        </p:txBody>
      </p:sp>
      <p:sp>
        <p:nvSpPr>
          <p:cNvPr id="12" name="Shape 9"/>
          <p:cNvSpPr/>
          <p:nvPr/>
        </p:nvSpPr>
        <p:spPr>
          <a:xfrm>
            <a:off x="4300728" y="1481328"/>
            <a:ext cx="3587496" cy="1588452"/>
          </a:xfrm>
          <a:prstGeom prst="roundRect">
            <a:avLst>
              <a:gd name="adj" fmla="val 3454"/>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727676"/>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Pretendard" pitchFamily="34" charset="0"/>
                <a:ea typeface="Pretendard" pitchFamily="34" charset="-122"/>
                <a:cs typeface="Pretendard" pitchFamily="34" charset="-120"/>
              </a:rPr>
              <a:t>기술</a:t>
            </a:r>
            <a:endParaRPr lang="en-US" sz="1100" dirty="0"/>
          </a:p>
        </p:txBody>
      </p:sp>
      <p:sp>
        <p:nvSpPr>
          <p:cNvPr id="14" name="Text 11"/>
          <p:cNvSpPr txBox="1"/>
          <p:nvPr/>
        </p:nvSpPr>
        <p:spPr>
          <a:xfrm>
            <a:off x="4575048" y="2044160"/>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FFFFFF"/>
                </a:solidFill>
                <a:latin typeface="Pretendard" pitchFamily="34" charset="0"/>
                <a:ea typeface="Pretendard" pitchFamily="34" charset="-122"/>
                <a:cs typeface="Pretendard" pitchFamily="34" charset="-120"/>
              </a:rPr>
              <a:t>영상분석 원가가 1/10로</a:t>
            </a:r>
            <a:endParaRPr lang="en-US" sz="1500" dirty="0"/>
          </a:p>
        </p:txBody>
      </p:sp>
      <p:sp>
        <p:nvSpPr>
          <p:cNvPr id="15" name="Text 12"/>
          <p:cNvSpPr txBox="1"/>
          <p:nvPr/>
        </p:nvSpPr>
        <p:spPr>
          <a:xfrm>
            <a:off x="4575048" y="2409920"/>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AEB8C7"/>
                </a:solidFill>
                <a:latin typeface="Pretendard" pitchFamily="34" charset="0"/>
                <a:ea typeface="Pretendard" pitchFamily="34" charset="-122"/>
                <a:cs typeface="Pretendard" pitchFamily="34" charset="-120"/>
              </a:rPr>
              <a:t>엣지 추론으로 영상을 클라우드에 올리지 않습니다. 원가의 벽이 낮아졌습니다.</a:t>
            </a:r>
            <a:endParaRPr lang="en-US" sz="1150" dirty="0"/>
          </a:p>
        </p:txBody>
      </p:sp>
      <p:sp>
        <p:nvSpPr>
          <p:cNvPr id="16" name="Shape 13"/>
          <p:cNvSpPr/>
          <p:nvPr/>
        </p:nvSpPr>
        <p:spPr>
          <a:xfrm>
            <a:off x="8034528" y="1481328"/>
            <a:ext cx="3587496" cy="1588452"/>
          </a:xfrm>
          <a:prstGeom prst="roundRect">
            <a:avLst>
              <a:gd name="adj" fmla="val 3454"/>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1727676"/>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그룹</a:t>
            </a:r>
            <a:endParaRPr lang="en-US" sz="1100" dirty="0"/>
          </a:p>
        </p:txBody>
      </p:sp>
      <p:sp>
        <p:nvSpPr>
          <p:cNvPr id="18" name="Text 15"/>
          <p:cNvSpPr txBox="1"/>
          <p:nvPr/>
        </p:nvSpPr>
        <p:spPr>
          <a:xfrm>
            <a:off x="8308848" y="2044160"/>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0E1420"/>
                </a:solidFill>
                <a:latin typeface="Pretendard" pitchFamily="34" charset="0"/>
                <a:ea typeface="Pretendard" pitchFamily="34" charset="-122"/>
                <a:cs typeface="Pretendard" pitchFamily="34" charset="-120"/>
              </a:rPr>
              <a:t>AI 트랜스포메이션 방침</a:t>
            </a:r>
            <a:endParaRPr lang="en-US" sz="1500" dirty="0"/>
          </a:p>
        </p:txBody>
      </p:sp>
      <p:sp>
        <p:nvSpPr>
          <p:cNvPr id="19" name="Text 16"/>
          <p:cNvSpPr txBox="1"/>
          <p:nvPr/>
        </p:nvSpPr>
        <p:spPr>
          <a:xfrm>
            <a:off x="8308848" y="2409920"/>
            <a:ext cx="3038856" cy="459232"/>
          </a:xfrm>
          <a:prstGeom prst="rect">
            <a:avLst/>
          </a:prstGeom>
          <a:noFill/>
          <a:ln/>
        </p:spPr>
        <p:txBody>
          <a:bodyPr wrap="square" lIns="0" tIns="0" rIns="0" bIns="0" rtlCol="0" anchor="t"/>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새 인프라를 사는 게 아니라 이미 깔린 CCTV 위에 AI를 얹는 과제입니다.</a:t>
            </a:r>
            <a:endParaRPr lang="en-US" sz="1150" dirty="0"/>
          </a:p>
        </p:txBody>
      </p:sp>
      <p:sp>
        <p:nvSpPr>
          <p:cNvPr id="20" name="Text 17"/>
          <p:cNvSpPr txBox="1"/>
          <p:nvPr/>
        </p:nvSpPr>
        <p:spPr>
          <a:xfrm>
            <a:off x="566928" y="3252660"/>
            <a:ext cx="73152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Pretendard" pitchFamily="34" charset="0"/>
                <a:ea typeface="Pretendard" pitchFamily="34" charset="-122"/>
                <a:cs typeface="Pretendard" pitchFamily="34" charset="-120"/>
              </a:rPr>
              <a:t>Key Success Factor — 이 셋을 동시에 가진 곳은 롯데뿐입니다</a:t>
            </a:r>
            <a:endParaRPr lang="en-US" sz="1250" dirty="0"/>
          </a:p>
        </p:txBody>
      </p:sp>
      <p:sp>
        <p:nvSpPr>
          <p:cNvPr id="21" name="Text 18"/>
          <p:cNvSpPr txBox="1"/>
          <p:nvPr/>
        </p:nvSpPr>
        <p:spPr>
          <a:xfrm>
            <a:off x="7863840" y="3252660"/>
            <a:ext cx="3758184" cy="243332"/>
          </a:xfrm>
          <a:prstGeom prst="rect">
            <a:avLst/>
          </a:prstGeom>
          <a:noFill/>
          <a:ln/>
        </p:spPr>
        <p:txBody>
          <a:bodyPr wrap="square" lIns="0" tIns="0" rIns="0" bIns="0" rtlCol="0" anchor="t"/>
          <a:lstStyle/>
          <a:p>
            <a:pPr algn="r"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그룹 비전 · Lifetime Value Creator</a:t>
            </a:r>
            <a:endParaRPr lang="en-US" sz="1150" dirty="0"/>
          </a:p>
        </p:txBody>
      </p:sp>
      <p:sp>
        <p:nvSpPr>
          <p:cNvPr id="22" name="Shape 19"/>
          <p:cNvSpPr/>
          <p:nvPr/>
        </p:nvSpPr>
        <p:spPr>
          <a:xfrm>
            <a:off x="566928" y="3581844"/>
            <a:ext cx="3587496" cy="1502220"/>
          </a:xfrm>
          <a:prstGeom prst="roundRect">
            <a:avLst>
              <a:gd name="adj" fmla="val 3652"/>
            </a:avLst>
          </a:prstGeom>
          <a:solidFill>
            <a:srgbClr val="FCEDEE"/>
          </a:solidFill>
          <a:ln w="12700">
            <a:solidFill>
              <a:srgbClr val="FCEDEE"/>
            </a:solidFill>
            <a:prstDash val="solid"/>
          </a:ln>
        </p:spPr>
      </p:sp>
      <p:sp>
        <p:nvSpPr>
          <p:cNvPr id="23" name="Text 20"/>
          <p:cNvSpPr txBox="1"/>
          <p:nvPr/>
        </p:nvSpPr>
        <p:spPr>
          <a:xfrm>
            <a:off x="841248" y="3826732"/>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공간 · 트래픽 · POS</a:t>
            </a:r>
            <a:endParaRPr lang="en-US" sz="1350" dirty="0"/>
          </a:p>
        </p:txBody>
      </p:sp>
      <p:sp>
        <p:nvSpPr>
          <p:cNvPr id="24" name="Text 21"/>
          <p:cNvSpPr txBox="1"/>
          <p:nvPr/>
        </p:nvSpPr>
        <p:spPr>
          <a:xfrm>
            <a:off x="841248" y="4167092"/>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롯데백화점</a:t>
            </a:r>
            <a:endParaRPr lang="en-US" sz="1000" dirty="0"/>
          </a:p>
        </p:txBody>
      </p:sp>
      <p:sp>
        <p:nvSpPr>
          <p:cNvPr id="25" name="Text 22"/>
          <p:cNvSpPr txBox="1"/>
          <p:nvPr/>
        </p:nvSpPr>
        <p:spPr>
          <a:xfrm>
            <a:off x="841248" y="4476464"/>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측정할 장소와, 결과를 증명할 결제 데이터</a:t>
            </a:r>
            <a:endParaRPr lang="en-US" sz="1000" dirty="0"/>
          </a:p>
        </p:txBody>
      </p:sp>
      <p:sp>
        <p:nvSpPr>
          <p:cNvPr id="26" name="Shape 23"/>
          <p:cNvSpPr/>
          <p:nvPr/>
        </p:nvSpPr>
        <p:spPr>
          <a:xfrm>
            <a:off x="4300728" y="3581844"/>
            <a:ext cx="3587496" cy="1502220"/>
          </a:xfrm>
          <a:prstGeom prst="roundRect">
            <a:avLst>
              <a:gd name="adj" fmla="val 3652"/>
            </a:avLst>
          </a:prstGeom>
          <a:solidFill>
            <a:srgbClr val="FCEDEE"/>
          </a:solidFill>
          <a:ln w="12700">
            <a:solidFill>
              <a:srgbClr val="FCEDEE"/>
            </a:solidFill>
            <a:prstDash val="solid"/>
          </a:ln>
        </p:spPr>
      </p:sp>
      <p:sp>
        <p:nvSpPr>
          <p:cNvPr id="27" name="Text 24"/>
          <p:cNvSpPr txBox="1"/>
          <p:nvPr/>
        </p:nvSpPr>
        <p:spPr>
          <a:xfrm>
            <a:off x="4575048" y="3826732"/>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L.POINT 소비 이력</a:t>
            </a:r>
            <a:endParaRPr lang="en-US" sz="1350" dirty="0"/>
          </a:p>
        </p:txBody>
      </p:sp>
      <p:sp>
        <p:nvSpPr>
          <p:cNvPr id="28" name="Text 25"/>
          <p:cNvSpPr txBox="1"/>
          <p:nvPr/>
        </p:nvSpPr>
        <p:spPr>
          <a:xfrm>
            <a:off x="4575048" y="4167092"/>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롯데멤버스</a:t>
            </a:r>
            <a:endParaRPr lang="en-US" sz="1000" dirty="0"/>
          </a:p>
        </p:txBody>
      </p:sp>
      <p:sp>
        <p:nvSpPr>
          <p:cNvPr id="29" name="Text 26"/>
          <p:cNvSpPr txBox="1"/>
          <p:nvPr/>
        </p:nvSpPr>
        <p:spPr>
          <a:xfrm>
            <a:off x="4575048" y="4476464"/>
            <a:ext cx="303885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방문객이 평소 어디서 무엇을 사는지 — 경쟁사가 구조적으로 못 가진 것</a:t>
            </a:r>
            <a:endParaRPr lang="en-US" sz="1000" dirty="0"/>
          </a:p>
        </p:txBody>
      </p:sp>
      <p:sp>
        <p:nvSpPr>
          <p:cNvPr id="30" name="Shape 27"/>
          <p:cNvSpPr/>
          <p:nvPr/>
        </p:nvSpPr>
        <p:spPr>
          <a:xfrm>
            <a:off x="8034528" y="3581844"/>
            <a:ext cx="3587496" cy="1502220"/>
          </a:xfrm>
          <a:prstGeom prst="roundRect">
            <a:avLst>
              <a:gd name="adj" fmla="val 3652"/>
            </a:avLst>
          </a:prstGeom>
          <a:solidFill>
            <a:srgbClr val="FCEDEE"/>
          </a:solidFill>
          <a:ln w="12700">
            <a:solidFill>
              <a:srgbClr val="FCEDEE"/>
            </a:solidFill>
            <a:prstDash val="solid"/>
          </a:ln>
        </p:spPr>
      </p:sp>
      <p:sp>
        <p:nvSpPr>
          <p:cNvPr id="31" name="Text 28"/>
          <p:cNvSpPr txBox="1"/>
          <p:nvPr/>
        </p:nvSpPr>
        <p:spPr>
          <a:xfrm>
            <a:off x="8308848" y="3826732"/>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비전 AI · 엣지 인프라</a:t>
            </a:r>
            <a:endParaRPr lang="en-US" sz="1350" dirty="0"/>
          </a:p>
        </p:txBody>
      </p:sp>
      <p:sp>
        <p:nvSpPr>
          <p:cNvPr id="32" name="Text 29"/>
          <p:cNvSpPr txBox="1"/>
          <p:nvPr/>
        </p:nvSpPr>
        <p:spPr>
          <a:xfrm>
            <a:off x="8308848" y="4167092"/>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롯데이노베이트</a:t>
            </a:r>
            <a:endParaRPr lang="en-US" sz="1000" dirty="0"/>
          </a:p>
        </p:txBody>
      </p:sp>
      <p:sp>
        <p:nvSpPr>
          <p:cNvPr id="33" name="Text 30"/>
          <p:cNvSpPr txBox="1"/>
          <p:nvPr/>
        </p:nvSpPr>
        <p:spPr>
          <a:xfrm>
            <a:off x="8308848" y="4476464"/>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영상을 숫자로 바꾸는 엔진. Build/Buy 병행</a:t>
            </a:r>
            <a:endParaRPr lang="en-US" sz="1000" dirty="0"/>
          </a:p>
        </p:txBody>
      </p:sp>
      <p:sp>
        <p:nvSpPr>
          <p:cNvPr id="34" name="Shape 31"/>
          <p:cNvSpPr/>
          <p:nvPr/>
        </p:nvSpPr>
        <p:spPr>
          <a:xfrm>
            <a:off x="566928" y="5358384"/>
            <a:ext cx="11055096" cy="749808"/>
          </a:xfrm>
          <a:prstGeom prst="roundRect">
            <a:avLst>
              <a:gd name="adj" fmla="val 7317"/>
            </a:avLst>
          </a:prstGeom>
          <a:solidFill>
            <a:srgbClr val="0E1420"/>
          </a:solidFill>
          <a:ln/>
        </p:spPr>
      </p:sp>
      <p:sp>
        <p:nvSpPr>
          <p:cNvPr id="35" name="Text 32"/>
          <p:cNvSpPr txBox="1"/>
          <p:nvPr/>
        </p:nvSpPr>
        <p:spPr>
          <a:xfrm>
            <a:off x="932688" y="5358384"/>
            <a:ext cx="10323576" cy="749808"/>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기술 경쟁이 아니라 자산 구조의 경쟁입니다.  카메라는 누구나 깔 수 있지만, 세 조각은 살 수 없습니다.</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04</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수익 모델  |  다섯 단으로 올라갑니다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팝업은 매출 엔진이 아니라 유입 깔때기 — 3년차 매출의 51%가 반복 매출</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BUSINESS MODEL</a:t>
            </a:r>
            <a:endParaRPr lang="en-US" sz="1100" dirty="0"/>
          </a:p>
        </p:txBody>
      </p:sp>
      <p:sp>
        <p:nvSpPr>
          <p:cNvPr id="8" name="Shape 5"/>
          <p:cNvSpPr/>
          <p:nvPr/>
        </p:nvSpPr>
        <p:spPr>
          <a:xfrm>
            <a:off x="566928" y="1481328"/>
            <a:ext cx="11055096" cy="811987"/>
          </a:xfrm>
          <a:prstGeom prst="roundRect">
            <a:avLst>
              <a:gd name="adj" fmla="val 6757"/>
            </a:avLst>
          </a:prstGeom>
          <a:solidFill>
            <a:srgbClr val="F7F8FA"/>
          </a:solidFill>
          <a:ln w="12700">
            <a:solidFill>
              <a:srgbClr val="E4E8EE"/>
            </a:solidFill>
            <a:prstDash val="solid"/>
          </a:ln>
        </p:spPr>
      </p:sp>
      <p:sp>
        <p:nvSpPr>
          <p:cNvPr id="9" name="Text 6"/>
          <p:cNvSpPr txBox="1"/>
          <p:nvPr/>
        </p:nvSpPr>
        <p:spPr>
          <a:xfrm>
            <a:off x="768096" y="1481328"/>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Pretendard" pitchFamily="34" charset="0"/>
                <a:ea typeface="Pretendard" pitchFamily="34" charset="-122"/>
                <a:cs typeface="Pretendard" pitchFamily="34" charset="-120"/>
              </a:rPr>
              <a:t>①</a:t>
            </a:r>
            <a:endParaRPr lang="en-US" sz="2000" dirty="0"/>
          </a:p>
        </p:txBody>
      </p:sp>
      <p:sp>
        <p:nvSpPr>
          <p:cNvPr id="10" name="Text 7"/>
          <p:cNvSpPr txBox="1"/>
          <p:nvPr/>
        </p:nvSpPr>
        <p:spPr>
          <a:xfrm>
            <a:off x="1353312" y="1481328"/>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Pretendard" pitchFamily="34" charset="0"/>
                <a:ea typeface="Pretendard" pitchFamily="34" charset="-122"/>
                <a:cs typeface="Pretendard" pitchFamily="34" charset="-120"/>
              </a:rPr>
              <a:t>팝업 솔루션 패키지</a:t>
            </a:r>
            <a:endParaRPr lang="en-US" sz="1500" dirty="0"/>
          </a:p>
        </p:txBody>
      </p:sp>
      <p:sp>
        <p:nvSpPr>
          <p:cNvPr id="11" name="Text 8"/>
          <p:cNvSpPr txBox="1"/>
          <p:nvPr/>
        </p:nvSpPr>
        <p:spPr>
          <a:xfrm>
            <a:off x="4334256" y="1481328"/>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리포트 + 고객 인사이트 + 개선 처방</a:t>
            </a:r>
            <a:endParaRPr lang="en-US" sz="1150" dirty="0"/>
          </a:p>
        </p:txBody>
      </p:sp>
      <p:sp>
        <p:nvSpPr>
          <p:cNvPr id="12" name="Text 9"/>
          <p:cNvSpPr txBox="1"/>
          <p:nvPr/>
        </p:nvSpPr>
        <p:spPr>
          <a:xfrm>
            <a:off x="7717536" y="1481328"/>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ASP 320만원 / 건</a:t>
            </a:r>
            <a:endParaRPr lang="en-US" sz="1300" dirty="0"/>
          </a:p>
        </p:txBody>
      </p:sp>
      <p:sp>
        <p:nvSpPr>
          <p:cNvPr id="13" name="Shape 10"/>
          <p:cNvSpPr/>
          <p:nvPr/>
        </p:nvSpPr>
        <p:spPr>
          <a:xfrm>
            <a:off x="10680192" y="1722730"/>
            <a:ext cx="804672" cy="329184"/>
          </a:xfrm>
          <a:prstGeom prst="roundRect">
            <a:avLst>
              <a:gd name="adj" fmla="val 13889"/>
            </a:avLst>
          </a:prstGeom>
          <a:solidFill>
            <a:srgbClr val="E4E8EE"/>
          </a:solidFill>
          <a:ln/>
        </p:spPr>
      </p:sp>
      <p:sp>
        <p:nvSpPr>
          <p:cNvPr id="14" name="Text 11"/>
          <p:cNvSpPr txBox="1"/>
          <p:nvPr/>
        </p:nvSpPr>
        <p:spPr>
          <a:xfrm>
            <a:off x="10680192" y="1722730"/>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유입</a:t>
            </a:r>
            <a:endParaRPr lang="en-US" sz="1000" dirty="0"/>
          </a:p>
        </p:txBody>
      </p:sp>
      <p:sp>
        <p:nvSpPr>
          <p:cNvPr id="15" name="Shape 12"/>
          <p:cNvSpPr/>
          <p:nvPr/>
        </p:nvSpPr>
        <p:spPr>
          <a:xfrm>
            <a:off x="566928" y="2393899"/>
            <a:ext cx="11055096" cy="811987"/>
          </a:xfrm>
          <a:prstGeom prst="roundRect">
            <a:avLst>
              <a:gd name="adj" fmla="val 6757"/>
            </a:avLst>
          </a:prstGeom>
          <a:solidFill>
            <a:srgbClr val="FFFFFF"/>
          </a:solidFill>
          <a:ln w="12700">
            <a:solidFill>
              <a:srgbClr val="E4E8EE"/>
            </a:solidFill>
            <a:prstDash val="solid"/>
          </a:ln>
        </p:spPr>
      </p:sp>
      <p:sp>
        <p:nvSpPr>
          <p:cNvPr id="16" name="Text 13"/>
          <p:cNvSpPr txBox="1"/>
          <p:nvPr/>
        </p:nvSpPr>
        <p:spPr>
          <a:xfrm>
            <a:off x="768096" y="2393899"/>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Pretendard" pitchFamily="34" charset="0"/>
                <a:ea typeface="Pretendard" pitchFamily="34" charset="-122"/>
                <a:cs typeface="Pretendard" pitchFamily="34" charset="-120"/>
              </a:rPr>
              <a:t>②</a:t>
            </a:r>
            <a:endParaRPr lang="en-US" sz="2000" dirty="0"/>
          </a:p>
        </p:txBody>
      </p:sp>
      <p:sp>
        <p:nvSpPr>
          <p:cNvPr id="17" name="Text 14"/>
          <p:cNvSpPr txBox="1"/>
          <p:nvPr/>
        </p:nvSpPr>
        <p:spPr>
          <a:xfrm>
            <a:off x="1353312" y="2393899"/>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Pretendard" pitchFamily="34" charset="0"/>
                <a:ea typeface="Pretendard" pitchFamily="34" charset="-122"/>
                <a:cs typeface="Pretendard" pitchFamily="34" charset="-120"/>
              </a:rPr>
              <a:t>상설 매장 구독</a:t>
            </a:r>
            <a:endParaRPr lang="en-US" sz="1500" dirty="0"/>
          </a:p>
        </p:txBody>
      </p:sp>
      <p:sp>
        <p:nvSpPr>
          <p:cNvPr id="18" name="Text 15"/>
          <p:cNvSpPr txBox="1"/>
          <p:nvPr/>
        </p:nvSpPr>
        <p:spPr>
          <a:xfrm>
            <a:off x="4334256" y="2393899"/>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월간 처방 리포트 + 대시보드</a:t>
            </a:r>
            <a:endParaRPr lang="en-US" sz="1150" dirty="0"/>
          </a:p>
        </p:txBody>
      </p:sp>
      <p:sp>
        <p:nvSpPr>
          <p:cNvPr id="19" name="Text 16"/>
          <p:cNvSpPr txBox="1"/>
          <p:nvPr/>
        </p:nvSpPr>
        <p:spPr>
          <a:xfrm>
            <a:off x="7717536" y="2393899"/>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월 45만원 / 매장</a:t>
            </a:r>
            <a:endParaRPr lang="en-US" sz="1300" dirty="0"/>
          </a:p>
        </p:txBody>
      </p:sp>
      <p:sp>
        <p:nvSpPr>
          <p:cNvPr id="20" name="Shape 17"/>
          <p:cNvSpPr/>
          <p:nvPr/>
        </p:nvSpPr>
        <p:spPr>
          <a:xfrm>
            <a:off x="10680192" y="2635301"/>
            <a:ext cx="804672" cy="329184"/>
          </a:xfrm>
          <a:prstGeom prst="roundRect">
            <a:avLst>
              <a:gd name="adj" fmla="val 13889"/>
            </a:avLst>
          </a:prstGeom>
          <a:solidFill>
            <a:srgbClr val="E11D2E"/>
          </a:solidFill>
          <a:ln/>
        </p:spPr>
      </p:sp>
      <p:sp>
        <p:nvSpPr>
          <p:cNvPr id="21" name="Text 18"/>
          <p:cNvSpPr txBox="1"/>
          <p:nvPr/>
        </p:nvSpPr>
        <p:spPr>
          <a:xfrm>
            <a:off x="10680192" y="2635301"/>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Pretendard" pitchFamily="34" charset="0"/>
                <a:ea typeface="Pretendard" pitchFamily="34" charset="-122"/>
                <a:cs typeface="Pretendard" pitchFamily="34" charset="-120"/>
              </a:rPr>
              <a:t>리커링</a:t>
            </a:r>
            <a:endParaRPr lang="en-US" sz="1000" dirty="0"/>
          </a:p>
        </p:txBody>
      </p:sp>
      <p:sp>
        <p:nvSpPr>
          <p:cNvPr id="22" name="Shape 19"/>
          <p:cNvSpPr/>
          <p:nvPr/>
        </p:nvSpPr>
        <p:spPr>
          <a:xfrm>
            <a:off x="566928" y="3306470"/>
            <a:ext cx="11055096" cy="811987"/>
          </a:xfrm>
          <a:prstGeom prst="roundRect">
            <a:avLst>
              <a:gd name="adj" fmla="val 6757"/>
            </a:avLst>
          </a:prstGeom>
          <a:solidFill>
            <a:srgbClr val="F7F8FA"/>
          </a:solidFill>
          <a:ln w="12700">
            <a:solidFill>
              <a:srgbClr val="E4E8EE"/>
            </a:solidFill>
            <a:prstDash val="solid"/>
          </a:ln>
        </p:spPr>
      </p:sp>
      <p:sp>
        <p:nvSpPr>
          <p:cNvPr id="23" name="Text 20"/>
          <p:cNvSpPr txBox="1"/>
          <p:nvPr/>
        </p:nvSpPr>
        <p:spPr>
          <a:xfrm>
            <a:off x="768096" y="3306470"/>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Pretendard" pitchFamily="34" charset="0"/>
                <a:ea typeface="Pretendard" pitchFamily="34" charset="-122"/>
                <a:cs typeface="Pretendard" pitchFamily="34" charset="-120"/>
              </a:rPr>
              <a:t>③</a:t>
            </a:r>
            <a:endParaRPr lang="en-US" sz="2000" dirty="0"/>
          </a:p>
        </p:txBody>
      </p:sp>
      <p:sp>
        <p:nvSpPr>
          <p:cNvPr id="24" name="Text 21"/>
          <p:cNvSpPr txBox="1"/>
          <p:nvPr/>
        </p:nvSpPr>
        <p:spPr>
          <a:xfrm>
            <a:off x="1353312" y="3306470"/>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Pretendard" pitchFamily="34" charset="0"/>
                <a:ea typeface="Pretendard" pitchFamily="34" charset="-122"/>
                <a:cs typeface="Pretendard" pitchFamily="34" charset="-120"/>
              </a:rPr>
              <a:t>성장 컨설팅 + 성과연동</a:t>
            </a:r>
            <a:endParaRPr lang="en-US" sz="1500" dirty="0"/>
          </a:p>
        </p:txBody>
      </p:sp>
      <p:sp>
        <p:nvSpPr>
          <p:cNvPr id="25" name="Text 22"/>
          <p:cNvSpPr txBox="1"/>
          <p:nvPr/>
        </p:nvSpPr>
        <p:spPr>
          <a:xfrm>
            <a:off x="4334256" y="3306470"/>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VMD · 상품기획 · 출점전략</a:t>
            </a:r>
            <a:endParaRPr lang="en-US" sz="1150" dirty="0"/>
          </a:p>
        </p:txBody>
      </p:sp>
      <p:sp>
        <p:nvSpPr>
          <p:cNvPr id="26" name="Text 23"/>
          <p:cNvSpPr txBox="1"/>
          <p:nvPr/>
        </p:nvSpPr>
        <p:spPr>
          <a:xfrm>
            <a:off x="7717536" y="3306470"/>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1,500만원 + 성과 5~10%</a:t>
            </a:r>
            <a:endParaRPr lang="en-US" sz="1300" dirty="0"/>
          </a:p>
        </p:txBody>
      </p:sp>
      <p:sp>
        <p:nvSpPr>
          <p:cNvPr id="27" name="Shape 24"/>
          <p:cNvSpPr/>
          <p:nvPr/>
        </p:nvSpPr>
        <p:spPr>
          <a:xfrm>
            <a:off x="10680192" y="3547872"/>
            <a:ext cx="804672" cy="329184"/>
          </a:xfrm>
          <a:prstGeom prst="roundRect">
            <a:avLst>
              <a:gd name="adj" fmla="val 13889"/>
            </a:avLst>
          </a:prstGeom>
          <a:solidFill>
            <a:srgbClr val="E4E8EE"/>
          </a:solidFill>
          <a:ln/>
        </p:spPr>
      </p:sp>
      <p:sp>
        <p:nvSpPr>
          <p:cNvPr id="28" name="Text 25"/>
          <p:cNvSpPr txBox="1"/>
          <p:nvPr/>
        </p:nvSpPr>
        <p:spPr>
          <a:xfrm>
            <a:off x="10680192" y="3547872"/>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고부가</a:t>
            </a:r>
            <a:endParaRPr lang="en-US" sz="1000" dirty="0"/>
          </a:p>
        </p:txBody>
      </p:sp>
      <p:sp>
        <p:nvSpPr>
          <p:cNvPr id="29" name="Shape 26"/>
          <p:cNvSpPr/>
          <p:nvPr/>
        </p:nvSpPr>
        <p:spPr>
          <a:xfrm>
            <a:off x="566928" y="4219042"/>
            <a:ext cx="11055096" cy="811987"/>
          </a:xfrm>
          <a:prstGeom prst="roundRect">
            <a:avLst>
              <a:gd name="adj" fmla="val 6757"/>
            </a:avLst>
          </a:prstGeom>
          <a:solidFill>
            <a:srgbClr val="FFFFFF"/>
          </a:solidFill>
          <a:ln w="12700">
            <a:solidFill>
              <a:srgbClr val="E4E8EE"/>
            </a:solidFill>
            <a:prstDash val="solid"/>
          </a:ln>
        </p:spPr>
      </p:sp>
      <p:sp>
        <p:nvSpPr>
          <p:cNvPr id="30" name="Text 27"/>
          <p:cNvSpPr txBox="1"/>
          <p:nvPr/>
        </p:nvSpPr>
        <p:spPr>
          <a:xfrm>
            <a:off x="768096" y="4219042"/>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Pretendard" pitchFamily="34" charset="0"/>
                <a:ea typeface="Pretendard" pitchFamily="34" charset="-122"/>
                <a:cs typeface="Pretendard" pitchFamily="34" charset="-120"/>
              </a:rPr>
              <a:t>④</a:t>
            </a:r>
            <a:endParaRPr lang="en-US" sz="2000" dirty="0"/>
          </a:p>
        </p:txBody>
      </p:sp>
      <p:sp>
        <p:nvSpPr>
          <p:cNvPr id="31" name="Text 28"/>
          <p:cNvSpPr txBox="1"/>
          <p:nvPr/>
        </p:nvSpPr>
        <p:spPr>
          <a:xfrm>
            <a:off x="1353312" y="4219042"/>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Pretendard" pitchFamily="34" charset="0"/>
                <a:ea typeface="Pretendard" pitchFamily="34" charset="-122"/>
                <a:cs typeface="Pretendard" pitchFamily="34" charset="-120"/>
              </a:rPr>
              <a:t>L.POINT 리타게팅</a:t>
            </a:r>
            <a:endParaRPr lang="en-US" sz="1500" dirty="0"/>
          </a:p>
        </p:txBody>
      </p:sp>
      <p:sp>
        <p:nvSpPr>
          <p:cNvPr id="32" name="Text 29"/>
          <p:cNvSpPr txBox="1"/>
          <p:nvPr/>
        </p:nvSpPr>
        <p:spPr>
          <a:xfrm>
            <a:off x="4334256" y="4219042"/>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안 산 고객에게 앱 쿠폰 발송</a:t>
            </a:r>
            <a:endParaRPr lang="en-US" sz="1150" dirty="0"/>
          </a:p>
        </p:txBody>
      </p:sp>
      <p:sp>
        <p:nvSpPr>
          <p:cNvPr id="33" name="Text 30"/>
          <p:cNvSpPr txBox="1"/>
          <p:nvPr/>
        </p:nvSpPr>
        <p:spPr>
          <a:xfrm>
            <a:off x="7717536" y="4219042"/>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CPM / CPA</a:t>
            </a:r>
            <a:endParaRPr lang="en-US" sz="1300" dirty="0"/>
          </a:p>
        </p:txBody>
      </p:sp>
      <p:sp>
        <p:nvSpPr>
          <p:cNvPr id="34" name="Shape 31"/>
          <p:cNvSpPr/>
          <p:nvPr/>
        </p:nvSpPr>
        <p:spPr>
          <a:xfrm>
            <a:off x="10680192" y="4460443"/>
            <a:ext cx="804672" cy="329184"/>
          </a:xfrm>
          <a:prstGeom prst="roundRect">
            <a:avLst>
              <a:gd name="adj" fmla="val 13889"/>
            </a:avLst>
          </a:prstGeom>
          <a:solidFill>
            <a:srgbClr val="E11D2E"/>
          </a:solidFill>
          <a:ln/>
        </p:spPr>
      </p:sp>
      <p:sp>
        <p:nvSpPr>
          <p:cNvPr id="35" name="Text 32"/>
          <p:cNvSpPr txBox="1"/>
          <p:nvPr/>
        </p:nvSpPr>
        <p:spPr>
          <a:xfrm>
            <a:off x="10680192" y="4460443"/>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Pretendard" pitchFamily="34" charset="0"/>
                <a:ea typeface="Pretendard" pitchFamily="34" charset="-122"/>
                <a:cs typeface="Pretendard" pitchFamily="34" charset="-120"/>
              </a:rPr>
              <a:t>리커링</a:t>
            </a:r>
            <a:endParaRPr lang="en-US" sz="1000" dirty="0"/>
          </a:p>
        </p:txBody>
      </p:sp>
      <p:sp>
        <p:nvSpPr>
          <p:cNvPr id="36" name="Shape 33"/>
          <p:cNvSpPr/>
          <p:nvPr/>
        </p:nvSpPr>
        <p:spPr>
          <a:xfrm>
            <a:off x="566928" y="5131613"/>
            <a:ext cx="11055096" cy="811987"/>
          </a:xfrm>
          <a:prstGeom prst="roundRect">
            <a:avLst>
              <a:gd name="adj" fmla="val 6757"/>
            </a:avLst>
          </a:prstGeom>
          <a:solidFill>
            <a:srgbClr val="F7F8FA"/>
          </a:solidFill>
          <a:ln w="12700">
            <a:solidFill>
              <a:srgbClr val="E4E8EE"/>
            </a:solidFill>
            <a:prstDash val="solid"/>
          </a:ln>
        </p:spPr>
      </p:sp>
      <p:sp>
        <p:nvSpPr>
          <p:cNvPr id="37" name="Text 34"/>
          <p:cNvSpPr txBox="1"/>
          <p:nvPr/>
        </p:nvSpPr>
        <p:spPr>
          <a:xfrm>
            <a:off x="768096" y="5131613"/>
            <a:ext cx="512064" cy="811987"/>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Pretendard" pitchFamily="34" charset="0"/>
                <a:ea typeface="Pretendard" pitchFamily="34" charset="-122"/>
                <a:cs typeface="Pretendard" pitchFamily="34" charset="-120"/>
              </a:rPr>
              <a:t>⑤</a:t>
            </a:r>
            <a:endParaRPr lang="en-US" sz="2000" dirty="0"/>
          </a:p>
        </p:txBody>
      </p:sp>
      <p:sp>
        <p:nvSpPr>
          <p:cNvPr id="38" name="Text 35"/>
          <p:cNvSpPr txBox="1"/>
          <p:nvPr/>
        </p:nvSpPr>
        <p:spPr>
          <a:xfrm>
            <a:off x="1353312" y="5131613"/>
            <a:ext cx="2926080" cy="811987"/>
          </a:xfrm>
          <a:prstGeom prst="rect">
            <a:avLst/>
          </a:prstGeom>
          <a:noFill/>
          <a:ln/>
        </p:spPr>
        <p:txBody>
          <a:bodyPr wrap="square" lIns="0" tIns="0" rIns="0" bIns="0" rtlCol="0" anchor="ctr"/>
          <a:lstStyle/>
          <a:p>
            <a:pPr algn="l" indent="0" marL="0">
              <a:lnSpc>
                <a:spcPts val="2300"/>
              </a:lnSpc>
              <a:buNone/>
            </a:pPr>
            <a:r>
              <a:rPr lang="en-US" sz="1500" b="1" dirty="0">
                <a:solidFill>
                  <a:srgbClr val="0E1420"/>
                </a:solidFill>
                <a:latin typeface="Pretendard" pitchFamily="34" charset="0"/>
                <a:ea typeface="Pretendard" pitchFamily="34" charset="-122"/>
                <a:cs typeface="Pretendard" pitchFamily="34" charset="-120"/>
              </a:rPr>
              <a:t>벤치마크 라이선스</a:t>
            </a:r>
            <a:endParaRPr lang="en-US" sz="1500" dirty="0"/>
          </a:p>
        </p:txBody>
      </p:sp>
      <p:sp>
        <p:nvSpPr>
          <p:cNvPr id="39" name="Text 36"/>
          <p:cNvSpPr txBox="1"/>
          <p:nvPr/>
        </p:nvSpPr>
        <p:spPr>
          <a:xfrm>
            <a:off x="4334256" y="5131613"/>
            <a:ext cx="3383280" cy="811987"/>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카테고리 기준치 정기 리포트</a:t>
            </a:r>
            <a:endParaRPr lang="en-US" sz="1150" dirty="0"/>
          </a:p>
        </p:txBody>
      </p:sp>
      <p:sp>
        <p:nvSpPr>
          <p:cNvPr id="40" name="Text 37"/>
          <p:cNvSpPr txBox="1"/>
          <p:nvPr/>
        </p:nvSpPr>
        <p:spPr>
          <a:xfrm>
            <a:off x="7717536" y="5131613"/>
            <a:ext cx="2761488" cy="811987"/>
          </a:xfrm>
          <a:prstGeom prst="rect">
            <a:avLst/>
          </a:prstGeom>
          <a:noFill/>
          <a:ln/>
        </p:spPr>
        <p:txBody>
          <a:bodyPr wrap="square" lIns="0" tIns="0" rIns="0" bIns="0" rtlCol="0" anchor="ctr"/>
          <a:lstStyle/>
          <a:p>
            <a:pPr algn="r"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연 2,000~5,000만원</a:t>
            </a:r>
            <a:endParaRPr lang="en-US" sz="1300" dirty="0"/>
          </a:p>
        </p:txBody>
      </p:sp>
      <p:sp>
        <p:nvSpPr>
          <p:cNvPr id="41" name="Shape 38"/>
          <p:cNvSpPr/>
          <p:nvPr/>
        </p:nvSpPr>
        <p:spPr>
          <a:xfrm>
            <a:off x="10680192" y="5373014"/>
            <a:ext cx="804672" cy="329184"/>
          </a:xfrm>
          <a:prstGeom prst="roundRect">
            <a:avLst>
              <a:gd name="adj" fmla="val 13889"/>
            </a:avLst>
          </a:prstGeom>
          <a:solidFill>
            <a:srgbClr val="E11D2E"/>
          </a:solidFill>
          <a:ln/>
        </p:spPr>
      </p:sp>
      <p:sp>
        <p:nvSpPr>
          <p:cNvPr id="42" name="Text 39"/>
          <p:cNvSpPr txBox="1"/>
          <p:nvPr/>
        </p:nvSpPr>
        <p:spPr>
          <a:xfrm>
            <a:off x="10680192" y="5373014"/>
            <a:ext cx="804672" cy="329184"/>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Pretendard" pitchFamily="34" charset="0"/>
                <a:ea typeface="Pretendard" pitchFamily="34" charset="-122"/>
                <a:cs typeface="Pretendard" pitchFamily="34" charset="-120"/>
              </a:rPr>
              <a:t>리커링</a:t>
            </a:r>
            <a:endParaRPr lang="en-US" sz="1000" dirty="0"/>
          </a:p>
        </p:txBody>
      </p:sp>
      <p:sp>
        <p:nvSpPr>
          <p:cNvPr id="43" name="Text 40"/>
          <p:cNvSpPr txBox="1"/>
          <p:nvPr/>
        </p:nvSpPr>
        <p:spPr>
          <a:xfrm>
            <a:off x="566928" y="6163056"/>
            <a:ext cx="11055096" cy="365760"/>
          </a:xfrm>
          <a:prstGeom prst="rect">
            <a:avLst/>
          </a:prstGeom>
          <a:noFill/>
          <a:ln/>
        </p:spPr>
        <p:txBody>
          <a:bodyPr wrap="square" lIns="0" tIns="0" rIns="0" bIns="0" rtlCol="0" anchor="ctr"/>
          <a:lstStyle/>
          <a:p>
            <a:pPr algn="ctr" indent="0" marL="0">
              <a:lnSpc>
                <a:spcPts val="2300"/>
              </a:lnSpc>
              <a:buNone/>
            </a:pPr>
            <a:r>
              <a:rPr lang="en-US" sz="1500" b="1" dirty="0">
                <a:solidFill>
                  <a:srgbClr val="0E1420"/>
                </a:solidFill>
                <a:latin typeface="Pretendard" pitchFamily="34" charset="0"/>
                <a:ea typeface="Pretendard" pitchFamily="34" charset="-122"/>
                <a:cs typeface="Pretendard" pitchFamily="34" charset="-120"/>
              </a:rPr>
              <a:t>구글 애널리틱스는 무료입니다. 구글은 측정이 아니라 광고로 법니다. 저희도 같습니다.</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04</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이해관계자 구조와 채널</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외부 영업이 아니라 팝업 계약 시점에 팔립니다 — 계약 시점 = 판매 시점</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BUSINESS MODEL</a:t>
            </a:r>
            <a:endParaRPr lang="en-US" sz="1100" dirty="0"/>
          </a:p>
        </p:txBody>
      </p:sp>
      <p:sp>
        <p:nvSpPr>
          <p:cNvPr id="8" name="Shape 5"/>
          <p:cNvSpPr/>
          <p:nvPr/>
        </p:nvSpPr>
        <p:spPr>
          <a:xfrm>
            <a:off x="566928" y="1481328"/>
            <a:ext cx="3587496" cy="1919138"/>
          </a:xfrm>
          <a:prstGeom prst="roundRect">
            <a:avLst>
              <a:gd name="adj" fmla="val 2859"/>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702519"/>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공급 — 롯데 3사</a:t>
            </a:r>
            <a:endParaRPr lang="en-US" sz="1100" dirty="0"/>
          </a:p>
        </p:txBody>
      </p:sp>
      <p:sp>
        <p:nvSpPr>
          <p:cNvPr id="10" name="Text 7"/>
          <p:cNvSpPr txBox="1"/>
          <p:nvPr/>
        </p:nvSpPr>
        <p:spPr>
          <a:xfrm>
            <a:off x="841248" y="2019003"/>
            <a:ext cx="3038856" cy="243332"/>
          </a:xfrm>
          <a:prstGeom prst="rect">
            <a:avLst/>
          </a:prstGeom>
          <a:noFill/>
          <a:ln/>
        </p:spPr>
        <p:txBody>
          <a:bodyPr wrap="square" lIns="0" tIns="0" rIns="0" bIns="0" rtlCol="0" anchor="t"/>
          <a:lstStyle/>
          <a:p>
            <a:pPr algn="l" indent="0" marL="0">
              <a:lnSpc>
                <a:spcPts val="1700"/>
              </a:lnSpc>
              <a:buNone/>
            </a:pPr>
            <a:r>
              <a:rPr lang="en-US" sz="1400" b="1" dirty="0">
                <a:solidFill>
                  <a:srgbClr val="0E1420"/>
                </a:solidFill>
                <a:latin typeface="Pretendard" pitchFamily="34" charset="0"/>
                <a:ea typeface="Pretendard" pitchFamily="34" charset="-122"/>
                <a:cs typeface="Pretendard" pitchFamily="34" charset="-120"/>
              </a:rPr>
              <a:t>자산을 낸다</a:t>
            </a:r>
            <a:endParaRPr lang="en-US" sz="1400" dirty="0"/>
          </a:p>
        </p:txBody>
      </p:sp>
      <p:sp>
        <p:nvSpPr>
          <p:cNvPr id="11" name="Text 8"/>
          <p:cNvSpPr txBox="1"/>
          <p:nvPr/>
        </p:nvSpPr>
        <p:spPr>
          <a:xfrm>
            <a:off x="841248" y="2372063"/>
            <a:ext cx="3038856"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백화점 — 공간·트래픽·POS</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이노베이트 — 비전 AI·엣지</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멤버스 — L.POINT 이력·도달 채널</a:t>
            </a:r>
            <a:endParaRPr lang="en-US" sz="1150" dirty="0"/>
          </a:p>
        </p:txBody>
      </p:sp>
      <p:sp>
        <p:nvSpPr>
          <p:cNvPr id="12" name="Shape 9"/>
          <p:cNvSpPr/>
          <p:nvPr/>
        </p:nvSpPr>
        <p:spPr>
          <a:xfrm>
            <a:off x="4300728" y="1481328"/>
            <a:ext cx="3587496" cy="1919138"/>
          </a:xfrm>
          <a:prstGeom prst="roundRect">
            <a:avLst>
              <a:gd name="adj" fmla="val 2859"/>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702519"/>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Pretendard" pitchFamily="34" charset="0"/>
                <a:ea typeface="Pretendard" pitchFamily="34" charset="-122"/>
                <a:cs typeface="Pretendard" pitchFamily="34" charset="-120"/>
              </a:rPr>
              <a:t>플랫폼 — L.GA</a:t>
            </a:r>
            <a:endParaRPr lang="en-US" sz="1100" dirty="0"/>
          </a:p>
        </p:txBody>
      </p:sp>
      <p:sp>
        <p:nvSpPr>
          <p:cNvPr id="14" name="Text 11"/>
          <p:cNvSpPr txBox="1"/>
          <p:nvPr/>
        </p:nvSpPr>
        <p:spPr>
          <a:xfrm>
            <a:off x="4575048" y="2019003"/>
            <a:ext cx="3038856" cy="243332"/>
          </a:xfrm>
          <a:prstGeom prst="rect">
            <a:avLst/>
          </a:prstGeom>
          <a:noFill/>
          <a:ln/>
        </p:spPr>
        <p:txBody>
          <a:bodyPr wrap="square" lIns="0" tIns="0" rIns="0" bIns="0" rtlCol="0" anchor="t"/>
          <a:lstStyle/>
          <a:p>
            <a:pPr algn="l" indent="0" marL="0">
              <a:lnSpc>
                <a:spcPts val="1700"/>
              </a:lnSpc>
              <a:buNone/>
            </a:pPr>
            <a:r>
              <a:rPr lang="en-US" sz="1400" b="1" dirty="0">
                <a:solidFill>
                  <a:srgbClr val="FFFFFF"/>
                </a:solidFill>
                <a:latin typeface="Pretendard" pitchFamily="34" charset="0"/>
                <a:ea typeface="Pretendard" pitchFamily="34" charset="-122"/>
                <a:cs typeface="Pretendard" pitchFamily="34" charset="-120"/>
              </a:rPr>
              <a:t>답으로 바꾼다</a:t>
            </a:r>
            <a:endParaRPr lang="en-US" sz="1400" dirty="0"/>
          </a:p>
        </p:txBody>
      </p:sp>
      <p:sp>
        <p:nvSpPr>
          <p:cNvPr id="15" name="Text 12"/>
          <p:cNvSpPr txBox="1"/>
          <p:nvPr/>
        </p:nvSpPr>
        <p:spPr>
          <a:xfrm>
            <a:off x="4575048" y="2372063"/>
            <a:ext cx="3038856"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측정 → 인사이트 → 처방 → POS 검증</a:t>
            </a:r>
            <a:endParaRPr lang="en-US" sz="1150" dirty="0"/>
          </a:p>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카테고리 벤치마크 DB 축적</a:t>
            </a:r>
            <a:endParaRPr lang="en-US" sz="1150" dirty="0"/>
          </a:p>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3사 데이터 결합 거버넌스</a:t>
            </a:r>
            <a:endParaRPr lang="en-US" sz="1150" dirty="0"/>
          </a:p>
        </p:txBody>
      </p:sp>
      <p:sp>
        <p:nvSpPr>
          <p:cNvPr id="16" name="Shape 13"/>
          <p:cNvSpPr/>
          <p:nvPr/>
        </p:nvSpPr>
        <p:spPr>
          <a:xfrm>
            <a:off x="8034528" y="1481328"/>
            <a:ext cx="3587496" cy="1919138"/>
          </a:xfrm>
          <a:prstGeom prst="roundRect">
            <a:avLst>
              <a:gd name="adj" fmla="val 2859"/>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1702519"/>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고객 — 입점 브랜드</a:t>
            </a:r>
            <a:endParaRPr lang="en-US" sz="1100" dirty="0"/>
          </a:p>
        </p:txBody>
      </p:sp>
      <p:sp>
        <p:nvSpPr>
          <p:cNvPr id="18" name="Text 15"/>
          <p:cNvSpPr txBox="1"/>
          <p:nvPr/>
        </p:nvSpPr>
        <p:spPr>
          <a:xfrm>
            <a:off x="8308848" y="2019003"/>
            <a:ext cx="3038856" cy="243332"/>
          </a:xfrm>
          <a:prstGeom prst="rect">
            <a:avLst/>
          </a:prstGeom>
          <a:noFill/>
          <a:ln/>
        </p:spPr>
        <p:txBody>
          <a:bodyPr wrap="square" lIns="0" tIns="0" rIns="0" bIns="0" rtlCol="0" anchor="t"/>
          <a:lstStyle/>
          <a:p>
            <a:pPr algn="l" indent="0" marL="0">
              <a:lnSpc>
                <a:spcPts val="1700"/>
              </a:lnSpc>
              <a:buNone/>
            </a:pPr>
            <a:r>
              <a:rPr lang="en-US" sz="1400" b="1" dirty="0">
                <a:solidFill>
                  <a:srgbClr val="0E1420"/>
                </a:solidFill>
                <a:latin typeface="Pretendard" pitchFamily="34" charset="0"/>
                <a:ea typeface="Pretendard" pitchFamily="34" charset="-122"/>
                <a:cs typeface="Pretendard" pitchFamily="34" charset="-120"/>
              </a:rPr>
              <a:t>답을 받고 이용료를 낸다</a:t>
            </a:r>
            <a:endParaRPr lang="en-US" sz="1400" dirty="0"/>
          </a:p>
        </p:txBody>
      </p:sp>
      <p:sp>
        <p:nvSpPr>
          <p:cNvPr id="19" name="Text 16"/>
          <p:cNvSpPr txBox="1"/>
          <p:nvPr/>
        </p:nvSpPr>
        <p:spPr>
          <a:xfrm>
            <a:off x="8308848" y="2372063"/>
            <a:ext cx="3038856"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팝업 패키지 · 구독 · 컨설팅</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성과가 오르면 상위 단계로</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소비자는 맞춤 쿠폰으로 돌아온다</a:t>
            </a:r>
            <a:endParaRPr lang="en-US" sz="1150" dirty="0"/>
          </a:p>
        </p:txBody>
      </p:sp>
      <p:sp>
        <p:nvSpPr>
          <p:cNvPr id="20" name="Text 17"/>
          <p:cNvSpPr txBox="1"/>
          <p:nvPr/>
        </p:nvSpPr>
        <p:spPr>
          <a:xfrm>
            <a:off x="4154424" y="2203153"/>
            <a:ext cx="146304" cy="475488"/>
          </a:xfrm>
          <a:prstGeom prst="rect">
            <a:avLst/>
          </a:prstGeom>
          <a:noFill/>
          <a:ln/>
        </p:spPr>
        <p:txBody>
          <a:bodyPr wrap="square" lIns="0" tIns="0" rIns="0" bIns="0" rtlCol="0" anchor="ctr"/>
          <a:lstStyle/>
          <a:p>
            <a:pPr algn="ctr" indent="0" marL="0">
              <a:lnSpc>
                <a:spcPts val="2400"/>
              </a:lnSpc>
              <a:buNone/>
            </a:pPr>
            <a:r>
              <a:rPr lang="en-US" sz="1600" b="1" dirty="0">
                <a:solidFill>
                  <a:srgbClr val="E11D2E"/>
                </a:solidFill>
                <a:latin typeface="Pretendard" pitchFamily="34" charset="0"/>
                <a:ea typeface="Pretendard" pitchFamily="34" charset="-122"/>
                <a:cs typeface="Pretendard" pitchFamily="34" charset="-120"/>
              </a:rPr>
              <a:t>→</a:t>
            </a:r>
            <a:endParaRPr lang="en-US" sz="1600" dirty="0"/>
          </a:p>
        </p:txBody>
      </p:sp>
      <p:sp>
        <p:nvSpPr>
          <p:cNvPr id="21" name="Text 18"/>
          <p:cNvSpPr txBox="1"/>
          <p:nvPr/>
        </p:nvSpPr>
        <p:spPr>
          <a:xfrm>
            <a:off x="7888224" y="2203153"/>
            <a:ext cx="146304" cy="475488"/>
          </a:xfrm>
          <a:prstGeom prst="rect">
            <a:avLst/>
          </a:prstGeom>
          <a:noFill/>
          <a:ln/>
        </p:spPr>
        <p:txBody>
          <a:bodyPr wrap="square" lIns="0" tIns="0" rIns="0" bIns="0" rtlCol="0" anchor="ctr"/>
          <a:lstStyle/>
          <a:p>
            <a:pPr algn="ctr" indent="0" marL="0">
              <a:lnSpc>
                <a:spcPts val="2400"/>
              </a:lnSpc>
              <a:buNone/>
            </a:pPr>
            <a:r>
              <a:rPr lang="en-US" sz="1600" b="1" dirty="0">
                <a:solidFill>
                  <a:srgbClr val="E11D2E"/>
                </a:solidFill>
                <a:latin typeface="Pretendard" pitchFamily="34" charset="0"/>
                <a:ea typeface="Pretendard" pitchFamily="34" charset="-122"/>
                <a:cs typeface="Pretendard" pitchFamily="34" charset="-120"/>
              </a:rPr>
              <a:t>→</a:t>
            </a:r>
            <a:endParaRPr lang="en-US" sz="1600" dirty="0"/>
          </a:p>
        </p:txBody>
      </p:sp>
      <p:sp>
        <p:nvSpPr>
          <p:cNvPr id="22" name="Text 19"/>
          <p:cNvSpPr txBox="1"/>
          <p:nvPr/>
        </p:nvSpPr>
        <p:spPr>
          <a:xfrm>
            <a:off x="566928" y="3583346"/>
            <a:ext cx="54864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Pretendard" pitchFamily="34" charset="0"/>
                <a:ea typeface="Pretendard" pitchFamily="34" charset="-122"/>
                <a:cs typeface="Pretendard" pitchFamily="34" charset="-120"/>
              </a:rPr>
              <a:t>채널 — 어떻게 도달하는가</a:t>
            </a:r>
            <a:endParaRPr lang="en-US" sz="1250" dirty="0"/>
          </a:p>
        </p:txBody>
      </p:sp>
      <p:sp>
        <p:nvSpPr>
          <p:cNvPr id="23" name="Shape 20"/>
          <p:cNvSpPr/>
          <p:nvPr/>
        </p:nvSpPr>
        <p:spPr>
          <a:xfrm>
            <a:off x="566928" y="3912530"/>
            <a:ext cx="2654046" cy="1171534"/>
          </a:xfrm>
          <a:prstGeom prst="roundRect">
            <a:avLst>
              <a:gd name="adj" fmla="val 4683"/>
            </a:avLst>
          </a:prstGeom>
          <a:solidFill>
            <a:srgbClr val="EFF3F8"/>
          </a:solidFill>
          <a:ln w="12700">
            <a:solidFill>
              <a:srgbClr val="EFF3F8"/>
            </a:solidFill>
            <a:prstDash val="solid"/>
          </a:ln>
        </p:spPr>
      </p:sp>
      <p:sp>
        <p:nvSpPr>
          <p:cNvPr id="24" name="Text 21"/>
          <p:cNvSpPr txBox="1"/>
          <p:nvPr/>
        </p:nvSpPr>
        <p:spPr>
          <a:xfrm>
            <a:off x="841248" y="4133045"/>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영업 · 내부</a:t>
            </a:r>
            <a:endParaRPr lang="en-US" sz="1300" dirty="0"/>
          </a:p>
        </p:txBody>
      </p:sp>
      <p:sp>
        <p:nvSpPr>
          <p:cNvPr id="25" name="Text 22"/>
          <p:cNvSpPr txBox="1"/>
          <p:nvPr/>
        </p:nvSpPr>
        <p:spPr>
          <a:xfrm>
            <a:off x="841248" y="4473405"/>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MD·영업관리팀이 팝업 계약 시 번들 제안</a:t>
            </a:r>
            <a:endParaRPr lang="en-US" sz="1000" dirty="0"/>
          </a:p>
        </p:txBody>
      </p:sp>
      <p:sp>
        <p:nvSpPr>
          <p:cNvPr id="26" name="Shape 23"/>
          <p:cNvSpPr/>
          <p:nvPr/>
        </p:nvSpPr>
        <p:spPr>
          <a:xfrm>
            <a:off x="3367278" y="3912530"/>
            <a:ext cx="2654046" cy="1171534"/>
          </a:xfrm>
          <a:prstGeom prst="roundRect">
            <a:avLst>
              <a:gd name="adj" fmla="val 4683"/>
            </a:avLst>
          </a:prstGeom>
          <a:solidFill>
            <a:srgbClr val="EFF3F8"/>
          </a:solidFill>
          <a:ln w="12700">
            <a:solidFill>
              <a:srgbClr val="EFF3F8"/>
            </a:solidFill>
            <a:prstDash val="solid"/>
          </a:ln>
        </p:spPr>
      </p:sp>
      <p:sp>
        <p:nvSpPr>
          <p:cNvPr id="27" name="Text 24"/>
          <p:cNvSpPr txBox="1"/>
          <p:nvPr/>
        </p:nvSpPr>
        <p:spPr>
          <a:xfrm>
            <a:off x="3641598" y="4133045"/>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제품</a:t>
            </a:r>
            <a:endParaRPr lang="en-US" sz="1300" dirty="0"/>
          </a:p>
        </p:txBody>
      </p:sp>
      <p:sp>
        <p:nvSpPr>
          <p:cNvPr id="28" name="Text 25"/>
          <p:cNvSpPr txBox="1"/>
          <p:nvPr/>
        </p:nvSpPr>
        <p:spPr>
          <a:xfrm>
            <a:off x="3641598" y="4473405"/>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L.GA 포털 + 컨설턴트 리포트 미팅</a:t>
            </a:r>
            <a:endParaRPr lang="en-US" sz="1000" dirty="0"/>
          </a:p>
        </p:txBody>
      </p:sp>
      <p:sp>
        <p:nvSpPr>
          <p:cNvPr id="29" name="Shape 26"/>
          <p:cNvSpPr/>
          <p:nvPr/>
        </p:nvSpPr>
        <p:spPr>
          <a:xfrm>
            <a:off x="6167628" y="3912530"/>
            <a:ext cx="2654046" cy="1171534"/>
          </a:xfrm>
          <a:prstGeom prst="roundRect">
            <a:avLst>
              <a:gd name="adj" fmla="val 4683"/>
            </a:avLst>
          </a:prstGeom>
          <a:solidFill>
            <a:srgbClr val="EFF3F8"/>
          </a:solidFill>
          <a:ln w="12700">
            <a:solidFill>
              <a:srgbClr val="EFF3F8"/>
            </a:solidFill>
            <a:prstDash val="solid"/>
          </a:ln>
        </p:spPr>
      </p:sp>
      <p:sp>
        <p:nvSpPr>
          <p:cNvPr id="30" name="Text 27"/>
          <p:cNvSpPr txBox="1"/>
          <p:nvPr/>
        </p:nvSpPr>
        <p:spPr>
          <a:xfrm>
            <a:off x="6441948" y="4133045"/>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확산</a:t>
            </a:r>
            <a:endParaRPr lang="en-US" sz="1300" dirty="0"/>
          </a:p>
        </p:txBody>
      </p:sp>
      <p:sp>
        <p:nvSpPr>
          <p:cNvPr id="31" name="Text 28"/>
          <p:cNvSpPr txBox="1"/>
          <p:nvPr/>
        </p:nvSpPr>
        <p:spPr>
          <a:xfrm>
            <a:off x="6441948" y="4473405"/>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계열사 → 해외 롯데몰 → 외부 유통사</a:t>
            </a:r>
            <a:endParaRPr lang="en-US" sz="1000" dirty="0"/>
          </a:p>
        </p:txBody>
      </p:sp>
      <p:sp>
        <p:nvSpPr>
          <p:cNvPr id="32" name="Shape 29"/>
          <p:cNvSpPr/>
          <p:nvPr/>
        </p:nvSpPr>
        <p:spPr>
          <a:xfrm>
            <a:off x="8967978" y="3912530"/>
            <a:ext cx="2654046" cy="1171534"/>
          </a:xfrm>
          <a:prstGeom prst="roundRect">
            <a:avLst>
              <a:gd name="adj" fmla="val 4683"/>
            </a:avLst>
          </a:prstGeom>
          <a:solidFill>
            <a:srgbClr val="EFF3F8"/>
          </a:solidFill>
          <a:ln w="12700">
            <a:solidFill>
              <a:srgbClr val="EFF3F8"/>
            </a:solidFill>
            <a:prstDash val="solid"/>
          </a:ln>
        </p:spPr>
      </p:sp>
      <p:sp>
        <p:nvSpPr>
          <p:cNvPr id="33" name="Text 30"/>
          <p:cNvSpPr txBox="1"/>
          <p:nvPr/>
        </p:nvSpPr>
        <p:spPr>
          <a:xfrm>
            <a:off x="9242298" y="4133045"/>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도달</a:t>
            </a:r>
            <a:endParaRPr lang="en-US" sz="1300" dirty="0"/>
          </a:p>
        </p:txBody>
      </p:sp>
      <p:sp>
        <p:nvSpPr>
          <p:cNvPr id="34" name="Text 31"/>
          <p:cNvSpPr txBox="1"/>
          <p:nvPr/>
        </p:nvSpPr>
        <p:spPr>
          <a:xfrm>
            <a:off x="9242298" y="4473405"/>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L.POINT 앱 푸시 · 사이니지 · 키오스크</a:t>
            </a:r>
            <a:endParaRPr lang="en-US" sz="1000" dirty="0"/>
          </a:p>
        </p:txBody>
      </p:sp>
      <p:sp>
        <p:nvSpPr>
          <p:cNvPr id="35" name="Shape 32"/>
          <p:cNvSpPr/>
          <p:nvPr/>
        </p:nvSpPr>
        <p:spPr>
          <a:xfrm>
            <a:off x="566928" y="5358384"/>
            <a:ext cx="11055096" cy="749808"/>
          </a:xfrm>
          <a:prstGeom prst="roundRect">
            <a:avLst>
              <a:gd name="adj" fmla="val 7317"/>
            </a:avLst>
          </a:prstGeom>
          <a:solidFill>
            <a:srgbClr val="0E1420"/>
          </a:solidFill>
          <a:ln/>
        </p:spPr>
      </p:sp>
      <p:sp>
        <p:nvSpPr>
          <p:cNvPr id="36" name="Text 33"/>
          <p:cNvSpPr txBox="1"/>
          <p:nvPr/>
        </p:nvSpPr>
        <p:spPr>
          <a:xfrm>
            <a:off x="932688" y="5358384"/>
            <a:ext cx="10323576" cy="74980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첫 고객은 외부 브랜드가 아니라 롯데 자신입니다.  그룹 안에서 검증하고, 그룹 시너지로 확산합니다.</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05</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핵심 지표  |  3개년 손익 — 24개월에 손익분기</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아직 매출이 없는 신사업이라 실적 대신 목표점을 말씀드립니다  ※ 내부 검증 전 추정치</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TRACTION</a:t>
            </a:r>
            <a:endParaRPr lang="en-US" sz="1100" dirty="0"/>
          </a:p>
        </p:txBody>
      </p:sp>
      <p:graphicFrame>
        <p:nvGraphicFramePr>
          <p:cNvPr id="8" name="Chart 0" descr=""/>
          <p:cNvGraphicFramePr/>
          <p:nvPr/>
        </p:nvGraphicFramePr>
        <p:xfrm>
          <a:off x="566928" y="1481328"/>
          <a:ext cx="7269480" cy="4370832"/>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110728" y="1481328"/>
            <a:ext cx="3511296" cy="749808"/>
          </a:xfrm>
          <a:prstGeom prst="roundRect">
            <a:avLst>
              <a:gd name="adj" fmla="val 7317"/>
            </a:avLst>
          </a:prstGeom>
          <a:solidFill>
            <a:srgbClr val="F7F8FA"/>
          </a:solidFill>
          <a:ln w="12700">
            <a:solidFill>
              <a:srgbClr val="E4E8EE"/>
            </a:solidFill>
            <a:prstDash val="solid"/>
          </a:ln>
        </p:spPr>
      </p:sp>
      <p:sp>
        <p:nvSpPr>
          <p:cNvPr id="10" name="Text 6"/>
          <p:cNvSpPr txBox="1"/>
          <p:nvPr/>
        </p:nvSpPr>
        <p:spPr>
          <a:xfrm>
            <a:off x="8385048" y="1481328"/>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누적 손익분기</a:t>
            </a:r>
            <a:endParaRPr lang="en-US" sz="1150" dirty="0"/>
          </a:p>
        </p:txBody>
      </p:sp>
      <p:sp>
        <p:nvSpPr>
          <p:cNvPr id="11" name="Text 7"/>
          <p:cNvSpPr txBox="1"/>
          <p:nvPr/>
        </p:nvSpPr>
        <p:spPr>
          <a:xfrm>
            <a:off x="9884664" y="1481328"/>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Pretendard" pitchFamily="34" charset="0"/>
                <a:ea typeface="Pretendard" pitchFamily="34" charset="-122"/>
                <a:cs typeface="Pretendard" pitchFamily="34" charset="-120"/>
              </a:rPr>
              <a:t>24개월</a:t>
            </a:r>
            <a:endParaRPr lang="en-US" sz="1800" dirty="0"/>
          </a:p>
        </p:txBody>
      </p:sp>
      <p:sp>
        <p:nvSpPr>
          <p:cNvPr id="12" name="Shape 8"/>
          <p:cNvSpPr/>
          <p:nvPr/>
        </p:nvSpPr>
        <p:spPr>
          <a:xfrm>
            <a:off x="8110728" y="2340864"/>
            <a:ext cx="3511296" cy="749808"/>
          </a:xfrm>
          <a:prstGeom prst="roundRect">
            <a:avLst>
              <a:gd name="adj" fmla="val 7317"/>
            </a:avLst>
          </a:prstGeom>
          <a:solidFill>
            <a:srgbClr val="F7F8FA"/>
          </a:solidFill>
          <a:ln w="12700">
            <a:solidFill>
              <a:srgbClr val="E4E8EE"/>
            </a:solidFill>
            <a:prstDash val="solid"/>
          </a:ln>
        </p:spPr>
      </p:sp>
      <p:sp>
        <p:nvSpPr>
          <p:cNvPr id="13" name="Text 9"/>
          <p:cNvSpPr txBox="1"/>
          <p:nvPr/>
        </p:nvSpPr>
        <p:spPr>
          <a:xfrm>
            <a:off x="8385048" y="2340864"/>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매출총이익률</a:t>
            </a:r>
            <a:endParaRPr lang="en-US" sz="1150" dirty="0"/>
          </a:p>
        </p:txBody>
      </p:sp>
      <p:sp>
        <p:nvSpPr>
          <p:cNvPr id="14" name="Text 10"/>
          <p:cNvSpPr txBox="1"/>
          <p:nvPr/>
        </p:nvSpPr>
        <p:spPr>
          <a:xfrm>
            <a:off x="9884664" y="2340864"/>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Pretendard" pitchFamily="34" charset="0"/>
                <a:ea typeface="Pretendard" pitchFamily="34" charset="-122"/>
                <a:cs typeface="Pretendard" pitchFamily="34" charset="-120"/>
              </a:rPr>
              <a:t>77%</a:t>
            </a:r>
            <a:endParaRPr lang="en-US" sz="1800" dirty="0"/>
          </a:p>
        </p:txBody>
      </p:sp>
      <p:sp>
        <p:nvSpPr>
          <p:cNvPr id="15" name="Shape 11"/>
          <p:cNvSpPr/>
          <p:nvPr/>
        </p:nvSpPr>
        <p:spPr>
          <a:xfrm>
            <a:off x="8110728" y="3200400"/>
            <a:ext cx="3511296" cy="749808"/>
          </a:xfrm>
          <a:prstGeom prst="roundRect">
            <a:avLst>
              <a:gd name="adj" fmla="val 7317"/>
            </a:avLst>
          </a:prstGeom>
          <a:solidFill>
            <a:srgbClr val="F7F8FA"/>
          </a:solidFill>
          <a:ln w="12700">
            <a:solidFill>
              <a:srgbClr val="E4E8EE"/>
            </a:solidFill>
            <a:prstDash val="solid"/>
          </a:ln>
        </p:spPr>
      </p:sp>
      <p:sp>
        <p:nvSpPr>
          <p:cNvPr id="16" name="Text 12"/>
          <p:cNvSpPr txBox="1"/>
          <p:nvPr/>
        </p:nvSpPr>
        <p:spPr>
          <a:xfrm>
            <a:off x="8385048" y="3200400"/>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3년 설비투자</a:t>
            </a:r>
            <a:endParaRPr lang="en-US" sz="1150" dirty="0"/>
          </a:p>
        </p:txBody>
      </p:sp>
      <p:sp>
        <p:nvSpPr>
          <p:cNvPr id="17" name="Text 13"/>
          <p:cNvSpPr txBox="1"/>
          <p:nvPr/>
        </p:nvSpPr>
        <p:spPr>
          <a:xfrm>
            <a:off x="9884664" y="3200400"/>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Pretendard" pitchFamily="34" charset="0"/>
                <a:ea typeface="Pretendard" pitchFamily="34" charset="-122"/>
                <a:cs typeface="Pretendard" pitchFamily="34" charset="-120"/>
              </a:rPr>
              <a:t>11억원</a:t>
            </a:r>
            <a:endParaRPr lang="en-US" sz="1800" dirty="0"/>
          </a:p>
        </p:txBody>
      </p:sp>
      <p:sp>
        <p:nvSpPr>
          <p:cNvPr id="18" name="Shape 14"/>
          <p:cNvSpPr/>
          <p:nvPr/>
        </p:nvSpPr>
        <p:spPr>
          <a:xfrm>
            <a:off x="8110728" y="4059936"/>
            <a:ext cx="3511296" cy="749808"/>
          </a:xfrm>
          <a:prstGeom prst="roundRect">
            <a:avLst>
              <a:gd name="adj" fmla="val 7317"/>
            </a:avLst>
          </a:prstGeom>
          <a:solidFill>
            <a:srgbClr val="F7F8FA"/>
          </a:solidFill>
          <a:ln w="12700">
            <a:solidFill>
              <a:srgbClr val="E4E8EE"/>
            </a:solidFill>
            <a:prstDash val="solid"/>
          </a:ln>
        </p:spPr>
      </p:sp>
      <p:sp>
        <p:nvSpPr>
          <p:cNvPr id="19" name="Text 15"/>
          <p:cNvSpPr txBox="1"/>
          <p:nvPr/>
        </p:nvSpPr>
        <p:spPr>
          <a:xfrm>
            <a:off x="8385048" y="4059936"/>
            <a:ext cx="1828800" cy="749808"/>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파일럿 시작 비용</a:t>
            </a:r>
            <a:endParaRPr lang="en-US" sz="1150" dirty="0"/>
          </a:p>
        </p:txBody>
      </p:sp>
      <p:sp>
        <p:nvSpPr>
          <p:cNvPr id="20" name="Text 16"/>
          <p:cNvSpPr txBox="1"/>
          <p:nvPr/>
        </p:nvSpPr>
        <p:spPr>
          <a:xfrm>
            <a:off x="9884664" y="4059936"/>
            <a:ext cx="1463040" cy="749808"/>
          </a:xfrm>
          <a:prstGeom prst="rect">
            <a:avLst/>
          </a:prstGeom>
          <a:noFill/>
          <a:ln/>
        </p:spPr>
        <p:txBody>
          <a:bodyPr wrap="square" lIns="0" tIns="0" rIns="0" bIns="0" rtlCol="0" anchor="ctr"/>
          <a:lstStyle/>
          <a:p>
            <a:pPr algn="r" indent="0" marL="0">
              <a:lnSpc>
                <a:spcPts val="2700"/>
              </a:lnSpc>
              <a:buNone/>
            </a:pPr>
            <a:r>
              <a:rPr lang="en-US" sz="1800" b="1" dirty="0">
                <a:solidFill>
                  <a:srgbClr val="E11D2E"/>
                </a:solidFill>
                <a:latin typeface="Pretendard" pitchFamily="34" charset="0"/>
                <a:ea typeface="Pretendard" pitchFamily="34" charset="-122"/>
                <a:cs typeface="Pretendard" pitchFamily="34" charset="-120"/>
              </a:rPr>
              <a:t>1.5억원</a:t>
            </a:r>
            <a:endParaRPr lang="en-US" sz="1800" dirty="0"/>
          </a:p>
        </p:txBody>
      </p:sp>
      <p:sp>
        <p:nvSpPr>
          <p:cNvPr id="21" name="Shape 17"/>
          <p:cNvSpPr/>
          <p:nvPr/>
        </p:nvSpPr>
        <p:spPr>
          <a:xfrm>
            <a:off x="8110728" y="4974336"/>
            <a:ext cx="3511296" cy="877824"/>
          </a:xfrm>
          <a:prstGeom prst="roundRect">
            <a:avLst>
              <a:gd name="adj" fmla="val 6250"/>
            </a:avLst>
          </a:prstGeom>
          <a:solidFill>
            <a:srgbClr val="0E1420"/>
          </a:solidFill>
          <a:ln w="12700">
            <a:solidFill>
              <a:srgbClr val="0E1420"/>
            </a:solidFill>
            <a:prstDash val="solid"/>
          </a:ln>
        </p:spPr>
      </p:sp>
      <p:sp>
        <p:nvSpPr>
          <p:cNvPr id="22" name="Text 18"/>
          <p:cNvSpPr txBox="1"/>
          <p:nvPr/>
        </p:nvSpPr>
        <p:spPr>
          <a:xfrm>
            <a:off x="8385048" y="4974336"/>
            <a:ext cx="2962656" cy="877824"/>
          </a:xfrm>
          <a:prstGeom prst="rect">
            <a:avLst/>
          </a:prstGeom>
          <a:noFill/>
          <a:ln/>
        </p:spPr>
        <p:txBody>
          <a:bodyPr wrap="square" lIns="0" tIns="0" rIns="0" bIns="0" rtlCol="0" anchor="ctr"/>
          <a:lstStyle/>
          <a:p>
            <a:pPr algn="l" indent="0" marL="0">
              <a:lnSpc>
                <a:spcPts val="1700"/>
              </a:lnSpc>
              <a:buNone/>
            </a:pPr>
            <a:r>
              <a:rPr lang="en-US" sz="1150" b="1" dirty="0">
                <a:solidFill>
                  <a:srgbClr val="F5A623"/>
                </a:solidFill>
                <a:latin typeface="Pretendard" pitchFamily="34" charset="0"/>
                <a:ea typeface="Pretendard" pitchFamily="34" charset="-122"/>
                <a:cs typeface="Pretendard" pitchFamily="34" charset="-120"/>
              </a:rPr>
              <a:t>침투율 저조 + 구독 저조 + 광고 미실행이 동시에 일어나도 Y3는 흑자 (+5.1억)</a:t>
            </a:r>
            <a:endParaRPr lang="en-US" sz="1150" dirty="0"/>
          </a:p>
        </p:txBody>
      </p:sp>
      <p:sp>
        <p:nvSpPr>
          <p:cNvPr id="23" name="Text 19"/>
          <p:cNvSpPr txBox="1"/>
          <p:nvPr/>
        </p:nvSpPr>
        <p:spPr>
          <a:xfrm>
            <a:off x="566928" y="6163056"/>
            <a:ext cx="11055096" cy="365760"/>
          </a:xfrm>
          <a:prstGeom prst="rect">
            <a:avLst/>
          </a:prstGeom>
          <a:noFill/>
          <a:ln/>
        </p:spPr>
        <p:txBody>
          <a:bodyPr wrap="square" lIns="0" tIns="0" rIns="0" bIns="0" rtlCol="0" anchor="ctr"/>
          <a:lstStyle/>
          <a:p>
            <a:pPr algn="ctr"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파일럿 1.5억으로 시작해 24개월에 손익분기를 넘습니다.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05</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실행 로드맵과 판정 기준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각 단계마다 통과 조건을 미리 걸어두었습니다 — 하나라도 안 되면 다음 단계로 가지 않습니다</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TRACTION</a:t>
            </a:r>
            <a:endParaRPr lang="en-US" sz="1100" dirty="0"/>
          </a:p>
        </p:txBody>
      </p:sp>
      <p:sp>
        <p:nvSpPr>
          <p:cNvPr id="8" name="Shape 5"/>
          <p:cNvSpPr/>
          <p:nvPr/>
        </p:nvSpPr>
        <p:spPr>
          <a:xfrm>
            <a:off x="566928" y="1481328"/>
            <a:ext cx="2654046" cy="1876424"/>
          </a:xfrm>
          <a:prstGeom prst="roundRect">
            <a:avLst>
              <a:gd name="adj" fmla="val 2924"/>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725612"/>
            <a:ext cx="210540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Pretendard" pitchFamily="34" charset="0"/>
                <a:ea typeface="Pretendard" pitchFamily="34" charset="-122"/>
                <a:cs typeface="Pretendard" pitchFamily="34" charset="-120"/>
              </a:rPr>
              <a:t>Phase 0 · 0~3개월</a:t>
            </a:r>
            <a:endParaRPr lang="en-US" sz="1100" dirty="0"/>
          </a:p>
        </p:txBody>
      </p:sp>
      <p:sp>
        <p:nvSpPr>
          <p:cNvPr id="10" name="Text 7"/>
          <p:cNvSpPr txBox="1"/>
          <p:nvPr/>
        </p:nvSpPr>
        <p:spPr>
          <a:xfrm>
            <a:off x="841248" y="2042096"/>
            <a:ext cx="2105406" cy="243332"/>
          </a:xfrm>
          <a:prstGeom prst="rect">
            <a:avLst/>
          </a:prstGeom>
          <a:noFill/>
          <a:ln/>
        </p:spPr>
        <p:txBody>
          <a:bodyPr wrap="square" lIns="0" tIns="0" rIns="0" bIns="0" rtlCol="0" anchor="t"/>
          <a:lstStyle/>
          <a:p>
            <a:pPr algn="l" indent="0" marL="0">
              <a:lnSpc>
                <a:spcPts val="1700"/>
              </a:lnSpc>
              <a:buNone/>
            </a:pPr>
            <a:r>
              <a:rPr lang="en-US" sz="1400" b="1" dirty="0">
                <a:solidFill>
                  <a:srgbClr val="FFFFFF"/>
                </a:solidFill>
                <a:latin typeface="Pretendard" pitchFamily="34" charset="0"/>
                <a:ea typeface="Pretendard" pitchFamily="34" charset="-122"/>
                <a:cs typeface="Pretendard" pitchFamily="34" charset="-120"/>
              </a:rPr>
              <a:t>내부 도입 · 파일럿</a:t>
            </a:r>
            <a:endParaRPr lang="en-US" sz="1400" dirty="0"/>
          </a:p>
        </p:txBody>
      </p:sp>
      <p:sp>
        <p:nvSpPr>
          <p:cNvPr id="11" name="Text 8"/>
          <p:cNvSpPr txBox="1"/>
          <p:nvPr/>
        </p:nvSpPr>
        <p:spPr>
          <a:xfrm>
            <a:off x="841248" y="2395156"/>
            <a:ext cx="210540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롯데 내부 10개점 파일럿</a:t>
            </a:r>
            <a:endParaRPr lang="en-US" sz="1150" dirty="0"/>
          </a:p>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팝업 브랜드 3곳 무상 제공</a:t>
            </a:r>
            <a:endParaRPr lang="en-US" sz="1150" dirty="0"/>
          </a:p>
        </p:txBody>
      </p:sp>
      <p:sp>
        <p:nvSpPr>
          <p:cNvPr id="12" name="Shape 9"/>
          <p:cNvSpPr/>
          <p:nvPr/>
        </p:nvSpPr>
        <p:spPr>
          <a:xfrm>
            <a:off x="3367278" y="1481328"/>
            <a:ext cx="2654046" cy="1876424"/>
          </a:xfrm>
          <a:prstGeom prst="roundRect">
            <a:avLst>
              <a:gd name="adj" fmla="val 2924"/>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3641598" y="1725612"/>
            <a:ext cx="210540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Phase 1 · 4~12개월</a:t>
            </a:r>
            <a:endParaRPr lang="en-US" sz="1100" dirty="0"/>
          </a:p>
        </p:txBody>
      </p:sp>
      <p:sp>
        <p:nvSpPr>
          <p:cNvPr id="14" name="Text 11"/>
          <p:cNvSpPr txBox="1"/>
          <p:nvPr/>
        </p:nvSpPr>
        <p:spPr>
          <a:xfrm>
            <a:off x="3641598" y="2042096"/>
            <a:ext cx="2105406" cy="243332"/>
          </a:xfrm>
          <a:prstGeom prst="rect">
            <a:avLst/>
          </a:prstGeom>
          <a:noFill/>
          <a:ln/>
        </p:spPr>
        <p:txBody>
          <a:bodyPr wrap="square" lIns="0" tIns="0" rIns="0" bIns="0" rtlCol="0" anchor="t"/>
          <a:lstStyle/>
          <a:p>
            <a:pPr algn="l" indent="0" marL="0">
              <a:lnSpc>
                <a:spcPts val="1700"/>
              </a:lnSpc>
              <a:buNone/>
            </a:pPr>
            <a:r>
              <a:rPr lang="en-US" sz="1400" b="1" dirty="0">
                <a:solidFill>
                  <a:srgbClr val="0E1420"/>
                </a:solidFill>
                <a:latin typeface="Pretendard" pitchFamily="34" charset="0"/>
                <a:ea typeface="Pretendard" pitchFamily="34" charset="-122"/>
                <a:cs typeface="Pretendard" pitchFamily="34" charset="-120"/>
              </a:rPr>
              <a:t>팝업 유료 판매</a:t>
            </a:r>
            <a:endParaRPr lang="en-US" sz="1400" dirty="0"/>
          </a:p>
        </p:txBody>
      </p:sp>
      <p:sp>
        <p:nvSpPr>
          <p:cNvPr id="15" name="Text 12"/>
          <p:cNvSpPr txBox="1"/>
          <p:nvPr/>
        </p:nvSpPr>
        <p:spPr>
          <a:xfrm>
            <a:off x="3641598" y="2395156"/>
            <a:ext cx="210540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검증 케이스 3건 확보</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MD 계약 번들 개시</a:t>
            </a:r>
            <a:endParaRPr lang="en-US" sz="1150" dirty="0"/>
          </a:p>
        </p:txBody>
      </p:sp>
      <p:sp>
        <p:nvSpPr>
          <p:cNvPr id="16" name="Shape 13"/>
          <p:cNvSpPr/>
          <p:nvPr/>
        </p:nvSpPr>
        <p:spPr>
          <a:xfrm>
            <a:off x="6167628" y="1481328"/>
            <a:ext cx="2654046" cy="1876424"/>
          </a:xfrm>
          <a:prstGeom prst="roundRect">
            <a:avLst>
              <a:gd name="adj" fmla="val 2924"/>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6441948" y="1725612"/>
            <a:ext cx="210540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Phase 2 · 13~24개월</a:t>
            </a:r>
            <a:endParaRPr lang="en-US" sz="1100" dirty="0"/>
          </a:p>
        </p:txBody>
      </p:sp>
      <p:sp>
        <p:nvSpPr>
          <p:cNvPr id="18" name="Text 15"/>
          <p:cNvSpPr txBox="1"/>
          <p:nvPr/>
        </p:nvSpPr>
        <p:spPr>
          <a:xfrm>
            <a:off x="6441948" y="2042096"/>
            <a:ext cx="2105406" cy="243332"/>
          </a:xfrm>
          <a:prstGeom prst="rect">
            <a:avLst/>
          </a:prstGeom>
          <a:noFill/>
          <a:ln/>
        </p:spPr>
        <p:txBody>
          <a:bodyPr wrap="square" lIns="0" tIns="0" rIns="0" bIns="0" rtlCol="0" anchor="t"/>
          <a:lstStyle/>
          <a:p>
            <a:pPr algn="l" indent="0" marL="0">
              <a:lnSpc>
                <a:spcPts val="1700"/>
              </a:lnSpc>
              <a:buNone/>
            </a:pPr>
            <a:r>
              <a:rPr lang="en-US" sz="1400" b="1" dirty="0">
                <a:solidFill>
                  <a:srgbClr val="0E1420"/>
                </a:solidFill>
                <a:latin typeface="Pretendard" pitchFamily="34" charset="0"/>
                <a:ea typeface="Pretendard" pitchFamily="34" charset="-122"/>
                <a:cs typeface="Pretendard" pitchFamily="34" charset="-120"/>
              </a:rPr>
              <a:t>전점 확산</a:t>
            </a:r>
            <a:endParaRPr lang="en-US" sz="1400" dirty="0"/>
          </a:p>
        </p:txBody>
      </p:sp>
      <p:sp>
        <p:nvSpPr>
          <p:cNvPr id="19" name="Text 16"/>
          <p:cNvSpPr txBox="1"/>
          <p:nvPr/>
        </p:nvSpPr>
        <p:spPr>
          <a:xfrm>
            <a:off x="6441948" y="2395156"/>
            <a:ext cx="210540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상설 구독 · 리타게팅 개시</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누적 손익분기 통과</a:t>
            </a:r>
            <a:endParaRPr lang="en-US" sz="1150" dirty="0"/>
          </a:p>
        </p:txBody>
      </p:sp>
      <p:sp>
        <p:nvSpPr>
          <p:cNvPr id="20" name="Shape 17"/>
          <p:cNvSpPr/>
          <p:nvPr/>
        </p:nvSpPr>
        <p:spPr>
          <a:xfrm>
            <a:off x="8967978" y="1481328"/>
            <a:ext cx="2654046" cy="1876424"/>
          </a:xfrm>
          <a:prstGeom prst="roundRect">
            <a:avLst>
              <a:gd name="adj" fmla="val 2924"/>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21" name="Text 18"/>
          <p:cNvSpPr txBox="1"/>
          <p:nvPr/>
        </p:nvSpPr>
        <p:spPr>
          <a:xfrm>
            <a:off x="9242298" y="1725612"/>
            <a:ext cx="210540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Phase 3 · 25~36개월</a:t>
            </a:r>
            <a:endParaRPr lang="en-US" sz="1100" dirty="0"/>
          </a:p>
        </p:txBody>
      </p:sp>
      <p:sp>
        <p:nvSpPr>
          <p:cNvPr id="22" name="Text 19"/>
          <p:cNvSpPr txBox="1"/>
          <p:nvPr/>
        </p:nvSpPr>
        <p:spPr>
          <a:xfrm>
            <a:off x="9242298" y="2042096"/>
            <a:ext cx="2105406" cy="243332"/>
          </a:xfrm>
          <a:prstGeom prst="rect">
            <a:avLst/>
          </a:prstGeom>
          <a:noFill/>
          <a:ln/>
        </p:spPr>
        <p:txBody>
          <a:bodyPr wrap="square" lIns="0" tIns="0" rIns="0" bIns="0" rtlCol="0" anchor="t"/>
          <a:lstStyle/>
          <a:p>
            <a:pPr algn="l" indent="0" marL="0">
              <a:lnSpc>
                <a:spcPts val="1700"/>
              </a:lnSpc>
              <a:buNone/>
            </a:pPr>
            <a:r>
              <a:rPr lang="en-US" sz="1400" b="1" dirty="0">
                <a:solidFill>
                  <a:srgbClr val="0E1420"/>
                </a:solidFill>
                <a:latin typeface="Pretendard" pitchFamily="34" charset="0"/>
                <a:ea typeface="Pretendard" pitchFamily="34" charset="-122"/>
                <a:cs typeface="Pretendard" pitchFamily="34" charset="-120"/>
              </a:rPr>
              <a:t>계열 · 해외 확장</a:t>
            </a:r>
            <a:endParaRPr lang="en-US" sz="1400" dirty="0"/>
          </a:p>
        </p:txBody>
      </p:sp>
      <p:sp>
        <p:nvSpPr>
          <p:cNvPr id="23" name="Text 20"/>
          <p:cNvSpPr txBox="1"/>
          <p:nvPr/>
        </p:nvSpPr>
        <p:spPr>
          <a:xfrm>
            <a:off x="9242298" y="2395156"/>
            <a:ext cx="2105406" cy="7640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마트·하이마트·시네마·면세</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베트남·인도네시아 롯데몰</a:t>
            </a:r>
            <a:endParaRPr lang="en-US" sz="1150" dirty="0"/>
          </a:p>
        </p:txBody>
      </p:sp>
      <p:sp>
        <p:nvSpPr>
          <p:cNvPr id="24" name="Text 21"/>
          <p:cNvSpPr txBox="1"/>
          <p:nvPr/>
        </p:nvSpPr>
        <p:spPr>
          <a:xfrm>
            <a:off x="566928" y="3540632"/>
            <a:ext cx="73152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Pretendard" pitchFamily="34" charset="0"/>
                <a:ea typeface="Pretendard" pitchFamily="34" charset="-122"/>
                <a:cs typeface="Pretendard" pitchFamily="34" charset="-120"/>
              </a:rPr>
              <a:t>판정 기준 — 무엇으로 성공을 확인하는가</a:t>
            </a:r>
            <a:endParaRPr lang="en-US" sz="1250" dirty="0"/>
          </a:p>
        </p:txBody>
      </p:sp>
      <p:sp>
        <p:nvSpPr>
          <p:cNvPr id="25" name="Shape 22"/>
          <p:cNvSpPr/>
          <p:nvPr/>
        </p:nvSpPr>
        <p:spPr>
          <a:xfrm>
            <a:off x="566928" y="3869816"/>
            <a:ext cx="3587496" cy="1214248"/>
          </a:xfrm>
          <a:prstGeom prst="roundRect">
            <a:avLst>
              <a:gd name="adj" fmla="val 4518"/>
            </a:avLst>
          </a:prstGeom>
          <a:solidFill>
            <a:srgbClr val="FCEDEE"/>
          </a:solidFill>
          <a:ln w="12700">
            <a:solidFill>
              <a:srgbClr val="FCEDEE"/>
            </a:solidFill>
            <a:prstDash val="solid"/>
          </a:ln>
        </p:spPr>
      </p:sp>
      <p:sp>
        <p:nvSpPr>
          <p:cNvPr id="26" name="Text 23"/>
          <p:cNvSpPr txBox="1"/>
          <p:nvPr/>
        </p:nvSpPr>
        <p:spPr>
          <a:xfrm>
            <a:off x="841248" y="4105338"/>
            <a:ext cx="3038856" cy="4338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파일럿 3건에서 전환율 개선이 통계적으로 유의미할 것</a:t>
            </a:r>
            <a:endParaRPr lang="en-US" sz="1300" dirty="0"/>
          </a:p>
        </p:txBody>
      </p:sp>
      <p:sp>
        <p:nvSpPr>
          <p:cNvPr id="27" name="Text 24"/>
          <p:cNvSpPr txBox="1"/>
          <p:nvPr/>
        </p:nvSpPr>
        <p:spPr>
          <a:xfrm>
            <a:off x="841248" y="464889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아니면 → 처방 방법론을 다시 설계</a:t>
            </a:r>
            <a:endParaRPr lang="en-US" sz="1000" dirty="0"/>
          </a:p>
        </p:txBody>
      </p:sp>
      <p:sp>
        <p:nvSpPr>
          <p:cNvPr id="28" name="Shape 25"/>
          <p:cNvSpPr/>
          <p:nvPr/>
        </p:nvSpPr>
        <p:spPr>
          <a:xfrm>
            <a:off x="4300728" y="3869816"/>
            <a:ext cx="3587496" cy="1214248"/>
          </a:xfrm>
          <a:prstGeom prst="roundRect">
            <a:avLst>
              <a:gd name="adj" fmla="val 4518"/>
            </a:avLst>
          </a:prstGeom>
          <a:solidFill>
            <a:srgbClr val="FCEDEE"/>
          </a:solidFill>
          <a:ln w="12700">
            <a:solidFill>
              <a:srgbClr val="FCEDEE"/>
            </a:solidFill>
            <a:prstDash val="solid"/>
          </a:ln>
        </p:spPr>
      </p:sp>
      <p:sp>
        <p:nvSpPr>
          <p:cNvPr id="29" name="Text 26"/>
          <p:cNvSpPr txBox="1"/>
          <p:nvPr/>
        </p:nvSpPr>
        <p:spPr>
          <a:xfrm>
            <a:off x="4575048" y="4105338"/>
            <a:ext cx="303885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무상 파일럿의 유료 전환율 30% 이상</a:t>
            </a:r>
            <a:endParaRPr lang="en-US" sz="1300" dirty="0"/>
          </a:p>
        </p:txBody>
      </p:sp>
      <p:sp>
        <p:nvSpPr>
          <p:cNvPr id="30" name="Text 27"/>
          <p:cNvSpPr txBox="1"/>
          <p:nvPr/>
        </p:nvSpPr>
        <p:spPr>
          <a:xfrm>
            <a:off x="4575048" y="444569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아니면 → 가격과 상품 범위 재설계</a:t>
            </a:r>
            <a:endParaRPr lang="en-US" sz="1000" dirty="0"/>
          </a:p>
        </p:txBody>
      </p:sp>
      <p:sp>
        <p:nvSpPr>
          <p:cNvPr id="31" name="Shape 28"/>
          <p:cNvSpPr/>
          <p:nvPr/>
        </p:nvSpPr>
        <p:spPr>
          <a:xfrm>
            <a:off x="8034528" y="3869816"/>
            <a:ext cx="3587496" cy="1214248"/>
          </a:xfrm>
          <a:prstGeom prst="roundRect">
            <a:avLst>
              <a:gd name="adj" fmla="val 4518"/>
            </a:avLst>
          </a:prstGeom>
          <a:solidFill>
            <a:srgbClr val="FCEDEE"/>
          </a:solidFill>
          <a:ln w="12700">
            <a:solidFill>
              <a:srgbClr val="FCEDEE"/>
            </a:solidFill>
            <a:prstDash val="solid"/>
          </a:ln>
        </p:spPr>
      </p:sp>
      <p:sp>
        <p:nvSpPr>
          <p:cNvPr id="32" name="Text 29"/>
          <p:cNvSpPr txBox="1"/>
          <p:nvPr/>
        </p:nvSpPr>
        <p:spPr>
          <a:xfrm>
            <a:off x="8308848" y="4105338"/>
            <a:ext cx="303885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24개월에 누적 손익분기 통과</a:t>
            </a:r>
            <a:endParaRPr lang="en-US" sz="1300" dirty="0"/>
          </a:p>
        </p:txBody>
      </p:sp>
      <p:sp>
        <p:nvSpPr>
          <p:cNvPr id="33" name="Text 30"/>
          <p:cNvSpPr txBox="1"/>
          <p:nvPr/>
        </p:nvSpPr>
        <p:spPr>
          <a:xfrm>
            <a:off x="8308848" y="444569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아니면 → 확산 중단, 내부 도구로 축소</a:t>
            </a:r>
            <a:endParaRPr lang="en-US" sz="1000" dirty="0"/>
          </a:p>
        </p:txBody>
      </p:sp>
      <p:sp>
        <p:nvSpPr>
          <p:cNvPr id="34" name="Shape 31"/>
          <p:cNvSpPr/>
          <p:nvPr/>
        </p:nvSpPr>
        <p:spPr>
          <a:xfrm>
            <a:off x="566928" y="5358384"/>
            <a:ext cx="11055096" cy="749808"/>
          </a:xfrm>
          <a:prstGeom prst="roundRect">
            <a:avLst>
              <a:gd name="adj" fmla="val 7317"/>
            </a:avLst>
          </a:prstGeom>
          <a:solidFill>
            <a:srgbClr val="0E1420"/>
          </a:solidFill>
          <a:ln/>
        </p:spPr>
      </p:sp>
      <p:sp>
        <p:nvSpPr>
          <p:cNvPr id="35" name="Text 32"/>
          <p:cNvSpPr txBox="1"/>
          <p:nvPr/>
        </p:nvSpPr>
        <p:spPr>
          <a:xfrm>
            <a:off x="932688" y="5358384"/>
            <a:ext cx="10323576" cy="749808"/>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지불 의사를 가정하지 않습니다.  롯데가 먼저 쓰고, 무상으로 검증한 뒤에 과금합니다.</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06</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팀  |  3사 합작 구조 자체가 사업입니다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각자 조각만 가지고 있었고, 합쳐본 적이 없습니다 — 그 조각을 한 팀으로 묶습니다</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TEAM</a:t>
            </a:r>
            <a:endParaRPr lang="en-US" sz="1100" dirty="0"/>
          </a:p>
        </p:txBody>
      </p:sp>
      <p:sp>
        <p:nvSpPr>
          <p:cNvPr id="8" name="Shape 5"/>
          <p:cNvSpPr/>
          <p:nvPr/>
        </p:nvSpPr>
        <p:spPr>
          <a:xfrm>
            <a:off x="566928" y="1481328"/>
            <a:ext cx="3587496" cy="1641664"/>
          </a:xfrm>
          <a:prstGeom prst="roundRect">
            <a:avLst>
              <a:gd name="adj" fmla="val 3342"/>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807368"/>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Pretendard" pitchFamily="34" charset="0"/>
                <a:ea typeface="Pretendard" pitchFamily="34" charset="-122"/>
                <a:cs typeface="Pretendard" pitchFamily="34" charset="-120"/>
              </a:rPr>
              <a:t>롯데백화점</a:t>
            </a:r>
            <a:endParaRPr lang="en-US" sz="1800" dirty="0"/>
          </a:p>
        </p:txBody>
      </p:sp>
      <p:sp>
        <p:nvSpPr>
          <p:cNvPr id="10" name="Text 7"/>
          <p:cNvSpPr txBox="1"/>
          <p:nvPr/>
        </p:nvSpPr>
        <p:spPr>
          <a:xfrm>
            <a:off x="841248" y="222392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Pretendard" pitchFamily="34" charset="0"/>
                <a:ea typeface="Pretendard" pitchFamily="34" charset="-122"/>
                <a:cs typeface="Pretendard" pitchFamily="34" charset="-120"/>
              </a:rPr>
              <a:t>공간 · 트래픽 · POS · MD 지식</a:t>
            </a:r>
            <a:endParaRPr lang="en-US" sz="1000" dirty="0"/>
          </a:p>
        </p:txBody>
      </p:sp>
      <p:sp>
        <p:nvSpPr>
          <p:cNvPr id="11" name="Text 8"/>
          <p:cNvSpPr txBox="1"/>
          <p:nvPr/>
        </p:nvSpPr>
        <p:spPr>
          <a:xfrm>
            <a:off x="841248" y="2713036"/>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Pretendard" pitchFamily="34" charset="0"/>
                <a:ea typeface="Pretendard" pitchFamily="34" charset="-122"/>
                <a:cs typeface="Pretendard" pitchFamily="34" charset="-120"/>
              </a:rPr>
              <a:t>첫 고객이자 판매 채널</a:t>
            </a:r>
            <a:endParaRPr lang="en-US" sz="1000" dirty="0"/>
          </a:p>
        </p:txBody>
      </p:sp>
      <p:sp>
        <p:nvSpPr>
          <p:cNvPr id="12" name="Shape 9"/>
          <p:cNvSpPr/>
          <p:nvPr/>
        </p:nvSpPr>
        <p:spPr>
          <a:xfrm>
            <a:off x="4300728" y="1481328"/>
            <a:ext cx="3587496" cy="1641664"/>
          </a:xfrm>
          <a:prstGeom prst="roundRect">
            <a:avLst>
              <a:gd name="adj" fmla="val 3342"/>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807368"/>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Pretendard" pitchFamily="34" charset="0"/>
                <a:ea typeface="Pretendard" pitchFamily="34" charset="-122"/>
                <a:cs typeface="Pretendard" pitchFamily="34" charset="-120"/>
              </a:rPr>
              <a:t>롯데이노베이트</a:t>
            </a:r>
            <a:endParaRPr lang="en-US" sz="1800" dirty="0"/>
          </a:p>
        </p:txBody>
      </p:sp>
      <p:sp>
        <p:nvSpPr>
          <p:cNvPr id="14" name="Text 11"/>
          <p:cNvSpPr txBox="1"/>
          <p:nvPr/>
        </p:nvSpPr>
        <p:spPr>
          <a:xfrm>
            <a:off x="4575048" y="222392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Pretendard" pitchFamily="34" charset="0"/>
                <a:ea typeface="Pretendard" pitchFamily="34" charset="-122"/>
                <a:cs typeface="Pretendard" pitchFamily="34" charset="-120"/>
              </a:rPr>
              <a:t>비전 AI 엔진 · 엣지 인프라</a:t>
            </a:r>
            <a:endParaRPr lang="en-US" sz="1000" dirty="0"/>
          </a:p>
        </p:txBody>
      </p:sp>
      <p:sp>
        <p:nvSpPr>
          <p:cNvPr id="15" name="Text 12"/>
          <p:cNvSpPr txBox="1"/>
          <p:nvPr/>
        </p:nvSpPr>
        <p:spPr>
          <a:xfrm>
            <a:off x="4575048" y="2713036"/>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Pretendard" pitchFamily="34" charset="0"/>
                <a:ea typeface="Pretendard" pitchFamily="34" charset="-122"/>
                <a:cs typeface="Pretendard" pitchFamily="34" charset="-120"/>
              </a:rPr>
              <a:t>생산 담당</a:t>
            </a:r>
            <a:endParaRPr lang="en-US" sz="1000" dirty="0"/>
          </a:p>
        </p:txBody>
      </p:sp>
      <p:sp>
        <p:nvSpPr>
          <p:cNvPr id="16" name="Shape 13"/>
          <p:cNvSpPr/>
          <p:nvPr/>
        </p:nvSpPr>
        <p:spPr>
          <a:xfrm>
            <a:off x="8034528" y="1481328"/>
            <a:ext cx="3587496" cy="1641664"/>
          </a:xfrm>
          <a:prstGeom prst="roundRect">
            <a:avLst>
              <a:gd name="adj" fmla="val 3342"/>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1807368"/>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FFFFFF"/>
                </a:solidFill>
                <a:latin typeface="Pretendard" pitchFamily="34" charset="0"/>
                <a:ea typeface="Pretendard" pitchFamily="34" charset="-122"/>
                <a:cs typeface="Pretendard" pitchFamily="34" charset="-120"/>
              </a:rPr>
              <a:t>롯데멤버스</a:t>
            </a:r>
            <a:endParaRPr lang="en-US" sz="1800" dirty="0"/>
          </a:p>
        </p:txBody>
      </p:sp>
      <p:sp>
        <p:nvSpPr>
          <p:cNvPr id="18" name="Text 15"/>
          <p:cNvSpPr txBox="1"/>
          <p:nvPr/>
        </p:nvSpPr>
        <p:spPr>
          <a:xfrm>
            <a:off x="8308848" y="222392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AEB8C7"/>
                </a:solidFill>
                <a:latin typeface="Pretendard" pitchFamily="34" charset="0"/>
                <a:ea typeface="Pretendard" pitchFamily="34" charset="-122"/>
                <a:cs typeface="Pretendard" pitchFamily="34" charset="-120"/>
              </a:rPr>
              <a:t>L.POINT 소비 이력 · 도달 채널</a:t>
            </a:r>
            <a:endParaRPr lang="en-US" sz="1000" dirty="0"/>
          </a:p>
        </p:txBody>
      </p:sp>
      <p:sp>
        <p:nvSpPr>
          <p:cNvPr id="19" name="Text 16"/>
          <p:cNvSpPr txBox="1"/>
          <p:nvPr/>
        </p:nvSpPr>
        <p:spPr>
          <a:xfrm>
            <a:off x="8308848" y="2713036"/>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Pretendard" pitchFamily="34" charset="0"/>
                <a:ea typeface="Pretendard" pitchFamily="34" charset="-122"/>
                <a:cs typeface="Pretendard" pitchFamily="34" charset="-120"/>
              </a:rPr>
              <a:t>인사이트와 실행 담당</a:t>
            </a:r>
            <a:endParaRPr lang="en-US" sz="1000" dirty="0"/>
          </a:p>
        </p:txBody>
      </p:sp>
      <p:sp>
        <p:nvSpPr>
          <p:cNvPr id="20" name="Text 17"/>
          <p:cNvSpPr txBox="1"/>
          <p:nvPr/>
        </p:nvSpPr>
        <p:spPr>
          <a:xfrm>
            <a:off x="4154424" y="2046128"/>
            <a:ext cx="146304" cy="512064"/>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Pretendard" pitchFamily="34" charset="0"/>
                <a:ea typeface="Pretendard" pitchFamily="34" charset="-122"/>
                <a:cs typeface="Pretendard" pitchFamily="34" charset="-120"/>
              </a:rPr>
              <a:t>+</a:t>
            </a:r>
            <a:endParaRPr lang="en-US" sz="2000" dirty="0"/>
          </a:p>
        </p:txBody>
      </p:sp>
      <p:sp>
        <p:nvSpPr>
          <p:cNvPr id="21" name="Text 18"/>
          <p:cNvSpPr txBox="1"/>
          <p:nvPr/>
        </p:nvSpPr>
        <p:spPr>
          <a:xfrm>
            <a:off x="7888224" y="2046128"/>
            <a:ext cx="146304" cy="512064"/>
          </a:xfrm>
          <a:prstGeom prst="rect">
            <a:avLst/>
          </a:prstGeom>
          <a:noFill/>
          <a:ln/>
        </p:spPr>
        <p:txBody>
          <a:bodyPr wrap="square" lIns="0" tIns="0" rIns="0" bIns="0" rtlCol="0" anchor="ctr"/>
          <a:lstStyle/>
          <a:p>
            <a:pPr algn="ctr" indent="0" marL="0">
              <a:lnSpc>
                <a:spcPts val="3000"/>
              </a:lnSpc>
              <a:buNone/>
            </a:pPr>
            <a:r>
              <a:rPr lang="en-US" sz="2000" b="1" dirty="0">
                <a:solidFill>
                  <a:srgbClr val="E11D2E"/>
                </a:solidFill>
                <a:latin typeface="Pretendard" pitchFamily="34" charset="0"/>
                <a:ea typeface="Pretendard" pitchFamily="34" charset="-122"/>
                <a:cs typeface="Pretendard" pitchFamily="34" charset="-120"/>
              </a:rPr>
              <a:t>+</a:t>
            </a:r>
            <a:endParaRPr lang="en-US" sz="2000" dirty="0"/>
          </a:p>
        </p:txBody>
      </p:sp>
      <p:sp>
        <p:nvSpPr>
          <p:cNvPr id="22" name="Text 19"/>
          <p:cNvSpPr txBox="1"/>
          <p:nvPr/>
        </p:nvSpPr>
        <p:spPr>
          <a:xfrm>
            <a:off x="566928" y="3305872"/>
            <a:ext cx="45720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Pretendard" pitchFamily="34" charset="0"/>
                <a:ea typeface="Pretendard" pitchFamily="34" charset="-122"/>
                <a:cs typeface="Pretendard" pitchFamily="34" charset="-120"/>
              </a:rPr>
              <a:t>인력 구성 — 3년차 42명</a:t>
            </a:r>
            <a:endParaRPr lang="en-US" sz="1250" dirty="0"/>
          </a:p>
        </p:txBody>
      </p:sp>
      <p:sp>
        <p:nvSpPr>
          <p:cNvPr id="23" name="Text 20"/>
          <p:cNvSpPr txBox="1"/>
          <p:nvPr/>
        </p:nvSpPr>
        <p:spPr>
          <a:xfrm>
            <a:off x="5486400" y="3305872"/>
            <a:ext cx="6135624" cy="243332"/>
          </a:xfrm>
          <a:prstGeom prst="rect">
            <a:avLst/>
          </a:prstGeom>
          <a:noFill/>
          <a:ln/>
        </p:spPr>
        <p:txBody>
          <a:bodyPr wrap="square" lIns="0" tIns="0" rIns="0" bIns="0" rtlCol="0" anchor="t"/>
          <a:lstStyle/>
          <a:p>
            <a:pPr algn="r"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조직 형태 · 3사 합작 TF → 성과 검증 후 분사(Spin-off) 옵션</a:t>
            </a:r>
            <a:endParaRPr lang="en-US" sz="1150" dirty="0"/>
          </a:p>
        </p:txBody>
      </p:sp>
      <p:sp>
        <p:nvSpPr>
          <p:cNvPr id="24" name="Shape 21"/>
          <p:cNvSpPr/>
          <p:nvPr/>
        </p:nvSpPr>
        <p:spPr>
          <a:xfrm>
            <a:off x="566928" y="3635056"/>
            <a:ext cx="3587496" cy="1449008"/>
          </a:xfrm>
          <a:prstGeom prst="roundRect">
            <a:avLst>
              <a:gd name="adj" fmla="val 3786"/>
            </a:avLst>
          </a:prstGeom>
          <a:solidFill>
            <a:srgbClr val="EFF3F8"/>
          </a:solidFill>
          <a:ln w="12700">
            <a:solidFill>
              <a:srgbClr val="EFF3F8"/>
            </a:solidFill>
            <a:prstDash val="solid"/>
          </a:ln>
        </p:spPr>
      </p:sp>
      <p:sp>
        <p:nvSpPr>
          <p:cNvPr id="25" name="Text 22"/>
          <p:cNvSpPr txBox="1"/>
          <p:nvPr/>
        </p:nvSpPr>
        <p:spPr>
          <a:xfrm>
            <a:off x="841248" y="3948588"/>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리테일 컨설턴트</a:t>
            </a:r>
            <a:endParaRPr lang="en-US" sz="1350" dirty="0"/>
          </a:p>
        </p:txBody>
      </p:sp>
      <p:sp>
        <p:nvSpPr>
          <p:cNvPr id="26" name="Text 23"/>
          <p:cNvSpPr txBox="1"/>
          <p:nvPr/>
        </p:nvSpPr>
        <p:spPr>
          <a:xfrm>
            <a:off x="841248" y="428894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Y3 기준 14명</a:t>
            </a:r>
            <a:endParaRPr lang="en-US" sz="1000" dirty="0"/>
          </a:p>
        </p:txBody>
      </p:sp>
      <p:sp>
        <p:nvSpPr>
          <p:cNvPr id="27" name="Text 24"/>
          <p:cNvSpPr txBox="1"/>
          <p:nvPr/>
        </p:nvSpPr>
        <p:spPr>
          <a:xfrm>
            <a:off x="841248" y="4598320"/>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처방·검증이 상품의 본체 — 그래서 가장 많습니다</a:t>
            </a:r>
            <a:endParaRPr lang="en-US" sz="1000" dirty="0"/>
          </a:p>
        </p:txBody>
      </p:sp>
      <p:sp>
        <p:nvSpPr>
          <p:cNvPr id="28" name="Shape 25"/>
          <p:cNvSpPr/>
          <p:nvPr/>
        </p:nvSpPr>
        <p:spPr>
          <a:xfrm>
            <a:off x="4300728" y="3635056"/>
            <a:ext cx="3587496" cy="1449008"/>
          </a:xfrm>
          <a:prstGeom prst="roundRect">
            <a:avLst>
              <a:gd name="adj" fmla="val 3786"/>
            </a:avLst>
          </a:prstGeom>
          <a:solidFill>
            <a:srgbClr val="EFF3F8"/>
          </a:solidFill>
          <a:ln w="12700">
            <a:solidFill>
              <a:srgbClr val="EFF3F8"/>
            </a:solidFill>
            <a:prstDash val="solid"/>
          </a:ln>
        </p:spPr>
      </p:sp>
      <p:sp>
        <p:nvSpPr>
          <p:cNvPr id="29" name="Text 26"/>
          <p:cNvSpPr txBox="1"/>
          <p:nvPr/>
        </p:nvSpPr>
        <p:spPr>
          <a:xfrm>
            <a:off x="4575048" y="3948588"/>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데이터 사이언스 · 애널리스트</a:t>
            </a:r>
            <a:endParaRPr lang="en-US" sz="1350" dirty="0"/>
          </a:p>
        </p:txBody>
      </p:sp>
      <p:sp>
        <p:nvSpPr>
          <p:cNvPr id="30" name="Text 27"/>
          <p:cNvSpPr txBox="1"/>
          <p:nvPr/>
        </p:nvSpPr>
        <p:spPr>
          <a:xfrm>
            <a:off x="4575048" y="428894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Y3 기준 16명</a:t>
            </a:r>
            <a:endParaRPr lang="en-US" sz="1000" dirty="0"/>
          </a:p>
        </p:txBody>
      </p:sp>
      <p:sp>
        <p:nvSpPr>
          <p:cNvPr id="31" name="Text 28"/>
          <p:cNvSpPr txBox="1"/>
          <p:nvPr/>
        </p:nvSpPr>
        <p:spPr>
          <a:xfrm>
            <a:off x="4575048" y="4598320"/>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엣지 추론 모델 · 인사이트 분석</a:t>
            </a:r>
            <a:endParaRPr lang="en-US" sz="1000" dirty="0"/>
          </a:p>
        </p:txBody>
      </p:sp>
      <p:sp>
        <p:nvSpPr>
          <p:cNvPr id="32" name="Shape 29"/>
          <p:cNvSpPr/>
          <p:nvPr/>
        </p:nvSpPr>
        <p:spPr>
          <a:xfrm>
            <a:off x="8034528" y="3635056"/>
            <a:ext cx="3587496" cy="1449008"/>
          </a:xfrm>
          <a:prstGeom prst="roundRect">
            <a:avLst>
              <a:gd name="adj" fmla="val 3786"/>
            </a:avLst>
          </a:prstGeom>
          <a:solidFill>
            <a:srgbClr val="EFF3F8"/>
          </a:solidFill>
          <a:ln w="12700">
            <a:solidFill>
              <a:srgbClr val="EFF3F8"/>
            </a:solidFill>
            <a:prstDash val="solid"/>
          </a:ln>
        </p:spPr>
      </p:sp>
      <p:sp>
        <p:nvSpPr>
          <p:cNvPr id="33" name="Text 30"/>
          <p:cNvSpPr txBox="1"/>
          <p:nvPr/>
        </p:nvSpPr>
        <p:spPr>
          <a:xfrm>
            <a:off x="8308848" y="3948588"/>
            <a:ext cx="3038856" cy="230632"/>
          </a:xfrm>
          <a:prstGeom prst="rect">
            <a:avLst/>
          </a:prstGeom>
          <a:noFill/>
          <a:ln/>
        </p:spPr>
        <p:txBody>
          <a:bodyPr wrap="square" lIns="0" tIns="0" rIns="0" bIns="0" rtlCol="0" anchor="t"/>
          <a:lstStyle/>
          <a:p>
            <a:pPr algn="l" indent="0" marL="0">
              <a:lnSpc>
                <a:spcPts val="1600"/>
              </a:lnSpc>
              <a:buNone/>
            </a:pPr>
            <a:r>
              <a:rPr lang="en-US" sz="1350" b="1" dirty="0">
                <a:solidFill>
                  <a:srgbClr val="0E1420"/>
                </a:solidFill>
                <a:latin typeface="Pretendard" pitchFamily="34" charset="0"/>
                <a:ea typeface="Pretendard" pitchFamily="34" charset="-122"/>
                <a:cs typeface="Pretendard" pitchFamily="34" charset="-120"/>
              </a:rPr>
              <a:t>개발 · 영업/CS · PO</a:t>
            </a:r>
            <a:endParaRPr lang="en-US" sz="1350" dirty="0"/>
          </a:p>
        </p:txBody>
      </p:sp>
      <p:sp>
        <p:nvSpPr>
          <p:cNvPr id="34" name="Text 31"/>
          <p:cNvSpPr txBox="1"/>
          <p:nvPr/>
        </p:nvSpPr>
        <p:spPr>
          <a:xfrm>
            <a:off x="8308848" y="4288948"/>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Y3 기준 12명</a:t>
            </a:r>
            <a:endParaRPr lang="en-US" sz="1000" dirty="0"/>
          </a:p>
        </p:txBody>
      </p:sp>
      <p:sp>
        <p:nvSpPr>
          <p:cNvPr id="35" name="Text 32"/>
          <p:cNvSpPr txBox="1"/>
          <p:nvPr/>
        </p:nvSpPr>
        <p:spPr>
          <a:xfrm>
            <a:off x="8308848" y="4598320"/>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포털·리포트 자동화 · 브랜드 대응</a:t>
            </a:r>
            <a:endParaRPr lang="en-US" sz="1000" dirty="0"/>
          </a:p>
        </p:txBody>
      </p:sp>
      <p:sp>
        <p:nvSpPr>
          <p:cNvPr id="36" name="Shape 33"/>
          <p:cNvSpPr/>
          <p:nvPr/>
        </p:nvSpPr>
        <p:spPr>
          <a:xfrm>
            <a:off x="566928" y="5358384"/>
            <a:ext cx="11055096" cy="749808"/>
          </a:xfrm>
          <a:prstGeom prst="roundRect">
            <a:avLst>
              <a:gd name="adj" fmla="val 7317"/>
            </a:avLst>
          </a:prstGeom>
          <a:solidFill>
            <a:srgbClr val="0E1420"/>
          </a:solidFill>
          <a:ln/>
        </p:spPr>
      </p:sp>
      <p:sp>
        <p:nvSpPr>
          <p:cNvPr id="37" name="Text 34"/>
          <p:cNvSpPr txBox="1"/>
          <p:nvPr/>
        </p:nvSpPr>
        <p:spPr>
          <a:xfrm>
            <a:off x="932688" y="5358384"/>
            <a:ext cx="10323576" cy="749808"/>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한 사만으로는 만들 수 없습니다.  그룹이어야 가능한 사업이고, 그래서 지금까지 비어 있었습니다.</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07</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요청 사항  |  파일럿 1.5억으로 판단하십시오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큰 투자를 요청드리는 것이 아닙니다 — 3개월 뒤 데이터로 계속할지 말지 결정하십시오</a:t>
            </a:r>
            <a:endParaRPr lang="en-US" sz="1250" dirty="0"/>
          </a:p>
        </p:txBody>
      </p:sp>
      <p:sp>
        <p:nvSpPr>
          <p:cNvPr id="7" name="Text 4"/>
          <p:cNvSpPr txBox="1"/>
          <p:nvPr/>
        </p:nvSpPr>
        <p:spPr>
          <a:xfrm>
            <a:off x="9052560" y="457200"/>
            <a:ext cx="2569464" cy="310896"/>
          </a:xfrm>
          <a:prstGeom prst="rect">
            <a:avLst/>
          </a:prstGeom>
          <a:noFill/>
          <a:ln/>
        </p:spPr>
        <p:txBody>
          <a:bodyPr wrap="square" lIns="0" tIns="0" rIns="0" bIns="0" rtlCol="0" anchor="ctr"/>
          <a:lstStyle/>
          <a:p>
            <a:pPr algn="r" indent="0" marL="0">
              <a:lnSpc>
                <a:spcPts val="1700"/>
              </a:lnSpc>
              <a:buNone/>
            </a:pPr>
            <a:r>
              <a:rPr lang="en-US" sz="1100" b="1" spc="140" kern="0" dirty="0">
                <a:solidFill>
                  <a:srgbClr val="5E6979"/>
                </a:solidFill>
                <a:latin typeface="Pretendard" pitchFamily="34" charset="0"/>
                <a:ea typeface="Pretendard" pitchFamily="34" charset="-122"/>
                <a:cs typeface="Pretendard" pitchFamily="34" charset="-120"/>
              </a:rPr>
              <a:t>ASK</a:t>
            </a:r>
            <a:endParaRPr lang="en-US" sz="1100" dirty="0"/>
          </a:p>
        </p:txBody>
      </p:sp>
      <p:sp>
        <p:nvSpPr>
          <p:cNvPr id="8" name="Shape 5"/>
          <p:cNvSpPr/>
          <p:nvPr/>
        </p:nvSpPr>
        <p:spPr>
          <a:xfrm>
            <a:off x="566928" y="1481328"/>
            <a:ext cx="3587496" cy="1690823"/>
          </a:xfrm>
          <a:prstGeom prst="roundRect">
            <a:avLst>
              <a:gd name="adj" fmla="val 3245"/>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9" name="Text 6"/>
          <p:cNvSpPr txBox="1"/>
          <p:nvPr/>
        </p:nvSpPr>
        <p:spPr>
          <a:xfrm>
            <a:off x="841248" y="173441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Pretendard" pitchFamily="34" charset="0"/>
                <a:ea typeface="Pretendard" pitchFamily="34" charset="-122"/>
                <a:cs typeface="Pretendard" pitchFamily="34" charset="-120"/>
              </a:rPr>
              <a:t>요청 ①</a:t>
            </a:r>
            <a:endParaRPr lang="en-US" sz="1100" dirty="0"/>
          </a:p>
        </p:txBody>
      </p:sp>
      <p:sp>
        <p:nvSpPr>
          <p:cNvPr id="10" name="Text 7"/>
          <p:cNvSpPr txBox="1"/>
          <p:nvPr/>
        </p:nvSpPr>
        <p:spPr>
          <a:xfrm>
            <a:off x="841248" y="2050895"/>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FFFFFF"/>
                </a:solidFill>
                <a:latin typeface="Pretendard" pitchFamily="34" charset="0"/>
                <a:ea typeface="Pretendard" pitchFamily="34" charset="-122"/>
                <a:cs typeface="Pretendard" pitchFamily="34" charset="-120"/>
              </a:rPr>
              <a:t>파일럿 예산 1.5억원 승인</a:t>
            </a:r>
            <a:endParaRPr lang="en-US" sz="1500" dirty="0"/>
          </a:p>
        </p:txBody>
      </p:sp>
      <p:sp>
        <p:nvSpPr>
          <p:cNvPr id="11" name="Text 8"/>
          <p:cNvSpPr txBox="1"/>
          <p:nvPr/>
        </p:nvSpPr>
        <p:spPr>
          <a:xfrm>
            <a:off x="841248" y="2416655"/>
            <a:ext cx="303885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10개점 · 팝업 브랜드 3곳 무상</a:t>
            </a:r>
            <a:endParaRPr lang="en-US" sz="1150" dirty="0"/>
          </a:p>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3개월 뒤 지불 의사 검증</a:t>
            </a:r>
            <a:endParaRPr lang="en-US" sz="1150" dirty="0"/>
          </a:p>
        </p:txBody>
      </p:sp>
      <p:sp>
        <p:nvSpPr>
          <p:cNvPr id="12" name="Shape 9"/>
          <p:cNvSpPr/>
          <p:nvPr/>
        </p:nvSpPr>
        <p:spPr>
          <a:xfrm>
            <a:off x="4300728" y="1481328"/>
            <a:ext cx="3587496" cy="1690823"/>
          </a:xfrm>
          <a:prstGeom prst="roundRect">
            <a:avLst>
              <a:gd name="adj" fmla="val 3245"/>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73441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요청 ②</a:t>
            </a:r>
            <a:endParaRPr lang="en-US" sz="1100" dirty="0"/>
          </a:p>
        </p:txBody>
      </p:sp>
      <p:sp>
        <p:nvSpPr>
          <p:cNvPr id="14" name="Text 11"/>
          <p:cNvSpPr txBox="1"/>
          <p:nvPr/>
        </p:nvSpPr>
        <p:spPr>
          <a:xfrm>
            <a:off x="4575048" y="2050895"/>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0E1420"/>
                </a:solidFill>
                <a:latin typeface="Pretendard" pitchFamily="34" charset="0"/>
                <a:ea typeface="Pretendard" pitchFamily="34" charset="-122"/>
                <a:cs typeface="Pretendard" pitchFamily="34" charset="-120"/>
              </a:rPr>
              <a:t>3사 데이터 제공 협약</a:t>
            </a:r>
            <a:endParaRPr lang="en-US" sz="1500" dirty="0"/>
          </a:p>
        </p:txBody>
      </p:sp>
      <p:sp>
        <p:nvSpPr>
          <p:cNvPr id="15" name="Text 12"/>
          <p:cNvSpPr txBox="1"/>
          <p:nvPr/>
        </p:nvSpPr>
        <p:spPr>
          <a:xfrm>
            <a:off x="4575048" y="2416655"/>
            <a:ext cx="303885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POS·트래픽·L.POINT 결합 범위</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수익 배분 사전 합의</a:t>
            </a:r>
            <a:endParaRPr lang="en-US" sz="1150" dirty="0"/>
          </a:p>
        </p:txBody>
      </p:sp>
      <p:sp>
        <p:nvSpPr>
          <p:cNvPr id="16" name="Shape 13"/>
          <p:cNvSpPr/>
          <p:nvPr/>
        </p:nvSpPr>
        <p:spPr>
          <a:xfrm>
            <a:off x="8034528" y="1481328"/>
            <a:ext cx="3587496" cy="1690823"/>
          </a:xfrm>
          <a:prstGeom prst="roundRect">
            <a:avLst>
              <a:gd name="adj" fmla="val 3245"/>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7" name="Text 14"/>
          <p:cNvSpPr txBox="1"/>
          <p:nvPr/>
        </p:nvSpPr>
        <p:spPr>
          <a:xfrm>
            <a:off x="8308848" y="173441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요청 ③</a:t>
            </a:r>
            <a:endParaRPr lang="en-US" sz="1100" dirty="0"/>
          </a:p>
        </p:txBody>
      </p:sp>
      <p:sp>
        <p:nvSpPr>
          <p:cNvPr id="18" name="Text 15"/>
          <p:cNvSpPr txBox="1"/>
          <p:nvPr/>
        </p:nvSpPr>
        <p:spPr>
          <a:xfrm>
            <a:off x="8308848" y="2050895"/>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0E1420"/>
                </a:solidFill>
                <a:latin typeface="Pretendard" pitchFamily="34" charset="0"/>
                <a:ea typeface="Pretendard" pitchFamily="34" charset="-122"/>
                <a:cs typeface="Pretendard" pitchFamily="34" charset="-120"/>
              </a:rPr>
              <a:t>법무 · DPO 검토 착수</a:t>
            </a:r>
            <a:endParaRPr lang="en-US" sz="1500" dirty="0"/>
          </a:p>
        </p:txBody>
      </p:sp>
      <p:sp>
        <p:nvSpPr>
          <p:cNvPr id="19" name="Text 16"/>
          <p:cNvSpPr txBox="1"/>
          <p:nvPr/>
        </p:nvSpPr>
        <p:spPr>
          <a:xfrm>
            <a:off x="8308848" y="2416655"/>
            <a:ext cx="3038856" cy="5481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영향평가 · CCTV 설치 목적 갱신</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착수 전 마일스톤 1번</a:t>
            </a:r>
            <a:endParaRPr lang="en-US" sz="1150" dirty="0"/>
          </a:p>
        </p:txBody>
      </p:sp>
      <p:sp>
        <p:nvSpPr>
          <p:cNvPr id="20" name="Text 17"/>
          <p:cNvSpPr txBox="1"/>
          <p:nvPr/>
        </p:nvSpPr>
        <p:spPr>
          <a:xfrm>
            <a:off x="566928" y="3355031"/>
            <a:ext cx="45720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Pretendard" pitchFamily="34" charset="0"/>
                <a:ea typeface="Pretendard" pitchFamily="34" charset="-122"/>
                <a:cs typeface="Pretendard" pitchFamily="34" charset="-120"/>
              </a:rPr>
              <a:t>자금 사용처</a:t>
            </a:r>
            <a:endParaRPr lang="en-US" sz="1250" dirty="0"/>
          </a:p>
        </p:txBody>
      </p:sp>
      <p:sp>
        <p:nvSpPr>
          <p:cNvPr id="21" name="Shape 18"/>
          <p:cNvSpPr/>
          <p:nvPr/>
        </p:nvSpPr>
        <p:spPr>
          <a:xfrm>
            <a:off x="566928" y="3684215"/>
            <a:ext cx="3587496" cy="1399849"/>
          </a:xfrm>
          <a:prstGeom prst="roundRect">
            <a:avLst>
              <a:gd name="adj" fmla="val 3919"/>
            </a:avLst>
          </a:prstGeom>
          <a:solidFill>
            <a:srgbClr val="EFF3F8"/>
          </a:solidFill>
          <a:ln w="12700">
            <a:solidFill>
              <a:srgbClr val="EFF3F8"/>
            </a:solidFill>
            <a:prstDash val="solid"/>
          </a:ln>
        </p:spPr>
      </p:sp>
      <p:sp>
        <p:nvSpPr>
          <p:cNvPr id="22" name="Text 19"/>
          <p:cNvSpPr txBox="1"/>
          <p:nvPr/>
        </p:nvSpPr>
        <p:spPr>
          <a:xfrm>
            <a:off x="841248" y="393151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파일럿 3개월</a:t>
            </a:r>
            <a:endParaRPr lang="en-US" sz="1100" dirty="0"/>
          </a:p>
        </p:txBody>
      </p:sp>
      <p:sp>
        <p:nvSpPr>
          <p:cNvPr id="23" name="Text 20"/>
          <p:cNvSpPr txBox="1"/>
          <p:nvPr/>
        </p:nvSpPr>
        <p:spPr>
          <a:xfrm>
            <a:off x="841248" y="424799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Pretendard" pitchFamily="34" charset="0"/>
                <a:ea typeface="Pretendard" pitchFamily="34" charset="-122"/>
                <a:cs typeface="Pretendard" pitchFamily="34" charset="-120"/>
              </a:rPr>
              <a:t>1.5억원</a:t>
            </a:r>
            <a:endParaRPr lang="en-US" sz="1800" dirty="0"/>
          </a:p>
        </p:txBody>
      </p:sp>
      <p:sp>
        <p:nvSpPr>
          <p:cNvPr id="24" name="Text 21"/>
          <p:cNvSpPr txBox="1"/>
          <p:nvPr/>
        </p:nvSpPr>
        <p:spPr>
          <a:xfrm>
            <a:off x="841248" y="4664555"/>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엣지박스 10식 · 보완 카메라 · 법무 검토</a:t>
            </a:r>
            <a:endParaRPr lang="en-US" sz="1000" dirty="0"/>
          </a:p>
        </p:txBody>
      </p:sp>
      <p:sp>
        <p:nvSpPr>
          <p:cNvPr id="25" name="Shape 22"/>
          <p:cNvSpPr/>
          <p:nvPr/>
        </p:nvSpPr>
        <p:spPr>
          <a:xfrm>
            <a:off x="4300728" y="3684215"/>
            <a:ext cx="3587496" cy="1399849"/>
          </a:xfrm>
          <a:prstGeom prst="roundRect">
            <a:avLst>
              <a:gd name="adj" fmla="val 3919"/>
            </a:avLst>
          </a:prstGeom>
          <a:solidFill>
            <a:srgbClr val="EFF3F8"/>
          </a:solidFill>
          <a:ln w="12700">
            <a:solidFill>
              <a:srgbClr val="EFF3F8"/>
            </a:solidFill>
            <a:prstDash val="solid"/>
          </a:ln>
        </p:spPr>
      </p:sp>
      <p:sp>
        <p:nvSpPr>
          <p:cNvPr id="26" name="Text 23"/>
          <p:cNvSpPr txBox="1"/>
          <p:nvPr/>
        </p:nvSpPr>
        <p:spPr>
          <a:xfrm>
            <a:off x="4575048" y="393151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3년 누적 설비투자</a:t>
            </a:r>
            <a:endParaRPr lang="en-US" sz="1100" dirty="0"/>
          </a:p>
        </p:txBody>
      </p:sp>
      <p:sp>
        <p:nvSpPr>
          <p:cNvPr id="27" name="Text 24"/>
          <p:cNvSpPr txBox="1"/>
          <p:nvPr/>
        </p:nvSpPr>
        <p:spPr>
          <a:xfrm>
            <a:off x="4575048" y="424799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Pretendard" pitchFamily="34" charset="0"/>
                <a:ea typeface="Pretendard" pitchFamily="34" charset="-122"/>
                <a:cs typeface="Pretendard" pitchFamily="34" charset="-120"/>
              </a:rPr>
              <a:t>11억원</a:t>
            </a:r>
            <a:endParaRPr lang="en-US" sz="1800" dirty="0"/>
          </a:p>
        </p:txBody>
      </p:sp>
      <p:sp>
        <p:nvSpPr>
          <p:cNvPr id="28" name="Text 25"/>
          <p:cNvSpPr txBox="1"/>
          <p:nvPr/>
        </p:nvSpPr>
        <p:spPr>
          <a:xfrm>
            <a:off x="4575048" y="4664555"/>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전점 확산용 엣지박스 · 보완 카메라</a:t>
            </a:r>
            <a:endParaRPr lang="en-US" sz="1000" dirty="0"/>
          </a:p>
        </p:txBody>
      </p:sp>
      <p:sp>
        <p:nvSpPr>
          <p:cNvPr id="29" name="Shape 26"/>
          <p:cNvSpPr/>
          <p:nvPr/>
        </p:nvSpPr>
        <p:spPr>
          <a:xfrm>
            <a:off x="8034528" y="3684215"/>
            <a:ext cx="3587496" cy="1399849"/>
          </a:xfrm>
          <a:prstGeom prst="roundRect">
            <a:avLst>
              <a:gd name="adj" fmla="val 3919"/>
            </a:avLst>
          </a:prstGeom>
          <a:solidFill>
            <a:srgbClr val="EFF3F8"/>
          </a:solidFill>
          <a:ln w="12700">
            <a:solidFill>
              <a:srgbClr val="EFF3F8"/>
            </a:solidFill>
            <a:prstDash val="solid"/>
          </a:ln>
        </p:spPr>
      </p:sp>
      <p:sp>
        <p:nvSpPr>
          <p:cNvPr id="30" name="Text 27"/>
          <p:cNvSpPr txBox="1"/>
          <p:nvPr/>
        </p:nvSpPr>
        <p:spPr>
          <a:xfrm>
            <a:off x="8308848" y="3931511"/>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최대 현금소진</a:t>
            </a:r>
            <a:endParaRPr lang="en-US" sz="1100" dirty="0"/>
          </a:p>
        </p:txBody>
      </p:sp>
      <p:sp>
        <p:nvSpPr>
          <p:cNvPr id="31" name="Text 28"/>
          <p:cNvSpPr txBox="1"/>
          <p:nvPr/>
        </p:nvSpPr>
        <p:spPr>
          <a:xfrm>
            <a:off x="8308848" y="4247995"/>
            <a:ext cx="3038856" cy="306832"/>
          </a:xfrm>
          <a:prstGeom prst="rect">
            <a:avLst/>
          </a:prstGeom>
          <a:noFill/>
          <a:ln/>
        </p:spPr>
        <p:txBody>
          <a:bodyPr wrap="square" lIns="0" tIns="0" rIns="0" bIns="0" rtlCol="0" anchor="t"/>
          <a:lstStyle/>
          <a:p>
            <a:pPr algn="l" indent="0" marL="0">
              <a:lnSpc>
                <a:spcPts val="2200"/>
              </a:lnSpc>
              <a:buNone/>
            </a:pPr>
            <a:r>
              <a:rPr lang="en-US" sz="1800" b="1" dirty="0">
                <a:solidFill>
                  <a:srgbClr val="0E1420"/>
                </a:solidFill>
                <a:latin typeface="Pretendard" pitchFamily="34" charset="0"/>
                <a:ea typeface="Pretendard" pitchFamily="34" charset="-122"/>
                <a:cs typeface="Pretendard" pitchFamily="34" charset="-120"/>
              </a:rPr>
              <a:t>10억원</a:t>
            </a:r>
            <a:endParaRPr lang="en-US" sz="1800" dirty="0"/>
          </a:p>
        </p:txBody>
      </p:sp>
      <p:sp>
        <p:nvSpPr>
          <p:cNvPr id="32" name="Text 29"/>
          <p:cNvSpPr txBox="1"/>
          <p:nvPr/>
        </p:nvSpPr>
        <p:spPr>
          <a:xfrm>
            <a:off x="8308848" y="4664555"/>
            <a:ext cx="3038856" cy="2179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Y2 중 흑자 전환 · 24개월에 누적 손익분기</a:t>
            </a:r>
            <a:endParaRPr lang="en-US" sz="1000" dirty="0"/>
          </a:p>
        </p:txBody>
      </p:sp>
      <p:sp>
        <p:nvSpPr>
          <p:cNvPr id="33" name="Shape 30"/>
          <p:cNvSpPr/>
          <p:nvPr/>
        </p:nvSpPr>
        <p:spPr>
          <a:xfrm>
            <a:off x="566928" y="5358384"/>
            <a:ext cx="11055096" cy="749808"/>
          </a:xfrm>
          <a:prstGeom prst="roundRect">
            <a:avLst>
              <a:gd name="adj" fmla="val 7317"/>
            </a:avLst>
          </a:prstGeom>
          <a:solidFill>
            <a:srgbClr val="0E1420"/>
          </a:solidFill>
          <a:ln/>
        </p:spPr>
      </p:sp>
      <p:sp>
        <p:nvSpPr>
          <p:cNvPr id="34" name="Text 31"/>
          <p:cNvSpPr txBox="1"/>
          <p:nvPr/>
        </p:nvSpPr>
        <p:spPr>
          <a:xfrm>
            <a:off x="932688" y="5358384"/>
            <a:ext cx="10323576" cy="749808"/>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CCTV가 이미 깔려 있어 가볍게 시작합니다.  실패해도 잃는 것이 작고, 성공하면 그룹 전체로 확장됩니다.</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420"/>
        </a:solidFill>
      </p:bgPr>
    </p:bg>
    <p:spTree>
      <p:nvGrpSpPr>
        <p:cNvPr id="1" name=""/>
        <p:cNvGrpSpPr/>
        <p:nvPr/>
      </p:nvGrpSpPr>
      <p:grpSpPr>
        <a:xfrm>
          <a:off x="0" y="0"/>
          <a:ext cx="0" cy="0"/>
          <a:chOff x="0" y="0"/>
          <a:chExt cx="0" cy="0"/>
        </a:xfrm>
      </p:grpSpPr>
      <p:sp>
        <p:nvSpPr>
          <p:cNvPr id="3" name="Text 0"/>
          <p:cNvSpPr txBox="1"/>
          <p:nvPr/>
        </p:nvSpPr>
        <p:spPr>
          <a:xfrm>
            <a:off x="822960" y="1188720"/>
            <a:ext cx="5486400" cy="243332"/>
          </a:xfrm>
          <a:prstGeom prst="rect">
            <a:avLst/>
          </a:prstGeom>
          <a:noFill/>
          <a:ln/>
        </p:spPr>
        <p:txBody>
          <a:bodyPr wrap="square" lIns="0" tIns="0" rIns="0" bIns="0" rtlCol="0" anchor="t"/>
          <a:lstStyle/>
          <a:p>
            <a:pPr algn="l" indent="0" marL="0">
              <a:lnSpc>
                <a:spcPts val="1700"/>
              </a:lnSpc>
              <a:buNone/>
            </a:pPr>
            <a:r>
              <a:rPr lang="en-US" sz="1100" b="1" spc="200" kern="0" dirty="0">
                <a:solidFill>
                  <a:srgbClr val="F5A623"/>
                </a:solidFill>
                <a:latin typeface="Pretendard" pitchFamily="34" charset="0"/>
                <a:ea typeface="Pretendard" pitchFamily="34" charset="-122"/>
                <a:cs typeface="Pretendard" pitchFamily="34" charset="-120"/>
              </a:rPr>
              <a:t>MISSION</a:t>
            </a:r>
            <a:endParaRPr lang="en-US" sz="1100" dirty="0"/>
          </a:p>
        </p:txBody>
      </p:sp>
      <p:sp>
        <p:nvSpPr>
          <p:cNvPr id="4" name="Text 1"/>
          <p:cNvSpPr txBox="1"/>
          <p:nvPr/>
        </p:nvSpPr>
        <p:spPr>
          <a:xfrm>
            <a:off x="822960" y="1700784"/>
            <a:ext cx="10515600" cy="573532"/>
          </a:xfrm>
          <a:prstGeom prst="rect">
            <a:avLst/>
          </a:prstGeom>
          <a:noFill/>
          <a:ln/>
        </p:spPr>
        <p:txBody>
          <a:bodyPr wrap="square" lIns="0" tIns="0" rIns="0" bIns="0" rtlCol="0" anchor="t"/>
          <a:lstStyle/>
          <a:p>
            <a:pPr algn="l" indent="0" marL="0">
              <a:lnSpc>
                <a:spcPts val="4300"/>
              </a:lnSpc>
              <a:buNone/>
            </a:pPr>
            <a:r>
              <a:rPr lang="en-US" sz="3600" b="1" dirty="0">
                <a:solidFill>
                  <a:srgbClr val="8C97A8"/>
                </a:solidFill>
                <a:latin typeface="Pretendard" pitchFamily="34" charset="0"/>
                <a:ea typeface="Pretendard" pitchFamily="34" charset="-122"/>
                <a:cs typeface="Pretendard" pitchFamily="34" charset="-120"/>
              </a:rPr>
              <a:t>브랜드는 자기가 판 것만 압니다.</a:t>
            </a:r>
            <a:endParaRPr lang="en-US" sz="3600" dirty="0"/>
          </a:p>
        </p:txBody>
      </p:sp>
      <p:sp>
        <p:nvSpPr>
          <p:cNvPr id="5" name="Text 2"/>
          <p:cNvSpPr txBox="1"/>
          <p:nvPr/>
        </p:nvSpPr>
        <p:spPr>
          <a:xfrm>
            <a:off x="822960" y="2487168"/>
            <a:ext cx="10515600" cy="573532"/>
          </a:xfrm>
          <a:prstGeom prst="rect">
            <a:avLst/>
          </a:prstGeom>
          <a:noFill/>
          <a:ln/>
        </p:spPr>
        <p:txBody>
          <a:bodyPr wrap="square" lIns="0" tIns="0" rIns="0" bIns="0" rtlCol="0" anchor="t"/>
          <a:lstStyle/>
          <a:p>
            <a:pPr algn="l" indent="0" marL="0">
              <a:lnSpc>
                <a:spcPts val="4300"/>
              </a:lnSpc>
              <a:buNone/>
            </a:pPr>
            <a:r>
              <a:rPr lang="en-US" sz="3600" b="1" dirty="0">
                <a:solidFill>
                  <a:srgbClr val="FFFFFF"/>
                </a:solidFill>
                <a:latin typeface="Pretendard" pitchFamily="34" charset="0"/>
                <a:ea typeface="Pretendard" pitchFamily="34" charset="-122"/>
                <a:cs typeface="Pretendard" pitchFamily="34" charset="-120"/>
              </a:rPr>
              <a:t>저희는 놓친 사람이 누구였는지 알려줍니다.</a:t>
            </a:r>
            <a:endParaRPr lang="en-US" sz="3600" dirty="0"/>
          </a:p>
        </p:txBody>
      </p:sp>
      <p:sp>
        <p:nvSpPr>
          <p:cNvPr id="6" name="Text 3"/>
          <p:cNvSpPr txBox="1"/>
          <p:nvPr/>
        </p:nvSpPr>
        <p:spPr>
          <a:xfrm>
            <a:off x="822960" y="3529584"/>
            <a:ext cx="10515600" cy="611632"/>
          </a:xfrm>
          <a:prstGeom prst="rect">
            <a:avLst/>
          </a:prstGeom>
          <a:noFill/>
          <a:ln/>
        </p:spPr>
        <p:txBody>
          <a:bodyPr wrap="square" lIns="0" tIns="0" rIns="0" bIns="0" rtlCol="0" anchor="t"/>
          <a:lstStyle/>
          <a:p>
            <a:pPr algn="l" indent="0" marL="0">
              <a:lnSpc>
                <a:spcPts val="2300"/>
              </a:lnSpc>
              <a:buNone/>
            </a:pPr>
            <a:r>
              <a:rPr lang="en-US" sz="1500" dirty="0">
                <a:solidFill>
                  <a:srgbClr val="AEB8C7"/>
                </a:solidFill>
                <a:latin typeface="Pretendard" pitchFamily="34" charset="0"/>
                <a:ea typeface="Pretendard" pitchFamily="34" charset="-122"/>
                <a:cs typeface="Pretendard" pitchFamily="34" charset="-120"/>
              </a:rPr>
              <a:t>매일 삭제되던 97명의 데이터를 — 브랜드에게는 성장의 답으로 · 고객에게는 더 나은 매장 경험으로 · 롯데에게는 새로운 수익으로</a:t>
            </a:r>
            <a:endParaRPr lang="en-US" sz="1500" dirty="0"/>
          </a:p>
        </p:txBody>
      </p:sp>
      <p:sp>
        <p:nvSpPr>
          <p:cNvPr id="7" name="Shape 4"/>
          <p:cNvSpPr/>
          <p:nvPr/>
        </p:nvSpPr>
        <p:spPr>
          <a:xfrm>
            <a:off x="822960" y="4443984"/>
            <a:ext cx="7589520" cy="969264"/>
          </a:xfrm>
          <a:prstGeom prst="roundRect">
            <a:avLst>
              <a:gd name="adj" fmla="val 5660"/>
            </a:avLst>
          </a:prstGeom>
          <a:solidFill>
            <a:srgbClr val="1A2233"/>
          </a:solidFill>
          <a:ln w="12700">
            <a:solidFill>
              <a:srgbClr val="1A2233"/>
            </a:solidFill>
            <a:prstDash val="solid"/>
          </a:ln>
        </p:spPr>
      </p:sp>
      <p:sp>
        <p:nvSpPr>
          <p:cNvPr id="8" name="Text 5"/>
          <p:cNvSpPr txBox="1"/>
          <p:nvPr/>
        </p:nvSpPr>
        <p:spPr>
          <a:xfrm>
            <a:off x="1170432" y="4443984"/>
            <a:ext cx="6949440" cy="969264"/>
          </a:xfrm>
          <a:prstGeom prst="rect">
            <a:avLst/>
          </a:prstGeom>
          <a:noFill/>
          <a:ln/>
        </p:spPr>
        <p:txBody>
          <a:bodyPr wrap="square" lIns="0" tIns="0" rIns="0" bIns="0" rtlCol="0" anchor="ctr"/>
          <a:lstStyle/>
          <a:p>
            <a:pPr algn="l" indent="0" marL="0">
              <a:lnSpc>
                <a:spcPts val="2700"/>
              </a:lnSpc>
              <a:buNone/>
            </a:pPr>
            <a:r>
              <a:rPr lang="en-US" sz="1800" b="1" dirty="0">
                <a:solidFill>
                  <a:srgbClr val="F5A623"/>
                </a:solidFill>
                <a:latin typeface="Pretendard" pitchFamily="34" charset="0"/>
                <a:ea typeface="Pretendard" pitchFamily="34" charset="-122"/>
                <a:cs typeface="Pretendard" pitchFamily="34" charset="-120"/>
              </a:rPr>
              <a:t>온라인에 GA가 있다면,  오프라인에는 L.GA가 있습니다.</a:t>
            </a:r>
            <a:endParaRPr lang="en-US" sz="1800" dirty="0"/>
          </a:p>
        </p:txBody>
      </p:sp>
      <p:sp>
        <p:nvSpPr>
          <p:cNvPr id="9" name="Shape 6"/>
          <p:cNvSpPr/>
          <p:nvPr/>
        </p:nvSpPr>
        <p:spPr>
          <a:xfrm>
            <a:off x="8650224" y="4443984"/>
            <a:ext cx="2715768" cy="969264"/>
          </a:xfrm>
          <a:prstGeom prst="roundRect">
            <a:avLst>
              <a:gd name="adj" fmla="val 5660"/>
            </a:avLst>
          </a:prstGeom>
          <a:solidFill>
            <a:srgbClr val="1A2233"/>
          </a:solidFill>
          <a:ln w="12700">
            <a:solidFill>
              <a:srgbClr val="1A2233"/>
            </a:solidFill>
            <a:prstDash val="solid"/>
          </a:ln>
        </p:spPr>
      </p:sp>
      <p:sp>
        <p:nvSpPr>
          <p:cNvPr id="10" name="Text 7"/>
          <p:cNvSpPr txBox="1"/>
          <p:nvPr/>
        </p:nvSpPr>
        <p:spPr>
          <a:xfrm>
            <a:off x="8650224" y="4443984"/>
            <a:ext cx="2715768" cy="969264"/>
          </a:xfrm>
          <a:prstGeom prst="rect">
            <a:avLst/>
          </a:prstGeom>
          <a:noFill/>
          <a:ln/>
        </p:spPr>
        <p:txBody>
          <a:bodyPr wrap="square" lIns="0" tIns="0" rIns="0" bIns="0" rtlCol="0" anchor="ctr"/>
          <a:lstStyle/>
          <a:p>
            <a:pPr algn="ctr" indent="0" marL="0">
              <a:lnSpc>
                <a:spcPts val="1700"/>
              </a:lnSpc>
              <a:buNone/>
            </a:pPr>
            <a:r>
              <a:rPr lang="en-US" sz="1250" b="1" dirty="0">
                <a:solidFill>
                  <a:srgbClr val="AEB8C7"/>
                </a:solidFill>
                <a:latin typeface="Pretendard" pitchFamily="34" charset="0"/>
                <a:ea typeface="Pretendard" pitchFamily="34" charset="-122"/>
                <a:cs typeface="Pretendard" pitchFamily="34" charset="-120"/>
              </a:rPr>
              <a:t>Lifetime</a:t>
            </a:r>
            <a:endParaRPr lang="en-US" sz="1250" dirty="0"/>
          </a:p>
          <a:p>
            <a:pPr algn="ctr" indent="0" marL="0">
              <a:lnSpc>
                <a:spcPts val="1700"/>
              </a:lnSpc>
              <a:buNone/>
            </a:pPr>
            <a:r>
              <a:rPr lang="en-US" sz="1250" b="1" dirty="0">
                <a:solidFill>
                  <a:srgbClr val="AEB8C7"/>
                </a:solidFill>
                <a:latin typeface="Pretendard" pitchFamily="34" charset="0"/>
                <a:ea typeface="Pretendard" pitchFamily="34" charset="-122"/>
                <a:cs typeface="Pretendard" pitchFamily="34" charset="-120"/>
              </a:rPr>
              <a:t>Value Creator</a:t>
            </a:r>
            <a:endParaRPr lang="en-US" sz="1250" dirty="0"/>
          </a:p>
        </p:txBody>
      </p:sp>
      <p:sp>
        <p:nvSpPr>
          <p:cNvPr id="11" name="Text 8"/>
          <p:cNvSpPr txBox="1"/>
          <p:nvPr/>
        </p:nvSpPr>
        <p:spPr>
          <a:xfrm>
            <a:off x="822960" y="5687568"/>
            <a:ext cx="5486400" cy="319532"/>
          </a:xfrm>
          <a:prstGeom prst="rect">
            <a:avLst/>
          </a:prstGeom>
          <a:noFill/>
          <a:ln/>
        </p:spPr>
        <p:txBody>
          <a:bodyPr wrap="square" lIns="0" tIns="0" rIns="0" bIns="0" rtlCol="0" anchor="t"/>
          <a:lstStyle/>
          <a:p>
            <a:pPr algn="l"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감사합니다.</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B1</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숫자의 근거  |  무엇이 사실이고 무엇이 가정인가</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백업 슬라이드 — "그 숫자 어디서 나왔습니까" 질문이 나오면 이 장입니다</a:t>
            </a:r>
            <a:endParaRPr lang="en-US" sz="1250" dirty="0"/>
          </a:p>
        </p:txBody>
      </p:sp>
      <p:sp>
        <p:nvSpPr>
          <p:cNvPr id="7" name="Shape 4"/>
          <p:cNvSpPr/>
          <p:nvPr/>
        </p:nvSpPr>
        <p:spPr>
          <a:xfrm>
            <a:off x="566928" y="1481328"/>
            <a:ext cx="11055096" cy="585216"/>
          </a:xfrm>
          <a:prstGeom prst="roundRect">
            <a:avLst>
              <a:gd name="adj" fmla="val 9375"/>
            </a:avLst>
          </a:prstGeom>
          <a:solidFill>
            <a:srgbClr val="FFFFFF"/>
          </a:solidFill>
          <a:ln w="12700">
            <a:solidFill>
              <a:srgbClr val="E4E8EE"/>
            </a:solidFill>
            <a:prstDash val="solid"/>
          </a:ln>
        </p:spPr>
      </p:sp>
      <p:sp>
        <p:nvSpPr>
          <p:cNvPr id="8" name="Text 5"/>
          <p:cNvSpPr txBox="1"/>
          <p:nvPr/>
        </p:nvSpPr>
        <p:spPr>
          <a:xfrm>
            <a:off x="841248" y="1481328"/>
            <a:ext cx="2011680" cy="58521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100명 중 3명</a:t>
            </a:r>
            <a:endParaRPr lang="en-US" sz="1300" dirty="0"/>
          </a:p>
        </p:txBody>
      </p:sp>
      <p:sp>
        <p:nvSpPr>
          <p:cNvPr id="9" name="Shape 6"/>
          <p:cNvSpPr/>
          <p:nvPr/>
        </p:nvSpPr>
        <p:spPr>
          <a:xfrm>
            <a:off x="3035808" y="1618488"/>
            <a:ext cx="658368" cy="310896"/>
          </a:xfrm>
          <a:prstGeom prst="roundRect">
            <a:avLst>
              <a:gd name="adj" fmla="val 14706"/>
            </a:avLst>
          </a:prstGeom>
          <a:solidFill>
            <a:srgbClr val="E11D2E"/>
          </a:solidFill>
          <a:ln/>
        </p:spPr>
      </p:sp>
      <p:sp>
        <p:nvSpPr>
          <p:cNvPr id="10" name="Text 7"/>
          <p:cNvSpPr txBox="1"/>
          <p:nvPr/>
        </p:nvSpPr>
        <p:spPr>
          <a:xfrm>
            <a:off x="3035808" y="1618488"/>
            <a:ext cx="658368" cy="310896"/>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Pretendard" pitchFamily="34" charset="0"/>
                <a:ea typeface="Pretendard" pitchFamily="34" charset="-122"/>
                <a:cs typeface="Pretendard" pitchFamily="34" charset="-120"/>
              </a:rPr>
              <a:t>통상치</a:t>
            </a:r>
            <a:endParaRPr lang="en-US" sz="1000" dirty="0"/>
          </a:p>
        </p:txBody>
      </p:sp>
      <p:sp>
        <p:nvSpPr>
          <p:cNvPr id="11" name="Text 8"/>
          <p:cNvSpPr txBox="1"/>
          <p:nvPr/>
        </p:nvSpPr>
        <p:spPr>
          <a:xfrm>
            <a:off x="3913632" y="1481328"/>
            <a:ext cx="3291840" cy="585216"/>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업계 통상 전환율을 보수적으로 잡은 값</a:t>
            </a:r>
            <a:endParaRPr lang="en-US" sz="1150" dirty="0"/>
          </a:p>
        </p:txBody>
      </p:sp>
      <p:sp>
        <p:nvSpPr>
          <p:cNvPr id="12" name="Text 9"/>
          <p:cNvSpPr txBox="1"/>
          <p:nvPr/>
        </p:nvSpPr>
        <p:spPr>
          <a:xfrm>
            <a:off x="7424928" y="1481328"/>
            <a:ext cx="4014216"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도입부 메시지용. 사업성 계산에는 쓰지 않습니다</a:t>
            </a:r>
            <a:endParaRPr lang="en-US" sz="1150" dirty="0"/>
          </a:p>
        </p:txBody>
      </p:sp>
      <p:sp>
        <p:nvSpPr>
          <p:cNvPr id="13" name="Shape 10"/>
          <p:cNvSpPr/>
          <p:nvPr/>
        </p:nvSpPr>
        <p:spPr>
          <a:xfrm>
            <a:off x="566928" y="2157984"/>
            <a:ext cx="11055096" cy="585216"/>
          </a:xfrm>
          <a:prstGeom prst="roundRect">
            <a:avLst>
              <a:gd name="adj" fmla="val 9375"/>
            </a:avLst>
          </a:prstGeom>
          <a:solidFill>
            <a:srgbClr val="F7F8FA"/>
          </a:solidFill>
          <a:ln w="12700">
            <a:solidFill>
              <a:srgbClr val="E4E8EE"/>
            </a:solidFill>
            <a:prstDash val="solid"/>
          </a:ln>
        </p:spPr>
      </p:sp>
      <p:sp>
        <p:nvSpPr>
          <p:cNvPr id="14" name="Text 11"/>
          <p:cNvSpPr txBox="1"/>
          <p:nvPr/>
        </p:nvSpPr>
        <p:spPr>
          <a:xfrm>
            <a:off x="841248" y="2157984"/>
            <a:ext cx="2011680" cy="58521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연간 팝업 2,000건</a:t>
            </a:r>
            <a:endParaRPr lang="en-US" sz="1300" dirty="0"/>
          </a:p>
        </p:txBody>
      </p:sp>
      <p:sp>
        <p:nvSpPr>
          <p:cNvPr id="15" name="Shape 12"/>
          <p:cNvSpPr/>
          <p:nvPr/>
        </p:nvSpPr>
        <p:spPr>
          <a:xfrm>
            <a:off x="3035808" y="2295144"/>
            <a:ext cx="658368" cy="310896"/>
          </a:xfrm>
          <a:prstGeom prst="roundRect">
            <a:avLst>
              <a:gd name="adj" fmla="val 14706"/>
            </a:avLst>
          </a:prstGeom>
          <a:solidFill>
            <a:srgbClr val="E4E8EE"/>
          </a:solidFill>
          <a:ln/>
        </p:spPr>
      </p:sp>
      <p:sp>
        <p:nvSpPr>
          <p:cNvPr id="16" name="Text 13"/>
          <p:cNvSpPr txBox="1"/>
          <p:nvPr/>
        </p:nvSpPr>
        <p:spPr>
          <a:xfrm>
            <a:off x="3035808" y="2295144"/>
            <a:ext cx="658368" cy="310896"/>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가정</a:t>
            </a:r>
            <a:endParaRPr lang="en-US" sz="1000" dirty="0"/>
          </a:p>
        </p:txBody>
      </p:sp>
      <p:sp>
        <p:nvSpPr>
          <p:cNvPr id="17" name="Text 14"/>
          <p:cNvSpPr txBox="1"/>
          <p:nvPr/>
        </p:nvSpPr>
        <p:spPr>
          <a:xfrm>
            <a:off x="3913632" y="2157984"/>
            <a:ext cx="3291840" cy="585216"/>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롯데 전점 추정 [검증필요]</a:t>
            </a:r>
            <a:endParaRPr lang="en-US" sz="1150" dirty="0"/>
          </a:p>
        </p:txBody>
      </p:sp>
      <p:sp>
        <p:nvSpPr>
          <p:cNvPr id="18" name="Text 15"/>
          <p:cNvSpPr txBox="1"/>
          <p:nvPr/>
        </p:nvSpPr>
        <p:spPr>
          <a:xfrm>
            <a:off x="7424928" y="2157984"/>
            <a:ext cx="4014216"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1,000건이어도 Y3는 흑자입니다</a:t>
            </a:r>
            <a:endParaRPr lang="en-US" sz="1150" dirty="0"/>
          </a:p>
        </p:txBody>
      </p:sp>
      <p:sp>
        <p:nvSpPr>
          <p:cNvPr id="19" name="Shape 16"/>
          <p:cNvSpPr/>
          <p:nvPr/>
        </p:nvSpPr>
        <p:spPr>
          <a:xfrm>
            <a:off x="566928" y="2834640"/>
            <a:ext cx="11055096" cy="585216"/>
          </a:xfrm>
          <a:prstGeom prst="roundRect">
            <a:avLst>
              <a:gd name="adj" fmla="val 9375"/>
            </a:avLst>
          </a:prstGeom>
          <a:solidFill>
            <a:srgbClr val="FFFFFF"/>
          </a:solidFill>
          <a:ln w="12700">
            <a:solidFill>
              <a:srgbClr val="E4E8EE"/>
            </a:solidFill>
            <a:prstDash val="solid"/>
          </a:ln>
        </p:spPr>
      </p:sp>
      <p:sp>
        <p:nvSpPr>
          <p:cNvPr id="20" name="Text 17"/>
          <p:cNvSpPr txBox="1"/>
          <p:nvPr/>
        </p:nvSpPr>
        <p:spPr>
          <a:xfrm>
            <a:off x="841248" y="2834640"/>
            <a:ext cx="2011680" cy="58521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상설 입점 1.1만 매장</a:t>
            </a:r>
            <a:endParaRPr lang="en-US" sz="1300" dirty="0"/>
          </a:p>
        </p:txBody>
      </p:sp>
      <p:sp>
        <p:nvSpPr>
          <p:cNvPr id="21" name="Shape 18"/>
          <p:cNvSpPr/>
          <p:nvPr/>
        </p:nvSpPr>
        <p:spPr>
          <a:xfrm>
            <a:off x="3035808" y="2971800"/>
            <a:ext cx="658368" cy="310896"/>
          </a:xfrm>
          <a:prstGeom prst="roundRect">
            <a:avLst>
              <a:gd name="adj" fmla="val 14706"/>
            </a:avLst>
          </a:prstGeom>
          <a:solidFill>
            <a:srgbClr val="E4E8EE"/>
          </a:solidFill>
          <a:ln/>
        </p:spPr>
      </p:sp>
      <p:sp>
        <p:nvSpPr>
          <p:cNvPr id="22" name="Text 19"/>
          <p:cNvSpPr txBox="1"/>
          <p:nvPr/>
        </p:nvSpPr>
        <p:spPr>
          <a:xfrm>
            <a:off x="3035808" y="2971800"/>
            <a:ext cx="658368" cy="310896"/>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가정</a:t>
            </a:r>
            <a:endParaRPr lang="en-US" sz="1000" dirty="0"/>
          </a:p>
        </p:txBody>
      </p:sp>
      <p:sp>
        <p:nvSpPr>
          <p:cNvPr id="23" name="Text 20"/>
          <p:cNvSpPr txBox="1"/>
          <p:nvPr/>
        </p:nvSpPr>
        <p:spPr>
          <a:xfrm>
            <a:off x="3913632" y="2834640"/>
            <a:ext cx="3291840" cy="585216"/>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55개점 × 200브랜드 [검증필요]</a:t>
            </a:r>
            <a:endParaRPr lang="en-US" sz="1150" dirty="0"/>
          </a:p>
        </p:txBody>
      </p:sp>
      <p:sp>
        <p:nvSpPr>
          <p:cNvPr id="24" name="Text 21"/>
          <p:cNvSpPr txBox="1"/>
          <p:nvPr/>
        </p:nvSpPr>
        <p:spPr>
          <a:xfrm>
            <a:off x="7424928" y="2834640"/>
            <a:ext cx="4014216"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SAM만 변합니다. SOM 128.6억은 그대로</a:t>
            </a:r>
            <a:endParaRPr lang="en-US" sz="1150" dirty="0"/>
          </a:p>
        </p:txBody>
      </p:sp>
      <p:sp>
        <p:nvSpPr>
          <p:cNvPr id="25" name="Shape 22"/>
          <p:cNvSpPr/>
          <p:nvPr/>
        </p:nvSpPr>
        <p:spPr>
          <a:xfrm>
            <a:off x="566928" y="3511296"/>
            <a:ext cx="11055096" cy="585216"/>
          </a:xfrm>
          <a:prstGeom prst="roundRect">
            <a:avLst>
              <a:gd name="adj" fmla="val 9375"/>
            </a:avLst>
          </a:prstGeom>
          <a:solidFill>
            <a:srgbClr val="F7F8FA"/>
          </a:solidFill>
          <a:ln w="12700">
            <a:solidFill>
              <a:srgbClr val="E4E8EE"/>
            </a:solidFill>
            <a:prstDash val="solid"/>
          </a:ln>
        </p:spPr>
      </p:sp>
      <p:sp>
        <p:nvSpPr>
          <p:cNvPr id="26" name="Text 23"/>
          <p:cNvSpPr txBox="1"/>
          <p:nvPr/>
        </p:nvSpPr>
        <p:spPr>
          <a:xfrm>
            <a:off x="841248" y="3511296"/>
            <a:ext cx="2011680" cy="58521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팝업 ASP 320만원</a:t>
            </a:r>
            <a:endParaRPr lang="en-US" sz="1300" dirty="0"/>
          </a:p>
        </p:txBody>
      </p:sp>
      <p:sp>
        <p:nvSpPr>
          <p:cNvPr id="27" name="Shape 24"/>
          <p:cNvSpPr/>
          <p:nvPr/>
        </p:nvSpPr>
        <p:spPr>
          <a:xfrm>
            <a:off x="3035808" y="3648456"/>
            <a:ext cx="658368" cy="310896"/>
          </a:xfrm>
          <a:prstGeom prst="roundRect">
            <a:avLst>
              <a:gd name="adj" fmla="val 14706"/>
            </a:avLst>
          </a:prstGeom>
          <a:solidFill>
            <a:srgbClr val="E4E8EE"/>
          </a:solidFill>
          <a:ln/>
        </p:spPr>
      </p:sp>
      <p:sp>
        <p:nvSpPr>
          <p:cNvPr id="28" name="Text 25"/>
          <p:cNvSpPr txBox="1"/>
          <p:nvPr/>
        </p:nvSpPr>
        <p:spPr>
          <a:xfrm>
            <a:off x="3035808" y="3648456"/>
            <a:ext cx="658368" cy="310896"/>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가정</a:t>
            </a:r>
            <a:endParaRPr lang="en-US" sz="1000" dirty="0"/>
          </a:p>
        </p:txBody>
      </p:sp>
      <p:sp>
        <p:nvSpPr>
          <p:cNvPr id="29" name="Text 26"/>
          <p:cNvSpPr txBox="1"/>
          <p:nvPr/>
        </p:nvSpPr>
        <p:spPr>
          <a:xfrm>
            <a:off x="3913632" y="3511296"/>
            <a:ext cx="3291840" cy="585216"/>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팝업 1회 운영비의 약 5% 수준</a:t>
            </a:r>
            <a:endParaRPr lang="en-US" sz="1150" dirty="0"/>
          </a:p>
        </p:txBody>
      </p:sp>
      <p:sp>
        <p:nvSpPr>
          <p:cNvPr id="30" name="Text 27"/>
          <p:cNvSpPr txBox="1"/>
          <p:nvPr/>
        </p:nvSpPr>
        <p:spPr>
          <a:xfrm>
            <a:off x="7424928" y="3511296"/>
            <a:ext cx="4014216"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무상 파일럿으로 지불 의사를 먼저 검증</a:t>
            </a:r>
            <a:endParaRPr lang="en-US" sz="1150" dirty="0"/>
          </a:p>
        </p:txBody>
      </p:sp>
      <p:sp>
        <p:nvSpPr>
          <p:cNvPr id="31" name="Shape 28"/>
          <p:cNvSpPr/>
          <p:nvPr/>
        </p:nvSpPr>
        <p:spPr>
          <a:xfrm>
            <a:off x="566928" y="4187952"/>
            <a:ext cx="11055096" cy="585216"/>
          </a:xfrm>
          <a:prstGeom prst="roundRect">
            <a:avLst>
              <a:gd name="adj" fmla="val 9375"/>
            </a:avLst>
          </a:prstGeom>
          <a:solidFill>
            <a:srgbClr val="FFFFFF"/>
          </a:solidFill>
          <a:ln w="12700">
            <a:solidFill>
              <a:srgbClr val="E4E8EE"/>
            </a:solidFill>
            <a:prstDash val="solid"/>
          </a:ln>
        </p:spPr>
      </p:sp>
      <p:sp>
        <p:nvSpPr>
          <p:cNvPr id="32" name="Text 29"/>
          <p:cNvSpPr txBox="1"/>
          <p:nvPr/>
        </p:nvSpPr>
        <p:spPr>
          <a:xfrm>
            <a:off x="841248" y="4187952"/>
            <a:ext cx="2011680" cy="58521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전환율 8.1% → 11.4%</a:t>
            </a:r>
            <a:endParaRPr lang="en-US" sz="1300" dirty="0"/>
          </a:p>
        </p:txBody>
      </p:sp>
      <p:sp>
        <p:nvSpPr>
          <p:cNvPr id="33" name="Shape 30"/>
          <p:cNvSpPr/>
          <p:nvPr/>
        </p:nvSpPr>
        <p:spPr>
          <a:xfrm>
            <a:off x="3035808" y="4325112"/>
            <a:ext cx="658368" cy="310896"/>
          </a:xfrm>
          <a:prstGeom prst="roundRect">
            <a:avLst>
              <a:gd name="adj" fmla="val 14706"/>
            </a:avLst>
          </a:prstGeom>
          <a:solidFill>
            <a:srgbClr val="E4E8EE"/>
          </a:solidFill>
          <a:ln/>
        </p:spPr>
      </p:sp>
      <p:sp>
        <p:nvSpPr>
          <p:cNvPr id="34" name="Text 31"/>
          <p:cNvSpPr txBox="1"/>
          <p:nvPr/>
        </p:nvSpPr>
        <p:spPr>
          <a:xfrm>
            <a:off x="3035808" y="4325112"/>
            <a:ext cx="658368" cy="310896"/>
          </a:xfrm>
          <a:prstGeom prst="rect">
            <a:avLst/>
          </a:prstGeom>
          <a:noFill/>
          <a:ln/>
        </p:spPr>
        <p:txBody>
          <a:bodyPr wrap="square" lIns="0" tIns="0" rIns="0" bIns="0" rtlCol="0" anchor="ctr"/>
          <a:lstStyle/>
          <a:p>
            <a:pPr algn="ctr"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가정</a:t>
            </a:r>
            <a:endParaRPr lang="en-US" sz="1000" dirty="0"/>
          </a:p>
        </p:txBody>
      </p:sp>
      <p:sp>
        <p:nvSpPr>
          <p:cNvPr id="35" name="Text 32"/>
          <p:cNvSpPr txBox="1"/>
          <p:nvPr/>
        </p:nvSpPr>
        <p:spPr>
          <a:xfrm>
            <a:off x="3913632" y="4187952"/>
            <a:ext cx="3291840" cy="585216"/>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실적 아님 — 리포트 형식 예시</a:t>
            </a:r>
            <a:endParaRPr lang="en-US" sz="1150" dirty="0"/>
          </a:p>
        </p:txBody>
      </p:sp>
      <p:sp>
        <p:nvSpPr>
          <p:cNvPr id="36" name="Text 33"/>
          <p:cNvSpPr txBox="1"/>
          <p:nvPr/>
        </p:nvSpPr>
        <p:spPr>
          <a:xfrm>
            <a:off x="7424928" y="4187952"/>
            <a:ext cx="4014216"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실측값은 파일럿 3건에서 나옵니다</a:t>
            </a:r>
            <a:endParaRPr lang="en-US" sz="1150" dirty="0"/>
          </a:p>
        </p:txBody>
      </p:sp>
      <p:sp>
        <p:nvSpPr>
          <p:cNvPr id="37" name="Shape 34"/>
          <p:cNvSpPr/>
          <p:nvPr/>
        </p:nvSpPr>
        <p:spPr>
          <a:xfrm>
            <a:off x="566928" y="4864608"/>
            <a:ext cx="11055096" cy="585216"/>
          </a:xfrm>
          <a:prstGeom prst="roundRect">
            <a:avLst>
              <a:gd name="adj" fmla="val 9375"/>
            </a:avLst>
          </a:prstGeom>
          <a:solidFill>
            <a:srgbClr val="F7F8FA"/>
          </a:solidFill>
          <a:ln w="12700">
            <a:solidFill>
              <a:srgbClr val="E4E8EE"/>
            </a:solidFill>
            <a:prstDash val="solid"/>
          </a:ln>
        </p:spPr>
      </p:sp>
      <p:sp>
        <p:nvSpPr>
          <p:cNvPr id="38" name="Text 35"/>
          <p:cNvSpPr txBox="1"/>
          <p:nvPr/>
        </p:nvSpPr>
        <p:spPr>
          <a:xfrm>
            <a:off x="841248" y="4864608"/>
            <a:ext cx="2011680" cy="58521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카운팅 정확도 95%</a:t>
            </a:r>
            <a:endParaRPr lang="en-US" sz="1300" dirty="0"/>
          </a:p>
        </p:txBody>
      </p:sp>
      <p:sp>
        <p:nvSpPr>
          <p:cNvPr id="39" name="Shape 36"/>
          <p:cNvSpPr/>
          <p:nvPr/>
        </p:nvSpPr>
        <p:spPr>
          <a:xfrm>
            <a:off x="3035808" y="5001768"/>
            <a:ext cx="658368" cy="310896"/>
          </a:xfrm>
          <a:prstGeom prst="roundRect">
            <a:avLst>
              <a:gd name="adj" fmla="val 14706"/>
            </a:avLst>
          </a:prstGeom>
          <a:solidFill>
            <a:srgbClr val="E11D2E"/>
          </a:solidFill>
          <a:ln/>
        </p:spPr>
      </p:sp>
      <p:sp>
        <p:nvSpPr>
          <p:cNvPr id="40" name="Text 37"/>
          <p:cNvSpPr txBox="1"/>
          <p:nvPr/>
        </p:nvSpPr>
        <p:spPr>
          <a:xfrm>
            <a:off x="3035808" y="5001768"/>
            <a:ext cx="658368" cy="310896"/>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Pretendard" pitchFamily="34" charset="0"/>
                <a:ea typeface="Pretendard" pitchFamily="34" charset="-122"/>
                <a:cs typeface="Pretendard" pitchFamily="34" charset="-120"/>
              </a:rPr>
              <a:t>통상치</a:t>
            </a:r>
            <a:endParaRPr lang="en-US" sz="1000" dirty="0"/>
          </a:p>
        </p:txBody>
      </p:sp>
      <p:sp>
        <p:nvSpPr>
          <p:cNvPr id="41" name="Text 38"/>
          <p:cNvSpPr txBox="1"/>
          <p:nvPr/>
        </p:nvSpPr>
        <p:spPr>
          <a:xfrm>
            <a:off x="3913632" y="4864608"/>
            <a:ext cx="3291840" cy="585216"/>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업계 통상치. 파일럿에서 실측 대조 예정</a:t>
            </a:r>
            <a:endParaRPr lang="en-US" sz="1150" dirty="0"/>
          </a:p>
        </p:txBody>
      </p:sp>
      <p:sp>
        <p:nvSpPr>
          <p:cNvPr id="42" name="Text 39"/>
          <p:cNvSpPr txBox="1"/>
          <p:nvPr/>
        </p:nvSpPr>
        <p:spPr>
          <a:xfrm>
            <a:off x="7424928" y="4864608"/>
            <a:ext cx="4014216"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KPI는 개인 정확도가 아니라 집계 정확도입니다</a:t>
            </a:r>
            <a:endParaRPr lang="en-US" sz="1150" dirty="0"/>
          </a:p>
        </p:txBody>
      </p:sp>
      <p:sp>
        <p:nvSpPr>
          <p:cNvPr id="43" name="Shape 40"/>
          <p:cNvSpPr/>
          <p:nvPr/>
        </p:nvSpPr>
        <p:spPr>
          <a:xfrm>
            <a:off x="566928" y="5541264"/>
            <a:ext cx="11055096" cy="585216"/>
          </a:xfrm>
          <a:prstGeom prst="roundRect">
            <a:avLst>
              <a:gd name="adj" fmla="val 9375"/>
            </a:avLst>
          </a:prstGeom>
          <a:solidFill>
            <a:srgbClr val="FFFFFF"/>
          </a:solidFill>
          <a:ln w="12700">
            <a:solidFill>
              <a:srgbClr val="E4E8EE"/>
            </a:solidFill>
            <a:prstDash val="solid"/>
          </a:ln>
        </p:spPr>
      </p:sp>
      <p:sp>
        <p:nvSpPr>
          <p:cNvPr id="44" name="Text 41"/>
          <p:cNvSpPr txBox="1"/>
          <p:nvPr/>
        </p:nvSpPr>
        <p:spPr>
          <a:xfrm>
            <a:off x="841248" y="5541264"/>
            <a:ext cx="2011680" cy="585216"/>
          </a:xfrm>
          <a:prstGeom prst="rect">
            <a:avLst/>
          </a:prstGeom>
          <a:noFill/>
          <a:ln/>
        </p:spPr>
        <p:txBody>
          <a:bodyPr wrap="square" lIns="0" tIns="0" rIns="0" bIns="0" rtlCol="0" anchor="ctr"/>
          <a:lstStyle/>
          <a:p>
            <a:pPr algn="l" indent="0" marL="0">
              <a:lnSpc>
                <a:spcPts val="2000"/>
              </a:lnSpc>
              <a:buNone/>
            </a:pPr>
            <a:r>
              <a:rPr lang="en-US" sz="1300" b="1" dirty="0">
                <a:solidFill>
                  <a:srgbClr val="0E1420"/>
                </a:solidFill>
                <a:latin typeface="Pretendard" pitchFamily="34" charset="0"/>
                <a:ea typeface="Pretendard" pitchFamily="34" charset="-122"/>
                <a:cs typeface="Pretendard" pitchFamily="34" charset="-120"/>
              </a:rPr>
              <a:t>매출총이익률 77%</a:t>
            </a:r>
            <a:endParaRPr lang="en-US" sz="1300" dirty="0"/>
          </a:p>
        </p:txBody>
      </p:sp>
      <p:sp>
        <p:nvSpPr>
          <p:cNvPr id="45" name="Shape 42"/>
          <p:cNvSpPr/>
          <p:nvPr/>
        </p:nvSpPr>
        <p:spPr>
          <a:xfrm>
            <a:off x="3035808" y="5678424"/>
            <a:ext cx="658368" cy="310896"/>
          </a:xfrm>
          <a:prstGeom prst="roundRect">
            <a:avLst>
              <a:gd name="adj" fmla="val 14706"/>
            </a:avLst>
          </a:prstGeom>
          <a:solidFill>
            <a:srgbClr val="0E1420"/>
          </a:solidFill>
          <a:ln/>
        </p:spPr>
      </p:sp>
      <p:sp>
        <p:nvSpPr>
          <p:cNvPr id="46" name="Text 43"/>
          <p:cNvSpPr txBox="1"/>
          <p:nvPr/>
        </p:nvSpPr>
        <p:spPr>
          <a:xfrm>
            <a:off x="3035808" y="5678424"/>
            <a:ext cx="658368" cy="310896"/>
          </a:xfrm>
          <a:prstGeom prst="rect">
            <a:avLst/>
          </a:prstGeom>
          <a:noFill/>
          <a:ln/>
        </p:spPr>
        <p:txBody>
          <a:bodyPr wrap="square" lIns="0" tIns="0" rIns="0" bIns="0" rtlCol="0" anchor="ctr"/>
          <a:lstStyle/>
          <a:p>
            <a:pPr algn="ctr" indent="0" marL="0">
              <a:lnSpc>
                <a:spcPts val="1500"/>
              </a:lnSpc>
              <a:buNone/>
            </a:pPr>
            <a:r>
              <a:rPr lang="en-US" sz="1000" b="1" dirty="0">
                <a:solidFill>
                  <a:srgbClr val="FFFFFF"/>
                </a:solidFill>
                <a:latin typeface="Pretendard" pitchFamily="34" charset="0"/>
                <a:ea typeface="Pretendard" pitchFamily="34" charset="-122"/>
                <a:cs typeface="Pretendard" pitchFamily="34" charset="-120"/>
              </a:rPr>
              <a:t>산출값</a:t>
            </a:r>
            <a:endParaRPr lang="en-US" sz="1000" dirty="0"/>
          </a:p>
        </p:txBody>
      </p:sp>
      <p:sp>
        <p:nvSpPr>
          <p:cNvPr id="47" name="Text 44"/>
          <p:cNvSpPr txBox="1"/>
          <p:nvPr/>
        </p:nvSpPr>
        <p:spPr>
          <a:xfrm>
            <a:off x="3913632" y="5541264"/>
            <a:ext cx="3291840" cy="585216"/>
          </a:xfrm>
          <a:prstGeom prst="rect">
            <a:avLst/>
          </a:prstGeom>
          <a:noFill/>
          <a:ln/>
        </p:spPr>
        <p:txBody>
          <a:bodyPr wrap="square" lIns="0" tIns="0" rIns="0" bIns="0" rtlCol="0" anchor="ctr"/>
          <a:lstStyle/>
          <a:p>
            <a:pPr algn="l" indent="0" marL="0">
              <a:lnSpc>
                <a:spcPts val="1700"/>
              </a:lnSpc>
              <a:buNone/>
            </a:pPr>
            <a:r>
              <a:rPr lang="en-US" sz="1150" dirty="0">
                <a:solidFill>
                  <a:srgbClr val="5E6979"/>
                </a:solidFill>
                <a:latin typeface="Pretendard" pitchFamily="34" charset="0"/>
                <a:ea typeface="Pretendard" pitchFamily="34" charset="-122"/>
                <a:cs typeface="Pretendard" pitchFamily="34" charset="-120"/>
              </a:rPr>
              <a:t>단위원가에서 계산된 산출값</a:t>
            </a:r>
            <a:endParaRPr lang="en-US" sz="1150" dirty="0"/>
          </a:p>
        </p:txBody>
      </p:sp>
      <p:sp>
        <p:nvSpPr>
          <p:cNvPr id="48" name="Text 45"/>
          <p:cNvSpPr txBox="1"/>
          <p:nvPr/>
        </p:nvSpPr>
        <p:spPr>
          <a:xfrm>
            <a:off x="7424928" y="5541264"/>
            <a:ext cx="4014216"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단가·원가가 바뀌면 같이 움직입니다</a:t>
            </a:r>
            <a:endParaRPr lang="en-US" sz="1150" dirty="0"/>
          </a:p>
        </p:txBody>
      </p:sp>
      <p:sp>
        <p:nvSpPr>
          <p:cNvPr id="49" name="Text 46"/>
          <p:cNvSpPr txBox="1"/>
          <p:nvPr/>
        </p:nvSpPr>
        <p:spPr>
          <a:xfrm>
            <a:off x="3035808" y="1207008"/>
            <a:ext cx="822960"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근거 등급</a:t>
            </a:r>
            <a:endParaRPr lang="en-US" sz="1000" dirty="0"/>
          </a:p>
        </p:txBody>
      </p:sp>
      <p:sp>
        <p:nvSpPr>
          <p:cNvPr id="50" name="Text 47"/>
          <p:cNvSpPr txBox="1"/>
          <p:nvPr/>
        </p:nvSpPr>
        <p:spPr>
          <a:xfrm>
            <a:off x="3913632" y="1207008"/>
            <a:ext cx="2743200"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어디서 나온 숫자인가</a:t>
            </a:r>
            <a:endParaRPr lang="en-US" sz="1000" dirty="0"/>
          </a:p>
        </p:txBody>
      </p:sp>
      <p:sp>
        <p:nvSpPr>
          <p:cNvPr id="51" name="Text 48"/>
          <p:cNvSpPr txBox="1"/>
          <p:nvPr/>
        </p:nvSpPr>
        <p:spPr>
          <a:xfrm>
            <a:off x="7424928" y="1207008"/>
            <a:ext cx="3108960"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틀리면 결론이 어떻게 바뀌나</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B2</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프라이버시 설계  |  공간을 측정합니다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백업 슬라이드 — 개인정보 질문이 나오면 이 장입니다</a:t>
            </a:r>
            <a:endParaRPr lang="en-US" sz="1250" dirty="0"/>
          </a:p>
        </p:txBody>
      </p:sp>
      <p:sp>
        <p:nvSpPr>
          <p:cNvPr id="7" name="Shape 4"/>
          <p:cNvSpPr/>
          <p:nvPr/>
        </p:nvSpPr>
        <p:spPr>
          <a:xfrm>
            <a:off x="566928" y="1481328"/>
            <a:ext cx="3587496" cy="2471127"/>
          </a:xfrm>
          <a:prstGeom prst="roundRect">
            <a:avLst>
              <a:gd name="adj" fmla="val 2220"/>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8" name="Text 5"/>
          <p:cNvSpPr txBox="1"/>
          <p:nvPr/>
        </p:nvSpPr>
        <p:spPr>
          <a:xfrm>
            <a:off x="841248" y="1857356"/>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Layer 1 · 공간</a:t>
            </a:r>
            <a:endParaRPr lang="en-US" sz="1100" dirty="0"/>
          </a:p>
        </p:txBody>
      </p:sp>
      <p:sp>
        <p:nvSpPr>
          <p:cNvPr id="9" name="Text 6"/>
          <p:cNvSpPr txBox="1"/>
          <p:nvPr/>
        </p:nvSpPr>
        <p:spPr>
          <a:xfrm>
            <a:off x="841248" y="2173840"/>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0E1420"/>
                </a:solidFill>
                <a:latin typeface="Pretendard" pitchFamily="34" charset="0"/>
                <a:ea typeface="Pretendard" pitchFamily="34" charset="-122"/>
                <a:cs typeface="Pretendard" pitchFamily="34" charset="-120"/>
              </a:rPr>
              <a:t>완전 익명</a:t>
            </a:r>
            <a:endParaRPr lang="en-US" sz="1500" dirty="0"/>
          </a:p>
        </p:txBody>
      </p:sp>
      <p:sp>
        <p:nvSpPr>
          <p:cNvPr id="10" name="Text 7"/>
          <p:cNvSpPr txBox="1"/>
          <p:nvPr/>
        </p:nvSpPr>
        <p:spPr>
          <a:xfrm>
            <a:off x="841248" y="2539600"/>
            <a:ext cx="3038856" cy="7640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원본 영상 미저장 — 엣지에서 좌표·숫자로 변환</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얼굴 특징값(생체정보) 저장하지 않음</a:t>
            </a:r>
            <a:endParaRPr lang="en-US" sz="1150" dirty="0"/>
          </a:p>
        </p:txBody>
      </p:sp>
      <p:sp>
        <p:nvSpPr>
          <p:cNvPr id="11" name="Text 8"/>
          <p:cNvSpPr txBox="1"/>
          <p:nvPr/>
        </p:nvSpPr>
        <p:spPr>
          <a:xfrm>
            <a:off x="841248" y="3542499"/>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커버리지 = 방문자 100% (비회원 포함)</a:t>
            </a:r>
            <a:endParaRPr lang="en-US" sz="1000" dirty="0"/>
          </a:p>
        </p:txBody>
      </p:sp>
      <p:sp>
        <p:nvSpPr>
          <p:cNvPr id="12" name="Shape 9"/>
          <p:cNvSpPr/>
          <p:nvPr/>
        </p:nvSpPr>
        <p:spPr>
          <a:xfrm>
            <a:off x="4300728" y="1481328"/>
            <a:ext cx="3587496" cy="2471127"/>
          </a:xfrm>
          <a:prstGeom prst="roundRect">
            <a:avLst>
              <a:gd name="adj" fmla="val 2220"/>
            </a:avLst>
          </a:prstGeom>
          <a:solidFill>
            <a:srgbClr val="0E1420"/>
          </a:solidFill>
          <a:ln w="12700">
            <a:solidFill>
              <a:srgbClr val="0E1420"/>
            </a:solidFill>
            <a:prstDash val="solid"/>
          </a:ln>
          <a:effectLst>
            <a:outerShdw sx="100000" sy="100000" kx="0" ky="0" algn="bl" rotWithShape="0" blurRad="203200" dist="25400" dir="5400000">
              <a:srgbClr val="98A2B3">
                <a:alpha val="16000"/>
              </a:srgbClr>
            </a:outerShdw>
          </a:effectLst>
        </p:spPr>
      </p:sp>
      <p:sp>
        <p:nvSpPr>
          <p:cNvPr id="13" name="Text 10"/>
          <p:cNvSpPr txBox="1"/>
          <p:nvPr/>
        </p:nvSpPr>
        <p:spPr>
          <a:xfrm>
            <a:off x="4575048" y="1857356"/>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F5A623"/>
                </a:solidFill>
                <a:latin typeface="Pretendard" pitchFamily="34" charset="0"/>
                <a:ea typeface="Pretendard" pitchFamily="34" charset="-122"/>
                <a:cs typeface="Pretendard" pitchFamily="34" charset="-120"/>
              </a:rPr>
              <a:t>Layer 2 · 고객</a:t>
            </a:r>
            <a:endParaRPr lang="en-US" sz="1100" dirty="0"/>
          </a:p>
        </p:txBody>
      </p:sp>
      <p:sp>
        <p:nvSpPr>
          <p:cNvPr id="14" name="Text 11"/>
          <p:cNvSpPr txBox="1"/>
          <p:nvPr/>
        </p:nvSpPr>
        <p:spPr>
          <a:xfrm>
            <a:off x="4575048" y="2173840"/>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FFFFFF"/>
                </a:solidFill>
                <a:latin typeface="Pretendard" pitchFamily="34" charset="0"/>
                <a:ea typeface="Pretendard" pitchFamily="34" charset="-122"/>
                <a:cs typeface="Pretendard" pitchFamily="34" charset="-120"/>
              </a:rPr>
              <a:t>동의 기반</a:t>
            </a:r>
            <a:endParaRPr lang="en-US" sz="1500" dirty="0"/>
          </a:p>
        </p:txBody>
      </p:sp>
      <p:sp>
        <p:nvSpPr>
          <p:cNvPr id="15" name="Text 12"/>
          <p:cNvSpPr txBox="1"/>
          <p:nvPr/>
        </p:nvSpPr>
        <p:spPr>
          <a:xfrm>
            <a:off x="4575048" y="2539600"/>
            <a:ext cx="3038856" cy="7640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L.POINT 앱 체크인·QR·결제 적립 시에만 연결</a:t>
            </a:r>
            <a:endParaRPr lang="en-US" sz="1150" dirty="0"/>
          </a:p>
          <a:p>
            <a:pPr marL="342900" indent="-342900">
              <a:lnSpc>
                <a:spcPts val="1700"/>
              </a:lnSpc>
              <a:spcAft>
                <a:spcPts val="700"/>
              </a:spcAft>
              <a:buSzPct val="100000"/>
              <a:buChar char="•"/>
            </a:pPr>
            <a:r>
              <a:rPr lang="en-US" sz="1150" dirty="0">
                <a:solidFill>
                  <a:srgbClr val="FFFFFF"/>
                </a:solidFill>
                <a:latin typeface="Pretendard" pitchFamily="34" charset="0"/>
                <a:ea typeface="Pretendard" pitchFamily="34" charset="-122"/>
                <a:cs typeface="Pretendard" pitchFamily="34" charset="-120"/>
              </a:rPr>
              <a:t>여기서만 소비 이력·교차구매가 붙습니다</a:t>
            </a:r>
            <a:endParaRPr lang="en-US" sz="1150" dirty="0"/>
          </a:p>
        </p:txBody>
      </p:sp>
      <p:sp>
        <p:nvSpPr>
          <p:cNvPr id="16" name="Text 13"/>
          <p:cNvSpPr txBox="1"/>
          <p:nvPr/>
        </p:nvSpPr>
        <p:spPr>
          <a:xfrm>
            <a:off x="4575048" y="3542499"/>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AEB8C7"/>
                </a:solidFill>
                <a:latin typeface="Pretendard" pitchFamily="34" charset="0"/>
                <a:ea typeface="Pretendard" pitchFamily="34" charset="-122"/>
                <a:cs typeface="Pretendard" pitchFamily="34" charset="-120"/>
              </a:rPr>
              <a:t>커버리지 = 동의 회원</a:t>
            </a:r>
            <a:endParaRPr lang="en-US" sz="1000" dirty="0"/>
          </a:p>
        </p:txBody>
      </p:sp>
      <p:sp>
        <p:nvSpPr>
          <p:cNvPr id="17" name="Shape 14"/>
          <p:cNvSpPr/>
          <p:nvPr/>
        </p:nvSpPr>
        <p:spPr>
          <a:xfrm>
            <a:off x="8034528" y="1481328"/>
            <a:ext cx="3587496" cy="2471127"/>
          </a:xfrm>
          <a:prstGeom prst="roundRect">
            <a:avLst>
              <a:gd name="adj" fmla="val 2220"/>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8" name="Text 15"/>
          <p:cNvSpPr txBox="1"/>
          <p:nvPr/>
        </p:nvSpPr>
        <p:spPr>
          <a:xfrm>
            <a:off x="8308848" y="1857356"/>
            <a:ext cx="303885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연결 규칙</a:t>
            </a:r>
            <a:endParaRPr lang="en-US" sz="1100" dirty="0"/>
          </a:p>
        </p:txBody>
      </p:sp>
      <p:sp>
        <p:nvSpPr>
          <p:cNvPr id="19" name="Text 16"/>
          <p:cNvSpPr txBox="1"/>
          <p:nvPr/>
        </p:nvSpPr>
        <p:spPr>
          <a:xfrm>
            <a:off x="8308848" y="2173840"/>
            <a:ext cx="3038856" cy="256032"/>
          </a:xfrm>
          <a:prstGeom prst="rect">
            <a:avLst/>
          </a:prstGeom>
          <a:noFill/>
          <a:ln/>
        </p:spPr>
        <p:txBody>
          <a:bodyPr wrap="square" lIns="0" tIns="0" rIns="0" bIns="0" rtlCol="0" anchor="t"/>
          <a:lstStyle/>
          <a:p>
            <a:pPr algn="l" indent="0" marL="0">
              <a:lnSpc>
                <a:spcPts val="1800"/>
              </a:lnSpc>
              <a:buNone/>
            </a:pPr>
            <a:r>
              <a:rPr lang="en-US" sz="1500" b="1" dirty="0">
                <a:solidFill>
                  <a:srgbClr val="0E1420"/>
                </a:solidFill>
                <a:latin typeface="Pretendard" pitchFamily="34" charset="0"/>
                <a:ea typeface="Pretendard" pitchFamily="34" charset="-122"/>
                <a:cs typeface="Pretendard" pitchFamily="34" charset="-120"/>
              </a:rPr>
              <a:t>집계 단위로만</a:t>
            </a:r>
            <a:endParaRPr lang="en-US" sz="1500" dirty="0"/>
          </a:p>
        </p:txBody>
      </p:sp>
      <p:sp>
        <p:nvSpPr>
          <p:cNvPr id="20" name="Text 17"/>
          <p:cNvSpPr txBox="1"/>
          <p:nvPr/>
        </p:nvSpPr>
        <p:spPr>
          <a:xfrm>
            <a:off x="8308848" y="2539600"/>
            <a:ext cx="3038856" cy="7640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개인 단위 결합 없음 — 시간대 × 구역 × 세그먼트</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최소 집계 5명 미만 셀은 미표시</a:t>
            </a:r>
            <a:endParaRPr lang="en-US" sz="1150" dirty="0"/>
          </a:p>
        </p:txBody>
      </p:sp>
      <p:sp>
        <p:nvSpPr>
          <p:cNvPr id="21" name="Text 18"/>
          <p:cNvSpPr txBox="1"/>
          <p:nvPr/>
        </p:nvSpPr>
        <p:spPr>
          <a:xfrm>
            <a:off x="8308848" y="3542499"/>
            <a:ext cx="3038856" cy="217932"/>
          </a:xfrm>
          <a:prstGeom prst="rect">
            <a:avLst/>
          </a:prstGeom>
          <a:noFill/>
          <a:ln/>
        </p:spPr>
        <p:txBody>
          <a:bodyPr wrap="square" lIns="0" tIns="0" rIns="0" bIns="0" rtlCol="0" anchor="t"/>
          <a:lstStyle/>
          <a:p>
            <a:pPr algn="l" indent="0" marL="0">
              <a:lnSpc>
                <a:spcPts val="1500"/>
              </a:lnSpc>
              <a:buNone/>
            </a:pPr>
            <a:r>
              <a:rPr lang="en-US" sz="1000" b="1" dirty="0">
                <a:solidFill>
                  <a:srgbClr val="5E6979"/>
                </a:solidFill>
                <a:latin typeface="Pretendard" pitchFamily="34" charset="0"/>
                <a:ea typeface="Pretendard" pitchFamily="34" charset="-122"/>
                <a:cs typeface="Pretendard" pitchFamily="34" charset="-120"/>
              </a:rPr>
              <a:t>착수 전 법무·DPO 검토 및 영향평가</a:t>
            </a:r>
            <a:endParaRPr lang="en-US" sz="1000" dirty="0"/>
          </a:p>
        </p:txBody>
      </p:sp>
      <p:sp>
        <p:nvSpPr>
          <p:cNvPr id="22" name="Text 19"/>
          <p:cNvSpPr txBox="1"/>
          <p:nvPr/>
        </p:nvSpPr>
        <p:spPr>
          <a:xfrm>
            <a:off x="566928" y="4135335"/>
            <a:ext cx="5486400" cy="268732"/>
          </a:xfrm>
          <a:prstGeom prst="rect">
            <a:avLst/>
          </a:prstGeom>
          <a:noFill/>
          <a:ln/>
        </p:spPr>
        <p:txBody>
          <a:bodyPr wrap="square" lIns="0" tIns="0" rIns="0" bIns="0" rtlCol="0" anchor="t"/>
          <a:lstStyle/>
          <a:p>
            <a:pPr algn="l" indent="0" marL="0">
              <a:lnSpc>
                <a:spcPts val="1900"/>
              </a:lnSpc>
              <a:buNone/>
            </a:pPr>
            <a:r>
              <a:rPr lang="en-US" sz="1250" b="1" spc="100" kern="0" dirty="0">
                <a:solidFill>
                  <a:srgbClr val="5E6979"/>
                </a:solidFill>
                <a:latin typeface="Pretendard" pitchFamily="34" charset="0"/>
                <a:ea typeface="Pretendard" pitchFamily="34" charset="-122"/>
                <a:cs typeface="Pretendard" pitchFamily="34" charset="-120"/>
              </a:rPr>
              <a:t>그룹 핵심가치 = 이 사업의 설계 원칙</a:t>
            </a:r>
            <a:endParaRPr lang="en-US" sz="1250" dirty="0"/>
          </a:p>
        </p:txBody>
      </p:sp>
      <p:sp>
        <p:nvSpPr>
          <p:cNvPr id="23" name="Shape 20"/>
          <p:cNvSpPr/>
          <p:nvPr/>
        </p:nvSpPr>
        <p:spPr>
          <a:xfrm>
            <a:off x="566928" y="4464519"/>
            <a:ext cx="2654046" cy="1661961"/>
          </a:xfrm>
          <a:prstGeom prst="roundRect">
            <a:avLst>
              <a:gd name="adj" fmla="val 3301"/>
            </a:avLst>
          </a:prstGeom>
          <a:solidFill>
            <a:srgbClr val="FCEDEE"/>
          </a:solidFill>
          <a:ln w="12700">
            <a:solidFill>
              <a:srgbClr val="FCEDEE"/>
            </a:solidFill>
            <a:prstDash val="solid"/>
          </a:ln>
        </p:spPr>
      </p:sp>
      <p:sp>
        <p:nvSpPr>
          <p:cNvPr id="24" name="Text 21"/>
          <p:cNvSpPr txBox="1"/>
          <p:nvPr/>
        </p:nvSpPr>
        <p:spPr>
          <a:xfrm>
            <a:off x="841248" y="4789278"/>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고객 기대 그 이상</a:t>
            </a:r>
            <a:endParaRPr lang="en-US" sz="1300" dirty="0"/>
          </a:p>
        </p:txBody>
      </p:sp>
      <p:sp>
        <p:nvSpPr>
          <p:cNvPr id="25" name="Text 22"/>
          <p:cNvSpPr txBox="1"/>
          <p:nvPr/>
        </p:nvSpPr>
        <p:spPr>
          <a:xfrm>
            <a:off x="841248" y="5129638"/>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Beyond Customer Expectation</a:t>
            </a:r>
            <a:endParaRPr lang="en-US" sz="1000" dirty="0"/>
          </a:p>
        </p:txBody>
      </p:sp>
      <p:sp>
        <p:nvSpPr>
          <p:cNvPr id="26" name="Text 23"/>
          <p:cNvSpPr txBox="1"/>
          <p:nvPr/>
        </p:nvSpPr>
        <p:spPr>
          <a:xfrm>
            <a:off x="841248" y="5439010"/>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리포트에서 멈추지 않습니다. 처방하고, POS로 증명까지 합니다.</a:t>
            </a:r>
            <a:endParaRPr lang="en-US" sz="1000" dirty="0"/>
          </a:p>
        </p:txBody>
      </p:sp>
      <p:sp>
        <p:nvSpPr>
          <p:cNvPr id="27" name="Shape 24"/>
          <p:cNvSpPr/>
          <p:nvPr/>
        </p:nvSpPr>
        <p:spPr>
          <a:xfrm>
            <a:off x="3367278" y="4464519"/>
            <a:ext cx="2654046" cy="1661961"/>
          </a:xfrm>
          <a:prstGeom prst="roundRect">
            <a:avLst>
              <a:gd name="adj" fmla="val 3301"/>
            </a:avLst>
          </a:prstGeom>
          <a:solidFill>
            <a:srgbClr val="FCEDEE"/>
          </a:solidFill>
          <a:ln w="12700">
            <a:solidFill>
              <a:srgbClr val="FCEDEE"/>
            </a:solidFill>
            <a:prstDash val="solid"/>
          </a:ln>
        </p:spPr>
      </p:sp>
      <p:sp>
        <p:nvSpPr>
          <p:cNvPr id="28" name="Text 25"/>
          <p:cNvSpPr txBox="1"/>
          <p:nvPr/>
        </p:nvSpPr>
        <p:spPr>
          <a:xfrm>
            <a:off x="3641598" y="4789278"/>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도전</a:t>
            </a:r>
            <a:endParaRPr lang="en-US" sz="1300" dirty="0"/>
          </a:p>
        </p:txBody>
      </p:sp>
      <p:sp>
        <p:nvSpPr>
          <p:cNvPr id="29" name="Text 26"/>
          <p:cNvSpPr txBox="1"/>
          <p:nvPr/>
        </p:nvSpPr>
        <p:spPr>
          <a:xfrm>
            <a:off x="3641598" y="5129638"/>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Challenge</a:t>
            </a:r>
            <a:endParaRPr lang="en-US" sz="1000" dirty="0"/>
          </a:p>
        </p:txBody>
      </p:sp>
      <p:sp>
        <p:nvSpPr>
          <p:cNvPr id="30" name="Text 27"/>
          <p:cNvSpPr txBox="1"/>
          <p:nvPr/>
        </p:nvSpPr>
        <p:spPr>
          <a:xfrm>
            <a:off x="3641598" y="5439010"/>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'사지 않은 고객'을 데이터화한 유통사는 아직 없습니다.</a:t>
            </a:r>
            <a:endParaRPr lang="en-US" sz="1000" dirty="0"/>
          </a:p>
        </p:txBody>
      </p:sp>
      <p:sp>
        <p:nvSpPr>
          <p:cNvPr id="31" name="Shape 28"/>
          <p:cNvSpPr/>
          <p:nvPr/>
        </p:nvSpPr>
        <p:spPr>
          <a:xfrm>
            <a:off x="6167628" y="4464519"/>
            <a:ext cx="2654046" cy="1661961"/>
          </a:xfrm>
          <a:prstGeom prst="roundRect">
            <a:avLst>
              <a:gd name="adj" fmla="val 3301"/>
            </a:avLst>
          </a:prstGeom>
          <a:solidFill>
            <a:srgbClr val="FCEDEE"/>
          </a:solidFill>
          <a:ln w="12700">
            <a:solidFill>
              <a:srgbClr val="FCEDEE"/>
            </a:solidFill>
            <a:prstDash val="solid"/>
          </a:ln>
        </p:spPr>
      </p:sp>
      <p:sp>
        <p:nvSpPr>
          <p:cNvPr id="32" name="Text 29"/>
          <p:cNvSpPr txBox="1"/>
          <p:nvPr/>
        </p:nvSpPr>
        <p:spPr>
          <a:xfrm>
            <a:off x="6441948" y="4789278"/>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존중</a:t>
            </a:r>
            <a:endParaRPr lang="en-US" sz="1300" dirty="0"/>
          </a:p>
        </p:txBody>
      </p:sp>
      <p:sp>
        <p:nvSpPr>
          <p:cNvPr id="33" name="Text 30"/>
          <p:cNvSpPr txBox="1"/>
          <p:nvPr/>
        </p:nvSpPr>
        <p:spPr>
          <a:xfrm>
            <a:off x="6441948" y="5129638"/>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Respect</a:t>
            </a:r>
            <a:endParaRPr lang="en-US" sz="1000" dirty="0"/>
          </a:p>
        </p:txBody>
      </p:sp>
      <p:sp>
        <p:nvSpPr>
          <p:cNvPr id="34" name="Text 31"/>
          <p:cNvSpPr txBox="1"/>
          <p:nvPr/>
        </p:nvSpPr>
        <p:spPr>
          <a:xfrm>
            <a:off x="6441948" y="5439010"/>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사람을 추적하지 않고 공간을 측정합니다. 개인 연결은 동의 시에만.</a:t>
            </a:r>
            <a:endParaRPr lang="en-US" sz="1000" dirty="0"/>
          </a:p>
        </p:txBody>
      </p:sp>
      <p:sp>
        <p:nvSpPr>
          <p:cNvPr id="35" name="Shape 32"/>
          <p:cNvSpPr/>
          <p:nvPr/>
        </p:nvSpPr>
        <p:spPr>
          <a:xfrm>
            <a:off x="8967978" y="4464519"/>
            <a:ext cx="2654046" cy="1661961"/>
          </a:xfrm>
          <a:prstGeom prst="roundRect">
            <a:avLst>
              <a:gd name="adj" fmla="val 3301"/>
            </a:avLst>
          </a:prstGeom>
          <a:solidFill>
            <a:srgbClr val="FCEDEE"/>
          </a:solidFill>
          <a:ln w="12700">
            <a:solidFill>
              <a:srgbClr val="FCEDEE"/>
            </a:solidFill>
            <a:prstDash val="solid"/>
          </a:ln>
        </p:spPr>
      </p:sp>
      <p:sp>
        <p:nvSpPr>
          <p:cNvPr id="36" name="Text 33"/>
          <p:cNvSpPr txBox="1"/>
          <p:nvPr/>
        </p:nvSpPr>
        <p:spPr>
          <a:xfrm>
            <a:off x="9242298" y="4789278"/>
            <a:ext cx="2105406" cy="230632"/>
          </a:xfrm>
          <a:prstGeom prst="rect">
            <a:avLst/>
          </a:prstGeom>
          <a:noFill/>
          <a:ln/>
        </p:spPr>
        <p:txBody>
          <a:bodyPr wrap="square" lIns="0" tIns="0" rIns="0" bIns="0" rtlCol="0" anchor="t"/>
          <a:lstStyle/>
          <a:p>
            <a:pPr algn="l" indent="0" marL="0">
              <a:lnSpc>
                <a:spcPts val="1600"/>
              </a:lnSpc>
              <a:buNone/>
            </a:pPr>
            <a:r>
              <a:rPr lang="en-US" sz="1300" b="1" dirty="0">
                <a:solidFill>
                  <a:srgbClr val="0E1420"/>
                </a:solidFill>
                <a:latin typeface="Pretendard" pitchFamily="34" charset="0"/>
                <a:ea typeface="Pretendard" pitchFamily="34" charset="-122"/>
                <a:cs typeface="Pretendard" pitchFamily="34" charset="-120"/>
              </a:rPr>
              <a:t>독창성</a:t>
            </a:r>
            <a:endParaRPr lang="en-US" sz="1300" dirty="0"/>
          </a:p>
        </p:txBody>
      </p:sp>
      <p:sp>
        <p:nvSpPr>
          <p:cNvPr id="37" name="Text 34"/>
          <p:cNvSpPr txBox="1"/>
          <p:nvPr/>
        </p:nvSpPr>
        <p:spPr>
          <a:xfrm>
            <a:off x="9242298" y="5129638"/>
            <a:ext cx="2105406" cy="217932"/>
          </a:xfrm>
          <a:prstGeom prst="rect">
            <a:avLst/>
          </a:prstGeom>
          <a:noFill/>
          <a:ln/>
        </p:spPr>
        <p:txBody>
          <a:bodyPr wrap="square" lIns="0" tIns="0" rIns="0" bIns="0" rtlCol="0" anchor="t"/>
          <a:lstStyle/>
          <a:p>
            <a:pPr algn="l" indent="0" marL="0">
              <a:lnSpc>
                <a:spcPts val="1500"/>
              </a:lnSpc>
              <a:buNone/>
            </a:pPr>
            <a:r>
              <a:rPr lang="en-US" sz="1000" dirty="0">
                <a:solidFill>
                  <a:srgbClr val="5E6979"/>
                </a:solidFill>
                <a:latin typeface="Pretendard" pitchFamily="34" charset="0"/>
                <a:ea typeface="Pretendard" pitchFamily="34" charset="-122"/>
                <a:cs typeface="Pretendard" pitchFamily="34" charset="-120"/>
              </a:rPr>
              <a:t>Originality</a:t>
            </a:r>
            <a:endParaRPr lang="en-US" sz="1000" dirty="0"/>
          </a:p>
        </p:txBody>
      </p:sp>
      <p:sp>
        <p:nvSpPr>
          <p:cNvPr id="38" name="Text 35"/>
          <p:cNvSpPr txBox="1"/>
          <p:nvPr/>
        </p:nvSpPr>
        <p:spPr>
          <a:xfrm>
            <a:off x="9242298" y="5439010"/>
            <a:ext cx="2105406" cy="408432"/>
          </a:xfrm>
          <a:prstGeom prst="rect">
            <a:avLst/>
          </a:prstGeom>
          <a:noFill/>
          <a:ln/>
        </p:spPr>
        <p:txBody>
          <a:bodyPr wrap="square" lIns="0" tIns="0" rIns="0" bIns="0" rtlCol="0" anchor="t"/>
          <a:lstStyle/>
          <a:p>
            <a:pPr algn="l" indent="0" marL="0">
              <a:lnSpc>
                <a:spcPts val="1500"/>
              </a:lnSpc>
              <a:buNone/>
            </a:pPr>
            <a:r>
              <a:rPr lang="en-US" sz="1000" dirty="0">
                <a:solidFill>
                  <a:srgbClr val="0E1420"/>
                </a:solidFill>
                <a:latin typeface="Pretendard" pitchFamily="34" charset="0"/>
                <a:ea typeface="Pretendard" pitchFamily="34" charset="-122"/>
                <a:cs typeface="Pretendard" pitchFamily="34" charset="-120"/>
              </a:rPr>
              <a:t>GA를 옮기지 않고, 오프라인 고유 지표로 다시 정의했습니다.</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B3</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리스크와 대응</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백업 슬라이드 — Q&amp;A 대응용</a:t>
            </a:r>
            <a:endParaRPr lang="en-US" sz="1250" dirty="0"/>
          </a:p>
        </p:txBody>
      </p:sp>
      <p:sp>
        <p:nvSpPr>
          <p:cNvPr id="7" name="Shape 4"/>
          <p:cNvSpPr/>
          <p:nvPr/>
        </p:nvSpPr>
        <p:spPr>
          <a:xfrm>
            <a:off x="566928" y="1481328"/>
            <a:ext cx="11055096" cy="585216"/>
          </a:xfrm>
          <a:prstGeom prst="roundRect">
            <a:avLst>
              <a:gd name="adj" fmla="val 9375"/>
            </a:avLst>
          </a:prstGeom>
          <a:solidFill>
            <a:srgbClr val="FFFFFF"/>
          </a:solidFill>
          <a:ln w="12700">
            <a:solidFill>
              <a:srgbClr val="E4E8EE"/>
            </a:solidFill>
            <a:prstDash val="solid"/>
          </a:ln>
        </p:spPr>
      </p:sp>
      <p:sp>
        <p:nvSpPr>
          <p:cNvPr id="8" name="Text 5"/>
          <p:cNvSpPr txBox="1"/>
          <p:nvPr/>
        </p:nvSpPr>
        <p:spPr>
          <a:xfrm>
            <a:off x="877824" y="1481328"/>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Pretendard" pitchFamily="34" charset="0"/>
                <a:ea typeface="Pretendard" pitchFamily="34" charset="-122"/>
                <a:cs typeface="Pretendard" pitchFamily="34" charset="-120"/>
              </a:rPr>
              <a:t>개인정보 규제</a:t>
            </a:r>
            <a:endParaRPr lang="en-US" sz="1300" dirty="0"/>
          </a:p>
        </p:txBody>
      </p:sp>
      <p:sp>
        <p:nvSpPr>
          <p:cNvPr id="9" name="Text 6"/>
          <p:cNvSpPr txBox="1"/>
          <p:nvPr/>
        </p:nvSpPr>
        <p:spPr>
          <a:xfrm>
            <a:off x="3895344" y="1481328"/>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엣지 추론 · 원본 미저장 · 동의 기반 2계층 설계. 착수 전 법무·DPO 검토 및 영향평가</a:t>
            </a:r>
            <a:endParaRPr lang="en-US" sz="1150" dirty="0"/>
          </a:p>
        </p:txBody>
      </p:sp>
      <p:sp>
        <p:nvSpPr>
          <p:cNvPr id="10" name="Shape 7"/>
          <p:cNvSpPr/>
          <p:nvPr/>
        </p:nvSpPr>
        <p:spPr>
          <a:xfrm>
            <a:off x="566928" y="2157984"/>
            <a:ext cx="11055096" cy="585216"/>
          </a:xfrm>
          <a:prstGeom prst="roundRect">
            <a:avLst>
              <a:gd name="adj" fmla="val 9375"/>
            </a:avLst>
          </a:prstGeom>
          <a:solidFill>
            <a:srgbClr val="F7F8FA"/>
          </a:solidFill>
          <a:ln w="12700">
            <a:solidFill>
              <a:srgbClr val="E4E8EE"/>
            </a:solidFill>
            <a:prstDash val="solid"/>
          </a:ln>
        </p:spPr>
      </p:sp>
      <p:sp>
        <p:nvSpPr>
          <p:cNvPr id="11" name="Text 8"/>
          <p:cNvSpPr txBox="1"/>
          <p:nvPr/>
        </p:nvSpPr>
        <p:spPr>
          <a:xfrm>
            <a:off x="877824" y="2157984"/>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Pretendard" pitchFamily="34" charset="0"/>
                <a:ea typeface="Pretendard" pitchFamily="34" charset="-122"/>
                <a:cs typeface="Pretendard" pitchFamily="34" charset="-120"/>
              </a:rPr>
              <a:t>CCTV 목적 외 이용</a:t>
            </a:r>
            <a:endParaRPr lang="en-US" sz="1300" dirty="0"/>
          </a:p>
        </p:txBody>
      </p:sp>
      <p:sp>
        <p:nvSpPr>
          <p:cNvPr id="12" name="Text 9"/>
          <p:cNvSpPr txBox="1"/>
          <p:nvPr/>
        </p:nvSpPr>
        <p:spPr>
          <a:xfrm>
            <a:off x="3895344" y="2157984"/>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설치 목적에 '고객 분석' 추가 · 안내판 및 운영관리방침 갱신 (착수 전 A7)</a:t>
            </a:r>
            <a:endParaRPr lang="en-US" sz="1150" dirty="0"/>
          </a:p>
        </p:txBody>
      </p:sp>
      <p:sp>
        <p:nvSpPr>
          <p:cNvPr id="13" name="Shape 10"/>
          <p:cNvSpPr/>
          <p:nvPr/>
        </p:nvSpPr>
        <p:spPr>
          <a:xfrm>
            <a:off x="566928" y="2834640"/>
            <a:ext cx="11055096" cy="585216"/>
          </a:xfrm>
          <a:prstGeom prst="roundRect">
            <a:avLst>
              <a:gd name="adj" fmla="val 9375"/>
            </a:avLst>
          </a:prstGeom>
          <a:solidFill>
            <a:srgbClr val="FFFFFF"/>
          </a:solidFill>
          <a:ln w="12700">
            <a:solidFill>
              <a:srgbClr val="E4E8EE"/>
            </a:solidFill>
            <a:prstDash val="solid"/>
          </a:ln>
        </p:spPr>
      </p:sp>
      <p:sp>
        <p:nvSpPr>
          <p:cNvPr id="14" name="Text 11"/>
          <p:cNvSpPr txBox="1"/>
          <p:nvPr/>
        </p:nvSpPr>
        <p:spPr>
          <a:xfrm>
            <a:off x="877824" y="2834640"/>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Pretendard" pitchFamily="34" charset="0"/>
                <a:ea typeface="Pretendard" pitchFamily="34" charset="-122"/>
                <a:cs typeface="Pretendard" pitchFamily="34" charset="-120"/>
              </a:rPr>
              <a:t>기존 CCTV 사양 부적합</a:t>
            </a:r>
            <a:endParaRPr lang="en-US" sz="1300" dirty="0"/>
          </a:p>
        </p:txBody>
      </p:sp>
      <p:sp>
        <p:nvSpPr>
          <p:cNvPr id="15" name="Text 12"/>
          <p:cNvSpPr txBox="1"/>
          <p:nvPr/>
        </p:nvSpPr>
        <p:spPr>
          <a:xfrm>
            <a:off x="3895344" y="2834640"/>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팝업존 한정 저가 보완 카메라(대당 약 25만원) 설치를 CAPEX에 반영</a:t>
            </a:r>
            <a:endParaRPr lang="en-US" sz="1150" dirty="0"/>
          </a:p>
        </p:txBody>
      </p:sp>
      <p:sp>
        <p:nvSpPr>
          <p:cNvPr id="16" name="Shape 13"/>
          <p:cNvSpPr/>
          <p:nvPr/>
        </p:nvSpPr>
        <p:spPr>
          <a:xfrm>
            <a:off x="566928" y="3511296"/>
            <a:ext cx="11055096" cy="585216"/>
          </a:xfrm>
          <a:prstGeom prst="roundRect">
            <a:avLst>
              <a:gd name="adj" fmla="val 9375"/>
            </a:avLst>
          </a:prstGeom>
          <a:solidFill>
            <a:srgbClr val="F7F8FA"/>
          </a:solidFill>
          <a:ln w="12700">
            <a:solidFill>
              <a:srgbClr val="E4E8EE"/>
            </a:solidFill>
            <a:prstDash val="solid"/>
          </a:ln>
        </p:spPr>
      </p:sp>
      <p:sp>
        <p:nvSpPr>
          <p:cNvPr id="17" name="Text 14"/>
          <p:cNvSpPr txBox="1"/>
          <p:nvPr/>
        </p:nvSpPr>
        <p:spPr>
          <a:xfrm>
            <a:off x="877824" y="3511296"/>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Pretendard" pitchFamily="34" charset="0"/>
                <a:ea typeface="Pretendard" pitchFamily="34" charset="-122"/>
                <a:cs typeface="Pretendard" pitchFamily="34" charset="-120"/>
              </a:rPr>
              <a:t>브랜드 지불 의사 부족</a:t>
            </a:r>
            <a:endParaRPr lang="en-US" sz="1300" dirty="0"/>
          </a:p>
        </p:txBody>
      </p:sp>
      <p:sp>
        <p:nvSpPr>
          <p:cNvPr id="18" name="Text 15"/>
          <p:cNvSpPr txBox="1"/>
          <p:nvPr/>
        </p:nvSpPr>
        <p:spPr>
          <a:xfrm>
            <a:off x="3895344" y="3511296"/>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1년차 파일럿 무상 제공 → 가치 검증 후 과금. 지불 의사를 가정하지 않음</a:t>
            </a:r>
            <a:endParaRPr lang="en-US" sz="1150" dirty="0"/>
          </a:p>
        </p:txBody>
      </p:sp>
      <p:sp>
        <p:nvSpPr>
          <p:cNvPr id="19" name="Shape 16"/>
          <p:cNvSpPr/>
          <p:nvPr/>
        </p:nvSpPr>
        <p:spPr>
          <a:xfrm>
            <a:off x="566928" y="4187952"/>
            <a:ext cx="11055096" cy="585216"/>
          </a:xfrm>
          <a:prstGeom prst="roundRect">
            <a:avLst>
              <a:gd name="adj" fmla="val 9375"/>
            </a:avLst>
          </a:prstGeom>
          <a:solidFill>
            <a:srgbClr val="FFFFFF"/>
          </a:solidFill>
          <a:ln w="12700">
            <a:solidFill>
              <a:srgbClr val="E4E8EE"/>
            </a:solidFill>
            <a:prstDash val="solid"/>
          </a:ln>
        </p:spPr>
      </p:sp>
      <p:sp>
        <p:nvSpPr>
          <p:cNvPr id="20" name="Text 17"/>
          <p:cNvSpPr txBox="1"/>
          <p:nvPr/>
        </p:nvSpPr>
        <p:spPr>
          <a:xfrm>
            <a:off x="877824" y="4187952"/>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Pretendard" pitchFamily="34" charset="0"/>
                <a:ea typeface="Pretendard" pitchFamily="34" charset="-122"/>
                <a:cs typeface="Pretendard" pitchFamily="34" charset="-120"/>
              </a:rPr>
              <a:t>인식 정확도 논란</a:t>
            </a:r>
            <a:endParaRPr lang="en-US" sz="1300" dirty="0"/>
          </a:p>
        </p:txBody>
      </p:sp>
      <p:sp>
        <p:nvSpPr>
          <p:cNvPr id="21" name="Text 18"/>
          <p:cNvSpPr txBox="1"/>
          <p:nvPr/>
        </p:nvSpPr>
        <p:spPr>
          <a:xfrm>
            <a:off x="3895344" y="4187952"/>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개인 정확도가 아닌 집계 정확도로 KPI 정의. 핵심 인사이트는 L.POINT·POS 실데이터 기반</a:t>
            </a:r>
            <a:endParaRPr lang="en-US" sz="1150" dirty="0"/>
          </a:p>
        </p:txBody>
      </p:sp>
      <p:sp>
        <p:nvSpPr>
          <p:cNvPr id="22" name="Shape 19"/>
          <p:cNvSpPr/>
          <p:nvPr/>
        </p:nvSpPr>
        <p:spPr>
          <a:xfrm>
            <a:off x="566928" y="4864608"/>
            <a:ext cx="11055096" cy="585216"/>
          </a:xfrm>
          <a:prstGeom prst="roundRect">
            <a:avLst>
              <a:gd name="adj" fmla="val 9375"/>
            </a:avLst>
          </a:prstGeom>
          <a:solidFill>
            <a:srgbClr val="F7F8FA"/>
          </a:solidFill>
          <a:ln w="12700">
            <a:solidFill>
              <a:srgbClr val="E4E8EE"/>
            </a:solidFill>
            <a:prstDash val="solid"/>
          </a:ln>
        </p:spPr>
      </p:sp>
      <p:sp>
        <p:nvSpPr>
          <p:cNvPr id="23" name="Text 20"/>
          <p:cNvSpPr txBox="1"/>
          <p:nvPr/>
        </p:nvSpPr>
        <p:spPr>
          <a:xfrm>
            <a:off x="877824" y="4864608"/>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Pretendard" pitchFamily="34" charset="0"/>
                <a:ea typeface="Pretendard" pitchFamily="34" charset="-122"/>
                <a:cs typeface="Pretendard" pitchFamily="34" charset="-120"/>
              </a:rPr>
              <a:t>계열사 데이터 거버넌스</a:t>
            </a:r>
            <a:endParaRPr lang="en-US" sz="1300" dirty="0"/>
          </a:p>
        </p:txBody>
      </p:sp>
      <p:sp>
        <p:nvSpPr>
          <p:cNvPr id="24" name="Text 21"/>
          <p:cNvSpPr txBox="1"/>
          <p:nvPr/>
        </p:nvSpPr>
        <p:spPr>
          <a:xfrm>
            <a:off x="3895344" y="4864608"/>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3사 데이터 제공 협약·수익 배분 사전 합의 (마일스톤 1번)</a:t>
            </a:r>
            <a:endParaRPr lang="en-US" sz="1150" dirty="0"/>
          </a:p>
        </p:txBody>
      </p:sp>
      <p:sp>
        <p:nvSpPr>
          <p:cNvPr id="25" name="Shape 22"/>
          <p:cNvSpPr/>
          <p:nvPr/>
        </p:nvSpPr>
        <p:spPr>
          <a:xfrm>
            <a:off x="566928" y="5541264"/>
            <a:ext cx="11055096" cy="585216"/>
          </a:xfrm>
          <a:prstGeom prst="roundRect">
            <a:avLst>
              <a:gd name="adj" fmla="val 9375"/>
            </a:avLst>
          </a:prstGeom>
          <a:solidFill>
            <a:srgbClr val="FFFFFF"/>
          </a:solidFill>
          <a:ln w="12700">
            <a:solidFill>
              <a:srgbClr val="E4E8EE"/>
            </a:solidFill>
            <a:prstDash val="solid"/>
          </a:ln>
        </p:spPr>
      </p:sp>
      <p:sp>
        <p:nvSpPr>
          <p:cNvPr id="26" name="Text 23"/>
          <p:cNvSpPr txBox="1"/>
          <p:nvPr/>
        </p:nvSpPr>
        <p:spPr>
          <a:xfrm>
            <a:off x="877824" y="5541264"/>
            <a:ext cx="2743200" cy="585216"/>
          </a:xfrm>
          <a:prstGeom prst="rect">
            <a:avLst/>
          </a:prstGeom>
          <a:noFill/>
          <a:ln/>
        </p:spPr>
        <p:txBody>
          <a:bodyPr wrap="square" lIns="0" tIns="0" rIns="0" bIns="0" rtlCol="0" anchor="ctr"/>
          <a:lstStyle/>
          <a:p>
            <a:pPr algn="l" indent="0" marL="0">
              <a:lnSpc>
                <a:spcPts val="2000"/>
              </a:lnSpc>
              <a:buNone/>
            </a:pPr>
            <a:r>
              <a:rPr lang="en-US" sz="1300" b="1" dirty="0">
                <a:solidFill>
                  <a:srgbClr val="E11D2E"/>
                </a:solidFill>
                <a:latin typeface="Pretendard" pitchFamily="34" charset="0"/>
                <a:ea typeface="Pretendard" pitchFamily="34" charset="-122"/>
                <a:cs typeface="Pretendard" pitchFamily="34" charset="-120"/>
              </a:rPr>
              <a:t>경쟁사 선점</a:t>
            </a:r>
            <a:endParaRPr lang="en-US" sz="1300" dirty="0"/>
          </a:p>
        </p:txBody>
      </p:sp>
      <p:sp>
        <p:nvSpPr>
          <p:cNvPr id="27" name="Text 24"/>
          <p:cNvSpPr txBox="1"/>
          <p:nvPr/>
        </p:nvSpPr>
        <p:spPr>
          <a:xfrm>
            <a:off x="3895344" y="5541264"/>
            <a:ext cx="7726680" cy="585216"/>
          </a:xfrm>
          <a:prstGeom prst="rect">
            <a:avLst/>
          </a:prstGeom>
          <a:noFill/>
          <a:ln/>
        </p:spPr>
        <p:txBody>
          <a:bodyPr wrap="square" lIns="0" tIns="0" rIns="0" bIns="0" rtlCol="0" anchor="ctr"/>
          <a:lstStyle/>
          <a:p>
            <a:pPr algn="l" indent="0" marL="0">
              <a:lnSpc>
                <a:spcPts val="1700"/>
              </a:lnSpc>
              <a:buNone/>
            </a:pPr>
            <a:r>
              <a:rPr lang="en-US" sz="1150" dirty="0">
                <a:solidFill>
                  <a:srgbClr val="0E1420"/>
                </a:solidFill>
                <a:latin typeface="Pretendard" pitchFamily="34" charset="0"/>
                <a:ea typeface="Pretendard" pitchFamily="34" charset="-122"/>
                <a:cs typeface="Pretendard" pitchFamily="34" charset="-120"/>
              </a:rPr>
              <a:t>벤치마크 DB는 시간으로만 축적. 인수(M&amp;A)도 옵션으로 병행 검토</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0"/>
          <p:cNvSpPr/>
          <p:nvPr/>
        </p:nvSpPr>
        <p:spPr>
          <a:xfrm>
            <a:off x="566928" y="402336"/>
            <a:ext cx="438912" cy="420624"/>
          </a:xfrm>
          <a:prstGeom prst="roundRect">
            <a:avLst>
              <a:gd name="adj" fmla="val 17391"/>
            </a:avLst>
          </a:prstGeom>
          <a:solidFill>
            <a:srgbClr val="E11D2E"/>
          </a:solidFill>
          <a:ln/>
        </p:spPr>
      </p:sp>
      <p:sp>
        <p:nvSpPr>
          <p:cNvPr id="4" name="Text 1"/>
          <p:cNvSpPr txBox="1"/>
          <p:nvPr/>
        </p:nvSpPr>
        <p:spPr>
          <a:xfrm>
            <a:off x="566928" y="402336"/>
            <a:ext cx="438912" cy="420624"/>
          </a:xfrm>
          <a:prstGeom prst="rect">
            <a:avLst/>
          </a:prstGeom>
          <a:noFill/>
          <a:ln/>
        </p:spPr>
        <p:txBody>
          <a:bodyPr wrap="square" lIns="0" tIns="0" rIns="0" bIns="0" rtlCol="0" anchor="ctr"/>
          <a:lstStyle/>
          <a:p>
            <a:pPr algn="ctr" indent="0" marL="0">
              <a:lnSpc>
                <a:spcPts val="2300"/>
              </a:lnSpc>
              <a:buNone/>
            </a:pPr>
            <a:r>
              <a:rPr lang="en-US" sz="1500" b="1" dirty="0">
                <a:solidFill>
                  <a:srgbClr val="FFFFFF"/>
                </a:solidFill>
                <a:latin typeface="Pretendard" pitchFamily="34" charset="0"/>
                <a:ea typeface="Pretendard" pitchFamily="34" charset="-122"/>
                <a:cs typeface="Pretendard" pitchFamily="34" charset="-120"/>
              </a:rPr>
              <a:t>B4</a:t>
            </a:r>
            <a:endParaRPr lang="en-US" sz="1500" dirty="0"/>
          </a:p>
        </p:txBody>
      </p:sp>
      <p:sp>
        <p:nvSpPr>
          <p:cNvPr id="5" name="Text 2"/>
          <p:cNvSpPr txBox="1"/>
          <p:nvPr/>
        </p:nvSpPr>
        <p:spPr>
          <a:xfrm>
            <a:off x="1170432" y="365760"/>
            <a:ext cx="8229600" cy="512064"/>
          </a:xfrm>
          <a:prstGeom prst="rect">
            <a:avLst/>
          </a:prstGeom>
          <a:noFill/>
          <a:ln/>
        </p:spPr>
        <p:txBody>
          <a:bodyPr wrap="square" lIns="0" tIns="0" rIns="0" bIns="0" rtlCol="0" anchor="ctr"/>
          <a:lstStyle/>
          <a:p>
            <a:pPr algn="l" indent="0" marL="0">
              <a:lnSpc>
                <a:spcPts val="3100"/>
              </a:lnSpc>
              <a:buNone/>
            </a:pPr>
            <a:r>
              <a:rPr lang="en-US" sz="2600" b="1" dirty="0">
                <a:solidFill>
                  <a:srgbClr val="0E1420"/>
                </a:solidFill>
                <a:latin typeface="Pretendard" pitchFamily="34" charset="0"/>
                <a:ea typeface="Pretendard" pitchFamily="34" charset="-122"/>
                <a:cs typeface="Pretendard" pitchFamily="34" charset="-120"/>
              </a:rPr>
              <a:t>원가 구조  |  매장 10배, 비용은 10배가 아닙니다</a:t>
            </a:r>
            <a:endParaRPr lang="en-US" sz="2600" dirty="0"/>
          </a:p>
        </p:txBody>
      </p:sp>
      <p:sp>
        <p:nvSpPr>
          <p:cNvPr id="6" name="Text 3"/>
          <p:cNvSpPr txBox="1"/>
          <p:nvPr/>
        </p:nvSpPr>
        <p:spPr>
          <a:xfrm>
            <a:off x="1170432" y="932688"/>
            <a:ext cx="10451592" cy="268732"/>
          </a:xfrm>
          <a:prstGeom prst="rect">
            <a:avLst/>
          </a:prstGeom>
          <a:noFill/>
          <a:ln/>
        </p:spPr>
        <p:txBody>
          <a:bodyPr wrap="square" lIns="0" tIns="0" rIns="0" bIns="0" rtlCol="0" anchor="t"/>
          <a:lstStyle/>
          <a:p>
            <a:pPr algn="l" indent="0" marL="0">
              <a:lnSpc>
                <a:spcPts val="1900"/>
              </a:lnSpc>
              <a:buNone/>
            </a:pPr>
            <a:r>
              <a:rPr lang="en-US" sz="1250" dirty="0">
                <a:solidFill>
                  <a:srgbClr val="5E6979"/>
                </a:solidFill>
                <a:latin typeface="Pretendard" pitchFamily="34" charset="0"/>
                <a:ea typeface="Pretendard" pitchFamily="34" charset="-122"/>
                <a:cs typeface="Pretendard" pitchFamily="34" charset="-120"/>
              </a:rPr>
              <a:t>백업 슬라이드 — 원가·확장성 질문이 나오면 이 장입니다</a:t>
            </a:r>
            <a:endParaRPr lang="en-US" sz="1250" dirty="0"/>
          </a:p>
        </p:txBody>
      </p:sp>
      <p:graphicFrame>
        <p:nvGraphicFramePr>
          <p:cNvPr id="7" name="Chart 0" descr=""/>
          <p:cNvGraphicFramePr/>
          <p:nvPr/>
        </p:nvGraphicFramePr>
        <p:xfrm>
          <a:off x="566928" y="1481328"/>
          <a:ext cx="5852160" cy="3602736"/>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6693408" y="1481328"/>
            <a:ext cx="4928616" cy="1719072"/>
          </a:xfrm>
          <a:prstGeom prst="roundRect">
            <a:avLst>
              <a:gd name="adj" fmla="val 3191"/>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9" name="Text 5"/>
          <p:cNvSpPr txBox="1"/>
          <p:nvPr/>
        </p:nvSpPr>
        <p:spPr>
          <a:xfrm>
            <a:off x="6967728" y="1700784"/>
            <a:ext cx="437997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고정비  (Y1 → Y3, 억원)</a:t>
            </a:r>
            <a:endParaRPr lang="en-US" sz="1100" dirty="0"/>
          </a:p>
        </p:txBody>
      </p:sp>
      <p:sp>
        <p:nvSpPr>
          <p:cNvPr id="10" name="Text 6"/>
          <p:cNvSpPr txBox="1"/>
          <p:nvPr/>
        </p:nvSpPr>
        <p:spPr>
          <a:xfrm>
            <a:off x="6967728" y="2017268"/>
            <a:ext cx="4379976"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인건비 15.0 → 42.0  (컨설턴트 14명 포함) ★ 최대 항목</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인프라·솔루션 1.5 → 4.0 / 마케팅·감가·법무 1.8 → 7.7</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판관비 합계 18.3 → 53.7</a:t>
            </a:r>
            <a:endParaRPr lang="en-US" sz="1150" dirty="0"/>
          </a:p>
        </p:txBody>
      </p:sp>
      <p:sp>
        <p:nvSpPr>
          <p:cNvPr id="11" name="Shape 7"/>
          <p:cNvSpPr/>
          <p:nvPr/>
        </p:nvSpPr>
        <p:spPr>
          <a:xfrm>
            <a:off x="6693408" y="3364992"/>
            <a:ext cx="4928616" cy="1719072"/>
          </a:xfrm>
          <a:prstGeom prst="roundRect">
            <a:avLst>
              <a:gd name="adj" fmla="val 3191"/>
            </a:avLst>
          </a:prstGeom>
          <a:solidFill>
            <a:srgbClr val="F7F8FA"/>
          </a:solidFill>
          <a:ln w="12700">
            <a:solidFill>
              <a:srgbClr val="E4E8EE"/>
            </a:solidFill>
            <a:prstDash val="solid"/>
          </a:ln>
          <a:effectLst>
            <a:outerShdw sx="100000" sy="100000" kx="0" ky="0" algn="bl" rotWithShape="0" blurRad="203200" dist="25400" dir="5400000">
              <a:srgbClr val="98A2B3">
                <a:alpha val="16000"/>
              </a:srgbClr>
            </a:outerShdw>
          </a:effectLst>
        </p:spPr>
      </p:sp>
      <p:sp>
        <p:nvSpPr>
          <p:cNvPr id="12" name="Text 8"/>
          <p:cNvSpPr txBox="1"/>
          <p:nvPr/>
        </p:nvSpPr>
        <p:spPr>
          <a:xfrm>
            <a:off x="6967728" y="3584448"/>
            <a:ext cx="4379976" cy="243332"/>
          </a:xfrm>
          <a:prstGeom prst="rect">
            <a:avLst/>
          </a:prstGeom>
          <a:noFill/>
          <a:ln/>
        </p:spPr>
        <p:txBody>
          <a:bodyPr wrap="square" lIns="0" tIns="0" rIns="0" bIns="0" rtlCol="0" anchor="t"/>
          <a:lstStyle/>
          <a:p>
            <a:pPr algn="l" indent="0" marL="0">
              <a:lnSpc>
                <a:spcPts val="1700"/>
              </a:lnSpc>
              <a:buNone/>
            </a:pPr>
            <a:r>
              <a:rPr lang="en-US" sz="1100" b="1" spc="100" kern="0" dirty="0">
                <a:solidFill>
                  <a:srgbClr val="E11D2E"/>
                </a:solidFill>
                <a:latin typeface="Pretendard" pitchFamily="34" charset="0"/>
                <a:ea typeface="Pretendard" pitchFamily="34" charset="-122"/>
                <a:cs typeface="Pretendard" pitchFamily="34" charset="-120"/>
              </a:rPr>
              <a:t>변동비  (단위 원가)</a:t>
            </a:r>
            <a:endParaRPr lang="en-US" sz="1100" dirty="0"/>
          </a:p>
        </p:txBody>
      </p:sp>
      <p:sp>
        <p:nvSpPr>
          <p:cNvPr id="13" name="Text 9"/>
          <p:cNvSpPr txBox="1"/>
          <p:nvPr/>
        </p:nvSpPr>
        <p:spPr>
          <a:xfrm>
            <a:off x="6967728" y="3900932"/>
            <a:ext cx="4379976" cy="85293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팝업 건당 75만 (설치 35 · 인사이트 분석 25 · 추론 3 …)</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구독 매장당 월 7만 / 컨설팅 건당 400만 / RMN 매체 40%</a:t>
            </a:r>
            <a:endParaRPr lang="en-US" sz="1150" dirty="0"/>
          </a:p>
          <a:p>
            <a:pPr marL="342900" indent="-342900">
              <a:lnSpc>
                <a:spcPts val="1700"/>
              </a:lnSpc>
              <a:spcAft>
                <a:spcPts val="700"/>
              </a:spcAft>
              <a:buSzPct val="100000"/>
              <a:buChar char="•"/>
            </a:pPr>
            <a:r>
              <a:rPr lang="en-US" sz="1150" dirty="0">
                <a:solidFill>
                  <a:srgbClr val="0E1420"/>
                </a:solidFill>
                <a:latin typeface="Pretendard" pitchFamily="34" charset="0"/>
                <a:ea typeface="Pretendard" pitchFamily="34" charset="-122"/>
                <a:cs typeface="Pretendard" pitchFamily="34" charset="-120"/>
              </a:rPr>
              <a:t>→ 매출총이익률 77%  (Y1~Y3 동일)</a:t>
            </a:r>
            <a:endParaRPr lang="en-US" sz="1150" dirty="0"/>
          </a:p>
        </p:txBody>
      </p:sp>
      <p:sp>
        <p:nvSpPr>
          <p:cNvPr id="14" name="Shape 10"/>
          <p:cNvSpPr/>
          <p:nvPr/>
        </p:nvSpPr>
        <p:spPr>
          <a:xfrm>
            <a:off x="566928" y="5358384"/>
            <a:ext cx="11055096" cy="749808"/>
          </a:xfrm>
          <a:prstGeom prst="roundRect">
            <a:avLst>
              <a:gd name="adj" fmla="val 7317"/>
            </a:avLst>
          </a:prstGeom>
          <a:solidFill>
            <a:srgbClr val="0E1420"/>
          </a:solidFill>
          <a:ln/>
        </p:spPr>
      </p:sp>
      <p:sp>
        <p:nvSpPr>
          <p:cNvPr id="15" name="Text 11"/>
          <p:cNvSpPr txBox="1"/>
          <p:nvPr/>
        </p:nvSpPr>
        <p:spPr>
          <a:xfrm>
            <a:off x="932688" y="5358384"/>
            <a:ext cx="10323576" cy="749808"/>
          </a:xfrm>
          <a:prstGeom prst="rect">
            <a:avLst/>
          </a:prstGeom>
          <a:noFill/>
          <a:ln/>
        </p:spPr>
        <p:txBody>
          <a:bodyPr wrap="square" lIns="0" tIns="0" rIns="0" bIns="0" rtlCol="0" anchor="ctr"/>
          <a:lstStyle/>
          <a:p>
            <a:pPr algn="ctr" indent="0" marL="0">
              <a:lnSpc>
                <a:spcPts val="2000"/>
              </a:lnSpc>
              <a:buNone/>
            </a:pPr>
            <a:r>
              <a:rPr lang="en-US" sz="1300" b="1" dirty="0">
                <a:solidFill>
                  <a:srgbClr val="FFFFFF"/>
                </a:solidFill>
                <a:latin typeface="Pretendard" pitchFamily="34" charset="0"/>
                <a:ea typeface="Pretendard" pitchFamily="34" charset="-122"/>
                <a:cs typeface="Pretendard" pitchFamily="34" charset="-120"/>
              </a:rPr>
              <a:t>경쟁사가 못 넘은 벽은 원가 구조였습니다.  가장 큰 비용이 인건비인 것은 의도된 설계입니다.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L.GA - Lotte Growth Analytics (IR Deck)</dc:title>
  <dc:subject>PptxGenJS Presentation</dc:subject>
  <dc:creator>LMBA Team</dc:creator>
  <cp:lastModifiedBy>LMBA Team</cp:lastModifiedBy>
  <cp:revision>1</cp:revision>
  <dcterms:created xsi:type="dcterms:W3CDTF">2026-09-16T10:45:15Z</dcterms:created>
  <dcterms:modified xsi:type="dcterms:W3CDTF">2026-09-16T10:45:15Z</dcterms:modified>
</cp:coreProperties>
</file>