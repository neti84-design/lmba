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E6979"/>
                </a:solidFill>
                <a:latin typeface="맑은 고딕"/>
              </a:defRPr>
            </a:pPr>
            <a:r>
              <a:rPr sz="1200" b="0" i="0" u="none" strike="noStrike">
                <a:solidFill>
                  <a:srgbClr val="5E6979"/>
                </a:solidFill>
                <a:latin typeface="맑은 고딕"/>
              </a:rPr>
              <a:t>개선안 적용 전후 (단위: %)</a:t>
            </a:r>
          </a:p>
        </c:rich>
      </c:tx>
      <c:layout/>
      <c:overlay val="0"/>
    </c:title>
    <c:autoTitleDeleted val="0"/>
    <c:plotArea>
      <c:layout/>
      <c:barChart>
        <c:barDir val="col"/>
        <c:grouping val="clustered"/>
        <c:varyColors val="0"/>
        <c:ser>
          <c:idx val="0"/>
          <c:order val="0"/>
          <c:tx>
            <c:strRef>
              <c:f>Sheet1!$B$1</c:f>
              <c:strCache>
                <c:ptCount val="1"/>
                <c:pt idx="0">
                  <c:v>개선 전</c:v>
                </c:pt>
              </c:strCache>
            </c:strRef>
          </c:tx>
          <c:spPr>
            <a:solidFill>
              <a:srgbClr val="5E6979"/>
            </a:solidFill>
            <a:effectLst/>
          </c:spPr>
          <c:invertIfNegative val="0"/>
          <c:dLbls>
            <c:numFmt formatCode="0.0&quot;%&quot;" sourceLinked="0"/>
            <c:txPr>
              <a:bodyPr/>
              <a:lstStyle/>
              <a:p>
                <a:pPr>
                  <a:defRPr b="0" i="0" strike="noStrike" sz="1100" u="none">
                    <a:solidFill>
                      <a:srgbClr val="0E1420"/>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유입률</c:v>
                  </c:pt>
                  <c:pt idx="1">
                    <c:v>집품률</c:v>
                  </c:pt>
                  <c:pt idx="2">
                    <c:v>구매 전환율</c:v>
                  </c:pt>
                </c:lvl>
              </c:multiLvlStrCache>
            </c:multiLvlStrRef>
          </c:cat>
          <c:val>
            <c:numRef>
              <c:f>Sheet1!$B$2:$B$4</c:f>
              <c:numCache>
                <c:formatCode>General</c:formatCode>
                <c:ptCount val="3"/>
                <c:pt idx="0">
                  <c:v>5.2</c:v>
                </c:pt>
                <c:pt idx="1">
                  <c:v>18.4</c:v>
                </c:pt>
                <c:pt idx="2">
                  <c:v>8.1</c:v>
                </c:pt>
              </c:numCache>
            </c:numRef>
          </c:val>
        </c:ser>
        <c:ser>
          <c:idx val="1"/>
          <c:order val="1"/>
          <c:tx>
            <c:strRef>
              <c:f>Sheet1!$C$1</c:f>
              <c:strCache>
                <c:ptCount val="1"/>
                <c:pt idx="0">
                  <c:v>개선 후</c:v>
                </c:pt>
              </c:strCache>
            </c:strRef>
          </c:tx>
          <c:spPr>
            <a:solidFill>
              <a:srgbClr val="E11D2E"/>
            </a:solidFill>
            <a:effectLst/>
          </c:spPr>
          <c:invertIfNegative val="0"/>
          <c:dLbls>
            <c:numFmt formatCode="0.0&quot;%&quot;" sourceLinked="0"/>
            <c:txPr>
              <a:bodyPr/>
              <a:lstStyle/>
              <a:p>
                <a:pPr>
                  <a:defRPr b="0" i="0" strike="noStrike" sz="1100" u="none">
                    <a:solidFill>
                      <a:srgbClr val="0E1420"/>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유입률</c:v>
                  </c:pt>
                  <c:pt idx="1">
                    <c:v>집품률</c:v>
                  </c:pt>
                  <c:pt idx="2">
                    <c:v>구매 전환율</c:v>
                  </c:pt>
                </c:lvl>
              </c:multiLvlStrCache>
            </c:multiLvlStrRef>
          </c:cat>
          <c:val>
            <c:numRef>
              <c:f>Sheet1!$C$2:$C$4</c:f>
              <c:numCache>
                <c:formatCode>General</c:formatCode>
                <c:ptCount val="3"/>
                <c:pt idx="0">
                  <c:v>6.8</c:v>
                </c:pt>
                <c:pt idx="1">
                  <c:v>22.1</c:v>
                </c:pt>
                <c:pt idx="2">
                  <c:v>11.4</c:v>
                </c:pt>
              </c:numCache>
            </c:numRef>
          </c:val>
        </c:ser>
        <c:dLbls>
          <c:numFmt formatCode="0.0&quot;%&quot;" sourceLinked="0"/>
          <c:txPr>
            <a:bodyPr/>
            <a:lstStyle/>
            <a:p>
              <a:pPr>
                <a:defRPr b="0" i="0" strike="noStrike" sz="1100" u="none">
                  <a:solidFill>
                    <a:srgbClr val="0E1420"/>
                  </a:solidFill>
                  <a:latin typeface="맑은 고딕"/>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1420"/>
                </a:solidFill>
                <a:latin typeface="맑은 고딕"/>
              </a:defRPr>
            </a:pPr>
            <a:endParaRPr lang="en-US"/>
          </a:p>
        </c:txPr>
        <c:crossAx val="2094734552"/>
        <c:crosses val="autoZero"/>
        <c:auto val="1"/>
        <c:lblAlgn val="ctr"/>
        <c:noMultiLvlLbl val="1"/>
      </c:catAx>
      <c:valAx>
        <c:axId val="2094734552"/>
        <c:scaling>
          <c:orientation val="minMax"/>
          <c:max val="26"/>
          <c:min val="0"/>
        </c:scaling>
        <c:delete val="0"/>
        <c:axPos val="l"/>
        <c:majorGridlines>
          <c:spPr>
            <a:ln w="12700"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79"/>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E6979"/>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E6979"/>
                </a:solidFill>
                <a:latin typeface="맑은 고딕"/>
              </a:defRPr>
            </a:pPr>
            <a:r>
              <a:rPr sz="1300" b="0" i="0" u="none" strike="noStrike">
                <a:solidFill>
                  <a:srgbClr val="5E6979"/>
                </a:solidFill>
                <a:latin typeface="맑은 고딕"/>
              </a:rPr>
              <a:t>3개년 손익 추정 (단위: 억원)</a:t>
            </a:r>
          </a:p>
        </c:rich>
      </c:tx>
      <c:layout/>
      <c:overlay val="0"/>
    </c:title>
    <c:autoTitleDeleted val="0"/>
    <c:plotArea>
      <c:layout/>
      <c:barChart>
        <c:barDir val="col"/>
        <c:grouping val="clustered"/>
        <c:varyColors val="0"/>
        <c:ser>
          <c:idx val="0"/>
          <c:order val="0"/>
          <c:tx>
            <c:strRef>
              <c:f>Sheet1!$B$1</c:f>
              <c:strCache>
                <c:ptCount val="1"/>
                <c:pt idx="0">
                  <c:v>매출</c:v>
                </c:pt>
              </c:strCache>
            </c:strRef>
          </c:tx>
          <c:spPr>
            <a:solidFill>
              <a:srgbClr val="1A2233"/>
            </a:solidFill>
            <a:effectLst/>
          </c:spPr>
          <c:invertIfNegative val="0"/>
          <c:dLbls>
            <c:numFmt formatCode="0.0" sourceLinked="0"/>
            <c:txPr>
              <a:bodyPr/>
              <a:lstStyle/>
              <a:p>
                <a:pPr>
                  <a:defRPr b="0" i="0" strike="noStrike" sz="1200" u="none">
                    <a:solidFill>
                      <a:srgbClr val="0E1420"/>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Y1 파일럿</c:v>
                  </c:pt>
                  <c:pt idx="1">
                    <c:v>Y2 전점 확산</c:v>
                  </c:pt>
                  <c:pt idx="2">
                    <c:v>Y3 계열·외부 확장</c:v>
                  </c:pt>
                </c:lvl>
              </c:multiLvlStrCache>
            </c:multiLvlStrRef>
          </c:cat>
          <c:val>
            <c:numRef>
              <c:f>Sheet1!$B$2:$B$4</c:f>
              <c:numCache>
                <c:formatCode>General</c:formatCode>
                <c:ptCount val="3"/>
                <c:pt idx="0">
                  <c:v>13.2</c:v>
                </c:pt>
                <c:pt idx="1">
                  <c:v>54.2</c:v>
                </c:pt>
                <c:pt idx="2">
                  <c:v>128.6</c:v>
                </c:pt>
              </c:numCache>
            </c:numRef>
          </c:val>
        </c:ser>
        <c:ser>
          <c:idx val="1"/>
          <c:order val="1"/>
          <c:tx>
            <c:strRef>
              <c:f>Sheet1!$C$1</c:f>
              <c:strCache>
                <c:ptCount val="1"/>
                <c:pt idx="0">
                  <c:v>영업이익</c:v>
                </c:pt>
              </c:strCache>
            </c:strRef>
          </c:tx>
          <c:spPr>
            <a:solidFill>
              <a:srgbClr val="E11D2E"/>
            </a:solidFill>
            <a:effectLst/>
          </c:spPr>
          <c:invertIfNegative val="0"/>
          <c:dLbls>
            <c:numFmt formatCode="0.0" sourceLinked="0"/>
            <c:txPr>
              <a:bodyPr/>
              <a:lstStyle/>
              <a:p>
                <a:pPr>
                  <a:defRPr b="0" i="0" strike="noStrike" sz="1200" u="none">
                    <a:solidFill>
                      <a:srgbClr val="0E1420"/>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Y1 파일럿</c:v>
                  </c:pt>
                  <c:pt idx="1">
                    <c:v>Y2 전점 확산</c:v>
                  </c:pt>
                  <c:pt idx="2">
                    <c:v>Y3 계열·외부 확장</c:v>
                  </c:pt>
                </c:lvl>
              </c:multiLvlStrCache>
            </c:multiLvlStrRef>
          </c:cat>
          <c:val>
            <c:numRef>
              <c:f>Sheet1!$C$2:$C$4</c:f>
              <c:numCache>
                <c:formatCode>General</c:formatCode>
                <c:ptCount val="3"/>
                <c:pt idx="0">
                  <c:v>-8.2</c:v>
                </c:pt>
                <c:pt idx="1">
                  <c:v>8.8</c:v>
                </c:pt>
                <c:pt idx="2">
                  <c:v>44.9</c:v>
                </c:pt>
              </c:numCache>
            </c:numRef>
          </c:val>
        </c:ser>
        <c:dLbls>
          <c:numFmt formatCode="0.0" sourceLinked="0"/>
          <c:txPr>
            <a:bodyPr/>
            <a:lstStyle/>
            <a:p>
              <a:pPr>
                <a:defRPr b="0" i="0" strike="noStrike" sz="1200" u="none">
                  <a:solidFill>
                    <a:srgbClr val="0E1420"/>
                  </a:solidFill>
                  <a:latin typeface="맑은 고딕"/>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142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979"/>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6979"/>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E6979"/>
                </a:solidFill>
                <a:latin typeface="맑은 고딕"/>
              </a:defRPr>
            </a:pPr>
            <a:r>
              <a:rPr sz="1200" b="0" i="0" u="none" strike="noStrike">
                <a:solidFill>
                  <a:srgbClr val="5E6979"/>
                </a:solidFill>
                <a:latin typeface="맑은 고딕"/>
              </a:rPr>
              <a:t>매장 확산에 따른 연간 인프라 비용 (억원, 추정)</a:t>
            </a:r>
          </a:p>
        </c:rich>
      </c:tx>
      <c:layout/>
      <c:overlay val="0"/>
    </c:title>
    <c:autoTitleDeleted val="0"/>
    <c:plotArea>
      <c:layout/>
      <c:lineChart>
        <c:varyColors val="0"/>
        <c:ser>
          <c:idx val="0"/>
          <c:order val="0"/>
          <c:tx>
            <c:strRef>
              <c:f>Sheet1!$B$1</c:f>
              <c:strCache>
                <c:ptCount val="1"/>
                <c:pt idx="0">
                  <c:v>클라우드 방식 (경쟁사)</c:v>
                </c:pt>
              </c:strCache>
            </c:strRef>
          </c:tx>
          <c:spPr>
            <a:solidFill>
              <a:srgbClr val="5E6979"/>
            </a:solidFill>
            <a:ln w="38100" cap="flat">
              <a:solidFill>
                <a:srgbClr val="5E697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5E6979"/>
              </a:solidFill>
              <a:ln w="9525" cap="flat">
                <a:solidFill>
                  <a:srgbClr val="5E6979"/>
                </a:solidFill>
                <a:prstDash val="solid"/>
                <a:round/>
              </a:ln>
              <a:effectLst/>
            </c:spPr>
          </c:marker>
          <c:cat>
            <c:multiLvlStrRef>
              <c:f>Sheet1!$A$2:$A$5</c:f>
              <c:multiLvlStrCache>
                <c:ptCount val="4"/>
                <c:lvl>
                  <c:pt idx="0">
                    <c:v>10개점</c:v>
                  </c:pt>
                  <c:pt idx="1">
                    <c:v>50개점</c:v>
                  </c:pt>
                  <c:pt idx="2">
                    <c:v>100개점</c:v>
                  </c:pt>
                  <c:pt idx="3">
                    <c:v>300개점</c:v>
                  </c:pt>
                </c:lvl>
              </c:multiLvlStrCache>
            </c:multiLvlStrRef>
          </c:cat>
          <c:val>
            <c:numRef>
              <c:f>Sheet1!$B$2:$B$5</c:f>
              <c:numCache>
                <c:formatCode>General</c:formatCode>
                <c:ptCount val="4"/>
                <c:pt idx="0">
                  <c:v>0.8</c:v>
                </c:pt>
                <c:pt idx="1">
                  <c:v>4</c:v>
                </c:pt>
                <c:pt idx="2">
                  <c:v>8</c:v>
                </c:pt>
                <c:pt idx="3">
                  <c:v>24</c:v>
                </c:pt>
              </c:numCache>
            </c:numRef>
          </c:val>
          <c:smooth val="0"/>
        </c:ser>
        <c:ser>
          <c:idx val="1"/>
          <c:order val="1"/>
          <c:tx>
            <c:strRef>
              <c:f>Sheet1!$C$1</c:f>
              <c:strCache>
                <c:ptCount val="1"/>
                <c:pt idx="0">
                  <c:v>엣지 방식 (L.GA)</c:v>
                </c:pt>
              </c:strCache>
            </c:strRef>
          </c:tx>
          <c:spPr>
            <a:solidFill>
              <a:srgbClr val="E11D2E"/>
            </a:solidFill>
            <a:ln w="38100" cap="flat">
              <a:solidFill>
                <a:srgbClr val="E11D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11D2E"/>
              </a:solidFill>
              <a:ln w="9525" cap="flat">
                <a:solidFill>
                  <a:srgbClr val="E11D2E"/>
                </a:solidFill>
                <a:prstDash val="solid"/>
                <a:round/>
              </a:ln>
              <a:effectLst/>
            </c:spPr>
          </c:marker>
          <c:cat>
            <c:multiLvlStrRef>
              <c:f>Sheet1!$A$2:$A$5</c:f>
              <c:multiLvlStrCache>
                <c:ptCount val="4"/>
                <c:lvl>
                  <c:pt idx="0">
                    <c:v>10개점</c:v>
                  </c:pt>
                  <c:pt idx="1">
                    <c:v>50개점</c:v>
                  </c:pt>
                  <c:pt idx="2">
                    <c:v>100개점</c:v>
                  </c:pt>
                  <c:pt idx="3">
                    <c:v>300개점</c:v>
                  </c:pt>
                </c:lvl>
              </c:multiLvlStrCache>
            </c:multiLvlStrRef>
          </c:cat>
          <c:val>
            <c:numRef>
              <c:f>Sheet1!$C$2:$C$5</c:f>
              <c:numCache>
                <c:formatCode>General</c:formatCode>
                <c:ptCount val="4"/>
                <c:pt idx="0">
                  <c:v>0.3</c:v>
                </c:pt>
                <c:pt idx="1">
                  <c:v>0.7</c:v>
                </c:pt>
                <c:pt idx="2">
                  <c:v>1.2</c:v>
                </c:pt>
                <c:pt idx="3">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E142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79"/>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E6979"/>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백화점 매장에 100명이 들어옵니다. 그중 구매하는 사람은 평균 3명 남짓입니다. 브랜드가 데이터로 알고 있는 고객은 이 3명뿐입니다. 나머지 97명 - 무엇을 보고, 어디서 멈추고, 왜 돌아섰는지. 그 데이터는 매일 CCTV에 찍히고, 매일 그냥 삭제됩니다. 오늘 저희는 브랜드에게 그 97명이 누구였는지 알려주는 사업을, 비즈니스 모델 캔버스 9개 블록 순서로 말씀드리겠습니다.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구조를 한 장으로 먼저 보여드립니다. 오른쪽 다섯 블록이 가치 전달 - 누구에게 무엇을. 왼쪽 네 블록이 효율적 운영 - 어떻게 만들 것인가. 가운데 가치 제안이 심장입니다. 브랜드가 모르는 자기 고객을 알려주고, 처방이 통했는지 POS로 증명한다. 이제 01번부터 순서대로 가겠습니다. (25초)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본론에 들어가기 전에 한 장만 더 보겠습니다. 이 사업이 왜 롯데의 사업이어야 하는가입니다.
그룹 비전은 Lifetime Value Creator입니다. 그런데 지금까지 고객의 평생 가치는 결제한 순간에만 기록됐습니다. 저희는 사지 않은 순간까지 가치로 바꿉니다. 비전을 데이터로 실행하는 사업입니다.
회장님이 강조해 오신 AI 트랜스포메이션 관점에서도, 이건 새 인프라를 사는 사업이 아니라 이미 깔린 CCTV 위에 AI를 얹는 사업입니다. 그리고 4대 신성장 테마 중 뉴라이프플랫폼, 상품을 파는 유통에서 데이터를 파는 플랫폼으로 가는 방향과 정확히 같습니다.
핵심가치 네 가지는 그대로 이 사업의 설계 원칙이 됐습니다. 고객 기대 그 이상 - 리포트에서 멈추지 않고 증명까지. 도전 - 아무도 못 한 사지 않은 고객의 데이터화. 존중 - 사람을 추적하지 않고 공간을 측정한다. 독창성 - GA를 베끼지 않고 오프라인 지표로 다시 정의했다.
롯데가 할 수 있는 신사업이 아니라, 롯데만 할 수 있고 롯데의 약속에 맞는 신사업입니다.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고객 세그먼트. 1차 타겟은 롯데백화점과 몰에 팝업을 여는 브랜드입니다. 연 2천 건 규모로 추정하고, 정규 입점을 노리는 신생 브랜드가 성과 측정에 가장 절박합니다. 2차는 상설 입점 매장 - 여기서 구독 매출이 나옵니다. 첫 고객은 사실 롯데 자신입니다. 백화점이 먼저 써서 데이터와 레퍼런스를 만듭니다. 팝업이 끝나면 매출 총액과 해시태그 개수가 전부고, 온 사람이 신규인지 기존인지 모르고, 그래서 다음 팝업도 감으로 엽니다. 고객의 기대 그 이상 - 브랜드가 기대하는 건 리포트지만, 저희는 그래서 무엇을 바꿔야 하는가까지 드립니다. (35초)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가치 제안. 이게 이 사업의 심장입니다. 브랜드는 자기가 판 것만 압니다. 자사 POS가 데이터의 끝이니까요. 저희는 팝업이 끝나면 이 다섯 가지를 드립니다.
첫째, 이번에 온 사람 중 신규가 몇 퍼센트인가. 둘째, 들어왔는데 안 산 사람은 누구였나. 셋째, 우리 방문객이 평소 어디서 무엇을 사는가. 넷째, 집었는데 안 산 상품 - 온라인 장바구니 이탈과 똑같고 그대로 상품기획 피드백이 됩니다. 다섯째, 다음 팝업은 어디에, 언제, 어느 층에.
(한 박자) 이 다섯 가지는 브랜드가 아무리 돈을 써도 스스로 알 수 없습니다. L.POINT 소비 이력과 롯데 전점 트래픽이 동시에 있어야만 나오는 답이기 때문입니다. (70초 — 손가락으로 꼽으며)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가치 제안의 두 번째 축입니다. 인사이트만으로는 부족합니다. 브랜드가 진짜 원하는 건 매출이니까요. 그래서 이렇게 바꾸세요까지 가고, 바꾼 다음 실제로 매출이 올랐는지를 POS로 증명합니다. 집품에서 구매로 가는 전환율이 8.1%에서 11.4%로 올랐습니다 - 이렇게요. 경쟁사는 결제 데이터가 없어서 이걸 못 합니다. 효과를 증명 못 하는 컨설팅은 한 번 팔리고 끝나고, 증명하는 컨설팅은 갱신됩니다. 고객 기대 그 이상이라는 핵심가치를, 증명이라는 방식으로 지키는 구조입니다. 지표 체계는 온라인 GA와 1:1입니다. 노출은 통행 수, 클릭률은 유입률, 장바구니는 집품률.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여기까지가 계약한 브랜드에게 드리는 것이고, 계약 전에 드리는 것도 있습니다. 유입률이 좋은 자리 세 곳은 먼저 무상으로 보여드립니다. 본점 2층 에스컬레이터 정면 9.4%, 카테고리 평균의 1.8배 - 여기까지요. 대신 그 자리에서 실제로 얼마나 샀는지, 온 사람이 누구였는지는 열지 않습니다. 유입률은 공간의 지표라 롯데가 열 수 있고, 전환율은 그 브랜드의 성과라 계약 안에서만 열립니다. 구글이 애널리틱스를 무료로 푸는 것과 같은 구조입니다. (25초)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채널. 이 사업은 외부 영업을 하지 않습니다. 백화점 MD와 영업관리팀이 팝업 계약을 맺는 그 자리에서 번들로 제안합니다. 계약 시점이 곧 판매 시점이라 영업비용이 거의 없습니다. 제품은 포털 대시보드와, 컨설턴트가 직접 설명하는 리포트 미팅으로 전달됩니다. 확산은 안에서 밖으로 - 계열사, 해외 롯데몰, 그다음 외부 유통사입니다. 도달 채널인 L.POINT 앱 푸시는 인사이트를 실행으로 잇습니다. (25초)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고객 관계. 확보는 지불 의사를 가정하지 않습니다. 롯데가 먼저 쓰고, 파일럿 3건을 무상으로 하고, 검증된 뒤에 과금합니다. 유지가 핵심입니다. 바꿨더니 전환율이 8.1에서 11.4로 올랐다 - 이 POS 검증 리포트가 다음 계약의 근거가 됩니다. 성장은 깔때기입니다. 팝업에서 검증된 브랜드가 정규 매장을 열면 구독으로, 심층 니즈가 생기면 컨설팅과 성과연동으로, 그리고 리타게팅으로 올라갑니다. 사랑과 신뢰를 받는 서비스라는 그룹 미션 그대로, 증명하기 전에는 청구하지 않습니다.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수익원. 다섯 단계로 쌓입니다. 1단 팝업 패키지, 평균 320만원. 돈을 버는 상품이 아니라 브랜드를 데려오는 깔때기입니다. 2단 상설 구독 월 45만원 - 여기서 반복 매출이 생깁니다. 3단 성장 컨설팅 1,500만원에, 검증이 되니까 늘어난 매출의 5에서 10퍼센트를 성과 수수료로 받습니다. 4단 L.POINT 리타게팅 - 안 산 고객에게 앱으로 쿠폰을 보내 다시 부릅니다. 5단 벤치마크 리포트 판매. 3년차 매출의 51%가 반복 매출입니다. (35초)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보면 이렇습니다. 먼저, 이 수치는 내부 검증 전 추정치입니다. 1년차 10개 점포 파일럿, 매출 13억, 영업손실 8억. 2년차 전점 확산, 매출 54억, 영업이익 9억 - 여기서 흑자 전환하고 누적 손익분기도 24개월에 넘습니다. 3년차 매출 129억, 영업이익 45억, 영업이익률 35%. 민감도도 돌렸습니다. 침투율이 떨어지고 구독이 반으로 줄고 광고를 못 해도 3년차는 흑자입니다. 수익원이 다섯 개로 분산돼 있기 때문입니다. 설비투자는 3년 11억, 파일럿은 1억 5천이면 시작합니다.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효율적 운영 영역입니다. 여섯 번째, 핵심 자원. 먼저 강조하고 싶은 건, 새로 사는 자산이 거의 없다는 점입니다. 이미 가진 그룹 자산 위에 AI를 얹는 AI 트랜스포메이션 과제입니다. 물리적 자원은 이미 있습니다. CCTV, 전원, 네트워크, 보안망. 팝업존에 보완 카메라와 점포당 엣지박스 하나만 더하면 됩니다. 지적 자원, 이게 해자입니다. L.POINT 소비 이력, POS, 전점 트래픽, 그리고 시간으로만 쌓이는 벤치마크 DB. 카메라는 누구나 깔 수 있지만 이 세 데이터를 한 번에 가진 곳은 롯데뿐입니다. 인적 자원은 42명 중 컨설턴트가 14명 - 처방과 검증이 상품이기 때문입니다. 금융은 3년 11억, 파일럿 1.5억으로 가볍습니다. (35초)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 핵심 활동. 세 가지로 나뉩니다. 생산은 시스템이 합니다. 영상을 클라우드로 올리지 않고 카메라 단에서 숫자로 바꾸고, 리포트의 90%는 자동 생성됩니다. 문제해결은 사람이 합니다. 이게 상품의 본체입니다 - 인사이트 분석, 처방, 그리고 POS 검증. 플랫폼은 시간이 합니다. 벤치마크 DB는 쌓일수록 강해집니다. 그리고 운영 원칙 하나. 저희는 사람을 추적하지 않습니다. 영상은 카메라 안에서 익명 숫자로 바뀌고, 개인 연결은 고객이 앱에서 동의한 경우에만, 그 사이는 세그먼트 집계 단위로만 연결합니다. 이건 규제 대응이 아니라 핵심가치 존중을 설계에 넣은 것입니다.
두 층의 커버리지가 다르다는 점을 봐주십시오. 1층은 비회원을 포함한 방문자 100%입니다. 얼굴 특징값을 저장하지 않고 연령대와 성별 속성값만 뽑기 때문에 익명이고, 그래서 전수로 쓸 수 있습니다. 2층은 동의한 회원만이고, 소비 이력은 여기서만 붙습니다. 리포트는 두 층을 구분해 표기하고, 5명 미만 셀은 표시하지 않습니다.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 핵심 파트너. 이 사업은 롯데 안의 세 회사가 각자 조각을 가지고 있습니다. 백화점은 공간과 트래픽과 POS, 이노베이트는 비전 AI 엔진, 멤버스는 L.POINT 소비 이력. 세 조각이 다 모여야 성립하고, 그래서 지금까지 아무도 못 했습니다. 외부로는 비전 AI 엔진을 라이선스하거나 인수하는 옵션을 열어두고 있습니다 - 엔진은 사고, 데이터 결합과 검증 루프는 직접 만든다는 원칙입니다. 그리고 착수 전 법무와 개인정보 영향평가가 마일스톤 1번입니다. (25초)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아홉 번째, 비용 구조. 가장 큰 항목은 인건비입니다. 그리고 이건 의도된 구조입니다 - 처방과 검증이 상품이니 컨설턴트에 씁니다. 반대로 경쟁사의 가장 큰 비용은 클라우드입니다. 영상을 전부 올리니 매장이 늘수록 비용이 그대로 따라 올라갑니다. 저희는 카메라 단에서 분석을 끝내고 숫자만 보냅니다. 클라우드 비용이 10분의 1이 되고, 매장이 10배 늘어도 비용은 10배 늘지 않습니다. 변동비는 팝업 건당 75만원 수준이라 매출총이익률 77%가 나옵니다.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실행은 안에서 시작합니다. 롯데가 먼저 쓰고, 유료 판매, 전점 확산, 그리고 계열사와 해외로. 매일 삭제되던 97명의 데이터를 브랜드에게는 성장의 답으로, 고객에게는 더 나은 매장 경험으로, 롯데에게는 새로운 수익으로 바꾸는 일입니다. 결제한 순간에만 쌓이던 고객 가치를 사지 않은 순간까지 넓히는 것 - 저희가 이해한 Lifetime Value Creator입니다. 온라인에 GA가 있다면, 오프라인에는 L.GA가 있습니다. 감사합니다.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 슬라이드입니다. Q&amp;A에서 개인정보, CCTV 사양, 지불 의사, 인식 정확도, 데이터 거버넌스 질문이 나오면 꺼내십시오.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3" name="Text 0"/>
          <p:cNvSpPr txBox="1"/>
          <p:nvPr/>
        </p:nvSpPr>
        <p:spPr>
          <a:xfrm>
            <a:off x="822960" y="1170432"/>
            <a:ext cx="6035040" cy="243332"/>
          </a:xfrm>
          <a:prstGeom prst="rect">
            <a:avLst/>
          </a:prstGeom>
          <a:noFill/>
          <a:ln/>
        </p:spPr>
        <p:txBody>
          <a:bodyPr wrap="square" lIns="0" tIns="0" rIns="0" bIns="0" rtlCol="0" anchor="t"/>
          <a:lstStyle/>
          <a:p>
            <a:pPr algn="l" indent="0" marL="0">
              <a:lnSpc>
                <a:spcPts val="1700"/>
              </a:lnSpc>
              <a:buNone/>
            </a:pPr>
            <a:r>
              <a:rPr lang="en-US" sz="1100" b="1" spc="200" kern="0" dirty="0">
                <a:solidFill>
                  <a:srgbClr val="F5A623"/>
                </a:solidFill>
                <a:latin typeface="맑은 고딕" pitchFamily="34" charset="0"/>
                <a:ea typeface="맑은 고딕" pitchFamily="34" charset="-122"/>
                <a:cs typeface="맑은 고딕" pitchFamily="34" charset="-120"/>
              </a:rPr>
              <a:t>롯데그룹 신사업 제안  ·  비즈니스 모델 캔버스</a:t>
            </a:r>
            <a:endParaRPr lang="en-US" sz="1100" dirty="0"/>
          </a:p>
        </p:txBody>
      </p:sp>
      <p:sp>
        <p:nvSpPr>
          <p:cNvPr id="4" name="Text 1"/>
          <p:cNvSpPr txBox="1"/>
          <p:nvPr/>
        </p:nvSpPr>
        <p:spPr>
          <a:xfrm>
            <a:off x="786384" y="1517904"/>
            <a:ext cx="5852160" cy="1051560"/>
          </a:xfrm>
          <a:prstGeom prst="rect">
            <a:avLst/>
          </a:prstGeom>
          <a:noFill/>
          <a:ln/>
        </p:spPr>
        <p:txBody>
          <a:bodyPr wrap="square" lIns="0" tIns="0" rIns="0" bIns="0" rtlCol="0" anchor="t"/>
          <a:lstStyle/>
          <a:p>
            <a:pPr algn="l" indent="0" marL="0">
              <a:lnSpc>
                <a:spcPts val="7400"/>
              </a:lnSpc>
              <a:buNone/>
            </a:pPr>
            <a:r>
              <a:rPr lang="en-US" sz="6200" b="1" dirty="0">
                <a:solidFill>
                  <a:srgbClr val="FFFFFF"/>
                </a:solidFill>
                <a:latin typeface="맑은 고딕" pitchFamily="34" charset="0"/>
                <a:ea typeface="맑은 고딕" pitchFamily="34" charset="-122"/>
                <a:cs typeface="맑은 고딕" pitchFamily="34" charset="-120"/>
              </a:rPr>
              <a:t>L.GA</a:t>
            </a:r>
            <a:endParaRPr lang="en-US" sz="6200" dirty="0"/>
          </a:p>
        </p:txBody>
      </p:sp>
      <p:sp>
        <p:nvSpPr>
          <p:cNvPr id="5" name="Text 2"/>
          <p:cNvSpPr txBox="1"/>
          <p:nvPr/>
        </p:nvSpPr>
        <p:spPr>
          <a:xfrm>
            <a:off x="822960" y="2670048"/>
            <a:ext cx="5852160" cy="319532"/>
          </a:xfrm>
          <a:prstGeom prst="rect">
            <a:avLst/>
          </a:prstGeom>
          <a:noFill/>
          <a:ln/>
        </p:spPr>
        <p:txBody>
          <a:bodyPr wrap="square" lIns="0" tIns="0" rIns="0" bIns="0" rtlCol="0" anchor="t"/>
          <a:lstStyle/>
          <a:p>
            <a:pPr algn="l" indent="0" marL="0">
              <a:lnSpc>
                <a:spcPts val="2300"/>
              </a:lnSpc>
              <a:buNone/>
            </a:pPr>
            <a:r>
              <a:rPr lang="en-US" sz="1500" dirty="0">
                <a:solidFill>
                  <a:srgbClr val="8C97A8"/>
                </a:solidFill>
                <a:latin typeface="맑은 고딕" pitchFamily="34" charset="0"/>
                <a:ea typeface="맑은 고딕" pitchFamily="34" charset="-122"/>
                <a:cs typeface="맑은 고딕" pitchFamily="34" charset="-120"/>
              </a:rPr>
              <a:t>Lotte Growth Analytics</a:t>
            </a:r>
            <a:endParaRPr lang="en-US" sz="1500" dirty="0"/>
          </a:p>
        </p:txBody>
      </p:sp>
      <p:sp>
        <p:nvSpPr>
          <p:cNvPr id="6" name="Text 3"/>
          <p:cNvSpPr txBox="1"/>
          <p:nvPr/>
        </p:nvSpPr>
        <p:spPr>
          <a:xfrm>
            <a:off x="822960" y="3291840"/>
            <a:ext cx="5669280" cy="891032"/>
          </a:xfrm>
          <a:prstGeom prst="rect">
            <a:avLst/>
          </a:prstGeom>
          <a:noFill/>
          <a:ln/>
        </p:spPr>
        <p:txBody>
          <a:bodyPr wrap="square" lIns="0" tIns="0" rIns="0" bIns="0" rtlCol="0" anchor="t"/>
          <a:lstStyle/>
          <a:p>
            <a:pPr algn="l" indent="0" marL="0">
              <a:lnSpc>
                <a:spcPts val="3400"/>
              </a:lnSpc>
              <a:buNone/>
            </a:pPr>
            <a:r>
              <a:rPr lang="en-US" sz="2000" b="1" dirty="0">
                <a:solidFill>
                  <a:srgbClr val="FFFFFF"/>
                </a:solidFill>
                <a:latin typeface="맑은 고딕" pitchFamily="34" charset="0"/>
                <a:ea typeface="맑은 고딕" pitchFamily="34" charset="-122"/>
                <a:cs typeface="맑은 고딕" pitchFamily="34" charset="-120"/>
              </a:rPr>
              <a:t>브랜드가 모르는 자기 고객을 알려주는</a:t>
            </a:r>
            <a:endParaRPr lang="en-US" sz="2000" dirty="0"/>
          </a:p>
          <a:p>
            <a:pPr algn="l" indent="0" marL="0">
              <a:lnSpc>
                <a:spcPts val="3400"/>
              </a:lnSpc>
              <a:buNone/>
            </a:pPr>
            <a:r>
              <a:rPr lang="en-US" sz="2000" b="1" dirty="0">
                <a:solidFill>
                  <a:srgbClr val="FFFFFF"/>
                </a:solidFill>
                <a:latin typeface="맑은 고딕" pitchFamily="34" charset="0"/>
                <a:ea typeface="맑은 고딕" pitchFamily="34" charset="-122"/>
                <a:cs typeface="맑은 고딕" pitchFamily="34" charset="-120"/>
              </a:rPr>
              <a:t>오프라인 리테일 데이터 솔루션</a:t>
            </a:r>
            <a:endParaRPr lang="en-US" sz="2000" dirty="0"/>
          </a:p>
        </p:txBody>
      </p:sp>
      <p:sp>
        <p:nvSpPr>
          <p:cNvPr id="7" name="Shape 4"/>
          <p:cNvSpPr/>
          <p:nvPr/>
        </p:nvSpPr>
        <p:spPr>
          <a:xfrm>
            <a:off x="822960" y="4773168"/>
            <a:ext cx="5669280" cy="841248"/>
          </a:xfrm>
          <a:prstGeom prst="roundRect">
            <a:avLst>
              <a:gd name="adj" fmla="val 6522"/>
            </a:avLst>
          </a:prstGeom>
          <a:solidFill>
            <a:srgbClr val="1A2233"/>
          </a:solidFill>
          <a:ln w="12700">
            <a:solidFill>
              <a:srgbClr val="1A2233"/>
            </a:solidFill>
            <a:prstDash val="solid"/>
          </a:ln>
        </p:spPr>
      </p:sp>
      <p:sp>
        <p:nvSpPr>
          <p:cNvPr id="8" name="Text 5"/>
          <p:cNvSpPr txBox="1"/>
          <p:nvPr/>
        </p:nvSpPr>
        <p:spPr>
          <a:xfrm>
            <a:off x="1133856" y="4919472"/>
            <a:ext cx="5029200" cy="268732"/>
          </a:xfrm>
          <a:prstGeom prst="rect">
            <a:avLst/>
          </a:prstGeom>
          <a:noFill/>
          <a:ln/>
        </p:spPr>
        <p:txBody>
          <a:bodyPr wrap="square" lIns="0" tIns="0" rIns="0" bIns="0" rtlCol="0" anchor="t"/>
          <a:lstStyle/>
          <a:p>
            <a:pPr algn="l" indent="0" marL="0">
              <a:lnSpc>
                <a:spcPts val="1900"/>
              </a:lnSpc>
              <a:buNone/>
            </a:pPr>
            <a:r>
              <a:rPr lang="en-US" sz="1250" b="1" dirty="0">
                <a:solidFill>
                  <a:srgbClr val="F5A623"/>
                </a:solidFill>
                <a:latin typeface="맑은 고딕" pitchFamily="34" charset="0"/>
                <a:ea typeface="맑은 고딕" pitchFamily="34" charset="-122"/>
                <a:cs typeface="맑은 고딕" pitchFamily="34" charset="-120"/>
              </a:rPr>
              <a:t>Lifetime Value Creator</a:t>
            </a:r>
            <a:endParaRPr lang="en-US" sz="1250" dirty="0"/>
          </a:p>
        </p:txBody>
      </p:sp>
      <p:sp>
        <p:nvSpPr>
          <p:cNvPr id="9" name="Text 6"/>
          <p:cNvSpPr txBox="1"/>
          <p:nvPr/>
        </p:nvSpPr>
        <p:spPr>
          <a:xfrm>
            <a:off x="1133856" y="5193792"/>
            <a:ext cx="5120640" cy="243332"/>
          </a:xfrm>
          <a:prstGeom prst="rect">
            <a:avLst/>
          </a:prstGeom>
          <a:noFill/>
          <a:ln/>
        </p:spPr>
        <p:txBody>
          <a:bodyPr wrap="square" lIns="0" tIns="0" rIns="0" bIns="0" rtlCol="0" anchor="t"/>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결제한 순간에만 쌓이던 고객 가치를, 사지 않은 순간까지 넓힙니다.</a:t>
            </a:r>
            <a:endParaRPr lang="en-US" sz="1150" dirty="0"/>
          </a:p>
        </p:txBody>
      </p:sp>
      <p:sp>
        <p:nvSpPr>
          <p:cNvPr id="10" name="Text 7"/>
          <p:cNvSpPr txBox="1"/>
          <p:nvPr/>
        </p:nvSpPr>
        <p:spPr>
          <a:xfrm>
            <a:off x="822960" y="6053328"/>
            <a:ext cx="5852160"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롯데그룹 핵심인재 MBA 과정  |  최종 발표</a:t>
            </a:r>
            <a:endParaRPr lang="en-US" sz="1000" dirty="0"/>
          </a:p>
        </p:txBody>
      </p:sp>
      <p:sp>
        <p:nvSpPr>
          <p:cNvPr id="11" name="Shape 8"/>
          <p:cNvSpPr/>
          <p:nvPr/>
        </p:nvSpPr>
        <p:spPr>
          <a:xfrm>
            <a:off x="7178040" y="1417320"/>
            <a:ext cx="4434840" cy="4197096"/>
          </a:xfrm>
          <a:prstGeom prst="roundRect">
            <a:avLst>
              <a:gd name="adj" fmla="val 1307"/>
            </a:avLst>
          </a:prstGeom>
          <a:solidFill>
            <a:srgbClr val="1A2233"/>
          </a:solidFill>
          <a:ln w="12700">
            <a:solidFill>
              <a:srgbClr val="1A2233"/>
            </a:solidFill>
            <a:prstDash val="solid"/>
          </a:ln>
        </p:spPr>
      </p:sp>
      <p:sp>
        <p:nvSpPr>
          <p:cNvPr id="12" name="Text 9"/>
          <p:cNvSpPr txBox="1"/>
          <p:nvPr/>
        </p:nvSpPr>
        <p:spPr>
          <a:xfrm>
            <a:off x="7571232" y="2322576"/>
            <a:ext cx="3657600" cy="243332"/>
          </a:xfrm>
          <a:prstGeom prst="rect">
            <a:avLst/>
          </a:prstGeom>
          <a:noFill/>
          <a:ln/>
        </p:spPr>
        <p:txBody>
          <a:bodyPr wrap="square" lIns="0" tIns="0" rIns="0" bIns="0" rtlCol="0" anchor="t"/>
          <a:lstStyle/>
          <a:p>
            <a:pPr algn="l" indent="0" marL="0">
              <a:lnSpc>
                <a:spcPts val="1700"/>
              </a:lnSpc>
              <a:buNone/>
            </a:pPr>
            <a:r>
              <a:rPr lang="en-US" sz="1150" dirty="0">
                <a:solidFill>
                  <a:srgbClr val="8C97A8"/>
                </a:solidFill>
                <a:latin typeface="맑은 고딕" pitchFamily="34" charset="0"/>
                <a:ea typeface="맑은 고딕" pitchFamily="34" charset="-122"/>
                <a:cs typeface="맑은 고딕" pitchFamily="34" charset="-120"/>
              </a:rPr>
              <a:t>매장에 들어오는 100명 중</a:t>
            </a:r>
            <a:endParaRPr lang="en-US" sz="1150" dirty="0"/>
          </a:p>
        </p:txBody>
      </p:sp>
      <p:sp>
        <p:nvSpPr>
          <p:cNvPr id="13" name="Text 10"/>
          <p:cNvSpPr txBox="1"/>
          <p:nvPr/>
        </p:nvSpPr>
        <p:spPr>
          <a:xfrm>
            <a:off x="7571232" y="2688336"/>
            <a:ext cx="3785616" cy="1188720"/>
          </a:xfrm>
          <a:prstGeom prst="rect">
            <a:avLst/>
          </a:prstGeom>
          <a:noFill/>
          <a:ln/>
        </p:spPr>
        <p:txBody>
          <a:bodyPr wrap="square" lIns="0" tIns="0" rIns="0" bIns="0" rtlCol="0" anchor="b"/>
          <a:lstStyle/>
          <a:p>
            <a:pPr indent="0" marL="0">
              <a:buNone/>
            </a:pPr>
            <a:r>
              <a:rPr lang="en-US" sz="7600" b="1" dirty="0">
                <a:solidFill>
                  <a:srgbClr val="E11D2E"/>
                </a:solidFill>
                <a:latin typeface="맑은 고딕" pitchFamily="34" charset="0"/>
                <a:ea typeface="맑은 고딕" pitchFamily="34" charset="-122"/>
                <a:cs typeface="맑은 고딕" pitchFamily="34" charset="-120"/>
              </a:rPr>
              <a:t>3</a:t>
            </a:r>
            <a:pPr indent="0" marL="0">
              <a:buNone/>
            </a:pPr>
            <a:r>
              <a:rPr lang="en-US" sz="2000" b="1" dirty="0">
                <a:solidFill>
                  <a:srgbClr val="FFFFFF"/>
                </a:solidFill>
                <a:latin typeface="맑은 고딕" pitchFamily="34" charset="0"/>
                <a:ea typeface="맑은 고딕" pitchFamily="34" charset="-122"/>
                <a:cs typeface="맑은 고딕" pitchFamily="34" charset="-120"/>
              </a:rPr>
              <a:t>명만 구매합니다.</a:t>
            </a:r>
            <a:endParaRPr lang="en-US" sz="7600" dirty="0"/>
          </a:p>
        </p:txBody>
      </p:sp>
      <p:sp>
        <p:nvSpPr>
          <p:cNvPr id="14" name="Text 11"/>
          <p:cNvSpPr txBox="1"/>
          <p:nvPr/>
        </p:nvSpPr>
        <p:spPr>
          <a:xfrm>
            <a:off x="7571232" y="4151376"/>
            <a:ext cx="3657600" cy="586232"/>
          </a:xfrm>
          <a:prstGeom prst="rect">
            <a:avLst/>
          </a:prstGeom>
          <a:noFill/>
          <a:ln/>
        </p:spPr>
        <p:txBody>
          <a:bodyPr wrap="square" lIns="0" tIns="0" rIns="0" bIns="0" rtlCol="0" anchor="t"/>
          <a:lstStyle/>
          <a:p>
            <a:pPr algn="l" indent="0" marL="0">
              <a:lnSpc>
                <a:spcPts val="2200"/>
              </a:lnSpc>
              <a:buNone/>
            </a:pPr>
            <a:r>
              <a:rPr lang="en-US" sz="1150" dirty="0">
                <a:solidFill>
                  <a:srgbClr val="F5A623"/>
                </a:solidFill>
                <a:latin typeface="맑은 고딕" pitchFamily="34" charset="0"/>
                <a:ea typeface="맑은 고딕" pitchFamily="34" charset="-122"/>
                <a:cs typeface="맑은 고딕" pitchFamily="34" charset="-120"/>
              </a:rPr>
              <a:t>나머지 97명이 무엇을 보고 왜 돌아섰는지는</a:t>
            </a:r>
            <a:endParaRPr lang="en-US" sz="1150" dirty="0"/>
          </a:p>
          <a:p>
            <a:pPr algn="l" indent="0" marL="0">
              <a:lnSpc>
                <a:spcPts val="2200"/>
              </a:lnSpc>
              <a:buNone/>
            </a:pPr>
            <a:r>
              <a:rPr lang="en-US" sz="1150" dirty="0">
                <a:solidFill>
                  <a:srgbClr val="F5A623"/>
                </a:solidFill>
                <a:latin typeface="맑은 고딕" pitchFamily="34" charset="0"/>
                <a:ea typeface="맑은 고딕" pitchFamily="34" charset="-122"/>
                <a:cs typeface="맑은 고딕" pitchFamily="34" charset="-120"/>
              </a:rPr>
              <a:t>매일 CCTV에 찍히고, 매일 그냥 삭제됩니다.</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566928" y="402336"/>
            <a:ext cx="841248" cy="420624"/>
          </a:xfrm>
          <a:prstGeom prst="roundRect">
            <a:avLst>
              <a:gd name="adj" fmla="val 17391"/>
            </a:avLst>
          </a:prstGeom>
          <a:solidFill>
            <a:srgbClr val="E11D2E"/>
          </a:solidFill>
          <a:ln/>
        </p:spPr>
      </p:sp>
      <p:sp>
        <p:nvSpPr>
          <p:cNvPr id="4" name="Text 1"/>
          <p:cNvSpPr txBox="1"/>
          <p:nvPr/>
        </p:nvSpPr>
        <p:spPr>
          <a:xfrm>
            <a:off x="566928" y="402336"/>
            <a:ext cx="841248" cy="420624"/>
          </a:xfrm>
          <a:prstGeom prst="rect">
            <a:avLst/>
          </a:prstGeom>
          <a:noFill/>
          <a:ln/>
        </p:spPr>
        <p:txBody>
          <a:bodyPr wrap="square" lIns="0" tIns="0" rIns="0" bIns="0" rtlCol="0" anchor="ctr"/>
          <a:lstStyle/>
          <a:p>
            <a:pPr algn="ctr" indent="0" marL="0">
              <a:lnSpc>
                <a:spcPts val="1800"/>
              </a:lnSpc>
              <a:buNone/>
            </a:pPr>
            <a:r>
              <a:rPr lang="en-US" sz="1200" b="1" dirty="0">
                <a:solidFill>
                  <a:srgbClr val="FFFFFF"/>
                </a:solidFill>
                <a:latin typeface="맑은 고딕" pitchFamily="34" charset="0"/>
                <a:ea typeface="맑은 고딕" pitchFamily="34" charset="-122"/>
                <a:cs typeface="맑은 고딕" pitchFamily="34" charset="-120"/>
              </a:rPr>
              <a:t>BMC</a:t>
            </a:r>
            <a:endParaRPr lang="en-US" sz="1200" dirty="0"/>
          </a:p>
        </p:txBody>
      </p:sp>
      <p:sp>
        <p:nvSpPr>
          <p:cNvPr id="5" name="Text 2"/>
          <p:cNvSpPr txBox="1"/>
          <p:nvPr/>
        </p:nvSpPr>
        <p:spPr>
          <a:xfrm>
            <a:off x="1572768"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한 장으로 보는 L.GA 비즈니스 모델</a:t>
            </a:r>
            <a:endParaRPr lang="en-US" sz="2600" dirty="0"/>
          </a:p>
        </p:txBody>
      </p:sp>
      <p:sp>
        <p:nvSpPr>
          <p:cNvPr id="6" name="Text 3"/>
          <p:cNvSpPr txBox="1"/>
          <p:nvPr/>
        </p:nvSpPr>
        <p:spPr>
          <a:xfrm>
            <a:off x="1572768" y="932688"/>
            <a:ext cx="10049256" cy="5100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Step 1 가치 전달(01~05)을 먼저 확정하고, Step 2 효율적 운영(06~09)을 채웠습니다 — 다음 장에서 그룹 전략과의 정합성을 먼저 보겠습니다</a:t>
            </a:r>
            <a:endParaRPr lang="en-US" sz="1250" dirty="0"/>
          </a:p>
        </p:txBody>
      </p:sp>
      <p:sp>
        <p:nvSpPr>
          <p:cNvPr id="7" name="Shape 4"/>
          <p:cNvSpPr/>
          <p:nvPr/>
        </p:nvSpPr>
        <p:spPr>
          <a:xfrm>
            <a:off x="566928" y="1517904"/>
            <a:ext cx="2093976" cy="3273552"/>
          </a:xfrm>
          <a:prstGeom prst="roundRect">
            <a:avLst>
              <a:gd name="adj" fmla="val 2620"/>
            </a:avLst>
          </a:prstGeom>
          <a:solidFill>
            <a:srgbClr val="EFF3F8"/>
          </a:solidFill>
          <a:ln w="12700">
            <a:solidFill>
              <a:srgbClr val="E4E8EE"/>
            </a:solidFill>
            <a:prstDash val="solid"/>
          </a:ln>
        </p:spPr>
      </p:sp>
      <p:sp>
        <p:nvSpPr>
          <p:cNvPr id="8" name="Shape 5"/>
          <p:cNvSpPr/>
          <p:nvPr/>
        </p:nvSpPr>
        <p:spPr>
          <a:xfrm>
            <a:off x="694944" y="1636776"/>
            <a:ext cx="365760" cy="274320"/>
          </a:xfrm>
          <a:prstGeom prst="roundRect">
            <a:avLst>
              <a:gd name="adj" fmla="val 16667"/>
            </a:avLst>
          </a:prstGeom>
          <a:solidFill>
            <a:srgbClr val="0E1420"/>
          </a:solidFill>
          <a:ln/>
        </p:spPr>
      </p:sp>
      <p:sp>
        <p:nvSpPr>
          <p:cNvPr id="9" name="Text 6"/>
          <p:cNvSpPr txBox="1"/>
          <p:nvPr/>
        </p:nvSpPr>
        <p:spPr>
          <a:xfrm>
            <a:off x="694944" y="1636776"/>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08</a:t>
            </a:r>
            <a:endParaRPr lang="en-US" sz="1000" dirty="0"/>
          </a:p>
        </p:txBody>
      </p:sp>
      <p:sp>
        <p:nvSpPr>
          <p:cNvPr id="10" name="Text 7"/>
          <p:cNvSpPr txBox="1"/>
          <p:nvPr/>
        </p:nvSpPr>
        <p:spPr>
          <a:xfrm>
            <a:off x="1115568" y="1636776"/>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핵심 파트너</a:t>
            </a:r>
            <a:endParaRPr lang="en-US" sz="1200" dirty="0"/>
          </a:p>
        </p:txBody>
      </p:sp>
      <p:sp>
        <p:nvSpPr>
          <p:cNvPr id="11" name="Text 8"/>
          <p:cNvSpPr txBox="1"/>
          <p:nvPr/>
        </p:nvSpPr>
        <p:spPr>
          <a:xfrm>
            <a:off x="694944" y="2011680"/>
            <a:ext cx="1837944" cy="2670048"/>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롯데백화점 · 롯데이노베이트 · 롯데멤버스 3사 합작</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비전 AI 엔진 벤더 (Build/Buy)</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외부 VMD · 법무·DPO</a:t>
            </a:r>
            <a:endParaRPr lang="en-US" sz="1000" dirty="0"/>
          </a:p>
        </p:txBody>
      </p:sp>
      <p:sp>
        <p:nvSpPr>
          <p:cNvPr id="12" name="Shape 9"/>
          <p:cNvSpPr/>
          <p:nvPr/>
        </p:nvSpPr>
        <p:spPr>
          <a:xfrm>
            <a:off x="2807208" y="1517904"/>
            <a:ext cx="2093976" cy="1591056"/>
          </a:xfrm>
          <a:prstGeom prst="roundRect">
            <a:avLst>
              <a:gd name="adj" fmla="val 3448"/>
            </a:avLst>
          </a:prstGeom>
          <a:solidFill>
            <a:srgbClr val="EFF3F8"/>
          </a:solidFill>
          <a:ln w="12700">
            <a:solidFill>
              <a:srgbClr val="E4E8EE"/>
            </a:solidFill>
            <a:prstDash val="solid"/>
          </a:ln>
        </p:spPr>
      </p:sp>
      <p:sp>
        <p:nvSpPr>
          <p:cNvPr id="13" name="Shape 10"/>
          <p:cNvSpPr/>
          <p:nvPr/>
        </p:nvSpPr>
        <p:spPr>
          <a:xfrm>
            <a:off x="2935224" y="1636776"/>
            <a:ext cx="365760" cy="274320"/>
          </a:xfrm>
          <a:prstGeom prst="roundRect">
            <a:avLst>
              <a:gd name="adj" fmla="val 16667"/>
            </a:avLst>
          </a:prstGeom>
          <a:solidFill>
            <a:srgbClr val="0E1420"/>
          </a:solidFill>
          <a:ln/>
        </p:spPr>
      </p:sp>
      <p:sp>
        <p:nvSpPr>
          <p:cNvPr id="14" name="Text 11"/>
          <p:cNvSpPr txBox="1"/>
          <p:nvPr/>
        </p:nvSpPr>
        <p:spPr>
          <a:xfrm>
            <a:off x="2935224" y="1636776"/>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07</a:t>
            </a:r>
            <a:endParaRPr lang="en-US" sz="1000" dirty="0"/>
          </a:p>
        </p:txBody>
      </p:sp>
      <p:sp>
        <p:nvSpPr>
          <p:cNvPr id="15" name="Text 12"/>
          <p:cNvSpPr txBox="1"/>
          <p:nvPr/>
        </p:nvSpPr>
        <p:spPr>
          <a:xfrm>
            <a:off x="3355848" y="1636776"/>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핵심 활동</a:t>
            </a:r>
            <a:endParaRPr lang="en-US" sz="1200" dirty="0"/>
          </a:p>
        </p:txBody>
      </p:sp>
      <p:sp>
        <p:nvSpPr>
          <p:cNvPr id="16" name="Text 13"/>
          <p:cNvSpPr txBox="1"/>
          <p:nvPr/>
        </p:nvSpPr>
        <p:spPr>
          <a:xfrm>
            <a:off x="2935224" y="2011680"/>
            <a:ext cx="1837944" cy="987552"/>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엣지 추론 · 리포트 자동화</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인사이트 → 처방 → POS 검증</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벤치마크 DB · 리타게팅 운영</a:t>
            </a:r>
            <a:endParaRPr lang="en-US" sz="1000" dirty="0"/>
          </a:p>
        </p:txBody>
      </p:sp>
      <p:sp>
        <p:nvSpPr>
          <p:cNvPr id="17" name="Shape 14"/>
          <p:cNvSpPr/>
          <p:nvPr/>
        </p:nvSpPr>
        <p:spPr>
          <a:xfrm>
            <a:off x="2807208" y="3200400"/>
            <a:ext cx="2093976" cy="1591056"/>
          </a:xfrm>
          <a:prstGeom prst="roundRect">
            <a:avLst>
              <a:gd name="adj" fmla="val 3448"/>
            </a:avLst>
          </a:prstGeom>
          <a:solidFill>
            <a:srgbClr val="EFF3F8"/>
          </a:solidFill>
          <a:ln w="12700">
            <a:solidFill>
              <a:srgbClr val="E4E8EE"/>
            </a:solidFill>
            <a:prstDash val="solid"/>
          </a:ln>
        </p:spPr>
      </p:sp>
      <p:sp>
        <p:nvSpPr>
          <p:cNvPr id="18" name="Shape 15"/>
          <p:cNvSpPr/>
          <p:nvPr/>
        </p:nvSpPr>
        <p:spPr>
          <a:xfrm>
            <a:off x="2935224" y="3319272"/>
            <a:ext cx="365760" cy="274320"/>
          </a:xfrm>
          <a:prstGeom prst="roundRect">
            <a:avLst>
              <a:gd name="adj" fmla="val 16667"/>
            </a:avLst>
          </a:prstGeom>
          <a:solidFill>
            <a:srgbClr val="0E1420"/>
          </a:solidFill>
          <a:ln/>
        </p:spPr>
      </p:sp>
      <p:sp>
        <p:nvSpPr>
          <p:cNvPr id="19" name="Text 16"/>
          <p:cNvSpPr txBox="1"/>
          <p:nvPr/>
        </p:nvSpPr>
        <p:spPr>
          <a:xfrm>
            <a:off x="2935224" y="3319272"/>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06</a:t>
            </a:r>
            <a:endParaRPr lang="en-US" sz="1000" dirty="0"/>
          </a:p>
        </p:txBody>
      </p:sp>
      <p:sp>
        <p:nvSpPr>
          <p:cNvPr id="20" name="Text 17"/>
          <p:cNvSpPr txBox="1"/>
          <p:nvPr/>
        </p:nvSpPr>
        <p:spPr>
          <a:xfrm>
            <a:off x="3355848" y="3319272"/>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핵심 자원</a:t>
            </a:r>
            <a:endParaRPr lang="en-US" sz="1200" dirty="0"/>
          </a:p>
        </p:txBody>
      </p:sp>
      <p:sp>
        <p:nvSpPr>
          <p:cNvPr id="21" name="Text 18"/>
          <p:cNvSpPr txBox="1"/>
          <p:nvPr/>
        </p:nvSpPr>
        <p:spPr>
          <a:xfrm>
            <a:off x="2935224" y="3694176"/>
            <a:ext cx="1837944" cy="987552"/>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기존 CCTV · 엣지박스</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L.POINT · POS · 전점 트래픽 ★</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컨설턴트 14명 · CAPEX 11억</a:t>
            </a:r>
            <a:endParaRPr lang="en-US" sz="1000" dirty="0"/>
          </a:p>
        </p:txBody>
      </p:sp>
      <p:sp>
        <p:nvSpPr>
          <p:cNvPr id="22" name="Shape 19"/>
          <p:cNvSpPr/>
          <p:nvPr/>
        </p:nvSpPr>
        <p:spPr>
          <a:xfrm>
            <a:off x="5047488" y="1517904"/>
            <a:ext cx="2093976" cy="3273552"/>
          </a:xfrm>
          <a:prstGeom prst="roundRect">
            <a:avLst>
              <a:gd name="adj" fmla="val 2620"/>
            </a:avLst>
          </a:prstGeom>
          <a:solidFill>
            <a:srgbClr val="0E1420"/>
          </a:solidFill>
          <a:ln w="12700">
            <a:solidFill>
              <a:srgbClr val="0E1420"/>
            </a:solidFill>
            <a:prstDash val="solid"/>
          </a:ln>
        </p:spPr>
      </p:sp>
      <p:sp>
        <p:nvSpPr>
          <p:cNvPr id="23" name="Shape 20"/>
          <p:cNvSpPr/>
          <p:nvPr/>
        </p:nvSpPr>
        <p:spPr>
          <a:xfrm>
            <a:off x="5175504" y="1636776"/>
            <a:ext cx="365760" cy="274320"/>
          </a:xfrm>
          <a:prstGeom prst="roundRect">
            <a:avLst>
              <a:gd name="adj" fmla="val 16667"/>
            </a:avLst>
          </a:prstGeom>
          <a:solidFill>
            <a:srgbClr val="F5A623"/>
          </a:solidFill>
          <a:ln/>
        </p:spPr>
      </p:sp>
      <p:sp>
        <p:nvSpPr>
          <p:cNvPr id="24" name="Text 21"/>
          <p:cNvSpPr txBox="1"/>
          <p:nvPr/>
        </p:nvSpPr>
        <p:spPr>
          <a:xfrm>
            <a:off x="5175504" y="1636776"/>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0E1420"/>
                </a:solidFill>
                <a:latin typeface="맑은 고딕" pitchFamily="34" charset="0"/>
                <a:ea typeface="맑은 고딕" pitchFamily="34" charset="-122"/>
                <a:cs typeface="맑은 고딕" pitchFamily="34" charset="-120"/>
              </a:rPr>
              <a:t>02</a:t>
            </a:r>
            <a:endParaRPr lang="en-US" sz="1000" dirty="0"/>
          </a:p>
        </p:txBody>
      </p:sp>
      <p:sp>
        <p:nvSpPr>
          <p:cNvPr id="25" name="Text 22"/>
          <p:cNvSpPr txBox="1"/>
          <p:nvPr/>
        </p:nvSpPr>
        <p:spPr>
          <a:xfrm>
            <a:off x="5596128" y="1636776"/>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FFFFFF"/>
                </a:solidFill>
                <a:latin typeface="맑은 고딕" pitchFamily="34" charset="0"/>
                <a:ea typeface="맑은 고딕" pitchFamily="34" charset="-122"/>
                <a:cs typeface="맑은 고딕" pitchFamily="34" charset="-120"/>
              </a:rPr>
              <a:t>가치 제안</a:t>
            </a:r>
            <a:endParaRPr lang="en-US" sz="1200" dirty="0"/>
          </a:p>
        </p:txBody>
      </p:sp>
      <p:sp>
        <p:nvSpPr>
          <p:cNvPr id="26" name="Text 23"/>
          <p:cNvSpPr txBox="1"/>
          <p:nvPr/>
        </p:nvSpPr>
        <p:spPr>
          <a:xfrm>
            <a:off x="5175504" y="2011680"/>
            <a:ext cx="1837944" cy="2670048"/>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AEB8C7"/>
                </a:solidFill>
                <a:latin typeface="맑은 고딕" pitchFamily="34" charset="0"/>
                <a:ea typeface="맑은 고딕" pitchFamily="34" charset="-122"/>
                <a:cs typeface="맑은 고딕" pitchFamily="34" charset="-120"/>
              </a:rPr>
              <a:t>브랜드가 모르는 자기 고객 — 신규 비율 · 미구매자 · 교차구매 · 이탈 SKU · 차기 출점</a:t>
            </a:r>
            <a:endParaRPr lang="en-US" sz="1000" dirty="0"/>
          </a:p>
          <a:p>
            <a:pPr marL="342900" indent="-342900">
              <a:lnSpc>
                <a:spcPts val="1500"/>
              </a:lnSpc>
              <a:spcAft>
                <a:spcPts val="700"/>
              </a:spcAft>
              <a:buSzPct val="100000"/>
              <a:buChar char="•"/>
            </a:pPr>
            <a:r>
              <a:rPr lang="en-US" sz="1000" dirty="0">
                <a:solidFill>
                  <a:srgbClr val="AEB8C7"/>
                </a:solidFill>
                <a:latin typeface="맑은 고딕" pitchFamily="34" charset="0"/>
                <a:ea typeface="맑은 고딕" pitchFamily="34" charset="-122"/>
                <a:cs typeface="맑은 고딕" pitchFamily="34" charset="-120"/>
              </a:rPr>
              <a:t>처방이 통했는지 POS로 증명</a:t>
            </a:r>
            <a:endParaRPr lang="en-US" sz="1000" dirty="0"/>
          </a:p>
          <a:p>
            <a:pPr marL="342900" indent="-342900">
              <a:lnSpc>
                <a:spcPts val="1500"/>
              </a:lnSpc>
              <a:spcAft>
                <a:spcPts val="700"/>
              </a:spcAft>
              <a:buSzPct val="100000"/>
              <a:buChar char="•"/>
            </a:pPr>
            <a:r>
              <a:rPr lang="en-US" sz="1000" dirty="0">
                <a:solidFill>
                  <a:srgbClr val="AEB8C7"/>
                </a:solidFill>
                <a:latin typeface="맑은 고딕" pitchFamily="34" charset="0"/>
                <a:ea typeface="맑은 고딕" pitchFamily="34" charset="-122"/>
                <a:cs typeface="맑은 고딕" pitchFamily="34" charset="-120"/>
              </a:rPr>
              <a:t>온라인 GA의 오프라인 구현</a:t>
            </a:r>
            <a:endParaRPr lang="en-US" sz="1000" dirty="0"/>
          </a:p>
        </p:txBody>
      </p:sp>
      <p:sp>
        <p:nvSpPr>
          <p:cNvPr id="27" name="Shape 24"/>
          <p:cNvSpPr/>
          <p:nvPr/>
        </p:nvSpPr>
        <p:spPr>
          <a:xfrm>
            <a:off x="7287768" y="1517904"/>
            <a:ext cx="2093976" cy="1591056"/>
          </a:xfrm>
          <a:prstGeom prst="roundRect">
            <a:avLst>
              <a:gd name="adj" fmla="val 3448"/>
            </a:avLst>
          </a:prstGeom>
          <a:solidFill>
            <a:srgbClr val="FCEDEE"/>
          </a:solidFill>
          <a:ln w="12700">
            <a:solidFill>
              <a:srgbClr val="E4E8EE"/>
            </a:solidFill>
            <a:prstDash val="solid"/>
          </a:ln>
        </p:spPr>
      </p:sp>
      <p:sp>
        <p:nvSpPr>
          <p:cNvPr id="28" name="Shape 25"/>
          <p:cNvSpPr/>
          <p:nvPr/>
        </p:nvSpPr>
        <p:spPr>
          <a:xfrm>
            <a:off x="7415784" y="1636776"/>
            <a:ext cx="365760" cy="274320"/>
          </a:xfrm>
          <a:prstGeom prst="roundRect">
            <a:avLst>
              <a:gd name="adj" fmla="val 16667"/>
            </a:avLst>
          </a:prstGeom>
          <a:solidFill>
            <a:srgbClr val="E11D2E"/>
          </a:solidFill>
          <a:ln/>
        </p:spPr>
      </p:sp>
      <p:sp>
        <p:nvSpPr>
          <p:cNvPr id="29" name="Text 26"/>
          <p:cNvSpPr txBox="1"/>
          <p:nvPr/>
        </p:nvSpPr>
        <p:spPr>
          <a:xfrm>
            <a:off x="7415784" y="1636776"/>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04</a:t>
            </a:r>
            <a:endParaRPr lang="en-US" sz="1000" dirty="0"/>
          </a:p>
        </p:txBody>
      </p:sp>
      <p:sp>
        <p:nvSpPr>
          <p:cNvPr id="30" name="Text 27"/>
          <p:cNvSpPr txBox="1"/>
          <p:nvPr/>
        </p:nvSpPr>
        <p:spPr>
          <a:xfrm>
            <a:off x="7836408" y="1636776"/>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고객 관계</a:t>
            </a:r>
            <a:endParaRPr lang="en-US" sz="1200" dirty="0"/>
          </a:p>
        </p:txBody>
      </p:sp>
      <p:sp>
        <p:nvSpPr>
          <p:cNvPr id="31" name="Text 28"/>
          <p:cNvSpPr txBox="1"/>
          <p:nvPr/>
        </p:nvSpPr>
        <p:spPr>
          <a:xfrm>
            <a:off x="7415784" y="2011680"/>
            <a:ext cx="1837944" cy="987552"/>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파일럿 무상 → 검증 후 과금</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POS 검증 리포트 = 갱신 근거</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구독 · 컨설팅 · 리타게팅 업셀</a:t>
            </a:r>
            <a:endParaRPr lang="en-US" sz="1000" dirty="0"/>
          </a:p>
        </p:txBody>
      </p:sp>
      <p:sp>
        <p:nvSpPr>
          <p:cNvPr id="32" name="Shape 29"/>
          <p:cNvSpPr/>
          <p:nvPr/>
        </p:nvSpPr>
        <p:spPr>
          <a:xfrm>
            <a:off x="7287768" y="3200400"/>
            <a:ext cx="2093976" cy="1591056"/>
          </a:xfrm>
          <a:prstGeom prst="roundRect">
            <a:avLst>
              <a:gd name="adj" fmla="val 3448"/>
            </a:avLst>
          </a:prstGeom>
          <a:solidFill>
            <a:srgbClr val="FCEDEE"/>
          </a:solidFill>
          <a:ln w="12700">
            <a:solidFill>
              <a:srgbClr val="E4E8EE"/>
            </a:solidFill>
            <a:prstDash val="solid"/>
          </a:ln>
        </p:spPr>
      </p:sp>
      <p:sp>
        <p:nvSpPr>
          <p:cNvPr id="33" name="Shape 30"/>
          <p:cNvSpPr/>
          <p:nvPr/>
        </p:nvSpPr>
        <p:spPr>
          <a:xfrm>
            <a:off x="7415784" y="3319272"/>
            <a:ext cx="365760" cy="274320"/>
          </a:xfrm>
          <a:prstGeom prst="roundRect">
            <a:avLst>
              <a:gd name="adj" fmla="val 16667"/>
            </a:avLst>
          </a:prstGeom>
          <a:solidFill>
            <a:srgbClr val="E11D2E"/>
          </a:solidFill>
          <a:ln/>
        </p:spPr>
      </p:sp>
      <p:sp>
        <p:nvSpPr>
          <p:cNvPr id="34" name="Text 31"/>
          <p:cNvSpPr txBox="1"/>
          <p:nvPr/>
        </p:nvSpPr>
        <p:spPr>
          <a:xfrm>
            <a:off x="7415784" y="3319272"/>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03</a:t>
            </a:r>
            <a:endParaRPr lang="en-US" sz="1000" dirty="0"/>
          </a:p>
        </p:txBody>
      </p:sp>
      <p:sp>
        <p:nvSpPr>
          <p:cNvPr id="35" name="Text 32"/>
          <p:cNvSpPr txBox="1"/>
          <p:nvPr/>
        </p:nvSpPr>
        <p:spPr>
          <a:xfrm>
            <a:off x="7836408" y="3319272"/>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채널</a:t>
            </a:r>
            <a:endParaRPr lang="en-US" sz="1200" dirty="0"/>
          </a:p>
        </p:txBody>
      </p:sp>
      <p:sp>
        <p:nvSpPr>
          <p:cNvPr id="36" name="Text 33"/>
          <p:cNvSpPr txBox="1"/>
          <p:nvPr/>
        </p:nvSpPr>
        <p:spPr>
          <a:xfrm>
            <a:off x="7415784" y="3694176"/>
            <a:ext cx="1837944" cy="987552"/>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MD·영업관리 팝업 계약 번들</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L.GA 포털 · 리포트 미팅</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계열사 → 해외 롯데몰 → 외부</a:t>
            </a:r>
            <a:endParaRPr lang="en-US" sz="1000" dirty="0"/>
          </a:p>
        </p:txBody>
      </p:sp>
      <p:sp>
        <p:nvSpPr>
          <p:cNvPr id="37" name="Shape 34"/>
          <p:cNvSpPr/>
          <p:nvPr/>
        </p:nvSpPr>
        <p:spPr>
          <a:xfrm>
            <a:off x="9528048" y="1517904"/>
            <a:ext cx="2093976" cy="3273552"/>
          </a:xfrm>
          <a:prstGeom prst="roundRect">
            <a:avLst>
              <a:gd name="adj" fmla="val 2620"/>
            </a:avLst>
          </a:prstGeom>
          <a:solidFill>
            <a:srgbClr val="FCEDEE"/>
          </a:solidFill>
          <a:ln w="12700">
            <a:solidFill>
              <a:srgbClr val="E4E8EE"/>
            </a:solidFill>
            <a:prstDash val="solid"/>
          </a:ln>
        </p:spPr>
      </p:sp>
      <p:sp>
        <p:nvSpPr>
          <p:cNvPr id="38" name="Shape 35"/>
          <p:cNvSpPr/>
          <p:nvPr/>
        </p:nvSpPr>
        <p:spPr>
          <a:xfrm>
            <a:off x="9656064" y="1636776"/>
            <a:ext cx="365760" cy="274320"/>
          </a:xfrm>
          <a:prstGeom prst="roundRect">
            <a:avLst>
              <a:gd name="adj" fmla="val 16667"/>
            </a:avLst>
          </a:prstGeom>
          <a:solidFill>
            <a:srgbClr val="E11D2E"/>
          </a:solidFill>
          <a:ln/>
        </p:spPr>
      </p:sp>
      <p:sp>
        <p:nvSpPr>
          <p:cNvPr id="39" name="Text 36"/>
          <p:cNvSpPr txBox="1"/>
          <p:nvPr/>
        </p:nvSpPr>
        <p:spPr>
          <a:xfrm>
            <a:off x="9656064" y="1636776"/>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01</a:t>
            </a:r>
            <a:endParaRPr lang="en-US" sz="1000" dirty="0"/>
          </a:p>
        </p:txBody>
      </p:sp>
      <p:sp>
        <p:nvSpPr>
          <p:cNvPr id="40" name="Text 37"/>
          <p:cNvSpPr txBox="1"/>
          <p:nvPr/>
        </p:nvSpPr>
        <p:spPr>
          <a:xfrm>
            <a:off x="10076688" y="1636776"/>
            <a:ext cx="141732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고객 세그먼트</a:t>
            </a:r>
            <a:endParaRPr lang="en-US" sz="1200" dirty="0"/>
          </a:p>
        </p:txBody>
      </p:sp>
      <p:sp>
        <p:nvSpPr>
          <p:cNvPr id="41" name="Text 38"/>
          <p:cNvSpPr txBox="1"/>
          <p:nvPr/>
        </p:nvSpPr>
        <p:spPr>
          <a:xfrm>
            <a:off x="9656064" y="2011680"/>
            <a:ext cx="1837944" cy="2670048"/>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롯데 팝업 브랜드 (연 2,000건 가정)</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상설 입점 브랜드 매장</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롯데 내부 MD · 계열사 (첫 고객)</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외부 유통사 · 해외 (Phase 3)</a:t>
            </a:r>
            <a:endParaRPr lang="en-US" sz="1000" dirty="0"/>
          </a:p>
        </p:txBody>
      </p:sp>
      <p:sp>
        <p:nvSpPr>
          <p:cNvPr id="42" name="Shape 39"/>
          <p:cNvSpPr/>
          <p:nvPr/>
        </p:nvSpPr>
        <p:spPr>
          <a:xfrm>
            <a:off x="566928" y="4919472"/>
            <a:ext cx="5454396" cy="1207008"/>
          </a:xfrm>
          <a:prstGeom prst="roundRect">
            <a:avLst>
              <a:gd name="adj" fmla="val 4545"/>
            </a:avLst>
          </a:prstGeom>
          <a:solidFill>
            <a:srgbClr val="EFF3F8"/>
          </a:solidFill>
          <a:ln w="12700">
            <a:solidFill>
              <a:srgbClr val="E4E8EE"/>
            </a:solidFill>
            <a:prstDash val="solid"/>
          </a:ln>
        </p:spPr>
      </p:sp>
      <p:sp>
        <p:nvSpPr>
          <p:cNvPr id="43" name="Shape 40"/>
          <p:cNvSpPr/>
          <p:nvPr/>
        </p:nvSpPr>
        <p:spPr>
          <a:xfrm>
            <a:off x="694944" y="5038344"/>
            <a:ext cx="365760" cy="274320"/>
          </a:xfrm>
          <a:prstGeom prst="roundRect">
            <a:avLst>
              <a:gd name="adj" fmla="val 16667"/>
            </a:avLst>
          </a:prstGeom>
          <a:solidFill>
            <a:srgbClr val="0E1420"/>
          </a:solidFill>
          <a:ln/>
        </p:spPr>
      </p:sp>
      <p:sp>
        <p:nvSpPr>
          <p:cNvPr id="44" name="Text 41"/>
          <p:cNvSpPr txBox="1"/>
          <p:nvPr/>
        </p:nvSpPr>
        <p:spPr>
          <a:xfrm>
            <a:off x="694944" y="5038344"/>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09</a:t>
            </a:r>
            <a:endParaRPr lang="en-US" sz="1000" dirty="0"/>
          </a:p>
        </p:txBody>
      </p:sp>
      <p:sp>
        <p:nvSpPr>
          <p:cNvPr id="45" name="Text 42"/>
          <p:cNvSpPr txBox="1"/>
          <p:nvPr/>
        </p:nvSpPr>
        <p:spPr>
          <a:xfrm>
            <a:off x="1115568" y="5038344"/>
            <a:ext cx="477774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비용 구조</a:t>
            </a:r>
            <a:endParaRPr lang="en-US" sz="1200" dirty="0"/>
          </a:p>
        </p:txBody>
      </p:sp>
      <p:sp>
        <p:nvSpPr>
          <p:cNvPr id="46" name="Text 43"/>
          <p:cNvSpPr txBox="1"/>
          <p:nvPr/>
        </p:nvSpPr>
        <p:spPr>
          <a:xfrm>
            <a:off x="694944" y="5413248"/>
            <a:ext cx="5198364" cy="603504"/>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고정비: 인건비(컨설턴트) 중심 — Y3 판관비 53.7억</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변동비: 팝업 건당 75만 · 엣지로 클라우드 1/10 → GM 77%</a:t>
            </a:r>
            <a:endParaRPr lang="en-US" sz="1000" dirty="0"/>
          </a:p>
        </p:txBody>
      </p:sp>
      <p:sp>
        <p:nvSpPr>
          <p:cNvPr id="47" name="Shape 44"/>
          <p:cNvSpPr/>
          <p:nvPr/>
        </p:nvSpPr>
        <p:spPr>
          <a:xfrm>
            <a:off x="6167628" y="4919472"/>
            <a:ext cx="5454396" cy="1207008"/>
          </a:xfrm>
          <a:prstGeom prst="roundRect">
            <a:avLst>
              <a:gd name="adj" fmla="val 4545"/>
            </a:avLst>
          </a:prstGeom>
          <a:solidFill>
            <a:srgbClr val="FCEDEE"/>
          </a:solidFill>
          <a:ln w="12700">
            <a:solidFill>
              <a:srgbClr val="E4E8EE"/>
            </a:solidFill>
            <a:prstDash val="solid"/>
          </a:ln>
        </p:spPr>
      </p:sp>
      <p:sp>
        <p:nvSpPr>
          <p:cNvPr id="48" name="Shape 45"/>
          <p:cNvSpPr/>
          <p:nvPr/>
        </p:nvSpPr>
        <p:spPr>
          <a:xfrm>
            <a:off x="6295644" y="5038344"/>
            <a:ext cx="365760" cy="274320"/>
          </a:xfrm>
          <a:prstGeom prst="roundRect">
            <a:avLst>
              <a:gd name="adj" fmla="val 16667"/>
            </a:avLst>
          </a:prstGeom>
          <a:solidFill>
            <a:srgbClr val="E11D2E"/>
          </a:solidFill>
          <a:ln/>
        </p:spPr>
      </p:sp>
      <p:sp>
        <p:nvSpPr>
          <p:cNvPr id="49" name="Text 46"/>
          <p:cNvSpPr txBox="1"/>
          <p:nvPr/>
        </p:nvSpPr>
        <p:spPr>
          <a:xfrm>
            <a:off x="6295644" y="5038344"/>
            <a:ext cx="365760" cy="274320"/>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05</a:t>
            </a:r>
            <a:endParaRPr lang="en-US" sz="1000" dirty="0"/>
          </a:p>
        </p:txBody>
      </p:sp>
      <p:sp>
        <p:nvSpPr>
          <p:cNvPr id="50" name="Text 47"/>
          <p:cNvSpPr txBox="1"/>
          <p:nvPr/>
        </p:nvSpPr>
        <p:spPr>
          <a:xfrm>
            <a:off x="6716268" y="5038344"/>
            <a:ext cx="4777740" cy="274320"/>
          </a:xfrm>
          <a:prstGeom prst="rect">
            <a:avLst/>
          </a:prstGeom>
          <a:noFill/>
          <a:ln/>
        </p:spPr>
        <p:txBody>
          <a:bodyPr wrap="square" lIns="0" tIns="0" rIns="0" bIns="0" rtlCol="0" anchor="ctr"/>
          <a:lstStyle/>
          <a:p>
            <a:pPr algn="l" indent="0" marL="0">
              <a:lnSpc>
                <a:spcPts val="1800"/>
              </a:lnSpc>
              <a:buNone/>
            </a:pPr>
            <a:r>
              <a:rPr lang="en-US" sz="1200" b="1" dirty="0">
                <a:solidFill>
                  <a:srgbClr val="0E1420"/>
                </a:solidFill>
                <a:latin typeface="맑은 고딕" pitchFamily="34" charset="0"/>
                <a:ea typeface="맑은 고딕" pitchFamily="34" charset="-122"/>
                <a:cs typeface="맑은 고딕" pitchFamily="34" charset="-120"/>
              </a:rPr>
              <a:t>수익원</a:t>
            </a:r>
            <a:endParaRPr lang="en-US" sz="1200" dirty="0"/>
          </a:p>
        </p:txBody>
      </p:sp>
      <p:sp>
        <p:nvSpPr>
          <p:cNvPr id="51" name="Text 48"/>
          <p:cNvSpPr txBox="1"/>
          <p:nvPr/>
        </p:nvSpPr>
        <p:spPr>
          <a:xfrm>
            <a:off x="6295644" y="5413248"/>
            <a:ext cx="5198364" cy="603504"/>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팝업 패키지 320만 · 구독 월 45만 · 컨설팅 1,500만+성과 · 리타게팅 · 라이선스</a:t>
            </a:r>
            <a:endParaRPr lang="en-US" sz="1000" dirty="0"/>
          </a:p>
          <a:p>
            <a:pPr marL="342900" indent="-342900">
              <a:lnSpc>
                <a:spcPts val="1500"/>
              </a:lnSpc>
              <a:spcAft>
                <a:spcPts val="700"/>
              </a:spcAft>
              <a:buSzPct val="100000"/>
              <a:buChar char="•"/>
            </a:pPr>
            <a:r>
              <a:rPr lang="en-US" sz="1000" dirty="0">
                <a:solidFill>
                  <a:srgbClr val="0E1420"/>
                </a:solidFill>
                <a:latin typeface="맑은 고딕" pitchFamily="34" charset="0"/>
                <a:ea typeface="맑은 고딕" pitchFamily="34" charset="-122"/>
                <a:cs typeface="맑은 고딕" pitchFamily="34" charset="-120"/>
              </a:rPr>
              <a:t>Y3 매출 128.6억 · 영업이익 44.9억 (35%) · 리커링 51%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566928" y="402336"/>
            <a:ext cx="841248" cy="420624"/>
          </a:xfrm>
          <a:prstGeom prst="roundRect">
            <a:avLst>
              <a:gd name="adj" fmla="val 17391"/>
            </a:avLst>
          </a:prstGeom>
          <a:solidFill>
            <a:srgbClr val="E11D2E"/>
          </a:solidFill>
          <a:ln/>
        </p:spPr>
      </p:sp>
      <p:sp>
        <p:nvSpPr>
          <p:cNvPr id="4" name="Text 1"/>
          <p:cNvSpPr txBox="1"/>
          <p:nvPr/>
        </p:nvSpPr>
        <p:spPr>
          <a:xfrm>
            <a:off x="566928" y="402336"/>
            <a:ext cx="841248" cy="420624"/>
          </a:xfrm>
          <a:prstGeom prst="rect">
            <a:avLst/>
          </a:prstGeom>
          <a:noFill/>
          <a:ln/>
        </p:spPr>
        <p:txBody>
          <a:bodyPr wrap="square" lIns="0" tIns="0" rIns="0" bIns="0" rtlCol="0" anchor="ctr"/>
          <a:lstStyle/>
          <a:p>
            <a:pPr algn="ctr" indent="0" marL="0">
              <a:lnSpc>
                <a:spcPts val="1800"/>
              </a:lnSpc>
              <a:buNone/>
            </a:pPr>
            <a:r>
              <a:rPr lang="en-US" sz="1200" b="1" dirty="0">
                <a:solidFill>
                  <a:srgbClr val="FFFFFF"/>
                </a:solidFill>
                <a:latin typeface="맑은 고딕" pitchFamily="34" charset="0"/>
                <a:ea typeface="맑은 고딕" pitchFamily="34" charset="-122"/>
                <a:cs typeface="맑은 고딕" pitchFamily="34" charset="-120"/>
              </a:rPr>
              <a:t>FIT</a:t>
            </a:r>
            <a:endParaRPr lang="en-US" sz="1200" dirty="0"/>
          </a:p>
        </p:txBody>
      </p:sp>
      <p:sp>
        <p:nvSpPr>
          <p:cNvPr id="5" name="Text 2"/>
          <p:cNvSpPr txBox="1"/>
          <p:nvPr/>
        </p:nvSpPr>
        <p:spPr>
          <a:xfrm>
            <a:off x="1572768"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왜 롯데인가  |  그룹 전략과 핵심가치에 맞는 사업입니다</a:t>
            </a:r>
            <a:endParaRPr lang="en-US" sz="2600" dirty="0"/>
          </a:p>
        </p:txBody>
      </p:sp>
      <p:sp>
        <p:nvSpPr>
          <p:cNvPr id="6" name="Text 3"/>
          <p:cNvSpPr txBox="1"/>
          <p:nvPr/>
        </p:nvSpPr>
        <p:spPr>
          <a:xfrm>
            <a:off x="1572768" y="932688"/>
            <a:ext cx="10049256"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신사업을 먼저 만들고 명분을 붙인 것이 아니라, 그룹이 가려는 방향에서 거꾸로 설계했습니다</a:t>
            </a:r>
            <a:endParaRPr lang="en-US" sz="1250" dirty="0"/>
          </a:p>
        </p:txBody>
      </p:sp>
      <p:sp>
        <p:nvSpPr>
          <p:cNvPr id="7" name="Shape 4"/>
          <p:cNvSpPr/>
          <p:nvPr/>
        </p:nvSpPr>
        <p:spPr>
          <a:xfrm>
            <a:off x="566928" y="1481328"/>
            <a:ext cx="3587496" cy="1613581"/>
          </a:xfrm>
          <a:prstGeom prst="roundRect">
            <a:avLst>
              <a:gd name="adj" fmla="val 3400"/>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8" name="Text 5"/>
          <p:cNvSpPr txBox="1"/>
          <p:nvPr/>
        </p:nvSpPr>
        <p:spPr>
          <a:xfrm>
            <a:off x="841248" y="171484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그룹 비전</a:t>
            </a:r>
            <a:endParaRPr lang="en-US" sz="1100" dirty="0"/>
          </a:p>
        </p:txBody>
      </p:sp>
      <p:sp>
        <p:nvSpPr>
          <p:cNvPr id="9" name="Text 6"/>
          <p:cNvSpPr txBox="1"/>
          <p:nvPr/>
        </p:nvSpPr>
        <p:spPr>
          <a:xfrm>
            <a:off x="841248" y="203132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Lifetime Value Creator</a:t>
            </a:r>
            <a:endParaRPr lang="en-US" sz="1800" dirty="0"/>
          </a:p>
        </p:txBody>
      </p:sp>
      <p:sp>
        <p:nvSpPr>
          <p:cNvPr id="10" name="Text 7"/>
          <p:cNvSpPr txBox="1"/>
          <p:nvPr/>
        </p:nvSpPr>
        <p:spPr>
          <a:xfrm>
            <a:off x="841248" y="2447885"/>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고객의 '평생 가치'가 결제 순간에만 기록돼 왔습니다. 사지 않은 순간까지 넓힙니다.</a:t>
            </a:r>
            <a:endParaRPr lang="en-US" sz="1150" dirty="0"/>
          </a:p>
        </p:txBody>
      </p:sp>
      <p:sp>
        <p:nvSpPr>
          <p:cNvPr id="11" name="Shape 8"/>
          <p:cNvSpPr/>
          <p:nvPr/>
        </p:nvSpPr>
        <p:spPr>
          <a:xfrm>
            <a:off x="4300728" y="1481328"/>
            <a:ext cx="3587496" cy="1613581"/>
          </a:xfrm>
          <a:prstGeom prst="roundRect">
            <a:avLst>
              <a:gd name="adj" fmla="val 3400"/>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2" name="Text 9"/>
          <p:cNvSpPr txBox="1"/>
          <p:nvPr/>
        </p:nvSpPr>
        <p:spPr>
          <a:xfrm>
            <a:off x="4575048" y="171484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맑은 고딕" pitchFamily="34" charset="0"/>
                <a:ea typeface="맑은 고딕" pitchFamily="34" charset="-122"/>
                <a:cs typeface="맑은 고딕" pitchFamily="34" charset="-120"/>
              </a:rPr>
              <a:t>경영 방침</a:t>
            </a:r>
            <a:endParaRPr lang="en-US" sz="1100" dirty="0"/>
          </a:p>
        </p:txBody>
      </p:sp>
      <p:sp>
        <p:nvSpPr>
          <p:cNvPr id="13" name="Text 10"/>
          <p:cNvSpPr txBox="1"/>
          <p:nvPr/>
        </p:nvSpPr>
        <p:spPr>
          <a:xfrm>
            <a:off x="4575048" y="203132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AI 트랜스포메이션</a:t>
            </a:r>
            <a:endParaRPr lang="en-US" sz="1800" dirty="0"/>
          </a:p>
        </p:txBody>
      </p:sp>
      <p:sp>
        <p:nvSpPr>
          <p:cNvPr id="14" name="Text 11"/>
          <p:cNvSpPr txBox="1"/>
          <p:nvPr/>
        </p:nvSpPr>
        <p:spPr>
          <a:xfrm>
            <a:off x="4575048" y="2447885"/>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새 인프라를 사는 사업이 아닙니다. 이미 깔린 CCTV 위에 AI를 얹습니다.</a:t>
            </a:r>
            <a:endParaRPr lang="en-US" sz="1150" dirty="0"/>
          </a:p>
        </p:txBody>
      </p:sp>
      <p:sp>
        <p:nvSpPr>
          <p:cNvPr id="15" name="Shape 12"/>
          <p:cNvSpPr/>
          <p:nvPr/>
        </p:nvSpPr>
        <p:spPr>
          <a:xfrm>
            <a:off x="8034528" y="1481328"/>
            <a:ext cx="3587496" cy="1613581"/>
          </a:xfrm>
          <a:prstGeom prst="roundRect">
            <a:avLst>
              <a:gd name="adj" fmla="val 3400"/>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6" name="Text 13"/>
          <p:cNvSpPr txBox="1"/>
          <p:nvPr/>
        </p:nvSpPr>
        <p:spPr>
          <a:xfrm>
            <a:off x="8308848" y="171484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신성장 테마</a:t>
            </a:r>
            <a:endParaRPr lang="en-US" sz="1100" dirty="0"/>
          </a:p>
        </p:txBody>
      </p:sp>
      <p:sp>
        <p:nvSpPr>
          <p:cNvPr id="17" name="Text 14"/>
          <p:cNvSpPr txBox="1"/>
          <p:nvPr/>
        </p:nvSpPr>
        <p:spPr>
          <a:xfrm>
            <a:off x="8308848" y="203132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뉴라이프플랫폼</a:t>
            </a:r>
            <a:endParaRPr lang="en-US" sz="1800" dirty="0"/>
          </a:p>
        </p:txBody>
      </p:sp>
      <p:sp>
        <p:nvSpPr>
          <p:cNvPr id="18" name="Text 15"/>
          <p:cNvSpPr txBox="1"/>
          <p:nvPr/>
        </p:nvSpPr>
        <p:spPr>
          <a:xfrm>
            <a:off x="8308848" y="2447885"/>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상품을 파는 유통에서 데이터를 파는 플랫폼으로. 롯데 리테일 자산의 플랫폼화입니다.</a:t>
            </a:r>
            <a:endParaRPr lang="en-US" sz="1150" dirty="0"/>
          </a:p>
        </p:txBody>
      </p:sp>
      <p:sp>
        <p:nvSpPr>
          <p:cNvPr id="19" name="Text 16"/>
          <p:cNvSpPr txBox="1"/>
          <p:nvPr/>
        </p:nvSpPr>
        <p:spPr>
          <a:xfrm>
            <a:off x="566928" y="3277789"/>
            <a:ext cx="54864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맑은 고딕" pitchFamily="34" charset="0"/>
                <a:ea typeface="맑은 고딕" pitchFamily="34" charset="-122"/>
                <a:cs typeface="맑은 고딕" pitchFamily="34" charset="-120"/>
              </a:rPr>
              <a:t>그룹 핵심가치 = 이 사업의 설계 원칙</a:t>
            </a:r>
            <a:endParaRPr lang="en-US" sz="1250" dirty="0"/>
          </a:p>
        </p:txBody>
      </p:sp>
      <p:sp>
        <p:nvSpPr>
          <p:cNvPr id="20" name="Text 17"/>
          <p:cNvSpPr txBox="1"/>
          <p:nvPr/>
        </p:nvSpPr>
        <p:spPr>
          <a:xfrm>
            <a:off x="6217920" y="3277789"/>
            <a:ext cx="5404104" cy="243332"/>
          </a:xfrm>
          <a:prstGeom prst="rect">
            <a:avLst/>
          </a:prstGeom>
          <a:noFill/>
          <a:ln/>
        </p:spPr>
        <p:txBody>
          <a:bodyPr wrap="square" lIns="0" tIns="0" rIns="0" bIns="0" rtlCol="0" anchor="t"/>
          <a:lstStyle/>
          <a:p>
            <a:pPr algn="r"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미션 · 사랑과 신뢰를 받는 제품과 서비스</a:t>
            </a:r>
            <a:endParaRPr lang="en-US" sz="1150" dirty="0"/>
          </a:p>
        </p:txBody>
      </p:sp>
      <p:sp>
        <p:nvSpPr>
          <p:cNvPr id="21" name="Shape 18"/>
          <p:cNvSpPr/>
          <p:nvPr/>
        </p:nvSpPr>
        <p:spPr>
          <a:xfrm>
            <a:off x="566928" y="3606973"/>
            <a:ext cx="2654046" cy="1477091"/>
          </a:xfrm>
          <a:prstGeom prst="roundRect">
            <a:avLst>
              <a:gd name="adj" fmla="val 3714"/>
            </a:avLst>
          </a:prstGeom>
          <a:solidFill>
            <a:srgbClr val="FCEDEE"/>
          </a:solidFill>
          <a:ln w="12700">
            <a:solidFill>
              <a:srgbClr val="FCEDEE"/>
            </a:solidFill>
            <a:prstDash val="solid"/>
          </a:ln>
        </p:spPr>
      </p:sp>
      <p:sp>
        <p:nvSpPr>
          <p:cNvPr id="22" name="Text 19"/>
          <p:cNvSpPr txBox="1"/>
          <p:nvPr/>
        </p:nvSpPr>
        <p:spPr>
          <a:xfrm>
            <a:off x="841248" y="3839297"/>
            <a:ext cx="210540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맑은 고딕" pitchFamily="34" charset="0"/>
                <a:ea typeface="맑은 고딕" pitchFamily="34" charset="-122"/>
                <a:cs typeface="맑은 고딕" pitchFamily="34" charset="-120"/>
              </a:rPr>
              <a:t>고객 기대 그 이상</a:t>
            </a:r>
            <a:endParaRPr lang="en-US" sz="1350" dirty="0"/>
          </a:p>
        </p:txBody>
      </p:sp>
      <p:sp>
        <p:nvSpPr>
          <p:cNvPr id="23" name="Text 20"/>
          <p:cNvSpPr txBox="1"/>
          <p:nvPr/>
        </p:nvSpPr>
        <p:spPr>
          <a:xfrm>
            <a:off x="841248" y="4179657"/>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Beyond Customer Expectation</a:t>
            </a:r>
            <a:endParaRPr lang="en-US" sz="1000" dirty="0"/>
          </a:p>
        </p:txBody>
      </p:sp>
      <p:sp>
        <p:nvSpPr>
          <p:cNvPr id="24" name="Text 21"/>
          <p:cNvSpPr txBox="1"/>
          <p:nvPr/>
        </p:nvSpPr>
        <p:spPr>
          <a:xfrm>
            <a:off x="841248" y="4489029"/>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리포트에서 멈추지 않습니다. 처방하고, POS로 증명까지 합니다.</a:t>
            </a:r>
            <a:endParaRPr lang="en-US" sz="1000" dirty="0"/>
          </a:p>
        </p:txBody>
      </p:sp>
      <p:sp>
        <p:nvSpPr>
          <p:cNvPr id="25" name="Shape 22"/>
          <p:cNvSpPr/>
          <p:nvPr/>
        </p:nvSpPr>
        <p:spPr>
          <a:xfrm>
            <a:off x="3367278" y="3606973"/>
            <a:ext cx="2654046" cy="1477091"/>
          </a:xfrm>
          <a:prstGeom prst="roundRect">
            <a:avLst>
              <a:gd name="adj" fmla="val 3714"/>
            </a:avLst>
          </a:prstGeom>
          <a:solidFill>
            <a:srgbClr val="FCEDEE"/>
          </a:solidFill>
          <a:ln w="12700">
            <a:solidFill>
              <a:srgbClr val="FCEDEE"/>
            </a:solidFill>
            <a:prstDash val="solid"/>
          </a:ln>
        </p:spPr>
      </p:sp>
      <p:sp>
        <p:nvSpPr>
          <p:cNvPr id="26" name="Text 23"/>
          <p:cNvSpPr txBox="1"/>
          <p:nvPr/>
        </p:nvSpPr>
        <p:spPr>
          <a:xfrm>
            <a:off x="3641598" y="3839297"/>
            <a:ext cx="210540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맑은 고딕" pitchFamily="34" charset="0"/>
                <a:ea typeface="맑은 고딕" pitchFamily="34" charset="-122"/>
                <a:cs typeface="맑은 고딕" pitchFamily="34" charset="-120"/>
              </a:rPr>
              <a:t>도전</a:t>
            </a:r>
            <a:endParaRPr lang="en-US" sz="1350" dirty="0"/>
          </a:p>
        </p:txBody>
      </p:sp>
      <p:sp>
        <p:nvSpPr>
          <p:cNvPr id="27" name="Text 24"/>
          <p:cNvSpPr txBox="1"/>
          <p:nvPr/>
        </p:nvSpPr>
        <p:spPr>
          <a:xfrm>
            <a:off x="3641598" y="4179657"/>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Challenge</a:t>
            </a:r>
            <a:endParaRPr lang="en-US" sz="1000" dirty="0"/>
          </a:p>
        </p:txBody>
      </p:sp>
      <p:sp>
        <p:nvSpPr>
          <p:cNvPr id="28" name="Text 25"/>
          <p:cNvSpPr txBox="1"/>
          <p:nvPr/>
        </p:nvSpPr>
        <p:spPr>
          <a:xfrm>
            <a:off x="3641598" y="4489029"/>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'사지 않은 고객'을 데이터화한 유통사는 아직 없습니다.</a:t>
            </a:r>
            <a:endParaRPr lang="en-US" sz="1000" dirty="0"/>
          </a:p>
        </p:txBody>
      </p:sp>
      <p:sp>
        <p:nvSpPr>
          <p:cNvPr id="29" name="Shape 26"/>
          <p:cNvSpPr/>
          <p:nvPr/>
        </p:nvSpPr>
        <p:spPr>
          <a:xfrm>
            <a:off x="6167628" y="3606973"/>
            <a:ext cx="2654046" cy="1477091"/>
          </a:xfrm>
          <a:prstGeom prst="roundRect">
            <a:avLst>
              <a:gd name="adj" fmla="val 3714"/>
            </a:avLst>
          </a:prstGeom>
          <a:solidFill>
            <a:srgbClr val="FCEDEE"/>
          </a:solidFill>
          <a:ln w="12700">
            <a:solidFill>
              <a:srgbClr val="FCEDEE"/>
            </a:solidFill>
            <a:prstDash val="solid"/>
          </a:ln>
        </p:spPr>
      </p:sp>
      <p:sp>
        <p:nvSpPr>
          <p:cNvPr id="30" name="Text 27"/>
          <p:cNvSpPr txBox="1"/>
          <p:nvPr/>
        </p:nvSpPr>
        <p:spPr>
          <a:xfrm>
            <a:off x="6441948" y="3839297"/>
            <a:ext cx="210540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맑은 고딕" pitchFamily="34" charset="0"/>
                <a:ea typeface="맑은 고딕" pitchFamily="34" charset="-122"/>
                <a:cs typeface="맑은 고딕" pitchFamily="34" charset="-120"/>
              </a:rPr>
              <a:t>존중</a:t>
            </a:r>
            <a:endParaRPr lang="en-US" sz="1350" dirty="0"/>
          </a:p>
        </p:txBody>
      </p:sp>
      <p:sp>
        <p:nvSpPr>
          <p:cNvPr id="31" name="Text 28"/>
          <p:cNvSpPr txBox="1"/>
          <p:nvPr/>
        </p:nvSpPr>
        <p:spPr>
          <a:xfrm>
            <a:off x="6441948" y="4179657"/>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Respect</a:t>
            </a:r>
            <a:endParaRPr lang="en-US" sz="1000" dirty="0"/>
          </a:p>
        </p:txBody>
      </p:sp>
      <p:sp>
        <p:nvSpPr>
          <p:cNvPr id="32" name="Text 29"/>
          <p:cNvSpPr txBox="1"/>
          <p:nvPr/>
        </p:nvSpPr>
        <p:spPr>
          <a:xfrm>
            <a:off x="6441948" y="4489029"/>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사람을 추적하지 않고 공간을 측정합니다. 개인 연결은 동의 시에만.</a:t>
            </a:r>
            <a:endParaRPr lang="en-US" sz="1000" dirty="0"/>
          </a:p>
        </p:txBody>
      </p:sp>
      <p:sp>
        <p:nvSpPr>
          <p:cNvPr id="33" name="Shape 30"/>
          <p:cNvSpPr/>
          <p:nvPr/>
        </p:nvSpPr>
        <p:spPr>
          <a:xfrm>
            <a:off x="8967978" y="3606973"/>
            <a:ext cx="2654046" cy="1477091"/>
          </a:xfrm>
          <a:prstGeom prst="roundRect">
            <a:avLst>
              <a:gd name="adj" fmla="val 3714"/>
            </a:avLst>
          </a:prstGeom>
          <a:solidFill>
            <a:srgbClr val="FCEDEE"/>
          </a:solidFill>
          <a:ln w="12700">
            <a:solidFill>
              <a:srgbClr val="FCEDEE"/>
            </a:solidFill>
            <a:prstDash val="solid"/>
          </a:ln>
        </p:spPr>
      </p:sp>
      <p:sp>
        <p:nvSpPr>
          <p:cNvPr id="34" name="Text 31"/>
          <p:cNvSpPr txBox="1"/>
          <p:nvPr/>
        </p:nvSpPr>
        <p:spPr>
          <a:xfrm>
            <a:off x="9242298" y="3839297"/>
            <a:ext cx="210540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맑은 고딕" pitchFamily="34" charset="0"/>
                <a:ea typeface="맑은 고딕" pitchFamily="34" charset="-122"/>
                <a:cs typeface="맑은 고딕" pitchFamily="34" charset="-120"/>
              </a:rPr>
              <a:t>독창성</a:t>
            </a:r>
            <a:endParaRPr lang="en-US" sz="1350" dirty="0"/>
          </a:p>
        </p:txBody>
      </p:sp>
      <p:sp>
        <p:nvSpPr>
          <p:cNvPr id="35" name="Text 32"/>
          <p:cNvSpPr txBox="1"/>
          <p:nvPr/>
        </p:nvSpPr>
        <p:spPr>
          <a:xfrm>
            <a:off x="9242298" y="4179657"/>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Originality</a:t>
            </a:r>
            <a:endParaRPr lang="en-US" sz="1000" dirty="0"/>
          </a:p>
        </p:txBody>
      </p:sp>
      <p:sp>
        <p:nvSpPr>
          <p:cNvPr id="36" name="Text 33"/>
          <p:cNvSpPr txBox="1"/>
          <p:nvPr/>
        </p:nvSpPr>
        <p:spPr>
          <a:xfrm>
            <a:off x="9242298" y="4489029"/>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GA를 옮기지 않고, 오프라인 고유 지표로 다시 정의했습니다.</a:t>
            </a:r>
            <a:endParaRPr lang="en-US" sz="1000" dirty="0"/>
          </a:p>
        </p:txBody>
      </p:sp>
      <p:sp>
        <p:nvSpPr>
          <p:cNvPr id="37" name="Shape 34"/>
          <p:cNvSpPr/>
          <p:nvPr/>
        </p:nvSpPr>
        <p:spPr>
          <a:xfrm>
            <a:off x="566928" y="5358384"/>
            <a:ext cx="11055096" cy="749808"/>
          </a:xfrm>
          <a:prstGeom prst="roundRect">
            <a:avLst>
              <a:gd name="adj" fmla="val 7317"/>
            </a:avLst>
          </a:prstGeom>
          <a:solidFill>
            <a:srgbClr val="0E1420"/>
          </a:solidFill>
          <a:ln/>
        </p:spPr>
      </p:sp>
      <p:sp>
        <p:nvSpPr>
          <p:cNvPr id="38" name="Text 35"/>
          <p:cNvSpPr txBox="1"/>
          <p:nvPr/>
        </p:nvSpPr>
        <p:spPr>
          <a:xfrm>
            <a:off x="932688" y="535838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롯데가 '할 수 있는' 신사업이 아니라,  롯데만 할 수 있고 롯데의 약속에 맞는 신사업입니다.</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01</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고객 세그먼트  |  우리의 타겟 고객은 누구인가?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성과 측정 니즈가 가장 절박한 곳부터, 안에서 밖으로</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sp>
        <p:nvSpPr>
          <p:cNvPr id="8" name="Shape 5"/>
          <p:cNvSpPr/>
          <p:nvPr/>
        </p:nvSpPr>
        <p:spPr>
          <a:xfrm>
            <a:off x="566928" y="1481328"/>
            <a:ext cx="3587496" cy="2698982"/>
          </a:xfrm>
          <a:prstGeom prst="roundRect">
            <a:avLst>
              <a:gd name="adj" fmla="val 2033"/>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96544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맑은 고딕" pitchFamily="34" charset="0"/>
                <a:ea typeface="맑은 고딕" pitchFamily="34" charset="-122"/>
                <a:cs typeface="맑은 고딕" pitchFamily="34" charset="-120"/>
              </a:rPr>
              <a:t>1차 · 핵심</a:t>
            </a:r>
            <a:endParaRPr lang="en-US" sz="1100" dirty="0"/>
          </a:p>
        </p:txBody>
      </p:sp>
      <p:sp>
        <p:nvSpPr>
          <p:cNvPr id="10" name="Text 7"/>
          <p:cNvSpPr txBox="1"/>
          <p:nvPr/>
        </p:nvSpPr>
        <p:spPr>
          <a:xfrm>
            <a:off x="841248" y="228192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롯데 팝업 브랜드</a:t>
            </a:r>
            <a:endParaRPr lang="en-US" sz="1800" dirty="0"/>
          </a:p>
        </p:txBody>
      </p:sp>
      <p:sp>
        <p:nvSpPr>
          <p:cNvPr id="11" name="Text 8"/>
          <p:cNvSpPr txBox="1"/>
          <p:nvPr/>
        </p:nvSpPr>
        <p:spPr>
          <a:xfrm>
            <a:off x="841248" y="2698485"/>
            <a:ext cx="3038856" cy="1043432"/>
          </a:xfrm>
          <a:prstGeom prst="rect">
            <a:avLst/>
          </a:prstGeom>
          <a:noFill/>
          <a:ln/>
        </p:spPr>
        <p:txBody>
          <a:bodyPr wrap="square" lIns="0" tIns="0" rIns="0" bIns="0" rtlCol="0" anchor="t"/>
          <a:lstStyle/>
          <a:p>
            <a:pPr algn="l" indent="0" marL="0">
              <a:lnSpc>
                <a:spcPts val="2000"/>
              </a:lnSpc>
              <a:buNone/>
            </a:pPr>
            <a:r>
              <a:rPr lang="en-US" sz="1300" dirty="0">
                <a:solidFill>
                  <a:srgbClr val="AEB8C7"/>
                </a:solidFill>
                <a:latin typeface="맑은 고딕" pitchFamily="34" charset="0"/>
                <a:ea typeface="맑은 고딕" pitchFamily="34" charset="-122"/>
                <a:cs typeface="맑은 고딕" pitchFamily="34" charset="-120"/>
              </a:rPr>
              <a:t>백화점·몰·아울렛에 팝업을 여는 브랜드. 특히 정규 입점을 노리는 D2C·신생 브랜드.</a:t>
            </a:r>
            <a:endParaRPr lang="en-US" sz="1300" dirty="0"/>
          </a:p>
          <a:p>
            <a:pPr algn="l" indent="0" marL="0">
              <a:lnSpc>
                <a:spcPts val="2000"/>
              </a:lnSpc>
              <a:buNone/>
            </a:pPr>
            <a:r>
              <a:rPr lang="en-US" sz="1300" dirty="0">
                <a:solidFill>
                  <a:srgbClr val="AEB8C7"/>
                </a:solidFill>
                <a:latin typeface="맑은 고딕" pitchFamily="34" charset="0"/>
                <a:ea typeface="맑은 고딕" pitchFamily="34" charset="-122"/>
                <a:cs typeface="맑은 고딕" pitchFamily="34" charset="-120"/>
              </a:rPr>
              <a:t>연 약 2,000건 (가정)</a:t>
            </a:r>
            <a:endParaRPr lang="en-US" sz="1300" dirty="0"/>
          </a:p>
        </p:txBody>
      </p:sp>
      <p:sp>
        <p:nvSpPr>
          <p:cNvPr id="12" name="Shape 9"/>
          <p:cNvSpPr/>
          <p:nvPr/>
        </p:nvSpPr>
        <p:spPr>
          <a:xfrm>
            <a:off x="4300728" y="1481328"/>
            <a:ext cx="3587496" cy="2698982"/>
          </a:xfrm>
          <a:prstGeom prst="roundRect">
            <a:avLst>
              <a:gd name="adj" fmla="val 203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96544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2차 · 리커링</a:t>
            </a:r>
            <a:endParaRPr lang="en-US" sz="1100" dirty="0"/>
          </a:p>
        </p:txBody>
      </p:sp>
      <p:sp>
        <p:nvSpPr>
          <p:cNvPr id="14" name="Text 11"/>
          <p:cNvSpPr txBox="1"/>
          <p:nvPr/>
        </p:nvSpPr>
        <p:spPr>
          <a:xfrm>
            <a:off x="4575048" y="228192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상설 입점 브랜드 매장</a:t>
            </a:r>
            <a:endParaRPr lang="en-US" sz="1800" dirty="0"/>
          </a:p>
        </p:txBody>
      </p:sp>
      <p:sp>
        <p:nvSpPr>
          <p:cNvPr id="15" name="Text 12"/>
          <p:cNvSpPr txBox="1"/>
          <p:nvPr/>
        </p:nvSpPr>
        <p:spPr>
          <a:xfrm>
            <a:off x="4575048" y="2698485"/>
            <a:ext cx="3038856" cy="535432"/>
          </a:xfrm>
          <a:prstGeom prst="rect">
            <a:avLst/>
          </a:prstGeom>
          <a:noFill/>
          <a:ln/>
        </p:spPr>
        <p:txBody>
          <a:bodyPr wrap="square" lIns="0" tIns="0" rIns="0" bIns="0" rtlCol="0" anchor="t"/>
          <a:lstStyle/>
          <a:p>
            <a:pPr algn="l" indent="0" marL="0">
              <a:lnSpc>
                <a:spcPts val="2000"/>
              </a:lnSpc>
              <a:buNone/>
            </a:pPr>
            <a:r>
              <a:rPr lang="en-US" sz="1300" dirty="0">
                <a:solidFill>
                  <a:srgbClr val="0E1420"/>
                </a:solidFill>
                <a:latin typeface="맑은 고딕" pitchFamily="34" charset="0"/>
                <a:ea typeface="맑은 고딕" pitchFamily="34" charset="-122"/>
                <a:cs typeface="맑은 고딕" pitchFamily="34" charset="-120"/>
              </a:rPr>
              <a:t>팝업에서 검증된 브랜드가 정규 매장을 열 때 월 구독으로 전환</a:t>
            </a:r>
            <a:endParaRPr lang="en-US" sz="1300" dirty="0"/>
          </a:p>
        </p:txBody>
      </p:sp>
      <p:sp>
        <p:nvSpPr>
          <p:cNvPr id="16" name="Shape 13"/>
          <p:cNvSpPr/>
          <p:nvPr/>
        </p:nvSpPr>
        <p:spPr>
          <a:xfrm>
            <a:off x="8034528" y="1481328"/>
            <a:ext cx="3587496" cy="2698982"/>
          </a:xfrm>
          <a:prstGeom prst="roundRect">
            <a:avLst>
              <a:gd name="adj" fmla="val 203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96544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0차 · 첫 고객</a:t>
            </a:r>
            <a:endParaRPr lang="en-US" sz="1100" dirty="0"/>
          </a:p>
        </p:txBody>
      </p:sp>
      <p:sp>
        <p:nvSpPr>
          <p:cNvPr id="18" name="Text 15"/>
          <p:cNvSpPr txBox="1"/>
          <p:nvPr/>
        </p:nvSpPr>
        <p:spPr>
          <a:xfrm>
            <a:off x="8308848" y="228192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롯데 내부 MD · 계열사</a:t>
            </a:r>
            <a:endParaRPr lang="en-US" sz="1800" dirty="0"/>
          </a:p>
        </p:txBody>
      </p:sp>
      <p:sp>
        <p:nvSpPr>
          <p:cNvPr id="19" name="Text 16"/>
          <p:cNvSpPr txBox="1"/>
          <p:nvPr/>
        </p:nvSpPr>
        <p:spPr>
          <a:xfrm>
            <a:off x="8308848" y="2698485"/>
            <a:ext cx="3038856" cy="535432"/>
          </a:xfrm>
          <a:prstGeom prst="rect">
            <a:avLst/>
          </a:prstGeom>
          <a:noFill/>
          <a:ln/>
        </p:spPr>
        <p:txBody>
          <a:bodyPr wrap="square" lIns="0" tIns="0" rIns="0" bIns="0" rtlCol="0" anchor="t"/>
          <a:lstStyle/>
          <a:p>
            <a:pPr algn="l" indent="0" marL="0">
              <a:lnSpc>
                <a:spcPts val="2000"/>
              </a:lnSpc>
              <a:buNone/>
            </a:pPr>
            <a:r>
              <a:rPr lang="en-US" sz="1300" dirty="0">
                <a:solidFill>
                  <a:srgbClr val="0E1420"/>
                </a:solidFill>
                <a:latin typeface="맑은 고딕" pitchFamily="34" charset="0"/>
                <a:ea typeface="맑은 고딕" pitchFamily="34" charset="-122"/>
                <a:cs typeface="맑은 고딕" pitchFamily="34" charset="-120"/>
              </a:rPr>
              <a:t>백화점이 자기 매장 최적화를 위해 먼저 쓴다. 매출 0원, 대신 데이터와 레퍼런스</a:t>
            </a:r>
            <a:endParaRPr lang="en-US" sz="1300" dirty="0"/>
          </a:p>
        </p:txBody>
      </p:sp>
      <p:sp>
        <p:nvSpPr>
          <p:cNvPr id="20" name="Text 17"/>
          <p:cNvSpPr txBox="1"/>
          <p:nvPr/>
        </p:nvSpPr>
        <p:spPr>
          <a:xfrm>
            <a:off x="566928" y="4363190"/>
            <a:ext cx="27432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맑은 고딕" pitchFamily="34" charset="0"/>
                <a:ea typeface="맑은 고딕" pitchFamily="34" charset="-122"/>
                <a:cs typeface="맑은 고딕" pitchFamily="34" charset="-120"/>
              </a:rPr>
              <a:t>이들의 Pain</a:t>
            </a:r>
            <a:endParaRPr lang="en-US" sz="1250" dirty="0"/>
          </a:p>
        </p:txBody>
      </p:sp>
      <p:sp>
        <p:nvSpPr>
          <p:cNvPr id="21" name="Shape 18"/>
          <p:cNvSpPr/>
          <p:nvPr/>
        </p:nvSpPr>
        <p:spPr>
          <a:xfrm>
            <a:off x="566928" y="4692374"/>
            <a:ext cx="3587496" cy="1251226"/>
          </a:xfrm>
          <a:prstGeom prst="roundRect">
            <a:avLst>
              <a:gd name="adj" fmla="val 4385"/>
            </a:avLst>
          </a:prstGeom>
          <a:solidFill>
            <a:srgbClr val="FCEDEE"/>
          </a:solidFill>
          <a:ln w="12700">
            <a:solidFill>
              <a:srgbClr val="FCEDEE"/>
            </a:solidFill>
            <a:prstDash val="solid"/>
          </a:ln>
        </p:spPr>
      </p:sp>
      <p:sp>
        <p:nvSpPr>
          <p:cNvPr id="22" name="Text 19"/>
          <p:cNvSpPr txBox="1"/>
          <p:nvPr/>
        </p:nvSpPr>
        <p:spPr>
          <a:xfrm>
            <a:off x="786384" y="4692374"/>
            <a:ext cx="457200" cy="1251226"/>
          </a:xfrm>
          <a:prstGeom prst="rect">
            <a:avLst/>
          </a:prstGeom>
          <a:noFill/>
          <a:ln/>
        </p:spPr>
        <p:txBody>
          <a:bodyPr wrap="square" lIns="0" tIns="0" rIns="0" bIns="0" rtlCol="0" anchor="ctr"/>
          <a:lstStyle/>
          <a:p>
            <a:pPr algn="l" indent="0" marL="0">
              <a:lnSpc>
                <a:spcPts val="3900"/>
              </a:lnSpc>
              <a:buNone/>
            </a:pPr>
            <a:r>
              <a:rPr lang="en-US" sz="2600" b="1" dirty="0">
                <a:solidFill>
                  <a:srgbClr val="E11D2E"/>
                </a:solidFill>
                <a:latin typeface="맑은 고딕" pitchFamily="34" charset="0"/>
                <a:ea typeface="맑은 고딕" pitchFamily="34" charset="-122"/>
                <a:cs typeface="맑은 고딕" pitchFamily="34" charset="-120"/>
              </a:rPr>
              <a:t>1</a:t>
            </a:r>
            <a:endParaRPr lang="en-US" sz="2600" dirty="0"/>
          </a:p>
        </p:txBody>
      </p:sp>
      <p:sp>
        <p:nvSpPr>
          <p:cNvPr id="23" name="Text 20"/>
          <p:cNvSpPr txBox="1"/>
          <p:nvPr/>
        </p:nvSpPr>
        <p:spPr>
          <a:xfrm>
            <a:off x="1298448" y="4692374"/>
            <a:ext cx="2581656" cy="1251226"/>
          </a:xfrm>
          <a:prstGeom prst="rect">
            <a:avLst/>
          </a:prstGeom>
          <a:noFill/>
          <a:ln/>
        </p:spPr>
        <p:txBody>
          <a:bodyPr wrap="square" lIns="0" tIns="0" rIns="0" bIns="0" rtlCol="0" anchor="ctr"/>
          <a:lstStyle/>
          <a:p>
            <a:pPr algn="l" indent="0" marL="0">
              <a:lnSpc>
                <a:spcPts val="1700"/>
              </a:lnSpc>
              <a:buNone/>
            </a:pPr>
            <a:r>
              <a:rPr lang="en-US" sz="1150" b="1" dirty="0">
                <a:solidFill>
                  <a:srgbClr val="0E1420"/>
                </a:solidFill>
                <a:latin typeface="맑은 고딕" pitchFamily="34" charset="0"/>
                <a:ea typeface="맑은 고딕" pitchFamily="34" charset="-122"/>
                <a:cs typeface="맑은 고딕" pitchFamily="34" charset="-120"/>
              </a:rPr>
              <a:t>팝업이 끝나면 손에 쥐는 건 매출 총액과 인스타 해시태그 개수뿐</a:t>
            </a:r>
            <a:endParaRPr lang="en-US" sz="1150" dirty="0"/>
          </a:p>
        </p:txBody>
      </p:sp>
      <p:sp>
        <p:nvSpPr>
          <p:cNvPr id="24" name="Shape 21"/>
          <p:cNvSpPr/>
          <p:nvPr/>
        </p:nvSpPr>
        <p:spPr>
          <a:xfrm>
            <a:off x="4300728" y="4692374"/>
            <a:ext cx="3587496" cy="1251226"/>
          </a:xfrm>
          <a:prstGeom prst="roundRect">
            <a:avLst>
              <a:gd name="adj" fmla="val 4385"/>
            </a:avLst>
          </a:prstGeom>
          <a:solidFill>
            <a:srgbClr val="FCEDEE"/>
          </a:solidFill>
          <a:ln w="12700">
            <a:solidFill>
              <a:srgbClr val="FCEDEE"/>
            </a:solidFill>
            <a:prstDash val="solid"/>
          </a:ln>
        </p:spPr>
      </p:sp>
      <p:sp>
        <p:nvSpPr>
          <p:cNvPr id="25" name="Text 22"/>
          <p:cNvSpPr txBox="1"/>
          <p:nvPr/>
        </p:nvSpPr>
        <p:spPr>
          <a:xfrm>
            <a:off x="4520184" y="4692374"/>
            <a:ext cx="457200" cy="1251226"/>
          </a:xfrm>
          <a:prstGeom prst="rect">
            <a:avLst/>
          </a:prstGeom>
          <a:noFill/>
          <a:ln/>
        </p:spPr>
        <p:txBody>
          <a:bodyPr wrap="square" lIns="0" tIns="0" rIns="0" bIns="0" rtlCol="0" anchor="ctr"/>
          <a:lstStyle/>
          <a:p>
            <a:pPr algn="l" indent="0" marL="0">
              <a:lnSpc>
                <a:spcPts val="3900"/>
              </a:lnSpc>
              <a:buNone/>
            </a:pPr>
            <a:r>
              <a:rPr lang="en-US" sz="2600" b="1" dirty="0">
                <a:solidFill>
                  <a:srgbClr val="E11D2E"/>
                </a:solidFill>
                <a:latin typeface="맑은 고딕" pitchFamily="34" charset="0"/>
                <a:ea typeface="맑은 고딕" pitchFamily="34" charset="-122"/>
                <a:cs typeface="맑은 고딕" pitchFamily="34" charset="-120"/>
              </a:rPr>
              <a:t>2</a:t>
            </a:r>
            <a:endParaRPr lang="en-US" sz="2600" dirty="0"/>
          </a:p>
        </p:txBody>
      </p:sp>
      <p:sp>
        <p:nvSpPr>
          <p:cNvPr id="26" name="Text 23"/>
          <p:cNvSpPr txBox="1"/>
          <p:nvPr/>
        </p:nvSpPr>
        <p:spPr>
          <a:xfrm>
            <a:off x="5032248" y="4692374"/>
            <a:ext cx="2581656" cy="1251226"/>
          </a:xfrm>
          <a:prstGeom prst="rect">
            <a:avLst/>
          </a:prstGeom>
          <a:noFill/>
          <a:ln/>
        </p:spPr>
        <p:txBody>
          <a:bodyPr wrap="square" lIns="0" tIns="0" rIns="0" bIns="0" rtlCol="0" anchor="ctr"/>
          <a:lstStyle/>
          <a:p>
            <a:pPr algn="l" indent="0" marL="0">
              <a:lnSpc>
                <a:spcPts val="1700"/>
              </a:lnSpc>
              <a:buNone/>
            </a:pPr>
            <a:r>
              <a:rPr lang="en-US" sz="1150" b="1" dirty="0">
                <a:solidFill>
                  <a:srgbClr val="0E1420"/>
                </a:solidFill>
                <a:latin typeface="맑은 고딕" pitchFamily="34" charset="0"/>
                <a:ea typeface="맑은 고딕" pitchFamily="34" charset="-122"/>
                <a:cs typeface="맑은 고딕" pitchFamily="34" charset="-120"/>
              </a:rPr>
              <a:t>온 사람 중 신규가 몇 %인지, 안 산 사람이 누구인지 모른다</a:t>
            </a:r>
            <a:endParaRPr lang="en-US" sz="1150" dirty="0"/>
          </a:p>
        </p:txBody>
      </p:sp>
      <p:sp>
        <p:nvSpPr>
          <p:cNvPr id="27" name="Shape 24"/>
          <p:cNvSpPr/>
          <p:nvPr/>
        </p:nvSpPr>
        <p:spPr>
          <a:xfrm>
            <a:off x="8034528" y="4692374"/>
            <a:ext cx="3587496" cy="1251226"/>
          </a:xfrm>
          <a:prstGeom prst="roundRect">
            <a:avLst>
              <a:gd name="adj" fmla="val 4385"/>
            </a:avLst>
          </a:prstGeom>
          <a:solidFill>
            <a:srgbClr val="FCEDEE"/>
          </a:solidFill>
          <a:ln w="12700">
            <a:solidFill>
              <a:srgbClr val="FCEDEE"/>
            </a:solidFill>
            <a:prstDash val="solid"/>
          </a:ln>
        </p:spPr>
      </p:sp>
      <p:sp>
        <p:nvSpPr>
          <p:cNvPr id="28" name="Text 25"/>
          <p:cNvSpPr txBox="1"/>
          <p:nvPr/>
        </p:nvSpPr>
        <p:spPr>
          <a:xfrm>
            <a:off x="8253984" y="4692374"/>
            <a:ext cx="457200" cy="1251226"/>
          </a:xfrm>
          <a:prstGeom prst="rect">
            <a:avLst/>
          </a:prstGeom>
          <a:noFill/>
          <a:ln/>
        </p:spPr>
        <p:txBody>
          <a:bodyPr wrap="square" lIns="0" tIns="0" rIns="0" bIns="0" rtlCol="0" anchor="ctr"/>
          <a:lstStyle/>
          <a:p>
            <a:pPr algn="l" indent="0" marL="0">
              <a:lnSpc>
                <a:spcPts val="3900"/>
              </a:lnSpc>
              <a:buNone/>
            </a:pPr>
            <a:r>
              <a:rPr lang="en-US" sz="2600" b="1" dirty="0">
                <a:solidFill>
                  <a:srgbClr val="E11D2E"/>
                </a:solidFill>
                <a:latin typeface="맑은 고딕" pitchFamily="34" charset="0"/>
                <a:ea typeface="맑은 고딕" pitchFamily="34" charset="-122"/>
                <a:cs typeface="맑은 고딕" pitchFamily="34" charset="-120"/>
              </a:rPr>
              <a:t>3</a:t>
            </a:r>
            <a:endParaRPr lang="en-US" sz="2600" dirty="0"/>
          </a:p>
        </p:txBody>
      </p:sp>
      <p:sp>
        <p:nvSpPr>
          <p:cNvPr id="29" name="Text 26"/>
          <p:cNvSpPr txBox="1"/>
          <p:nvPr/>
        </p:nvSpPr>
        <p:spPr>
          <a:xfrm>
            <a:off x="8766048" y="4692374"/>
            <a:ext cx="2581656" cy="1251226"/>
          </a:xfrm>
          <a:prstGeom prst="rect">
            <a:avLst/>
          </a:prstGeom>
          <a:noFill/>
          <a:ln/>
        </p:spPr>
        <p:txBody>
          <a:bodyPr wrap="square" lIns="0" tIns="0" rIns="0" bIns="0" rtlCol="0" anchor="ctr"/>
          <a:lstStyle/>
          <a:p>
            <a:pPr algn="l" indent="0" marL="0">
              <a:lnSpc>
                <a:spcPts val="1700"/>
              </a:lnSpc>
              <a:buNone/>
            </a:pPr>
            <a:r>
              <a:rPr lang="en-US" sz="1150" b="1" dirty="0">
                <a:solidFill>
                  <a:srgbClr val="0E1420"/>
                </a:solidFill>
                <a:latin typeface="맑은 고딕" pitchFamily="34" charset="0"/>
                <a:ea typeface="맑은 고딕" pitchFamily="34" charset="-122"/>
                <a:cs typeface="맑은 고딕" pitchFamily="34" charset="-120"/>
              </a:rPr>
              <a:t>그래서 다음 팝업도 감으로 연다</a:t>
            </a:r>
            <a:endParaRPr lang="en-US" sz="1150" dirty="0"/>
          </a:p>
        </p:txBody>
      </p:sp>
      <p:sp>
        <p:nvSpPr>
          <p:cNvPr id="30" name="Text 27"/>
          <p:cNvSpPr txBox="1"/>
          <p:nvPr/>
        </p:nvSpPr>
        <p:spPr>
          <a:xfrm>
            <a:off x="566928" y="6163056"/>
            <a:ext cx="11055096" cy="365760"/>
          </a:xfrm>
          <a:prstGeom prst="rect">
            <a:avLst/>
          </a:prstGeom>
          <a:noFill/>
          <a:ln/>
        </p:spPr>
        <p:txBody>
          <a:bodyPr wrap="square" lIns="0" tIns="0" rIns="0" bIns="0" rtlCol="0" anchor="ctr"/>
          <a:lstStyle/>
          <a:p>
            <a:pPr algn="ctr" indent="0" marL="0">
              <a:lnSpc>
                <a:spcPts val="1900"/>
              </a:lnSpc>
              <a:buNone/>
            </a:pPr>
            <a:r>
              <a:rPr lang="en-US" sz="1250" b="1" dirty="0">
                <a:solidFill>
                  <a:srgbClr val="E11D2E"/>
                </a:solidFill>
                <a:latin typeface="맑은 고딕" pitchFamily="34" charset="0"/>
                <a:ea typeface="맑은 고딕" pitchFamily="34" charset="-122"/>
                <a:cs typeface="맑은 고딕" pitchFamily="34" charset="-120"/>
              </a:rPr>
              <a:t>Beyond Customer Expectation  —  </a:t>
            </a:r>
            <a:pPr algn="ctr" indent="0" marL="0">
              <a:lnSpc>
                <a:spcPts val="1900"/>
              </a:lnSpc>
              <a:buNone/>
            </a:pPr>
            <a:r>
              <a:rPr lang="en-US" sz="1250" b="1" dirty="0">
                <a:solidFill>
                  <a:srgbClr val="0E1420"/>
                </a:solidFill>
                <a:latin typeface="맑은 고딕" pitchFamily="34" charset="0"/>
                <a:ea typeface="맑은 고딕" pitchFamily="34" charset="-122"/>
                <a:cs typeface="맑은 고딕" pitchFamily="34" charset="-120"/>
              </a:rPr>
              <a:t>브랜드가 기대하는 '리포트'를 넘어, '그래서 무엇을 바꿔야 하는가'까지 드립니다.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20"/>
        </a:solidFill>
      </p:bgPr>
    </p:bg>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02</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FFFFFF"/>
                </a:solidFill>
                <a:latin typeface="맑은 고딕" pitchFamily="34" charset="0"/>
                <a:ea typeface="맑은 고딕" pitchFamily="34" charset="-122"/>
                <a:cs typeface="맑은 고딕" pitchFamily="34" charset="-120"/>
              </a:rPr>
              <a:t>가치 제안  |  브랜드가 모르는 자기 고객</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AEB8C7"/>
                </a:solidFill>
                <a:latin typeface="맑은 고딕" pitchFamily="34" charset="0"/>
                <a:ea typeface="맑은 고딕" pitchFamily="34" charset="-122"/>
                <a:cs typeface="맑은 고딕" pitchFamily="34" charset="-120"/>
              </a:rPr>
              <a:t>팝업이 끝나면 브랜드에게 드리는 다섯 가지 — 스스로는 절대 알 수 없는 답</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F5A623"/>
                </a:solidFill>
                <a:latin typeface="맑은 고딕" pitchFamily="34" charset="0"/>
                <a:ea typeface="맑은 고딕" pitchFamily="34" charset="-122"/>
                <a:cs typeface="맑은 고딕" pitchFamily="34" charset="-120"/>
              </a:rPr>
              <a:t>STEP 1 · 가치 전달</a:t>
            </a:r>
            <a:endParaRPr lang="en-US" sz="1100" dirty="0"/>
          </a:p>
        </p:txBody>
      </p:sp>
      <p:sp>
        <p:nvSpPr>
          <p:cNvPr id="8" name="Shape 5"/>
          <p:cNvSpPr/>
          <p:nvPr/>
        </p:nvSpPr>
        <p:spPr>
          <a:xfrm>
            <a:off x="566928" y="1481328"/>
            <a:ext cx="11055096" cy="804672"/>
          </a:xfrm>
          <a:prstGeom prst="roundRect">
            <a:avLst>
              <a:gd name="adj" fmla="val 6818"/>
            </a:avLst>
          </a:prstGeom>
          <a:solidFill>
            <a:srgbClr val="1A2233"/>
          </a:solidFill>
          <a:ln w="12700">
            <a:solidFill>
              <a:srgbClr val="1A2233"/>
            </a:solidFill>
            <a:prstDash val="solid"/>
          </a:ln>
        </p:spPr>
      </p:sp>
      <p:sp>
        <p:nvSpPr>
          <p:cNvPr id="9" name="Shape 6"/>
          <p:cNvSpPr/>
          <p:nvPr/>
        </p:nvSpPr>
        <p:spPr>
          <a:xfrm>
            <a:off x="841248" y="1682496"/>
            <a:ext cx="402336" cy="402336"/>
          </a:xfrm>
          <a:prstGeom prst="ellipse">
            <a:avLst/>
          </a:prstGeom>
          <a:solidFill>
            <a:srgbClr val="E11D2E"/>
          </a:solidFill>
          <a:ln/>
        </p:spPr>
      </p:sp>
      <p:sp>
        <p:nvSpPr>
          <p:cNvPr id="10" name="Text 7"/>
          <p:cNvSpPr txBox="1"/>
          <p:nvPr/>
        </p:nvSpPr>
        <p:spPr>
          <a:xfrm>
            <a:off x="841248" y="16824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11" name="Text 8"/>
          <p:cNvSpPr txBox="1"/>
          <p:nvPr/>
        </p:nvSpPr>
        <p:spPr>
          <a:xfrm>
            <a:off x="1444752" y="14813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이번에 온 사람 중 신규가 몇 %인가</a:t>
            </a:r>
            <a:endParaRPr lang="en-US" sz="1500" dirty="0"/>
          </a:p>
        </p:txBody>
      </p:sp>
      <p:sp>
        <p:nvSpPr>
          <p:cNvPr id="12" name="Text 9"/>
          <p:cNvSpPr txBox="1"/>
          <p:nvPr/>
        </p:nvSpPr>
        <p:spPr>
          <a:xfrm>
            <a:off x="6583680" y="14813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매출만 보면 성공 같지만, 기존 고객만 다시 온 것일 수 있습니다</a:t>
            </a:r>
            <a:endParaRPr lang="en-US" sz="1150" dirty="0"/>
          </a:p>
        </p:txBody>
      </p:sp>
      <p:sp>
        <p:nvSpPr>
          <p:cNvPr id="13" name="Shape 10"/>
          <p:cNvSpPr/>
          <p:nvPr/>
        </p:nvSpPr>
        <p:spPr>
          <a:xfrm>
            <a:off x="566928" y="2395728"/>
            <a:ext cx="11055096" cy="804672"/>
          </a:xfrm>
          <a:prstGeom prst="roundRect">
            <a:avLst>
              <a:gd name="adj" fmla="val 6818"/>
            </a:avLst>
          </a:prstGeom>
          <a:solidFill>
            <a:srgbClr val="1A2233"/>
          </a:solidFill>
          <a:ln w="12700">
            <a:solidFill>
              <a:srgbClr val="1A2233"/>
            </a:solidFill>
            <a:prstDash val="solid"/>
          </a:ln>
        </p:spPr>
      </p:sp>
      <p:sp>
        <p:nvSpPr>
          <p:cNvPr id="14" name="Shape 11"/>
          <p:cNvSpPr/>
          <p:nvPr/>
        </p:nvSpPr>
        <p:spPr>
          <a:xfrm>
            <a:off x="841248" y="2596896"/>
            <a:ext cx="402336" cy="402336"/>
          </a:xfrm>
          <a:prstGeom prst="ellipse">
            <a:avLst/>
          </a:prstGeom>
          <a:solidFill>
            <a:srgbClr val="E11D2E"/>
          </a:solidFill>
          <a:ln/>
        </p:spPr>
      </p:sp>
      <p:sp>
        <p:nvSpPr>
          <p:cNvPr id="15" name="Text 12"/>
          <p:cNvSpPr txBox="1"/>
          <p:nvPr/>
        </p:nvSpPr>
        <p:spPr>
          <a:xfrm>
            <a:off x="841248" y="25968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6" name="Text 13"/>
          <p:cNvSpPr txBox="1"/>
          <p:nvPr/>
        </p:nvSpPr>
        <p:spPr>
          <a:xfrm>
            <a:off x="1444752" y="23957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들어왔는데 안 산 사람은 누구였나</a:t>
            </a:r>
            <a:endParaRPr lang="en-US" sz="1500" dirty="0"/>
          </a:p>
        </p:txBody>
      </p:sp>
      <p:sp>
        <p:nvSpPr>
          <p:cNvPr id="17" name="Text 14"/>
          <p:cNvSpPr txBox="1"/>
          <p:nvPr/>
        </p:nvSpPr>
        <p:spPr>
          <a:xfrm>
            <a:off x="6583680" y="23957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가격대가 안 맞았는지, 타깃을 잘못 잡았는지가 여기서 나옵니다</a:t>
            </a:r>
            <a:endParaRPr lang="en-US" sz="1150" dirty="0"/>
          </a:p>
        </p:txBody>
      </p:sp>
      <p:sp>
        <p:nvSpPr>
          <p:cNvPr id="18" name="Shape 15"/>
          <p:cNvSpPr/>
          <p:nvPr/>
        </p:nvSpPr>
        <p:spPr>
          <a:xfrm>
            <a:off x="566928" y="3310128"/>
            <a:ext cx="11055096" cy="804672"/>
          </a:xfrm>
          <a:prstGeom prst="roundRect">
            <a:avLst>
              <a:gd name="adj" fmla="val 6818"/>
            </a:avLst>
          </a:prstGeom>
          <a:solidFill>
            <a:srgbClr val="1A2233"/>
          </a:solidFill>
          <a:ln w="12700">
            <a:solidFill>
              <a:srgbClr val="1A2233"/>
            </a:solidFill>
            <a:prstDash val="solid"/>
          </a:ln>
        </p:spPr>
      </p:sp>
      <p:sp>
        <p:nvSpPr>
          <p:cNvPr id="19" name="Shape 16"/>
          <p:cNvSpPr/>
          <p:nvPr/>
        </p:nvSpPr>
        <p:spPr>
          <a:xfrm>
            <a:off x="841248" y="3511296"/>
            <a:ext cx="402336" cy="402336"/>
          </a:xfrm>
          <a:prstGeom prst="ellipse">
            <a:avLst/>
          </a:prstGeom>
          <a:solidFill>
            <a:srgbClr val="E11D2E"/>
          </a:solidFill>
          <a:ln/>
        </p:spPr>
      </p:sp>
      <p:sp>
        <p:nvSpPr>
          <p:cNvPr id="20" name="Text 17"/>
          <p:cNvSpPr txBox="1"/>
          <p:nvPr/>
        </p:nvSpPr>
        <p:spPr>
          <a:xfrm>
            <a:off x="841248" y="35112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21" name="Text 18"/>
          <p:cNvSpPr txBox="1"/>
          <p:nvPr/>
        </p:nvSpPr>
        <p:spPr>
          <a:xfrm>
            <a:off x="1444752" y="33101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우리 방문객이 평소 어디서 무엇을 사는가</a:t>
            </a:r>
            <a:endParaRPr lang="en-US" sz="1500" dirty="0"/>
          </a:p>
        </p:txBody>
      </p:sp>
      <p:sp>
        <p:nvSpPr>
          <p:cNvPr id="22" name="Text 19"/>
          <p:cNvSpPr txBox="1"/>
          <p:nvPr/>
        </p:nvSpPr>
        <p:spPr>
          <a:xfrm>
            <a:off x="6583680" y="33101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"우리 고객의 38%가 경쟁사 A 구매 이력" — 포지셔닝과 가격 전략을 바꿉니다</a:t>
            </a:r>
            <a:endParaRPr lang="en-US" sz="1150" dirty="0"/>
          </a:p>
        </p:txBody>
      </p:sp>
      <p:sp>
        <p:nvSpPr>
          <p:cNvPr id="23" name="Shape 20"/>
          <p:cNvSpPr/>
          <p:nvPr/>
        </p:nvSpPr>
        <p:spPr>
          <a:xfrm>
            <a:off x="566928" y="4224528"/>
            <a:ext cx="11055096" cy="804672"/>
          </a:xfrm>
          <a:prstGeom prst="roundRect">
            <a:avLst>
              <a:gd name="adj" fmla="val 6818"/>
            </a:avLst>
          </a:prstGeom>
          <a:solidFill>
            <a:srgbClr val="1A2233"/>
          </a:solidFill>
          <a:ln w="12700">
            <a:solidFill>
              <a:srgbClr val="1A2233"/>
            </a:solidFill>
            <a:prstDash val="solid"/>
          </a:ln>
        </p:spPr>
      </p:sp>
      <p:sp>
        <p:nvSpPr>
          <p:cNvPr id="24" name="Shape 21"/>
          <p:cNvSpPr/>
          <p:nvPr/>
        </p:nvSpPr>
        <p:spPr>
          <a:xfrm>
            <a:off x="841248" y="4425696"/>
            <a:ext cx="402336" cy="402336"/>
          </a:xfrm>
          <a:prstGeom prst="ellipse">
            <a:avLst/>
          </a:prstGeom>
          <a:solidFill>
            <a:srgbClr val="E11D2E"/>
          </a:solidFill>
          <a:ln/>
        </p:spPr>
      </p:sp>
      <p:sp>
        <p:nvSpPr>
          <p:cNvPr id="25" name="Text 22"/>
          <p:cNvSpPr txBox="1"/>
          <p:nvPr/>
        </p:nvSpPr>
        <p:spPr>
          <a:xfrm>
            <a:off x="841248" y="44256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26" name="Text 23"/>
          <p:cNvSpPr txBox="1"/>
          <p:nvPr/>
        </p:nvSpPr>
        <p:spPr>
          <a:xfrm>
            <a:off x="1444752" y="42245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집었는데 안 산 상품</a:t>
            </a:r>
            <a:endParaRPr lang="en-US" sz="1500" dirty="0"/>
          </a:p>
        </p:txBody>
      </p:sp>
      <p:sp>
        <p:nvSpPr>
          <p:cNvPr id="27" name="Text 24"/>
          <p:cNvSpPr txBox="1"/>
          <p:nvPr/>
        </p:nvSpPr>
        <p:spPr>
          <a:xfrm>
            <a:off x="6583680" y="42245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온라인의 장바구니 이탈과 같습니다. 그대로 상품기획 피드백이 됩니다</a:t>
            </a:r>
            <a:endParaRPr lang="en-US" sz="1150" dirty="0"/>
          </a:p>
        </p:txBody>
      </p:sp>
      <p:sp>
        <p:nvSpPr>
          <p:cNvPr id="28" name="Shape 25"/>
          <p:cNvSpPr/>
          <p:nvPr/>
        </p:nvSpPr>
        <p:spPr>
          <a:xfrm>
            <a:off x="566928" y="5138928"/>
            <a:ext cx="11055096" cy="804672"/>
          </a:xfrm>
          <a:prstGeom prst="roundRect">
            <a:avLst>
              <a:gd name="adj" fmla="val 6818"/>
            </a:avLst>
          </a:prstGeom>
          <a:solidFill>
            <a:srgbClr val="1A2233"/>
          </a:solidFill>
          <a:ln w="12700">
            <a:solidFill>
              <a:srgbClr val="1A2233"/>
            </a:solidFill>
            <a:prstDash val="solid"/>
          </a:ln>
        </p:spPr>
      </p:sp>
      <p:sp>
        <p:nvSpPr>
          <p:cNvPr id="29" name="Shape 26"/>
          <p:cNvSpPr/>
          <p:nvPr/>
        </p:nvSpPr>
        <p:spPr>
          <a:xfrm>
            <a:off x="841248" y="5340096"/>
            <a:ext cx="402336" cy="402336"/>
          </a:xfrm>
          <a:prstGeom prst="ellipse">
            <a:avLst/>
          </a:prstGeom>
          <a:solidFill>
            <a:srgbClr val="E11D2E"/>
          </a:solidFill>
          <a:ln/>
        </p:spPr>
      </p:sp>
      <p:sp>
        <p:nvSpPr>
          <p:cNvPr id="30" name="Text 27"/>
          <p:cNvSpPr txBox="1"/>
          <p:nvPr/>
        </p:nvSpPr>
        <p:spPr>
          <a:xfrm>
            <a:off x="841248" y="53400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맑은 고딕" pitchFamily="34" charset="0"/>
                <a:ea typeface="맑은 고딕" pitchFamily="34" charset="-122"/>
                <a:cs typeface="맑은 고딕" pitchFamily="34" charset="-120"/>
              </a:rPr>
              <a:t>5</a:t>
            </a:r>
            <a:endParaRPr lang="en-US" sz="1400" dirty="0"/>
          </a:p>
        </p:txBody>
      </p:sp>
      <p:sp>
        <p:nvSpPr>
          <p:cNvPr id="31" name="Text 28"/>
          <p:cNvSpPr txBox="1"/>
          <p:nvPr/>
        </p:nvSpPr>
        <p:spPr>
          <a:xfrm>
            <a:off x="1444752" y="51389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다음 팝업은 어디에, 언제, 어느 층에</a:t>
            </a:r>
            <a:endParaRPr lang="en-US" sz="1500" dirty="0"/>
          </a:p>
        </p:txBody>
      </p:sp>
      <p:sp>
        <p:nvSpPr>
          <p:cNvPr id="32" name="Text 29"/>
          <p:cNvSpPr txBox="1"/>
          <p:nvPr/>
        </p:nvSpPr>
        <p:spPr>
          <a:xfrm>
            <a:off x="6583680" y="51389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롯데 전점 트래픽이 있어야만 나오는 처방입니다</a:t>
            </a:r>
            <a:endParaRPr lang="en-US" sz="1150" dirty="0"/>
          </a:p>
        </p:txBody>
      </p:sp>
      <p:sp>
        <p:nvSpPr>
          <p:cNvPr id="33" name="Text 30"/>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F5A623"/>
                </a:solidFill>
                <a:latin typeface="맑은 고딕" pitchFamily="34" charset="0"/>
                <a:ea typeface="맑은 고딕" pitchFamily="34" charset="-122"/>
                <a:cs typeface="맑은 고딕" pitchFamily="34" charset="-120"/>
              </a:rPr>
              <a:t>브랜드는 자기가 판 것만 압니다.  L.POINT 소비 이력과 롯데 전점 트래픽이 동시에 있어야만 나오는 답입니다.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02</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가치 제안  |  처방의 효과를 POS로 증명합니다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경쟁사는 결제 데이터가 없어 자기 처방이 통했는지 증명할 수 없습니다</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graphicFrame>
        <p:nvGraphicFramePr>
          <p:cNvPr id="8" name="Chart 0" descr=""/>
          <p:cNvGraphicFramePr/>
          <p:nvPr/>
        </p:nvGraphicFramePr>
        <p:xfrm>
          <a:off x="566928" y="1481328"/>
          <a:ext cx="5989320" cy="3328416"/>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830568" y="1481328"/>
            <a:ext cx="4791456" cy="1285240"/>
          </a:xfrm>
          <a:prstGeom prst="roundRect">
            <a:avLst>
              <a:gd name="adj" fmla="val 426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0" name="Text 6"/>
          <p:cNvSpPr txBox="1"/>
          <p:nvPr/>
        </p:nvSpPr>
        <p:spPr>
          <a:xfrm>
            <a:off x="7104888" y="1700784"/>
            <a:ext cx="424281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개선 → 적용 → 검증</a:t>
            </a:r>
            <a:endParaRPr lang="en-US" sz="1100" dirty="0"/>
          </a:p>
        </p:txBody>
      </p:sp>
      <p:sp>
        <p:nvSpPr>
          <p:cNvPr id="11" name="Text 7"/>
          <p:cNvSpPr txBox="1"/>
          <p:nvPr/>
        </p:nvSpPr>
        <p:spPr>
          <a:xfrm>
            <a:off x="7104888" y="2017268"/>
            <a:ext cx="424281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진열·동선·상품 배치 개선안 제시</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2~4주 적용 후 POS 결제 데이터로 전후 실측 비교</a:t>
            </a:r>
            <a:endParaRPr lang="en-US" sz="1150" dirty="0"/>
          </a:p>
        </p:txBody>
      </p:sp>
      <p:sp>
        <p:nvSpPr>
          <p:cNvPr id="12" name="Shape 8"/>
          <p:cNvSpPr/>
          <p:nvPr/>
        </p:nvSpPr>
        <p:spPr>
          <a:xfrm>
            <a:off x="6830568" y="2967736"/>
            <a:ext cx="4791456" cy="1842008"/>
          </a:xfrm>
          <a:prstGeom prst="roundRect">
            <a:avLst>
              <a:gd name="adj" fmla="val 2978"/>
            </a:avLst>
          </a:prstGeom>
          <a:solidFill>
            <a:srgbClr val="0E1420"/>
          </a:solidFill>
          <a:ln w="12700">
            <a:solidFill>
              <a:srgbClr val="0E1420"/>
            </a:solidFill>
            <a:prstDash val="solid"/>
          </a:ln>
        </p:spPr>
      </p:sp>
      <p:sp>
        <p:nvSpPr>
          <p:cNvPr id="13" name="Text 9"/>
          <p:cNvSpPr txBox="1"/>
          <p:nvPr/>
        </p:nvSpPr>
        <p:spPr>
          <a:xfrm>
            <a:off x="7104888" y="3223768"/>
            <a:ext cx="4242816" cy="535432"/>
          </a:xfrm>
          <a:prstGeom prst="rect">
            <a:avLst/>
          </a:prstGeom>
          <a:noFill/>
          <a:ln/>
        </p:spPr>
        <p:txBody>
          <a:bodyPr wrap="square" lIns="0" tIns="0" rIns="0" bIns="0" rtlCol="0" anchor="t"/>
          <a:lstStyle/>
          <a:p>
            <a:pPr algn="l" indent="0" marL="0">
              <a:lnSpc>
                <a:spcPts val="2000"/>
              </a:lnSpc>
              <a:buNone/>
            </a:pPr>
            <a:r>
              <a:rPr lang="en-US" sz="1300" dirty="0">
                <a:solidFill>
                  <a:srgbClr val="AEB8C7"/>
                </a:solidFill>
                <a:latin typeface="맑은 고딕" pitchFamily="34" charset="0"/>
                <a:ea typeface="맑은 고딕" pitchFamily="34" charset="-122"/>
                <a:cs typeface="맑은 고딕" pitchFamily="34" charset="-120"/>
              </a:rPr>
              <a:t>효과를 증명 못 하는 컨설팅은</a:t>
            </a:r>
            <a:endParaRPr lang="en-US" sz="1300" dirty="0"/>
          </a:p>
          <a:p>
            <a:pPr algn="l" indent="0" marL="0">
              <a:lnSpc>
                <a:spcPts val="2000"/>
              </a:lnSpc>
              <a:buNone/>
            </a:pPr>
            <a:r>
              <a:rPr lang="en-US" sz="1300" dirty="0">
                <a:solidFill>
                  <a:srgbClr val="AEB8C7"/>
                </a:solidFill>
                <a:latin typeface="맑은 고딕" pitchFamily="34" charset="0"/>
                <a:ea typeface="맑은 고딕" pitchFamily="34" charset="-122"/>
                <a:cs typeface="맑은 고딕" pitchFamily="34" charset="-120"/>
              </a:rPr>
              <a:t>한 번 팔리고 끝납니다.</a:t>
            </a:r>
            <a:endParaRPr lang="en-US" sz="1300" dirty="0"/>
          </a:p>
        </p:txBody>
      </p:sp>
      <p:sp>
        <p:nvSpPr>
          <p:cNvPr id="14" name="Text 10"/>
          <p:cNvSpPr txBox="1"/>
          <p:nvPr/>
        </p:nvSpPr>
        <p:spPr>
          <a:xfrm>
            <a:off x="7104888" y="4242816"/>
            <a:ext cx="4242816" cy="319532"/>
          </a:xfrm>
          <a:prstGeom prst="rect">
            <a:avLst/>
          </a:prstGeom>
          <a:noFill/>
          <a:ln/>
        </p:spPr>
        <p:txBody>
          <a:bodyPr wrap="square" lIns="0" tIns="0" rIns="0" bIns="0" rtlCol="0" anchor="t"/>
          <a:lstStyle/>
          <a:p>
            <a:pPr algn="l" indent="0" marL="0">
              <a:lnSpc>
                <a:spcPts val="2300"/>
              </a:lnSpc>
              <a:buNone/>
            </a:pPr>
            <a:r>
              <a:rPr lang="en-US" sz="1500" b="1" dirty="0">
                <a:solidFill>
                  <a:srgbClr val="F5A623"/>
                </a:solidFill>
                <a:latin typeface="맑은 고딕" pitchFamily="34" charset="0"/>
                <a:ea typeface="맑은 고딕" pitchFamily="34" charset="-122"/>
                <a:cs typeface="맑은 고딕" pitchFamily="34" charset="-120"/>
              </a:rPr>
              <a:t>증명하는 컨설팅은 갱신됩니다.</a:t>
            </a:r>
            <a:endParaRPr lang="en-US" sz="1500" dirty="0"/>
          </a:p>
        </p:txBody>
      </p:sp>
      <p:sp>
        <p:nvSpPr>
          <p:cNvPr id="15" name="Shape 11"/>
          <p:cNvSpPr/>
          <p:nvPr/>
        </p:nvSpPr>
        <p:spPr>
          <a:xfrm>
            <a:off x="566928" y="5102352"/>
            <a:ext cx="11055096" cy="841248"/>
          </a:xfrm>
          <a:prstGeom prst="roundRect">
            <a:avLst>
              <a:gd name="adj" fmla="val 6522"/>
            </a:avLst>
          </a:prstGeom>
          <a:solidFill>
            <a:srgbClr val="F7F8FA"/>
          </a:solidFill>
          <a:ln w="12700">
            <a:solidFill>
              <a:srgbClr val="E4E8EE"/>
            </a:solidFill>
            <a:prstDash val="solid"/>
          </a:ln>
        </p:spPr>
      </p:sp>
      <p:sp>
        <p:nvSpPr>
          <p:cNvPr id="16" name="Text 12"/>
          <p:cNvSpPr txBox="1"/>
          <p:nvPr/>
        </p:nvSpPr>
        <p:spPr>
          <a:xfrm>
            <a:off x="877824" y="5102352"/>
            <a:ext cx="2286000" cy="841248"/>
          </a:xfrm>
          <a:prstGeom prst="rect">
            <a:avLst/>
          </a:prstGeom>
          <a:noFill/>
          <a:ln/>
        </p:spPr>
        <p:txBody>
          <a:bodyPr wrap="square" lIns="0" tIns="0" rIns="0" bIns="0" rtlCol="0" anchor="ctr"/>
          <a:lstStyle/>
          <a:p>
            <a:pPr algn="l" indent="0" marL="0">
              <a:lnSpc>
                <a:spcPts val="1700"/>
              </a:lnSpc>
              <a:buNone/>
            </a:pPr>
            <a:r>
              <a:rPr lang="en-US" sz="1150" b="1" dirty="0">
                <a:solidFill>
                  <a:srgbClr val="5E6979"/>
                </a:solidFill>
                <a:latin typeface="맑은 고딕" pitchFamily="34" charset="0"/>
                <a:ea typeface="맑은 고딕" pitchFamily="34" charset="-122"/>
                <a:cs typeface="맑은 고딕" pitchFamily="34" charset="-120"/>
              </a:rPr>
              <a:t>온라인 GA의 오프라인 구현</a:t>
            </a:r>
            <a:endParaRPr lang="en-US" sz="1150" dirty="0"/>
          </a:p>
        </p:txBody>
      </p:sp>
      <p:sp>
        <p:nvSpPr>
          <p:cNvPr id="17" name="Text 13"/>
          <p:cNvSpPr txBox="1"/>
          <p:nvPr/>
        </p:nvSpPr>
        <p:spPr>
          <a:xfrm>
            <a:off x="3200400"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맑은 고딕" pitchFamily="34" charset="0"/>
                <a:ea typeface="맑은 고딕" pitchFamily="34" charset="-122"/>
                <a:cs typeface="맑은 고딕" pitchFamily="34" charset="-120"/>
              </a:rPr>
              <a:t>노출  →  </a:t>
            </a:r>
            <a:pPr indent="0" marL="0">
              <a:buNone/>
            </a:pPr>
            <a:r>
              <a:rPr lang="en-US" sz="1150" b="1" dirty="0">
                <a:solidFill>
                  <a:srgbClr val="0E1420"/>
                </a:solidFill>
                <a:latin typeface="맑은 고딕" pitchFamily="34" charset="0"/>
                <a:ea typeface="맑은 고딕" pitchFamily="34" charset="-122"/>
                <a:cs typeface="맑은 고딕" pitchFamily="34" charset="-120"/>
              </a:rPr>
              <a:t>통행 수</a:t>
            </a:r>
            <a:endParaRPr lang="en-US" sz="1150" dirty="0"/>
          </a:p>
        </p:txBody>
      </p:sp>
      <p:sp>
        <p:nvSpPr>
          <p:cNvPr id="18" name="Text 14"/>
          <p:cNvSpPr txBox="1"/>
          <p:nvPr/>
        </p:nvSpPr>
        <p:spPr>
          <a:xfrm>
            <a:off x="4864608"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맑은 고딕" pitchFamily="34" charset="0"/>
                <a:ea typeface="맑은 고딕" pitchFamily="34" charset="-122"/>
                <a:cs typeface="맑은 고딕" pitchFamily="34" charset="-120"/>
              </a:rPr>
              <a:t>클릭률  →  </a:t>
            </a:r>
            <a:pPr indent="0" marL="0">
              <a:buNone/>
            </a:pPr>
            <a:r>
              <a:rPr lang="en-US" sz="1150" b="1" dirty="0">
                <a:solidFill>
                  <a:srgbClr val="E11D2E"/>
                </a:solidFill>
                <a:latin typeface="맑은 고딕" pitchFamily="34" charset="0"/>
                <a:ea typeface="맑은 고딕" pitchFamily="34" charset="-122"/>
                <a:cs typeface="맑은 고딕" pitchFamily="34" charset="-120"/>
              </a:rPr>
              <a:t>유입률 ★</a:t>
            </a:r>
            <a:endParaRPr lang="en-US" sz="1150" dirty="0"/>
          </a:p>
        </p:txBody>
      </p:sp>
      <p:sp>
        <p:nvSpPr>
          <p:cNvPr id="19" name="Text 15"/>
          <p:cNvSpPr txBox="1"/>
          <p:nvPr/>
        </p:nvSpPr>
        <p:spPr>
          <a:xfrm>
            <a:off x="6528816"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맑은 고딕" pitchFamily="34" charset="0"/>
                <a:ea typeface="맑은 고딕" pitchFamily="34" charset="-122"/>
                <a:cs typeface="맑은 고딕" pitchFamily="34" charset="-120"/>
              </a:rPr>
              <a:t>장바구니  →  </a:t>
            </a:r>
            <a:pPr indent="0" marL="0">
              <a:buNone/>
            </a:pPr>
            <a:r>
              <a:rPr lang="en-US" sz="1150" b="1" dirty="0">
                <a:solidFill>
                  <a:srgbClr val="0E1420"/>
                </a:solidFill>
                <a:latin typeface="맑은 고딕" pitchFamily="34" charset="0"/>
                <a:ea typeface="맑은 고딕" pitchFamily="34" charset="-122"/>
                <a:cs typeface="맑은 고딕" pitchFamily="34" charset="-120"/>
              </a:rPr>
              <a:t>집품률</a:t>
            </a:r>
            <a:endParaRPr lang="en-US" sz="1150" dirty="0"/>
          </a:p>
        </p:txBody>
      </p:sp>
      <p:sp>
        <p:nvSpPr>
          <p:cNvPr id="20" name="Text 16"/>
          <p:cNvSpPr txBox="1"/>
          <p:nvPr/>
        </p:nvSpPr>
        <p:spPr>
          <a:xfrm>
            <a:off x="8193024"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맑은 고딕" pitchFamily="34" charset="0"/>
                <a:ea typeface="맑은 고딕" pitchFamily="34" charset="-122"/>
                <a:cs typeface="맑은 고딕" pitchFamily="34" charset="-120"/>
              </a:rPr>
              <a:t>구매  →  </a:t>
            </a:r>
            <a:pPr indent="0" marL="0">
              <a:buNone/>
            </a:pPr>
            <a:r>
              <a:rPr lang="en-US" sz="1150" b="1" dirty="0">
                <a:solidFill>
                  <a:srgbClr val="0E1420"/>
                </a:solidFill>
                <a:latin typeface="맑은 고딕" pitchFamily="34" charset="0"/>
                <a:ea typeface="맑은 고딕" pitchFamily="34" charset="-122"/>
                <a:cs typeface="맑은 고딕" pitchFamily="34" charset="-120"/>
              </a:rPr>
              <a:t>전환율</a:t>
            </a:r>
            <a:endParaRPr lang="en-US" sz="1150" dirty="0"/>
          </a:p>
        </p:txBody>
      </p:sp>
      <p:sp>
        <p:nvSpPr>
          <p:cNvPr id="21" name="Text 17"/>
          <p:cNvSpPr txBox="1"/>
          <p:nvPr/>
        </p:nvSpPr>
        <p:spPr>
          <a:xfrm>
            <a:off x="9857232"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맑은 고딕" pitchFamily="34" charset="0"/>
                <a:ea typeface="맑은 고딕" pitchFamily="34" charset="-122"/>
                <a:cs typeface="맑은 고딕" pitchFamily="34" charset="-120"/>
              </a:rPr>
              <a:t>이탈률  →  </a:t>
            </a:r>
            <a:pPr indent="0" marL="0">
              <a:buNone/>
            </a:pPr>
            <a:r>
              <a:rPr lang="en-US" sz="1150" b="1" dirty="0">
                <a:solidFill>
                  <a:srgbClr val="0E1420"/>
                </a:solidFill>
                <a:latin typeface="맑은 고딕" pitchFamily="34" charset="0"/>
                <a:ea typeface="맑은 고딕" pitchFamily="34" charset="-122"/>
                <a:cs typeface="맑은 고딕" pitchFamily="34" charset="-120"/>
              </a:rPr>
              <a:t>3초 이탈</a:t>
            </a:r>
            <a:endParaRPr lang="en-US" sz="1150" dirty="0"/>
          </a:p>
        </p:txBody>
      </p:sp>
      <p:sp>
        <p:nvSpPr>
          <p:cNvPr id="22" name="Text 18"/>
          <p:cNvSpPr txBox="1"/>
          <p:nvPr/>
        </p:nvSpPr>
        <p:spPr>
          <a:xfrm>
            <a:off x="566928" y="6163056"/>
            <a:ext cx="11055096" cy="365760"/>
          </a:xfrm>
          <a:prstGeom prst="rect">
            <a:avLst/>
          </a:prstGeom>
          <a:noFill/>
          <a:ln/>
        </p:spPr>
        <p:txBody>
          <a:bodyPr wrap="square" lIns="0" tIns="0" rIns="0" bIns="0" rtlCol="0" anchor="ctr"/>
          <a:lstStyle/>
          <a:p>
            <a:pPr algn="ctr" indent="0" marL="0">
              <a:lnSpc>
                <a:spcPts val="1900"/>
              </a:lnSpc>
              <a:buNone/>
            </a:pPr>
            <a:r>
              <a:rPr lang="en-US" sz="1250" b="1" dirty="0">
                <a:solidFill>
                  <a:srgbClr val="0E1420"/>
                </a:solidFill>
                <a:latin typeface="맑은 고딕" pitchFamily="34" charset="0"/>
                <a:ea typeface="맑은 고딕" pitchFamily="34" charset="-122"/>
                <a:cs typeface="맑은 고딕" pitchFamily="34" charset="-120"/>
              </a:rPr>
              <a:t>지표 체계는 온라인 GA와 1:1입니다.  다른 점은 결제 데이터로 결과를 증명한다는 것입니다.</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02</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가치 제안  |  유입률 좋은 자리는 먼저 열어드립니다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브랜드가 가장 먼저 묻는 질문은 "어디에 열어야 하나"입니다. 계약 전에 그 답의 앞 세 줄을 무상으로 엽니다  ※ 스팟명·수치는 설명용 예시</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sp>
        <p:nvSpPr>
          <p:cNvPr id="8" name="Text 5"/>
          <p:cNvSpPr txBox="1"/>
          <p:nvPr/>
        </p:nvSpPr>
        <p:spPr>
          <a:xfrm>
            <a:off x="566928" y="1207008"/>
            <a:ext cx="64008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E11D2E"/>
                </a:solidFill>
                <a:latin typeface="맑은 고딕" pitchFamily="34" charset="0"/>
                <a:ea typeface="맑은 고딕" pitchFamily="34" charset="-122"/>
                <a:cs typeface="맑은 고딕" pitchFamily="34" charset="-120"/>
              </a:rPr>
              <a:t>이번 달 유입률 상위 스팟  ·  샘플 3곳 무상 공개</a:t>
            </a:r>
            <a:endParaRPr lang="en-US" sz="1250" dirty="0"/>
          </a:p>
        </p:txBody>
      </p:sp>
      <p:sp>
        <p:nvSpPr>
          <p:cNvPr id="9" name="Text 6"/>
          <p:cNvSpPr txBox="1"/>
          <p:nvPr/>
        </p:nvSpPr>
        <p:spPr>
          <a:xfrm>
            <a:off x="6583680" y="1207008"/>
            <a:ext cx="5038344" cy="243332"/>
          </a:xfrm>
          <a:prstGeom prst="rect">
            <a:avLst/>
          </a:prstGeom>
          <a:noFill/>
          <a:ln/>
        </p:spPr>
        <p:txBody>
          <a:bodyPr wrap="square" lIns="0" tIns="0" rIns="0" bIns="0" rtlCol="0" anchor="t"/>
          <a:lstStyle/>
          <a:p>
            <a:pPr algn="r"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유입률 = 앞을 지나간 사람 중 매장에 들어온 비율</a:t>
            </a:r>
            <a:endParaRPr lang="en-US" sz="1150" dirty="0"/>
          </a:p>
        </p:txBody>
      </p:sp>
      <p:sp>
        <p:nvSpPr>
          <p:cNvPr id="10" name="Shape 7"/>
          <p:cNvSpPr/>
          <p:nvPr/>
        </p:nvSpPr>
        <p:spPr>
          <a:xfrm>
            <a:off x="566928" y="1481328"/>
            <a:ext cx="3587496" cy="2048256"/>
          </a:xfrm>
          <a:prstGeom prst="roundRect">
            <a:avLst>
              <a:gd name="adj" fmla="val 267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1" name="Shape 8"/>
          <p:cNvSpPr/>
          <p:nvPr/>
        </p:nvSpPr>
        <p:spPr>
          <a:xfrm>
            <a:off x="841248" y="1682496"/>
            <a:ext cx="731520" cy="292608"/>
          </a:xfrm>
          <a:prstGeom prst="roundRect">
            <a:avLst>
              <a:gd name="adj" fmla="val 15625"/>
            </a:avLst>
          </a:prstGeom>
          <a:solidFill>
            <a:srgbClr val="E11D2E"/>
          </a:solidFill>
          <a:ln/>
        </p:spPr>
      </p:sp>
      <p:sp>
        <p:nvSpPr>
          <p:cNvPr id="12" name="Text 9"/>
          <p:cNvSpPr txBox="1"/>
          <p:nvPr/>
        </p:nvSpPr>
        <p:spPr>
          <a:xfrm>
            <a:off x="841248" y="1682496"/>
            <a:ext cx="731520" cy="292608"/>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TOP 1</a:t>
            </a:r>
            <a:endParaRPr lang="en-US" sz="1000" dirty="0"/>
          </a:p>
        </p:txBody>
      </p:sp>
      <p:sp>
        <p:nvSpPr>
          <p:cNvPr id="13" name="Text 10"/>
          <p:cNvSpPr txBox="1"/>
          <p:nvPr/>
        </p:nvSpPr>
        <p:spPr>
          <a:xfrm>
            <a:off x="841248" y="2066544"/>
            <a:ext cx="3038856" cy="31089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본점 2F · 에스컬레이터 정면</a:t>
            </a:r>
            <a:endParaRPr lang="en-US" sz="1300" dirty="0"/>
          </a:p>
        </p:txBody>
      </p:sp>
      <p:sp>
        <p:nvSpPr>
          <p:cNvPr id="14" name="Text 11"/>
          <p:cNvSpPr txBox="1"/>
          <p:nvPr/>
        </p:nvSpPr>
        <p:spPr>
          <a:xfrm>
            <a:off x="841248" y="2395728"/>
            <a:ext cx="3038856" cy="512064"/>
          </a:xfrm>
          <a:prstGeom prst="rect">
            <a:avLst/>
          </a:prstGeom>
          <a:noFill/>
          <a:ln/>
        </p:spPr>
        <p:txBody>
          <a:bodyPr wrap="square" lIns="0" tIns="0" rIns="0" bIns="0" rtlCol="0" anchor="b"/>
          <a:lstStyle/>
          <a:p>
            <a:pPr indent="0" marL="0">
              <a:buNone/>
            </a:pPr>
            <a:r>
              <a:rPr lang="en-US" sz="3400" b="1" dirty="0">
                <a:solidFill>
                  <a:srgbClr val="E11D2E"/>
                </a:solidFill>
                <a:latin typeface="맑은 고딕" pitchFamily="34" charset="0"/>
                <a:ea typeface="맑은 고딕" pitchFamily="34" charset="-122"/>
                <a:cs typeface="맑은 고딕" pitchFamily="34" charset="-120"/>
              </a:rPr>
              <a:t>9.4</a:t>
            </a:r>
            <a:pPr indent="0" marL="0">
              <a:buNone/>
            </a:pPr>
            <a:r>
              <a:rPr lang="en-US" sz="1700" b="1" dirty="0">
                <a:solidFill>
                  <a:srgbClr val="E11D2E"/>
                </a:solidFill>
                <a:latin typeface="맑은 고딕" pitchFamily="34" charset="0"/>
                <a:ea typeface="맑은 고딕" pitchFamily="34" charset="-122"/>
                <a:cs typeface="맑은 고딕" pitchFamily="34" charset="-120"/>
              </a:rPr>
              <a:t>%</a:t>
            </a:r>
            <a:pPr indent="0" marL="0">
              <a:buNone/>
            </a:pPr>
            <a:r>
              <a:rPr lang="en-US" sz="1150" dirty="0">
                <a:solidFill>
                  <a:srgbClr val="5E6979"/>
                </a:solidFill>
                <a:latin typeface="맑은 고딕" pitchFamily="34" charset="0"/>
                <a:ea typeface="맑은 고딕" pitchFamily="34" charset="-122"/>
                <a:cs typeface="맑은 고딕" pitchFamily="34" charset="-120"/>
              </a:rPr>
              <a:t>   유입률</a:t>
            </a:r>
            <a:endParaRPr lang="en-US" sz="3400" dirty="0"/>
          </a:p>
        </p:txBody>
      </p:sp>
      <p:sp>
        <p:nvSpPr>
          <p:cNvPr id="15" name="Text 12"/>
          <p:cNvSpPr txBox="1"/>
          <p:nvPr/>
        </p:nvSpPr>
        <p:spPr>
          <a:xfrm>
            <a:off x="841248" y="2926080"/>
            <a:ext cx="3038856" cy="237744"/>
          </a:xfrm>
          <a:prstGeom prst="rect">
            <a:avLst/>
          </a:prstGeom>
          <a:noFill/>
          <a:ln/>
        </p:spPr>
        <p:txBody>
          <a:bodyPr wrap="square" lIns="0" tIns="0" rIns="0" bIns="0" rtlCol="0" anchor="ctr"/>
          <a:lstStyle/>
          <a:p>
            <a:pPr algn="l" indent="0" marL="0">
              <a:lnSpc>
                <a:spcPts val="1700"/>
              </a:lnSpc>
              <a:buNone/>
            </a:pPr>
            <a:r>
              <a:rPr lang="en-US" sz="1150" b="1" dirty="0">
                <a:solidFill>
                  <a:srgbClr val="0E1420"/>
                </a:solidFill>
                <a:latin typeface="맑은 고딕" pitchFamily="34" charset="0"/>
                <a:ea typeface="맑은 고딕" pitchFamily="34" charset="-122"/>
                <a:cs typeface="맑은 고딕" pitchFamily="34" charset="-120"/>
              </a:rPr>
              <a:t>카테고리 평균 5.2% 대비 1.8배</a:t>
            </a:r>
            <a:endParaRPr lang="en-US" sz="1150" dirty="0"/>
          </a:p>
        </p:txBody>
      </p:sp>
      <p:sp>
        <p:nvSpPr>
          <p:cNvPr id="16" name="Text 13"/>
          <p:cNvSpPr txBox="1"/>
          <p:nvPr/>
        </p:nvSpPr>
        <p:spPr>
          <a:xfrm>
            <a:off x="841248" y="3163824"/>
            <a:ext cx="3038856" cy="219456"/>
          </a:xfrm>
          <a:prstGeom prst="rect">
            <a:avLst/>
          </a:prstGeom>
          <a:noFill/>
          <a:ln/>
        </p:spPr>
        <p:txBody>
          <a:bodyPr wrap="square" lIns="0" tIns="0" rIns="0" bIns="0" rtlCol="0" anchor="ctr"/>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주중 14~17시 통행 집중</a:t>
            </a:r>
            <a:endParaRPr lang="en-US" sz="1000" dirty="0"/>
          </a:p>
        </p:txBody>
      </p:sp>
      <p:sp>
        <p:nvSpPr>
          <p:cNvPr id="17" name="Shape 14"/>
          <p:cNvSpPr/>
          <p:nvPr/>
        </p:nvSpPr>
        <p:spPr>
          <a:xfrm>
            <a:off x="4300728" y="1481328"/>
            <a:ext cx="3587496" cy="2048256"/>
          </a:xfrm>
          <a:prstGeom prst="roundRect">
            <a:avLst>
              <a:gd name="adj" fmla="val 267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8" name="Shape 15"/>
          <p:cNvSpPr/>
          <p:nvPr/>
        </p:nvSpPr>
        <p:spPr>
          <a:xfrm>
            <a:off x="4575048" y="1682496"/>
            <a:ext cx="731520" cy="292608"/>
          </a:xfrm>
          <a:prstGeom prst="roundRect">
            <a:avLst>
              <a:gd name="adj" fmla="val 15625"/>
            </a:avLst>
          </a:prstGeom>
          <a:solidFill>
            <a:srgbClr val="E11D2E"/>
          </a:solidFill>
          <a:ln/>
        </p:spPr>
      </p:sp>
      <p:sp>
        <p:nvSpPr>
          <p:cNvPr id="19" name="Text 16"/>
          <p:cNvSpPr txBox="1"/>
          <p:nvPr/>
        </p:nvSpPr>
        <p:spPr>
          <a:xfrm>
            <a:off x="4575048" y="1682496"/>
            <a:ext cx="731520" cy="292608"/>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TOP 2</a:t>
            </a:r>
            <a:endParaRPr lang="en-US" sz="1000" dirty="0"/>
          </a:p>
        </p:txBody>
      </p:sp>
      <p:sp>
        <p:nvSpPr>
          <p:cNvPr id="20" name="Text 17"/>
          <p:cNvSpPr txBox="1"/>
          <p:nvPr/>
        </p:nvSpPr>
        <p:spPr>
          <a:xfrm>
            <a:off x="4575048" y="2066544"/>
            <a:ext cx="3038856" cy="31089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잠실 에비뉴엘 1F · 정문 리드존</a:t>
            </a:r>
            <a:endParaRPr lang="en-US" sz="1300" dirty="0"/>
          </a:p>
        </p:txBody>
      </p:sp>
      <p:sp>
        <p:nvSpPr>
          <p:cNvPr id="21" name="Text 18"/>
          <p:cNvSpPr txBox="1"/>
          <p:nvPr/>
        </p:nvSpPr>
        <p:spPr>
          <a:xfrm>
            <a:off x="4575048" y="2395728"/>
            <a:ext cx="3038856" cy="512064"/>
          </a:xfrm>
          <a:prstGeom prst="rect">
            <a:avLst/>
          </a:prstGeom>
          <a:noFill/>
          <a:ln/>
        </p:spPr>
        <p:txBody>
          <a:bodyPr wrap="square" lIns="0" tIns="0" rIns="0" bIns="0" rtlCol="0" anchor="b"/>
          <a:lstStyle/>
          <a:p>
            <a:pPr indent="0" marL="0">
              <a:buNone/>
            </a:pPr>
            <a:r>
              <a:rPr lang="en-US" sz="3400" b="1" dirty="0">
                <a:solidFill>
                  <a:srgbClr val="E11D2E"/>
                </a:solidFill>
                <a:latin typeface="맑은 고딕" pitchFamily="34" charset="0"/>
                <a:ea typeface="맑은 고딕" pitchFamily="34" charset="-122"/>
                <a:cs typeface="맑은 고딕" pitchFamily="34" charset="-120"/>
              </a:rPr>
              <a:t>8.6</a:t>
            </a:r>
            <a:pPr indent="0" marL="0">
              <a:buNone/>
            </a:pPr>
            <a:r>
              <a:rPr lang="en-US" sz="1700" b="1" dirty="0">
                <a:solidFill>
                  <a:srgbClr val="E11D2E"/>
                </a:solidFill>
                <a:latin typeface="맑은 고딕" pitchFamily="34" charset="0"/>
                <a:ea typeface="맑은 고딕" pitchFamily="34" charset="-122"/>
                <a:cs typeface="맑은 고딕" pitchFamily="34" charset="-120"/>
              </a:rPr>
              <a:t>%</a:t>
            </a:r>
            <a:pPr indent="0" marL="0">
              <a:buNone/>
            </a:pPr>
            <a:r>
              <a:rPr lang="en-US" sz="1150" dirty="0">
                <a:solidFill>
                  <a:srgbClr val="5E6979"/>
                </a:solidFill>
                <a:latin typeface="맑은 고딕" pitchFamily="34" charset="0"/>
                <a:ea typeface="맑은 고딕" pitchFamily="34" charset="-122"/>
                <a:cs typeface="맑은 고딕" pitchFamily="34" charset="-120"/>
              </a:rPr>
              <a:t>   유입률</a:t>
            </a:r>
            <a:endParaRPr lang="en-US" sz="3400" dirty="0"/>
          </a:p>
        </p:txBody>
      </p:sp>
      <p:sp>
        <p:nvSpPr>
          <p:cNvPr id="22" name="Text 19"/>
          <p:cNvSpPr txBox="1"/>
          <p:nvPr/>
        </p:nvSpPr>
        <p:spPr>
          <a:xfrm>
            <a:off x="4575048" y="2926080"/>
            <a:ext cx="3038856" cy="237744"/>
          </a:xfrm>
          <a:prstGeom prst="rect">
            <a:avLst/>
          </a:prstGeom>
          <a:noFill/>
          <a:ln/>
        </p:spPr>
        <p:txBody>
          <a:bodyPr wrap="square" lIns="0" tIns="0" rIns="0" bIns="0" rtlCol="0" anchor="ctr"/>
          <a:lstStyle/>
          <a:p>
            <a:pPr algn="l" indent="0" marL="0">
              <a:lnSpc>
                <a:spcPts val="1700"/>
              </a:lnSpc>
              <a:buNone/>
            </a:pPr>
            <a:r>
              <a:rPr lang="en-US" sz="1150" b="1" dirty="0">
                <a:solidFill>
                  <a:srgbClr val="0E1420"/>
                </a:solidFill>
                <a:latin typeface="맑은 고딕" pitchFamily="34" charset="0"/>
                <a:ea typeface="맑은 고딕" pitchFamily="34" charset="-122"/>
                <a:cs typeface="맑은 고딕" pitchFamily="34" charset="-120"/>
              </a:rPr>
              <a:t>카테고리 평균 5.2% 대비 1.7배</a:t>
            </a:r>
            <a:endParaRPr lang="en-US" sz="1150" dirty="0"/>
          </a:p>
        </p:txBody>
      </p:sp>
      <p:sp>
        <p:nvSpPr>
          <p:cNvPr id="23" name="Text 20"/>
          <p:cNvSpPr txBox="1"/>
          <p:nvPr/>
        </p:nvSpPr>
        <p:spPr>
          <a:xfrm>
            <a:off x="4575048" y="3163824"/>
            <a:ext cx="3038856" cy="219456"/>
          </a:xfrm>
          <a:prstGeom prst="rect">
            <a:avLst/>
          </a:prstGeom>
          <a:noFill/>
          <a:ln/>
        </p:spPr>
        <p:txBody>
          <a:bodyPr wrap="square" lIns="0" tIns="0" rIns="0" bIns="0" rtlCol="0" anchor="ctr"/>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주말 통행량 전점 1위</a:t>
            </a:r>
            <a:endParaRPr lang="en-US" sz="1000" dirty="0"/>
          </a:p>
        </p:txBody>
      </p:sp>
      <p:sp>
        <p:nvSpPr>
          <p:cNvPr id="24" name="Shape 21"/>
          <p:cNvSpPr/>
          <p:nvPr/>
        </p:nvSpPr>
        <p:spPr>
          <a:xfrm>
            <a:off x="8034528" y="1481328"/>
            <a:ext cx="3587496" cy="2048256"/>
          </a:xfrm>
          <a:prstGeom prst="roundRect">
            <a:avLst>
              <a:gd name="adj" fmla="val 267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25" name="Shape 22"/>
          <p:cNvSpPr/>
          <p:nvPr/>
        </p:nvSpPr>
        <p:spPr>
          <a:xfrm>
            <a:off x="8308848" y="1682496"/>
            <a:ext cx="731520" cy="292608"/>
          </a:xfrm>
          <a:prstGeom prst="roundRect">
            <a:avLst>
              <a:gd name="adj" fmla="val 15625"/>
            </a:avLst>
          </a:prstGeom>
          <a:solidFill>
            <a:srgbClr val="E11D2E"/>
          </a:solidFill>
          <a:ln/>
        </p:spPr>
      </p:sp>
      <p:sp>
        <p:nvSpPr>
          <p:cNvPr id="26" name="Text 23"/>
          <p:cNvSpPr txBox="1"/>
          <p:nvPr/>
        </p:nvSpPr>
        <p:spPr>
          <a:xfrm>
            <a:off x="8308848" y="1682496"/>
            <a:ext cx="731520" cy="292608"/>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TOP 3</a:t>
            </a:r>
            <a:endParaRPr lang="en-US" sz="1000" dirty="0"/>
          </a:p>
        </p:txBody>
      </p:sp>
      <p:sp>
        <p:nvSpPr>
          <p:cNvPr id="27" name="Text 24"/>
          <p:cNvSpPr txBox="1"/>
          <p:nvPr/>
        </p:nvSpPr>
        <p:spPr>
          <a:xfrm>
            <a:off x="8308848" y="2066544"/>
            <a:ext cx="3038856" cy="31089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인천점 3F · 식음 동선 접점</a:t>
            </a:r>
            <a:endParaRPr lang="en-US" sz="1300" dirty="0"/>
          </a:p>
        </p:txBody>
      </p:sp>
      <p:sp>
        <p:nvSpPr>
          <p:cNvPr id="28" name="Text 25"/>
          <p:cNvSpPr txBox="1"/>
          <p:nvPr/>
        </p:nvSpPr>
        <p:spPr>
          <a:xfrm>
            <a:off x="8308848" y="2395728"/>
            <a:ext cx="3038856" cy="512064"/>
          </a:xfrm>
          <a:prstGeom prst="rect">
            <a:avLst/>
          </a:prstGeom>
          <a:noFill/>
          <a:ln/>
        </p:spPr>
        <p:txBody>
          <a:bodyPr wrap="square" lIns="0" tIns="0" rIns="0" bIns="0" rtlCol="0" anchor="b"/>
          <a:lstStyle/>
          <a:p>
            <a:pPr indent="0" marL="0">
              <a:buNone/>
            </a:pPr>
            <a:r>
              <a:rPr lang="en-US" sz="3400" b="1" dirty="0">
                <a:solidFill>
                  <a:srgbClr val="E11D2E"/>
                </a:solidFill>
                <a:latin typeface="맑은 고딕" pitchFamily="34" charset="0"/>
                <a:ea typeface="맑은 고딕" pitchFamily="34" charset="-122"/>
                <a:cs typeface="맑은 고딕" pitchFamily="34" charset="-120"/>
              </a:rPr>
              <a:t>7.9</a:t>
            </a:r>
            <a:pPr indent="0" marL="0">
              <a:buNone/>
            </a:pPr>
            <a:r>
              <a:rPr lang="en-US" sz="1700" b="1" dirty="0">
                <a:solidFill>
                  <a:srgbClr val="E11D2E"/>
                </a:solidFill>
                <a:latin typeface="맑은 고딕" pitchFamily="34" charset="0"/>
                <a:ea typeface="맑은 고딕" pitchFamily="34" charset="-122"/>
                <a:cs typeface="맑은 고딕" pitchFamily="34" charset="-120"/>
              </a:rPr>
              <a:t>%</a:t>
            </a:r>
            <a:pPr indent="0" marL="0">
              <a:buNone/>
            </a:pPr>
            <a:r>
              <a:rPr lang="en-US" sz="1150" dirty="0">
                <a:solidFill>
                  <a:srgbClr val="5E6979"/>
                </a:solidFill>
                <a:latin typeface="맑은 고딕" pitchFamily="34" charset="0"/>
                <a:ea typeface="맑은 고딕" pitchFamily="34" charset="-122"/>
                <a:cs typeface="맑은 고딕" pitchFamily="34" charset="-120"/>
              </a:rPr>
              <a:t>   유입률</a:t>
            </a:r>
            <a:endParaRPr lang="en-US" sz="3400" dirty="0"/>
          </a:p>
        </p:txBody>
      </p:sp>
      <p:sp>
        <p:nvSpPr>
          <p:cNvPr id="29" name="Text 26"/>
          <p:cNvSpPr txBox="1"/>
          <p:nvPr/>
        </p:nvSpPr>
        <p:spPr>
          <a:xfrm>
            <a:off x="8308848" y="2926080"/>
            <a:ext cx="3038856" cy="237744"/>
          </a:xfrm>
          <a:prstGeom prst="rect">
            <a:avLst/>
          </a:prstGeom>
          <a:noFill/>
          <a:ln/>
        </p:spPr>
        <p:txBody>
          <a:bodyPr wrap="square" lIns="0" tIns="0" rIns="0" bIns="0" rtlCol="0" anchor="ctr"/>
          <a:lstStyle/>
          <a:p>
            <a:pPr algn="l" indent="0" marL="0">
              <a:lnSpc>
                <a:spcPts val="1700"/>
              </a:lnSpc>
              <a:buNone/>
            </a:pPr>
            <a:r>
              <a:rPr lang="en-US" sz="1150" b="1" dirty="0">
                <a:solidFill>
                  <a:srgbClr val="0E1420"/>
                </a:solidFill>
                <a:latin typeface="맑은 고딕" pitchFamily="34" charset="0"/>
                <a:ea typeface="맑은 고딕" pitchFamily="34" charset="-122"/>
                <a:cs typeface="맑은 고딕" pitchFamily="34" charset="-120"/>
              </a:rPr>
              <a:t>카테고리 평균 5.2% 대비 1.5배</a:t>
            </a:r>
            <a:endParaRPr lang="en-US" sz="1150" dirty="0"/>
          </a:p>
        </p:txBody>
      </p:sp>
      <p:sp>
        <p:nvSpPr>
          <p:cNvPr id="30" name="Text 27"/>
          <p:cNvSpPr txBox="1"/>
          <p:nvPr/>
        </p:nvSpPr>
        <p:spPr>
          <a:xfrm>
            <a:off x="8308848" y="3163824"/>
            <a:ext cx="3038856" cy="219456"/>
          </a:xfrm>
          <a:prstGeom prst="rect">
            <a:avLst/>
          </a:prstGeom>
          <a:noFill/>
          <a:ln/>
        </p:spPr>
        <p:txBody>
          <a:bodyPr wrap="square" lIns="0" tIns="0" rIns="0" bIns="0" rtlCol="0" anchor="ctr"/>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체류가 긴 동선 · 신규 방문 비중 높음</a:t>
            </a:r>
            <a:endParaRPr lang="en-US" sz="1000" dirty="0"/>
          </a:p>
        </p:txBody>
      </p:sp>
      <p:sp>
        <p:nvSpPr>
          <p:cNvPr id="31" name="Shape 28"/>
          <p:cNvSpPr/>
          <p:nvPr/>
        </p:nvSpPr>
        <p:spPr>
          <a:xfrm>
            <a:off x="566928" y="3803904"/>
            <a:ext cx="4078224" cy="2139696"/>
          </a:xfrm>
          <a:prstGeom prst="roundRect">
            <a:avLst>
              <a:gd name="adj" fmla="val 2564"/>
            </a:avLst>
          </a:prstGeom>
          <a:solidFill>
            <a:srgbClr val="FCEDEE"/>
          </a:solidFill>
          <a:ln w="12700">
            <a:solidFill>
              <a:srgbClr val="E4E8EE"/>
            </a:solidFill>
            <a:prstDash val="solid"/>
          </a:ln>
        </p:spPr>
      </p:sp>
      <p:sp>
        <p:nvSpPr>
          <p:cNvPr id="32" name="Text 29"/>
          <p:cNvSpPr txBox="1"/>
          <p:nvPr/>
        </p:nvSpPr>
        <p:spPr>
          <a:xfrm>
            <a:off x="841248" y="4023360"/>
            <a:ext cx="3529584"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E11D2E"/>
                </a:solidFill>
                <a:latin typeface="맑은 고딕" pitchFamily="34" charset="0"/>
                <a:ea typeface="맑은 고딕" pitchFamily="34" charset="-122"/>
                <a:cs typeface="맑은 고딕" pitchFamily="34" charset="-120"/>
              </a:rPr>
              <a:t>여기까지는 무상</a:t>
            </a:r>
            <a:endParaRPr lang="en-US" sz="1250" dirty="0"/>
          </a:p>
        </p:txBody>
      </p:sp>
      <p:sp>
        <p:nvSpPr>
          <p:cNvPr id="33" name="Text 30"/>
          <p:cNvSpPr txBox="1"/>
          <p:nvPr/>
        </p:nvSpPr>
        <p:spPr>
          <a:xfrm>
            <a:off x="841248" y="4370832"/>
            <a:ext cx="3529584"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유입률 상위 스팟과 그 평균 유입률</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스팟별 통행량 · 시간대 · 요일 패턴</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카테고리 평균 대비 몇 배인지</a:t>
            </a:r>
            <a:endParaRPr lang="en-US" sz="1150" dirty="0"/>
          </a:p>
        </p:txBody>
      </p:sp>
      <p:sp>
        <p:nvSpPr>
          <p:cNvPr id="34" name="Text 31"/>
          <p:cNvSpPr txBox="1"/>
          <p:nvPr/>
        </p:nvSpPr>
        <p:spPr>
          <a:xfrm>
            <a:off x="841248" y="5522976"/>
            <a:ext cx="3529584" cy="237744"/>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공간의 지표 — 롯데가 가진 자산이라 열 수 있습니다</a:t>
            </a:r>
            <a:endParaRPr lang="en-US" sz="1000" dirty="0"/>
          </a:p>
        </p:txBody>
      </p:sp>
      <p:sp>
        <p:nvSpPr>
          <p:cNvPr id="35" name="Shape 32"/>
          <p:cNvSpPr/>
          <p:nvPr/>
        </p:nvSpPr>
        <p:spPr>
          <a:xfrm>
            <a:off x="4846320" y="3803904"/>
            <a:ext cx="6775704" cy="2139696"/>
          </a:xfrm>
          <a:prstGeom prst="roundRect">
            <a:avLst>
              <a:gd name="adj" fmla="val 2564"/>
            </a:avLst>
          </a:prstGeom>
          <a:solidFill>
            <a:srgbClr val="0E1420"/>
          </a:solidFill>
          <a:ln w="12700">
            <a:solidFill>
              <a:srgbClr val="0E1420"/>
            </a:solidFill>
            <a:prstDash val="solid"/>
          </a:ln>
        </p:spPr>
      </p:sp>
      <p:sp>
        <p:nvSpPr>
          <p:cNvPr id="36" name="Text 33"/>
          <p:cNvSpPr txBox="1"/>
          <p:nvPr/>
        </p:nvSpPr>
        <p:spPr>
          <a:xfrm>
            <a:off x="5120640" y="4023360"/>
            <a:ext cx="237744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F5A623"/>
                </a:solidFill>
                <a:latin typeface="맑은 고딕" pitchFamily="34" charset="0"/>
                <a:ea typeface="맑은 고딕" pitchFamily="34" charset="-122"/>
                <a:cs typeface="맑은 고딕" pitchFamily="34" charset="-120"/>
              </a:rPr>
              <a:t>여기부터는 L.GA 안에서</a:t>
            </a:r>
            <a:endParaRPr lang="en-US" sz="1250" dirty="0"/>
          </a:p>
        </p:txBody>
      </p:sp>
      <p:sp>
        <p:nvSpPr>
          <p:cNvPr id="37" name="Text 34"/>
          <p:cNvSpPr txBox="1"/>
          <p:nvPr/>
        </p:nvSpPr>
        <p:spPr>
          <a:xfrm>
            <a:off x="7498080" y="4023360"/>
            <a:ext cx="3849624" cy="237744"/>
          </a:xfrm>
          <a:prstGeom prst="rect">
            <a:avLst/>
          </a:prstGeom>
          <a:noFill/>
          <a:ln/>
        </p:spPr>
        <p:txBody>
          <a:bodyPr wrap="square" lIns="0" tIns="0" rIns="0" bIns="0" rtlCol="0" anchor="ctr"/>
          <a:lstStyle/>
          <a:p>
            <a:pPr algn="r" indent="0" marL="0">
              <a:lnSpc>
                <a:spcPts val="1700"/>
              </a:lnSpc>
              <a:buNone/>
            </a:pPr>
            <a:r>
              <a:rPr lang="en-US" sz="1150" dirty="0">
                <a:solidFill>
                  <a:srgbClr val="AEB8C7"/>
                </a:solidFill>
                <a:latin typeface="맑은 고딕" pitchFamily="34" charset="0"/>
                <a:ea typeface="맑은 고딕" pitchFamily="34" charset="-122"/>
                <a:cs typeface="맑은 고딕" pitchFamily="34" charset="-120"/>
              </a:rPr>
              <a:t>팝업 패키지 · 월 구독 · 해당 매장 L.GA 운영 시 공개</a:t>
            </a:r>
            <a:endParaRPr lang="en-US" sz="1150" dirty="0"/>
          </a:p>
        </p:txBody>
      </p:sp>
      <p:sp>
        <p:nvSpPr>
          <p:cNvPr id="38" name="Shape 35"/>
          <p:cNvSpPr/>
          <p:nvPr/>
        </p:nvSpPr>
        <p:spPr>
          <a:xfrm>
            <a:off x="5120640" y="4370832"/>
            <a:ext cx="6227064" cy="283464"/>
          </a:xfrm>
          <a:prstGeom prst="roundRect">
            <a:avLst>
              <a:gd name="adj" fmla="val 19355"/>
            </a:avLst>
          </a:prstGeom>
          <a:solidFill>
            <a:srgbClr val="1A2233"/>
          </a:solidFill>
          <a:ln w="12700">
            <a:solidFill>
              <a:srgbClr val="1A2233"/>
            </a:solidFill>
            <a:prstDash val="solid"/>
          </a:ln>
        </p:spPr>
      </p:sp>
      <p:sp>
        <p:nvSpPr>
          <p:cNvPr id="39" name="Text 36"/>
          <p:cNvSpPr txBox="1"/>
          <p:nvPr/>
        </p:nvSpPr>
        <p:spPr>
          <a:xfrm>
            <a:off x="5321808" y="4370832"/>
            <a:ext cx="4023360" cy="283464"/>
          </a:xfrm>
          <a:prstGeom prst="rect">
            <a:avLst/>
          </a:prstGeom>
          <a:noFill/>
          <a:ln/>
        </p:spPr>
        <p:txBody>
          <a:bodyPr wrap="square" lIns="0" tIns="0" rIns="0" bIns="0" rtlCol="0" anchor="ctr"/>
          <a:lstStyle/>
          <a:p>
            <a:pPr algn="l" indent="0" marL="0">
              <a:lnSpc>
                <a:spcPts val="1700"/>
              </a:lnSpc>
              <a:buNone/>
            </a:pPr>
            <a:r>
              <a:rPr lang="en-US" sz="1150" dirty="0">
                <a:solidFill>
                  <a:srgbClr val="FFFFFF"/>
                </a:solidFill>
                <a:latin typeface="맑은 고딕" pitchFamily="34" charset="0"/>
                <a:ea typeface="맑은 고딕" pitchFamily="34" charset="-122"/>
                <a:cs typeface="맑은 고딕" pitchFamily="34" charset="-120"/>
              </a:rPr>
              <a:t>그 스팟의 구매 전환율</a:t>
            </a:r>
            <a:endParaRPr lang="en-US" sz="1150" dirty="0"/>
          </a:p>
        </p:txBody>
      </p:sp>
      <p:sp>
        <p:nvSpPr>
          <p:cNvPr id="40" name="Text 37"/>
          <p:cNvSpPr txBox="1"/>
          <p:nvPr/>
        </p:nvSpPr>
        <p:spPr>
          <a:xfrm>
            <a:off x="9976104" y="4370832"/>
            <a:ext cx="1170432" cy="283464"/>
          </a:xfrm>
          <a:prstGeom prst="rect">
            <a:avLst/>
          </a:prstGeom>
          <a:noFill/>
          <a:ln/>
        </p:spPr>
        <p:txBody>
          <a:bodyPr wrap="square" lIns="0" tIns="0" rIns="0" bIns="0" rtlCol="0" anchor="ctr"/>
          <a:lstStyle/>
          <a:p>
            <a:pPr algn="r" indent="0" marL="0">
              <a:lnSpc>
                <a:spcPts val="1700"/>
              </a:lnSpc>
              <a:buNone/>
            </a:pPr>
            <a:r>
              <a:rPr lang="en-US" sz="1150" b="1" dirty="0">
                <a:solidFill>
                  <a:srgbClr val="F5A623"/>
                </a:solidFill>
                <a:latin typeface="맑은 고딕" pitchFamily="34" charset="0"/>
                <a:ea typeface="맑은 고딕" pitchFamily="34" charset="-122"/>
                <a:cs typeface="맑은 고딕" pitchFamily="34" charset="-120"/>
              </a:rPr>
              <a:t>■ ■ %</a:t>
            </a:r>
            <a:endParaRPr lang="en-US" sz="1150" dirty="0"/>
          </a:p>
        </p:txBody>
      </p:sp>
      <p:sp>
        <p:nvSpPr>
          <p:cNvPr id="41" name="Shape 38"/>
          <p:cNvSpPr/>
          <p:nvPr/>
        </p:nvSpPr>
        <p:spPr>
          <a:xfrm>
            <a:off x="5120640" y="4727448"/>
            <a:ext cx="6227064" cy="283464"/>
          </a:xfrm>
          <a:prstGeom prst="roundRect">
            <a:avLst>
              <a:gd name="adj" fmla="val 19355"/>
            </a:avLst>
          </a:prstGeom>
          <a:solidFill>
            <a:srgbClr val="1A2233"/>
          </a:solidFill>
          <a:ln w="12700">
            <a:solidFill>
              <a:srgbClr val="1A2233"/>
            </a:solidFill>
            <a:prstDash val="solid"/>
          </a:ln>
        </p:spPr>
      </p:sp>
      <p:sp>
        <p:nvSpPr>
          <p:cNvPr id="42" name="Text 39"/>
          <p:cNvSpPr txBox="1"/>
          <p:nvPr/>
        </p:nvSpPr>
        <p:spPr>
          <a:xfrm>
            <a:off x="5321808" y="4727448"/>
            <a:ext cx="4023360" cy="283464"/>
          </a:xfrm>
          <a:prstGeom prst="rect">
            <a:avLst/>
          </a:prstGeom>
          <a:noFill/>
          <a:ln/>
        </p:spPr>
        <p:txBody>
          <a:bodyPr wrap="square" lIns="0" tIns="0" rIns="0" bIns="0" rtlCol="0" anchor="ctr"/>
          <a:lstStyle/>
          <a:p>
            <a:pPr algn="l" indent="0" marL="0">
              <a:lnSpc>
                <a:spcPts val="1700"/>
              </a:lnSpc>
              <a:buNone/>
            </a:pPr>
            <a:r>
              <a:rPr lang="en-US" sz="1150" dirty="0">
                <a:solidFill>
                  <a:srgbClr val="FFFFFF"/>
                </a:solidFill>
                <a:latin typeface="맑은 고딕" pitchFamily="34" charset="0"/>
                <a:ea typeface="맑은 고딕" pitchFamily="34" charset="-122"/>
                <a:cs typeface="맑은 고딕" pitchFamily="34" charset="-120"/>
              </a:rPr>
              <a:t>내 매장 방문객의 신규 비율</a:t>
            </a:r>
            <a:endParaRPr lang="en-US" sz="1150" dirty="0"/>
          </a:p>
        </p:txBody>
      </p:sp>
      <p:sp>
        <p:nvSpPr>
          <p:cNvPr id="43" name="Text 40"/>
          <p:cNvSpPr txBox="1"/>
          <p:nvPr/>
        </p:nvSpPr>
        <p:spPr>
          <a:xfrm>
            <a:off x="9976104" y="4727448"/>
            <a:ext cx="1170432" cy="283464"/>
          </a:xfrm>
          <a:prstGeom prst="rect">
            <a:avLst/>
          </a:prstGeom>
          <a:noFill/>
          <a:ln/>
        </p:spPr>
        <p:txBody>
          <a:bodyPr wrap="square" lIns="0" tIns="0" rIns="0" bIns="0" rtlCol="0" anchor="ctr"/>
          <a:lstStyle/>
          <a:p>
            <a:pPr algn="r" indent="0" marL="0">
              <a:lnSpc>
                <a:spcPts val="1700"/>
              </a:lnSpc>
              <a:buNone/>
            </a:pPr>
            <a:r>
              <a:rPr lang="en-US" sz="1150" b="1" dirty="0">
                <a:solidFill>
                  <a:srgbClr val="F5A623"/>
                </a:solidFill>
                <a:latin typeface="맑은 고딕" pitchFamily="34" charset="0"/>
                <a:ea typeface="맑은 고딕" pitchFamily="34" charset="-122"/>
                <a:cs typeface="맑은 고딕" pitchFamily="34" charset="-120"/>
              </a:rPr>
              <a:t>■ ■ %</a:t>
            </a:r>
            <a:endParaRPr lang="en-US" sz="1150" dirty="0"/>
          </a:p>
        </p:txBody>
      </p:sp>
      <p:sp>
        <p:nvSpPr>
          <p:cNvPr id="44" name="Shape 41"/>
          <p:cNvSpPr/>
          <p:nvPr/>
        </p:nvSpPr>
        <p:spPr>
          <a:xfrm>
            <a:off x="5120640" y="5084064"/>
            <a:ext cx="6227064" cy="283464"/>
          </a:xfrm>
          <a:prstGeom prst="roundRect">
            <a:avLst>
              <a:gd name="adj" fmla="val 19355"/>
            </a:avLst>
          </a:prstGeom>
          <a:solidFill>
            <a:srgbClr val="1A2233"/>
          </a:solidFill>
          <a:ln w="12700">
            <a:solidFill>
              <a:srgbClr val="1A2233"/>
            </a:solidFill>
            <a:prstDash val="solid"/>
          </a:ln>
        </p:spPr>
      </p:sp>
      <p:sp>
        <p:nvSpPr>
          <p:cNvPr id="45" name="Text 42"/>
          <p:cNvSpPr txBox="1"/>
          <p:nvPr/>
        </p:nvSpPr>
        <p:spPr>
          <a:xfrm>
            <a:off x="5321808" y="5084064"/>
            <a:ext cx="4023360" cy="283464"/>
          </a:xfrm>
          <a:prstGeom prst="rect">
            <a:avLst/>
          </a:prstGeom>
          <a:noFill/>
          <a:ln/>
        </p:spPr>
        <p:txBody>
          <a:bodyPr wrap="square" lIns="0" tIns="0" rIns="0" bIns="0" rtlCol="0" anchor="ctr"/>
          <a:lstStyle/>
          <a:p>
            <a:pPr algn="l" indent="0" marL="0">
              <a:lnSpc>
                <a:spcPts val="1700"/>
              </a:lnSpc>
              <a:buNone/>
            </a:pPr>
            <a:r>
              <a:rPr lang="en-US" sz="1150" dirty="0">
                <a:solidFill>
                  <a:srgbClr val="FFFFFF"/>
                </a:solidFill>
                <a:latin typeface="맑은 고딕" pitchFamily="34" charset="0"/>
                <a:ea typeface="맑은 고딕" pitchFamily="34" charset="-122"/>
                <a:cs typeface="맑은 고딕" pitchFamily="34" charset="-120"/>
              </a:rPr>
              <a:t>들어왔는데 안 산 사람의 정체</a:t>
            </a:r>
            <a:endParaRPr lang="en-US" sz="1150" dirty="0"/>
          </a:p>
        </p:txBody>
      </p:sp>
      <p:sp>
        <p:nvSpPr>
          <p:cNvPr id="46" name="Text 43"/>
          <p:cNvSpPr txBox="1"/>
          <p:nvPr/>
        </p:nvSpPr>
        <p:spPr>
          <a:xfrm>
            <a:off x="9976104" y="5084064"/>
            <a:ext cx="1170432" cy="283464"/>
          </a:xfrm>
          <a:prstGeom prst="rect">
            <a:avLst/>
          </a:prstGeom>
          <a:noFill/>
          <a:ln/>
        </p:spPr>
        <p:txBody>
          <a:bodyPr wrap="square" lIns="0" tIns="0" rIns="0" bIns="0" rtlCol="0" anchor="ctr"/>
          <a:lstStyle/>
          <a:p>
            <a:pPr algn="r" indent="0" marL="0">
              <a:lnSpc>
                <a:spcPts val="1700"/>
              </a:lnSpc>
              <a:buNone/>
            </a:pPr>
            <a:r>
              <a:rPr lang="en-US" sz="1150" b="1" dirty="0">
                <a:solidFill>
                  <a:srgbClr val="F5A623"/>
                </a:solidFill>
                <a:latin typeface="맑은 고딕" pitchFamily="34" charset="0"/>
                <a:ea typeface="맑은 고딕" pitchFamily="34" charset="-122"/>
                <a:cs typeface="맑은 고딕" pitchFamily="34" charset="-120"/>
              </a:rPr>
              <a:t>■ ■ ■</a:t>
            </a:r>
            <a:endParaRPr lang="en-US" sz="1150" dirty="0"/>
          </a:p>
        </p:txBody>
      </p:sp>
      <p:sp>
        <p:nvSpPr>
          <p:cNvPr id="47" name="Shape 44"/>
          <p:cNvSpPr/>
          <p:nvPr/>
        </p:nvSpPr>
        <p:spPr>
          <a:xfrm>
            <a:off x="5120640" y="5440680"/>
            <a:ext cx="6227064" cy="283464"/>
          </a:xfrm>
          <a:prstGeom prst="roundRect">
            <a:avLst>
              <a:gd name="adj" fmla="val 19355"/>
            </a:avLst>
          </a:prstGeom>
          <a:solidFill>
            <a:srgbClr val="1A2233"/>
          </a:solidFill>
          <a:ln w="12700">
            <a:solidFill>
              <a:srgbClr val="1A2233"/>
            </a:solidFill>
            <a:prstDash val="solid"/>
          </a:ln>
        </p:spPr>
      </p:sp>
      <p:sp>
        <p:nvSpPr>
          <p:cNvPr id="48" name="Text 45"/>
          <p:cNvSpPr txBox="1"/>
          <p:nvPr/>
        </p:nvSpPr>
        <p:spPr>
          <a:xfrm>
            <a:off x="5321808" y="5440680"/>
            <a:ext cx="4023360" cy="283464"/>
          </a:xfrm>
          <a:prstGeom prst="rect">
            <a:avLst/>
          </a:prstGeom>
          <a:noFill/>
          <a:ln/>
        </p:spPr>
        <p:txBody>
          <a:bodyPr wrap="square" lIns="0" tIns="0" rIns="0" bIns="0" rtlCol="0" anchor="ctr"/>
          <a:lstStyle/>
          <a:p>
            <a:pPr algn="l" indent="0" marL="0">
              <a:lnSpc>
                <a:spcPts val="1700"/>
              </a:lnSpc>
              <a:buNone/>
            </a:pPr>
            <a:r>
              <a:rPr lang="en-US" sz="1150" dirty="0">
                <a:solidFill>
                  <a:srgbClr val="FFFFFF"/>
                </a:solidFill>
                <a:latin typeface="맑은 고딕" pitchFamily="34" charset="0"/>
                <a:ea typeface="맑은 고딕" pitchFamily="34" charset="-122"/>
                <a:cs typeface="맑은 고딕" pitchFamily="34" charset="-120"/>
              </a:rPr>
              <a:t>집품률 · 체류시간 · 이탈 지점</a:t>
            </a:r>
            <a:endParaRPr lang="en-US" sz="1150" dirty="0"/>
          </a:p>
        </p:txBody>
      </p:sp>
      <p:sp>
        <p:nvSpPr>
          <p:cNvPr id="49" name="Text 46"/>
          <p:cNvSpPr txBox="1"/>
          <p:nvPr/>
        </p:nvSpPr>
        <p:spPr>
          <a:xfrm>
            <a:off x="9976104" y="5440680"/>
            <a:ext cx="1170432" cy="283464"/>
          </a:xfrm>
          <a:prstGeom prst="rect">
            <a:avLst/>
          </a:prstGeom>
          <a:noFill/>
          <a:ln/>
        </p:spPr>
        <p:txBody>
          <a:bodyPr wrap="square" lIns="0" tIns="0" rIns="0" bIns="0" rtlCol="0" anchor="ctr"/>
          <a:lstStyle/>
          <a:p>
            <a:pPr algn="r" indent="0" marL="0">
              <a:lnSpc>
                <a:spcPts val="1700"/>
              </a:lnSpc>
              <a:buNone/>
            </a:pPr>
            <a:r>
              <a:rPr lang="en-US" sz="1150" b="1" dirty="0">
                <a:solidFill>
                  <a:srgbClr val="F5A623"/>
                </a:solidFill>
                <a:latin typeface="맑은 고딕" pitchFamily="34" charset="0"/>
                <a:ea typeface="맑은 고딕" pitchFamily="34" charset="-122"/>
                <a:cs typeface="맑은 고딕" pitchFamily="34" charset="-120"/>
              </a:rPr>
              <a:t>■ ■ ■</a:t>
            </a:r>
            <a:endParaRPr lang="en-US" sz="1150" dirty="0"/>
          </a:p>
        </p:txBody>
      </p:sp>
      <p:sp>
        <p:nvSpPr>
          <p:cNvPr id="50" name="Text 47"/>
          <p:cNvSpPr txBox="1"/>
          <p:nvPr/>
        </p:nvSpPr>
        <p:spPr>
          <a:xfrm>
            <a:off x="566928" y="6163056"/>
            <a:ext cx="11055096" cy="365760"/>
          </a:xfrm>
          <a:prstGeom prst="rect">
            <a:avLst/>
          </a:prstGeom>
          <a:noFill/>
          <a:ln/>
        </p:spPr>
        <p:txBody>
          <a:bodyPr wrap="square" lIns="0" tIns="0" rIns="0" bIns="0" rtlCol="0" anchor="ctr"/>
          <a:lstStyle/>
          <a:p>
            <a:pPr algn="ctr" indent="0" marL="0">
              <a:lnSpc>
                <a:spcPts val="1900"/>
              </a:lnSpc>
              <a:buNone/>
            </a:pPr>
            <a:r>
              <a:rPr lang="en-US" sz="1250" b="1" dirty="0">
                <a:solidFill>
                  <a:srgbClr val="0E1420"/>
                </a:solidFill>
                <a:latin typeface="맑은 고딕" pitchFamily="34" charset="0"/>
                <a:ea typeface="맑은 고딕" pitchFamily="34" charset="-122"/>
                <a:cs typeface="맑은 고딕" pitchFamily="34" charset="-120"/>
              </a:rPr>
              <a:t>유입률은 공간의 지표라 공개할 수 있고,  </a:t>
            </a:r>
            <a:pPr algn="ctr" indent="0" marL="0">
              <a:lnSpc>
                <a:spcPts val="1900"/>
              </a:lnSpc>
              <a:buNone/>
            </a:pPr>
            <a:r>
              <a:rPr lang="en-US" sz="1250" b="1" dirty="0">
                <a:solidFill>
                  <a:srgbClr val="E11D2E"/>
                </a:solidFill>
                <a:latin typeface="맑은 고딕" pitchFamily="34" charset="0"/>
                <a:ea typeface="맑은 고딕" pitchFamily="34" charset="-122"/>
                <a:cs typeface="맑은 고딕" pitchFamily="34" charset="-120"/>
              </a:rPr>
              <a:t>전환율은 그 브랜드의 성과라 계약 안에서만 열립니다.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03</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채널  |  고객에게 어떻게 접근하는가?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외부 영업이 아니라 계약 시점에 팔립니다 — 안에서 밖으로</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sp>
        <p:nvSpPr>
          <p:cNvPr id="8" name="Shape 5"/>
          <p:cNvSpPr/>
          <p:nvPr/>
        </p:nvSpPr>
        <p:spPr>
          <a:xfrm>
            <a:off x="566928" y="1481328"/>
            <a:ext cx="11055096" cy="1033272"/>
          </a:xfrm>
          <a:prstGeom prst="roundRect">
            <a:avLst>
              <a:gd name="adj" fmla="val 5310"/>
            </a:avLst>
          </a:prstGeom>
          <a:solidFill>
            <a:srgbClr val="0E1420"/>
          </a:solidFill>
          <a:ln w="12700">
            <a:solidFill>
              <a:srgbClr val="0E1420"/>
            </a:solidFill>
            <a:prstDash val="solid"/>
          </a:ln>
        </p:spPr>
      </p:sp>
      <p:sp>
        <p:nvSpPr>
          <p:cNvPr id="9" name="Text 6"/>
          <p:cNvSpPr txBox="1"/>
          <p:nvPr/>
        </p:nvSpPr>
        <p:spPr>
          <a:xfrm>
            <a:off x="877824" y="1481328"/>
            <a:ext cx="2651760" cy="1033272"/>
          </a:xfrm>
          <a:prstGeom prst="rect">
            <a:avLst/>
          </a:prstGeom>
          <a:noFill/>
          <a:ln/>
        </p:spPr>
        <p:txBody>
          <a:bodyPr wrap="square" lIns="0" tIns="0" rIns="0" bIns="0" rtlCol="0" anchor="ctr"/>
          <a:lstStyle/>
          <a:p>
            <a:pPr algn="l" indent="0" marL="0">
              <a:lnSpc>
                <a:spcPts val="2000"/>
              </a:lnSpc>
              <a:buNone/>
            </a:pPr>
            <a:r>
              <a:rPr lang="en-US" sz="1300" b="1" dirty="0">
                <a:solidFill>
                  <a:srgbClr val="F5A623"/>
                </a:solidFill>
                <a:latin typeface="맑은 고딕" pitchFamily="34" charset="0"/>
                <a:ea typeface="맑은 고딕" pitchFamily="34" charset="-122"/>
                <a:cs typeface="맑은 고딕" pitchFamily="34" charset="-120"/>
              </a:rPr>
              <a:t>영업 채널 · 내부</a:t>
            </a:r>
            <a:endParaRPr lang="en-US" sz="1300" dirty="0"/>
          </a:p>
        </p:txBody>
      </p:sp>
      <p:sp>
        <p:nvSpPr>
          <p:cNvPr id="10" name="Text 7"/>
          <p:cNvSpPr txBox="1"/>
          <p:nvPr/>
        </p:nvSpPr>
        <p:spPr>
          <a:xfrm>
            <a:off x="3840480" y="1726438"/>
            <a:ext cx="7781544"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맑은 고딕" pitchFamily="34" charset="0"/>
                <a:ea typeface="맑은 고딕" pitchFamily="34" charset="-122"/>
                <a:cs typeface="맑은 고딕" pitchFamily="34" charset="-120"/>
              </a:rPr>
              <a:t>백화점 MD·영업관리팀이 팝업 계약 체결 시 번들 제안</a:t>
            </a:r>
            <a:endParaRPr lang="en-US" sz="1300" dirty="0"/>
          </a:p>
        </p:txBody>
      </p:sp>
      <p:sp>
        <p:nvSpPr>
          <p:cNvPr id="11" name="Text 8"/>
          <p:cNvSpPr txBox="1"/>
          <p:nvPr/>
        </p:nvSpPr>
        <p:spPr>
          <a:xfrm>
            <a:off x="3840480" y="2053590"/>
            <a:ext cx="7781544" cy="243332"/>
          </a:xfrm>
          <a:prstGeom prst="rect">
            <a:avLst/>
          </a:prstGeom>
          <a:noFill/>
          <a:ln/>
        </p:spPr>
        <p:txBody>
          <a:bodyPr wrap="square" lIns="0" tIns="0" rIns="0" bIns="0" rtlCol="0" anchor="t"/>
          <a:lstStyle/>
          <a:p>
            <a:pPr algn="l" indent="0" marL="0">
              <a:lnSpc>
                <a:spcPts val="1700"/>
              </a:lnSpc>
              <a:buNone/>
            </a:pPr>
            <a:r>
              <a:rPr lang="en-US" sz="1100" dirty="0">
                <a:solidFill>
                  <a:srgbClr val="AEB8C7"/>
                </a:solidFill>
                <a:latin typeface="맑은 고딕" pitchFamily="34" charset="0"/>
                <a:ea typeface="맑은 고딕" pitchFamily="34" charset="-122"/>
                <a:cs typeface="맑은 고딕" pitchFamily="34" charset="-120"/>
              </a:rPr>
              <a:t>외부 영업비용 ≈ 0.  계약 시점 = 판매 시점</a:t>
            </a:r>
            <a:endParaRPr lang="en-US" sz="1100" dirty="0"/>
          </a:p>
        </p:txBody>
      </p:sp>
      <p:sp>
        <p:nvSpPr>
          <p:cNvPr id="12" name="Shape 9"/>
          <p:cNvSpPr/>
          <p:nvPr/>
        </p:nvSpPr>
        <p:spPr>
          <a:xfrm>
            <a:off x="566928" y="2624328"/>
            <a:ext cx="11055096" cy="1033272"/>
          </a:xfrm>
          <a:prstGeom prst="roundRect">
            <a:avLst>
              <a:gd name="adj" fmla="val 5310"/>
            </a:avLst>
          </a:prstGeom>
          <a:solidFill>
            <a:srgbClr val="FFFFFF"/>
          </a:solidFill>
          <a:ln w="12700">
            <a:solidFill>
              <a:srgbClr val="E4E8EE"/>
            </a:solidFill>
            <a:prstDash val="solid"/>
          </a:ln>
        </p:spPr>
      </p:sp>
      <p:sp>
        <p:nvSpPr>
          <p:cNvPr id="13" name="Text 10"/>
          <p:cNvSpPr txBox="1"/>
          <p:nvPr/>
        </p:nvSpPr>
        <p:spPr>
          <a:xfrm>
            <a:off x="877824" y="2624328"/>
            <a:ext cx="2651760" cy="1033272"/>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제품 채널</a:t>
            </a:r>
            <a:endParaRPr lang="en-US" sz="1300" dirty="0"/>
          </a:p>
        </p:txBody>
      </p:sp>
      <p:sp>
        <p:nvSpPr>
          <p:cNvPr id="14" name="Text 11"/>
          <p:cNvSpPr txBox="1"/>
          <p:nvPr/>
        </p:nvSpPr>
        <p:spPr>
          <a:xfrm>
            <a:off x="3840480" y="2869438"/>
            <a:ext cx="7781544" cy="281432"/>
          </a:xfrm>
          <a:prstGeom prst="rect">
            <a:avLst/>
          </a:prstGeom>
          <a:noFill/>
          <a:ln/>
        </p:spPr>
        <p:txBody>
          <a:bodyPr wrap="square" lIns="0" tIns="0" rIns="0" bIns="0" rtlCol="0" anchor="t"/>
          <a:lstStyle/>
          <a:p>
            <a:pPr algn="l"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L.GA 브랜드 포털(대시보드) + 팝업 종료 7일 내 컨설턴트 리포트 미팅</a:t>
            </a:r>
            <a:endParaRPr lang="en-US" sz="1300" dirty="0"/>
          </a:p>
        </p:txBody>
      </p:sp>
      <p:sp>
        <p:nvSpPr>
          <p:cNvPr id="15" name="Text 12"/>
          <p:cNvSpPr txBox="1"/>
          <p:nvPr/>
        </p:nvSpPr>
        <p:spPr>
          <a:xfrm>
            <a:off x="3840480" y="3196590"/>
            <a:ext cx="7781544" cy="243332"/>
          </a:xfrm>
          <a:prstGeom prst="rect">
            <a:avLst/>
          </a:prstGeom>
          <a:noFill/>
          <a:ln/>
        </p:spPr>
        <p:txBody>
          <a:bodyPr wrap="square" lIns="0" tIns="0" rIns="0" bIns="0" rtlCol="0" anchor="t"/>
          <a:lstStyle/>
          <a:p>
            <a:pPr algn="l" indent="0" marL="0">
              <a:lnSpc>
                <a:spcPts val="1700"/>
              </a:lnSpc>
              <a:buNone/>
            </a:pPr>
            <a:r>
              <a:rPr lang="en-US" sz="1100" dirty="0">
                <a:solidFill>
                  <a:srgbClr val="5E6979"/>
                </a:solidFill>
                <a:latin typeface="맑은 고딕" pitchFamily="34" charset="0"/>
                <a:ea typeface="맑은 고딕" pitchFamily="34" charset="-122"/>
                <a:cs typeface="맑은 고딕" pitchFamily="34" charset="-120"/>
              </a:rPr>
              <a:t>리포트를 던지지 않고, 설명합니다</a:t>
            </a:r>
            <a:endParaRPr lang="en-US" sz="1100" dirty="0"/>
          </a:p>
        </p:txBody>
      </p:sp>
      <p:sp>
        <p:nvSpPr>
          <p:cNvPr id="16" name="Shape 13"/>
          <p:cNvSpPr/>
          <p:nvPr/>
        </p:nvSpPr>
        <p:spPr>
          <a:xfrm>
            <a:off x="566928" y="3767328"/>
            <a:ext cx="11055096" cy="1033272"/>
          </a:xfrm>
          <a:prstGeom prst="roundRect">
            <a:avLst>
              <a:gd name="adj" fmla="val 5310"/>
            </a:avLst>
          </a:prstGeom>
          <a:solidFill>
            <a:srgbClr val="F7F8FA"/>
          </a:solidFill>
          <a:ln w="12700">
            <a:solidFill>
              <a:srgbClr val="E4E8EE"/>
            </a:solidFill>
            <a:prstDash val="solid"/>
          </a:ln>
        </p:spPr>
      </p:sp>
      <p:sp>
        <p:nvSpPr>
          <p:cNvPr id="17" name="Text 14"/>
          <p:cNvSpPr txBox="1"/>
          <p:nvPr/>
        </p:nvSpPr>
        <p:spPr>
          <a:xfrm>
            <a:off x="877824" y="3767328"/>
            <a:ext cx="2651760" cy="1033272"/>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확산 채널</a:t>
            </a:r>
            <a:endParaRPr lang="en-US" sz="1300" dirty="0"/>
          </a:p>
        </p:txBody>
      </p:sp>
      <p:sp>
        <p:nvSpPr>
          <p:cNvPr id="18" name="Text 15"/>
          <p:cNvSpPr txBox="1"/>
          <p:nvPr/>
        </p:nvSpPr>
        <p:spPr>
          <a:xfrm>
            <a:off x="3840480" y="4012438"/>
            <a:ext cx="7781544" cy="281432"/>
          </a:xfrm>
          <a:prstGeom prst="rect">
            <a:avLst/>
          </a:prstGeom>
          <a:noFill/>
          <a:ln/>
        </p:spPr>
        <p:txBody>
          <a:bodyPr wrap="square" lIns="0" tIns="0" rIns="0" bIns="0" rtlCol="0" anchor="t"/>
          <a:lstStyle/>
          <a:p>
            <a:pPr algn="l"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롯데 계열사(마트·하이마트·시네마·면세) → 해외 롯데몰 → 외부 유통사</a:t>
            </a:r>
            <a:endParaRPr lang="en-US" sz="1300" dirty="0"/>
          </a:p>
        </p:txBody>
      </p:sp>
      <p:sp>
        <p:nvSpPr>
          <p:cNvPr id="19" name="Text 16"/>
          <p:cNvSpPr txBox="1"/>
          <p:nvPr/>
        </p:nvSpPr>
        <p:spPr>
          <a:xfrm>
            <a:off x="3840480" y="4339590"/>
            <a:ext cx="7781544" cy="243332"/>
          </a:xfrm>
          <a:prstGeom prst="rect">
            <a:avLst/>
          </a:prstGeom>
          <a:noFill/>
          <a:ln/>
        </p:spPr>
        <p:txBody>
          <a:bodyPr wrap="square" lIns="0" tIns="0" rIns="0" bIns="0" rtlCol="0" anchor="t"/>
          <a:lstStyle/>
          <a:p>
            <a:pPr algn="l" indent="0" marL="0">
              <a:lnSpc>
                <a:spcPts val="1700"/>
              </a:lnSpc>
              <a:buNone/>
            </a:pPr>
            <a:r>
              <a:rPr lang="en-US" sz="1100" dirty="0">
                <a:solidFill>
                  <a:srgbClr val="5E6979"/>
                </a:solidFill>
                <a:latin typeface="맑은 고딕" pitchFamily="34" charset="0"/>
                <a:ea typeface="맑은 고딕" pitchFamily="34" charset="-122"/>
                <a:cs typeface="맑은 고딕" pitchFamily="34" charset="-120"/>
              </a:rPr>
              <a:t>레퍼런스가 쌓인 뒤에 밖으로</a:t>
            </a:r>
            <a:endParaRPr lang="en-US" sz="1100" dirty="0"/>
          </a:p>
        </p:txBody>
      </p:sp>
      <p:sp>
        <p:nvSpPr>
          <p:cNvPr id="20" name="Shape 17"/>
          <p:cNvSpPr/>
          <p:nvPr/>
        </p:nvSpPr>
        <p:spPr>
          <a:xfrm>
            <a:off x="566928" y="4910328"/>
            <a:ext cx="11055096" cy="1033272"/>
          </a:xfrm>
          <a:prstGeom prst="roundRect">
            <a:avLst>
              <a:gd name="adj" fmla="val 5310"/>
            </a:avLst>
          </a:prstGeom>
          <a:solidFill>
            <a:srgbClr val="FFFFFF"/>
          </a:solidFill>
          <a:ln w="12700">
            <a:solidFill>
              <a:srgbClr val="E4E8EE"/>
            </a:solidFill>
            <a:prstDash val="solid"/>
          </a:ln>
        </p:spPr>
      </p:sp>
      <p:sp>
        <p:nvSpPr>
          <p:cNvPr id="21" name="Text 18"/>
          <p:cNvSpPr txBox="1"/>
          <p:nvPr/>
        </p:nvSpPr>
        <p:spPr>
          <a:xfrm>
            <a:off x="877824" y="4910328"/>
            <a:ext cx="2651760" cy="1033272"/>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도달 채널 · 고객의 고객</a:t>
            </a:r>
            <a:endParaRPr lang="en-US" sz="1300" dirty="0"/>
          </a:p>
        </p:txBody>
      </p:sp>
      <p:sp>
        <p:nvSpPr>
          <p:cNvPr id="22" name="Text 19"/>
          <p:cNvSpPr txBox="1"/>
          <p:nvPr/>
        </p:nvSpPr>
        <p:spPr>
          <a:xfrm>
            <a:off x="3840480" y="5155438"/>
            <a:ext cx="7781544" cy="281432"/>
          </a:xfrm>
          <a:prstGeom prst="rect">
            <a:avLst/>
          </a:prstGeom>
          <a:noFill/>
          <a:ln/>
        </p:spPr>
        <p:txBody>
          <a:bodyPr wrap="square" lIns="0" tIns="0" rIns="0" bIns="0" rtlCol="0" anchor="t"/>
          <a:lstStyle/>
          <a:p>
            <a:pPr algn="l"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L.POINT 앱 푸시 · 사이니지 · 키오스크</a:t>
            </a:r>
            <a:endParaRPr lang="en-US" sz="1300" dirty="0"/>
          </a:p>
        </p:txBody>
      </p:sp>
      <p:sp>
        <p:nvSpPr>
          <p:cNvPr id="23" name="Text 20"/>
          <p:cNvSpPr txBox="1"/>
          <p:nvPr/>
        </p:nvSpPr>
        <p:spPr>
          <a:xfrm>
            <a:off x="3840480" y="5482590"/>
            <a:ext cx="7781544" cy="243332"/>
          </a:xfrm>
          <a:prstGeom prst="rect">
            <a:avLst/>
          </a:prstGeom>
          <a:noFill/>
          <a:ln/>
        </p:spPr>
        <p:txBody>
          <a:bodyPr wrap="square" lIns="0" tIns="0" rIns="0" bIns="0" rtlCol="0" anchor="t"/>
          <a:lstStyle/>
          <a:p>
            <a:pPr algn="l" indent="0" marL="0">
              <a:lnSpc>
                <a:spcPts val="1700"/>
              </a:lnSpc>
              <a:buNone/>
            </a:pPr>
            <a:r>
              <a:rPr lang="en-US" sz="1100" dirty="0">
                <a:solidFill>
                  <a:srgbClr val="5E6979"/>
                </a:solidFill>
                <a:latin typeface="맑은 고딕" pitchFamily="34" charset="0"/>
                <a:ea typeface="맑은 고딕" pitchFamily="34" charset="-122"/>
                <a:cs typeface="맑은 고딕" pitchFamily="34" charset="-120"/>
              </a:rPr>
              <a:t>인사이트를 실행(리타게팅)으로 연결</a:t>
            </a:r>
            <a:endParaRPr lang="en-US" sz="1100" dirty="0"/>
          </a:p>
        </p:txBody>
      </p:sp>
      <p:sp>
        <p:nvSpPr>
          <p:cNvPr id="24" name="Text 21"/>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첫 고객은 외부 브랜드가 아니라 롯데 자신입니다.  그룹 안에서 검증하고, 그룹 시너지로 확산합니다.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04</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고객 관계  |  어떻게 확보·유지·성장시킬 것인가?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증명이 갱신의 근거입니다 — 리텐션 엔진</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sp>
        <p:nvSpPr>
          <p:cNvPr id="8" name="Shape 5"/>
          <p:cNvSpPr/>
          <p:nvPr/>
        </p:nvSpPr>
        <p:spPr>
          <a:xfrm>
            <a:off x="566928" y="1481328"/>
            <a:ext cx="3587496" cy="3419856"/>
          </a:xfrm>
          <a:prstGeom prst="roundRect">
            <a:avLst>
              <a:gd name="adj" fmla="val 160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2222246"/>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확보  Acquire</a:t>
            </a:r>
            <a:endParaRPr lang="en-US" sz="1800" dirty="0"/>
          </a:p>
        </p:txBody>
      </p:sp>
      <p:sp>
        <p:nvSpPr>
          <p:cNvPr id="10" name="Text 7"/>
          <p:cNvSpPr txBox="1"/>
          <p:nvPr/>
        </p:nvSpPr>
        <p:spPr>
          <a:xfrm>
            <a:off x="841248" y="2638806"/>
            <a:ext cx="3038856" cy="1221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Phase 0: 롯데 내부 도입 (매출 0, 데이터 확보)</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파일럿 3건 무상 제공</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팝업 계약 시 번들 → 검증 후 과금</a:t>
            </a:r>
            <a:endParaRPr lang="en-US" sz="1300" dirty="0"/>
          </a:p>
        </p:txBody>
      </p:sp>
      <p:sp>
        <p:nvSpPr>
          <p:cNvPr id="11" name="Text 8"/>
          <p:cNvSpPr txBox="1"/>
          <p:nvPr/>
        </p:nvSpPr>
        <p:spPr>
          <a:xfrm>
            <a:off x="841248" y="4491228"/>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지불 의사를 가정하지 않는다</a:t>
            </a:r>
            <a:endParaRPr lang="en-US" sz="1000" dirty="0"/>
          </a:p>
        </p:txBody>
      </p:sp>
      <p:sp>
        <p:nvSpPr>
          <p:cNvPr id="12" name="Shape 9"/>
          <p:cNvSpPr/>
          <p:nvPr/>
        </p:nvSpPr>
        <p:spPr>
          <a:xfrm>
            <a:off x="4300728" y="1481328"/>
            <a:ext cx="3587496" cy="3419856"/>
          </a:xfrm>
          <a:prstGeom prst="roundRect">
            <a:avLst>
              <a:gd name="adj" fmla="val 1604"/>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2222246"/>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유지  Retain</a:t>
            </a:r>
            <a:endParaRPr lang="en-US" sz="1800" dirty="0"/>
          </a:p>
        </p:txBody>
      </p:sp>
      <p:sp>
        <p:nvSpPr>
          <p:cNvPr id="14" name="Text 11"/>
          <p:cNvSpPr txBox="1"/>
          <p:nvPr/>
        </p:nvSpPr>
        <p:spPr>
          <a:xfrm>
            <a:off x="4575048" y="2638806"/>
            <a:ext cx="3038856" cy="967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FFFFFF"/>
                </a:solidFill>
                <a:latin typeface="맑은 고딕" pitchFamily="34" charset="0"/>
                <a:ea typeface="맑은 고딕" pitchFamily="34" charset="-122"/>
                <a:cs typeface="맑은 고딕" pitchFamily="34" charset="-120"/>
              </a:rPr>
              <a:t>POS 전후 효과 검증 리포트</a:t>
            </a:r>
            <a:endParaRPr lang="en-US" sz="1300" dirty="0"/>
          </a:p>
          <a:p>
            <a:pPr marL="342900" indent="-342900">
              <a:lnSpc>
                <a:spcPts val="2000"/>
              </a:lnSpc>
              <a:spcAft>
                <a:spcPts val="700"/>
              </a:spcAft>
              <a:buSzPct val="100000"/>
              <a:buChar char="•"/>
            </a:pPr>
            <a:r>
              <a:rPr lang="en-US" sz="1300" dirty="0">
                <a:solidFill>
                  <a:srgbClr val="FFFFFF"/>
                </a:solidFill>
                <a:latin typeface="맑은 고딕" pitchFamily="34" charset="0"/>
                <a:ea typeface="맑은 고딕" pitchFamily="34" charset="-122"/>
                <a:cs typeface="맑은 고딕" pitchFamily="34" charset="-120"/>
              </a:rPr>
              <a:t>월간 처방 리포트 (구독)</a:t>
            </a:r>
            <a:endParaRPr lang="en-US" sz="1300" dirty="0"/>
          </a:p>
          <a:p>
            <a:pPr marL="342900" indent="-342900">
              <a:lnSpc>
                <a:spcPts val="2000"/>
              </a:lnSpc>
              <a:spcAft>
                <a:spcPts val="700"/>
              </a:spcAft>
              <a:buSzPct val="100000"/>
              <a:buChar char="•"/>
            </a:pPr>
            <a:r>
              <a:rPr lang="en-US" sz="1300" dirty="0">
                <a:solidFill>
                  <a:srgbClr val="FFFFFF"/>
                </a:solidFill>
                <a:latin typeface="맑은 고딕" pitchFamily="34" charset="0"/>
                <a:ea typeface="맑은 고딕" pitchFamily="34" charset="-122"/>
                <a:cs typeface="맑은 고딕" pitchFamily="34" charset="-120"/>
              </a:rPr>
              <a:t>전담 컨설턴트 리포트 미팅</a:t>
            </a:r>
            <a:endParaRPr lang="en-US" sz="1300" dirty="0"/>
          </a:p>
        </p:txBody>
      </p:sp>
      <p:sp>
        <p:nvSpPr>
          <p:cNvPr id="15" name="Text 12"/>
          <p:cNvSpPr txBox="1"/>
          <p:nvPr/>
        </p:nvSpPr>
        <p:spPr>
          <a:xfrm>
            <a:off x="4575048" y="4491228"/>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맑은 고딕" pitchFamily="34" charset="0"/>
                <a:ea typeface="맑은 고딕" pitchFamily="34" charset="-122"/>
                <a:cs typeface="맑은 고딕" pitchFamily="34" charset="-120"/>
              </a:rPr>
              <a:t>증명하는 컨설팅은 갱신된다</a:t>
            </a:r>
            <a:endParaRPr lang="en-US" sz="1000" dirty="0"/>
          </a:p>
        </p:txBody>
      </p:sp>
      <p:sp>
        <p:nvSpPr>
          <p:cNvPr id="16" name="Shape 13"/>
          <p:cNvSpPr/>
          <p:nvPr/>
        </p:nvSpPr>
        <p:spPr>
          <a:xfrm>
            <a:off x="8034528" y="1481328"/>
            <a:ext cx="3587496" cy="3419856"/>
          </a:xfrm>
          <a:prstGeom prst="roundRect">
            <a:avLst>
              <a:gd name="adj" fmla="val 160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2222246"/>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성장  Grow</a:t>
            </a:r>
            <a:endParaRPr lang="en-US" sz="1800" dirty="0"/>
          </a:p>
        </p:txBody>
      </p:sp>
      <p:sp>
        <p:nvSpPr>
          <p:cNvPr id="18" name="Text 15"/>
          <p:cNvSpPr txBox="1"/>
          <p:nvPr/>
        </p:nvSpPr>
        <p:spPr>
          <a:xfrm>
            <a:off x="8308848" y="2638806"/>
            <a:ext cx="3038856" cy="1221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팝업 → 상설 구독 (정규 매장 첫 3개월 무료)</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 성장 컨설팅 + 성과연동 수수료</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 L.POINT 리타게팅</a:t>
            </a:r>
            <a:endParaRPr lang="en-US" sz="1300" dirty="0"/>
          </a:p>
        </p:txBody>
      </p:sp>
      <p:sp>
        <p:nvSpPr>
          <p:cNvPr id="19" name="Text 16"/>
          <p:cNvSpPr txBox="1"/>
          <p:nvPr/>
        </p:nvSpPr>
        <p:spPr>
          <a:xfrm>
            <a:off x="8308848" y="4491228"/>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깔때기 업셀 — 3년차 리커링 51%</a:t>
            </a:r>
            <a:endParaRPr lang="en-US" sz="1000" dirty="0"/>
          </a:p>
        </p:txBody>
      </p:sp>
      <p:sp>
        <p:nvSpPr>
          <p:cNvPr id="20" name="Text 17"/>
          <p:cNvSpPr txBox="1"/>
          <p:nvPr/>
        </p:nvSpPr>
        <p:spPr>
          <a:xfrm>
            <a:off x="4154424" y="2953512"/>
            <a:ext cx="146304" cy="475488"/>
          </a:xfrm>
          <a:prstGeom prst="rect">
            <a:avLst/>
          </a:prstGeom>
          <a:noFill/>
          <a:ln/>
        </p:spPr>
        <p:txBody>
          <a:bodyPr wrap="square" lIns="0" tIns="0" rIns="0" bIns="0" rtlCol="0" anchor="ctr"/>
          <a:lstStyle/>
          <a:p>
            <a:pPr algn="ctr" indent="0" marL="0">
              <a:lnSpc>
                <a:spcPts val="2400"/>
              </a:lnSpc>
              <a:buNone/>
            </a:pPr>
            <a:r>
              <a:rPr lang="en-US" sz="1600" b="1" dirty="0">
                <a:solidFill>
                  <a:srgbClr val="5E6979"/>
                </a:solidFill>
                <a:latin typeface="맑은 고딕" pitchFamily="34" charset="0"/>
                <a:ea typeface="맑은 고딕" pitchFamily="34" charset="-122"/>
                <a:cs typeface="맑은 고딕" pitchFamily="34" charset="-120"/>
              </a:rPr>
              <a:t>→</a:t>
            </a:r>
            <a:endParaRPr lang="en-US" sz="1600" dirty="0"/>
          </a:p>
        </p:txBody>
      </p:sp>
      <p:sp>
        <p:nvSpPr>
          <p:cNvPr id="21" name="Text 18"/>
          <p:cNvSpPr txBox="1"/>
          <p:nvPr/>
        </p:nvSpPr>
        <p:spPr>
          <a:xfrm>
            <a:off x="7888224" y="2953512"/>
            <a:ext cx="146304" cy="475488"/>
          </a:xfrm>
          <a:prstGeom prst="rect">
            <a:avLst/>
          </a:prstGeom>
          <a:noFill/>
          <a:ln/>
        </p:spPr>
        <p:txBody>
          <a:bodyPr wrap="square" lIns="0" tIns="0" rIns="0" bIns="0" rtlCol="0" anchor="ctr"/>
          <a:lstStyle/>
          <a:p>
            <a:pPr algn="ctr" indent="0" marL="0">
              <a:lnSpc>
                <a:spcPts val="2400"/>
              </a:lnSpc>
              <a:buNone/>
            </a:pPr>
            <a:r>
              <a:rPr lang="en-US" sz="1600" b="1" dirty="0">
                <a:solidFill>
                  <a:srgbClr val="5E6979"/>
                </a:solidFill>
                <a:latin typeface="맑은 고딕" pitchFamily="34" charset="0"/>
                <a:ea typeface="맑은 고딕" pitchFamily="34" charset="-122"/>
                <a:cs typeface="맑은 고딕" pitchFamily="34" charset="-120"/>
              </a:rPr>
              <a:t>→</a:t>
            </a:r>
            <a:endParaRPr lang="en-US" sz="1600" dirty="0"/>
          </a:p>
        </p:txBody>
      </p:sp>
      <p:sp>
        <p:nvSpPr>
          <p:cNvPr id="22" name="Shape 19"/>
          <p:cNvSpPr/>
          <p:nvPr/>
        </p:nvSpPr>
        <p:spPr>
          <a:xfrm>
            <a:off x="566928" y="5175504"/>
            <a:ext cx="11055096" cy="749808"/>
          </a:xfrm>
          <a:prstGeom prst="roundRect">
            <a:avLst>
              <a:gd name="adj" fmla="val 7317"/>
            </a:avLst>
          </a:prstGeom>
          <a:solidFill>
            <a:srgbClr val="0E1420"/>
          </a:solidFill>
          <a:ln/>
        </p:spPr>
      </p:sp>
      <p:sp>
        <p:nvSpPr>
          <p:cNvPr id="23" name="Text 20"/>
          <p:cNvSpPr txBox="1"/>
          <p:nvPr/>
        </p:nvSpPr>
        <p:spPr>
          <a:xfrm>
            <a:off x="932688" y="517550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"바꿨더니 전환율이 8.1% → 11.4%"  —  이 문장이 다음 계약서입니다.</a:t>
            </a:r>
            <a:endParaRPr lang="en-US" sz="1500" dirty="0"/>
          </a:p>
        </p:txBody>
      </p:sp>
      <p:sp>
        <p:nvSpPr>
          <p:cNvPr id="24" name="Text 21"/>
          <p:cNvSpPr txBox="1"/>
          <p:nvPr/>
        </p:nvSpPr>
        <p:spPr>
          <a:xfrm>
            <a:off x="566928" y="6163056"/>
            <a:ext cx="11055096" cy="365760"/>
          </a:xfrm>
          <a:prstGeom prst="rect">
            <a:avLst/>
          </a:prstGeom>
          <a:noFill/>
          <a:ln/>
        </p:spPr>
        <p:txBody>
          <a:bodyPr wrap="square" lIns="0" tIns="0" rIns="0" bIns="0" rtlCol="0" anchor="ctr"/>
          <a:lstStyle/>
          <a:p>
            <a:pPr algn="ctr" indent="0" marL="0">
              <a:lnSpc>
                <a:spcPts val="1900"/>
              </a:lnSpc>
              <a:buNone/>
            </a:pPr>
            <a:r>
              <a:rPr lang="en-US" sz="1250" b="1" dirty="0">
                <a:solidFill>
                  <a:srgbClr val="E11D2E"/>
                </a:solidFill>
                <a:latin typeface="맑은 고딕" pitchFamily="34" charset="0"/>
                <a:ea typeface="맑은 고딕" pitchFamily="34" charset="-122"/>
                <a:cs typeface="맑은 고딕" pitchFamily="34" charset="-120"/>
              </a:rPr>
              <a:t>사랑과 신뢰를 받는 서비스  —  </a:t>
            </a:r>
            <a:pPr algn="ctr" indent="0" marL="0">
              <a:lnSpc>
                <a:spcPts val="1900"/>
              </a:lnSpc>
              <a:buNone/>
            </a:pPr>
            <a:r>
              <a:rPr lang="en-US" sz="1250" b="1" dirty="0">
                <a:solidFill>
                  <a:srgbClr val="0E1420"/>
                </a:solidFill>
                <a:latin typeface="맑은 고딕" pitchFamily="34" charset="0"/>
                <a:ea typeface="맑은 고딕" pitchFamily="34" charset="-122"/>
                <a:cs typeface="맑은 고딕" pitchFamily="34" charset="-120"/>
              </a:rPr>
              <a:t>증명하기 전에는 청구하지 않습니다. 신뢰가 먼저 쌓이고, 갱신은 그 결과입니다.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05</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수익원  |  고객은 무엇에 기꺼이 돈을 지불하는가?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팝업은 매출 엔진이 아니라 유입 깔때기 — 3년차 매출의 51%가 반복 매출</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sp>
        <p:nvSpPr>
          <p:cNvPr id="8" name="Shape 5"/>
          <p:cNvSpPr/>
          <p:nvPr/>
        </p:nvSpPr>
        <p:spPr>
          <a:xfrm>
            <a:off x="566928" y="1481328"/>
            <a:ext cx="11055096" cy="811987"/>
          </a:xfrm>
          <a:prstGeom prst="roundRect">
            <a:avLst>
              <a:gd name="adj" fmla="val 6757"/>
            </a:avLst>
          </a:prstGeom>
          <a:solidFill>
            <a:srgbClr val="F7F8FA"/>
          </a:solidFill>
          <a:ln w="12700">
            <a:solidFill>
              <a:srgbClr val="E4E8EE"/>
            </a:solidFill>
            <a:prstDash val="solid"/>
          </a:ln>
        </p:spPr>
      </p:sp>
      <p:sp>
        <p:nvSpPr>
          <p:cNvPr id="9" name="Text 6"/>
          <p:cNvSpPr txBox="1"/>
          <p:nvPr/>
        </p:nvSpPr>
        <p:spPr>
          <a:xfrm>
            <a:off x="768096" y="1481328"/>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①</a:t>
            </a:r>
            <a:endParaRPr lang="en-US" sz="2000" dirty="0"/>
          </a:p>
        </p:txBody>
      </p:sp>
      <p:sp>
        <p:nvSpPr>
          <p:cNvPr id="10" name="Text 7"/>
          <p:cNvSpPr txBox="1"/>
          <p:nvPr/>
        </p:nvSpPr>
        <p:spPr>
          <a:xfrm>
            <a:off x="1353312" y="1481328"/>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맑은 고딕" pitchFamily="34" charset="0"/>
                <a:ea typeface="맑은 고딕" pitchFamily="34" charset="-122"/>
                <a:cs typeface="맑은 고딕" pitchFamily="34" charset="-120"/>
              </a:rPr>
              <a:t>팝업 솔루션 패키지</a:t>
            </a:r>
            <a:endParaRPr lang="en-US" sz="1500" dirty="0"/>
          </a:p>
        </p:txBody>
      </p:sp>
      <p:sp>
        <p:nvSpPr>
          <p:cNvPr id="11" name="Text 8"/>
          <p:cNvSpPr txBox="1"/>
          <p:nvPr/>
        </p:nvSpPr>
        <p:spPr>
          <a:xfrm>
            <a:off x="4334256" y="1481328"/>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리포트 + 고객 인사이트 + 개선 처방</a:t>
            </a:r>
            <a:endParaRPr lang="en-US" sz="1150" dirty="0"/>
          </a:p>
        </p:txBody>
      </p:sp>
      <p:sp>
        <p:nvSpPr>
          <p:cNvPr id="12" name="Text 9"/>
          <p:cNvSpPr txBox="1"/>
          <p:nvPr/>
        </p:nvSpPr>
        <p:spPr>
          <a:xfrm>
            <a:off x="7717536" y="1481328"/>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ASP 320만원 / 건</a:t>
            </a:r>
            <a:endParaRPr lang="en-US" sz="1300" dirty="0"/>
          </a:p>
        </p:txBody>
      </p:sp>
      <p:sp>
        <p:nvSpPr>
          <p:cNvPr id="13" name="Shape 10"/>
          <p:cNvSpPr/>
          <p:nvPr/>
        </p:nvSpPr>
        <p:spPr>
          <a:xfrm>
            <a:off x="10680192" y="1722730"/>
            <a:ext cx="804672" cy="329184"/>
          </a:xfrm>
          <a:prstGeom prst="roundRect">
            <a:avLst>
              <a:gd name="adj" fmla="val 13889"/>
            </a:avLst>
          </a:prstGeom>
          <a:solidFill>
            <a:srgbClr val="E4E8EE"/>
          </a:solidFill>
          <a:ln/>
        </p:spPr>
      </p:sp>
      <p:sp>
        <p:nvSpPr>
          <p:cNvPr id="14" name="Text 11"/>
          <p:cNvSpPr txBox="1"/>
          <p:nvPr/>
        </p:nvSpPr>
        <p:spPr>
          <a:xfrm>
            <a:off x="10680192" y="1722730"/>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유입</a:t>
            </a:r>
            <a:endParaRPr lang="en-US" sz="1000" dirty="0"/>
          </a:p>
        </p:txBody>
      </p:sp>
      <p:sp>
        <p:nvSpPr>
          <p:cNvPr id="15" name="Shape 12"/>
          <p:cNvSpPr/>
          <p:nvPr/>
        </p:nvSpPr>
        <p:spPr>
          <a:xfrm>
            <a:off x="566928" y="2393899"/>
            <a:ext cx="11055096" cy="811987"/>
          </a:xfrm>
          <a:prstGeom prst="roundRect">
            <a:avLst>
              <a:gd name="adj" fmla="val 6757"/>
            </a:avLst>
          </a:prstGeom>
          <a:solidFill>
            <a:srgbClr val="FFFFFF"/>
          </a:solidFill>
          <a:ln w="12700">
            <a:solidFill>
              <a:srgbClr val="E4E8EE"/>
            </a:solidFill>
            <a:prstDash val="solid"/>
          </a:ln>
        </p:spPr>
      </p:sp>
      <p:sp>
        <p:nvSpPr>
          <p:cNvPr id="16" name="Text 13"/>
          <p:cNvSpPr txBox="1"/>
          <p:nvPr/>
        </p:nvSpPr>
        <p:spPr>
          <a:xfrm>
            <a:off x="768096" y="2393899"/>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②</a:t>
            </a:r>
            <a:endParaRPr lang="en-US" sz="2000" dirty="0"/>
          </a:p>
        </p:txBody>
      </p:sp>
      <p:sp>
        <p:nvSpPr>
          <p:cNvPr id="17" name="Text 14"/>
          <p:cNvSpPr txBox="1"/>
          <p:nvPr/>
        </p:nvSpPr>
        <p:spPr>
          <a:xfrm>
            <a:off x="1353312" y="2393899"/>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맑은 고딕" pitchFamily="34" charset="0"/>
                <a:ea typeface="맑은 고딕" pitchFamily="34" charset="-122"/>
                <a:cs typeface="맑은 고딕" pitchFamily="34" charset="-120"/>
              </a:rPr>
              <a:t>상설 매장 구독</a:t>
            </a:r>
            <a:endParaRPr lang="en-US" sz="1500" dirty="0"/>
          </a:p>
        </p:txBody>
      </p:sp>
      <p:sp>
        <p:nvSpPr>
          <p:cNvPr id="18" name="Text 15"/>
          <p:cNvSpPr txBox="1"/>
          <p:nvPr/>
        </p:nvSpPr>
        <p:spPr>
          <a:xfrm>
            <a:off x="4334256" y="2393899"/>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월간 처방 리포트 + 대시보드</a:t>
            </a:r>
            <a:endParaRPr lang="en-US" sz="1150" dirty="0"/>
          </a:p>
        </p:txBody>
      </p:sp>
      <p:sp>
        <p:nvSpPr>
          <p:cNvPr id="19" name="Text 16"/>
          <p:cNvSpPr txBox="1"/>
          <p:nvPr/>
        </p:nvSpPr>
        <p:spPr>
          <a:xfrm>
            <a:off x="7717536" y="2393899"/>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월 45만원 / 매장</a:t>
            </a:r>
            <a:endParaRPr lang="en-US" sz="1300" dirty="0"/>
          </a:p>
        </p:txBody>
      </p:sp>
      <p:sp>
        <p:nvSpPr>
          <p:cNvPr id="20" name="Shape 17"/>
          <p:cNvSpPr/>
          <p:nvPr/>
        </p:nvSpPr>
        <p:spPr>
          <a:xfrm>
            <a:off x="10680192" y="2635301"/>
            <a:ext cx="804672" cy="329184"/>
          </a:xfrm>
          <a:prstGeom prst="roundRect">
            <a:avLst>
              <a:gd name="adj" fmla="val 13889"/>
            </a:avLst>
          </a:prstGeom>
          <a:solidFill>
            <a:srgbClr val="E11D2E"/>
          </a:solidFill>
          <a:ln/>
        </p:spPr>
      </p:sp>
      <p:sp>
        <p:nvSpPr>
          <p:cNvPr id="21" name="Text 18"/>
          <p:cNvSpPr txBox="1"/>
          <p:nvPr/>
        </p:nvSpPr>
        <p:spPr>
          <a:xfrm>
            <a:off x="10680192" y="2635301"/>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리커링</a:t>
            </a:r>
            <a:endParaRPr lang="en-US" sz="1000" dirty="0"/>
          </a:p>
        </p:txBody>
      </p:sp>
      <p:sp>
        <p:nvSpPr>
          <p:cNvPr id="22" name="Shape 19"/>
          <p:cNvSpPr/>
          <p:nvPr/>
        </p:nvSpPr>
        <p:spPr>
          <a:xfrm>
            <a:off x="566928" y="3306470"/>
            <a:ext cx="11055096" cy="811987"/>
          </a:xfrm>
          <a:prstGeom prst="roundRect">
            <a:avLst>
              <a:gd name="adj" fmla="val 6757"/>
            </a:avLst>
          </a:prstGeom>
          <a:solidFill>
            <a:srgbClr val="F7F8FA"/>
          </a:solidFill>
          <a:ln w="12700">
            <a:solidFill>
              <a:srgbClr val="E4E8EE"/>
            </a:solidFill>
            <a:prstDash val="solid"/>
          </a:ln>
        </p:spPr>
      </p:sp>
      <p:sp>
        <p:nvSpPr>
          <p:cNvPr id="23" name="Text 20"/>
          <p:cNvSpPr txBox="1"/>
          <p:nvPr/>
        </p:nvSpPr>
        <p:spPr>
          <a:xfrm>
            <a:off x="768096" y="3306470"/>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③</a:t>
            </a:r>
            <a:endParaRPr lang="en-US" sz="2000" dirty="0"/>
          </a:p>
        </p:txBody>
      </p:sp>
      <p:sp>
        <p:nvSpPr>
          <p:cNvPr id="24" name="Text 21"/>
          <p:cNvSpPr txBox="1"/>
          <p:nvPr/>
        </p:nvSpPr>
        <p:spPr>
          <a:xfrm>
            <a:off x="1353312" y="3306470"/>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맑은 고딕" pitchFamily="34" charset="0"/>
                <a:ea typeface="맑은 고딕" pitchFamily="34" charset="-122"/>
                <a:cs typeface="맑은 고딕" pitchFamily="34" charset="-120"/>
              </a:rPr>
              <a:t>성장 컨설팅 + 성과연동</a:t>
            </a:r>
            <a:endParaRPr lang="en-US" sz="1500" dirty="0"/>
          </a:p>
        </p:txBody>
      </p:sp>
      <p:sp>
        <p:nvSpPr>
          <p:cNvPr id="25" name="Text 22"/>
          <p:cNvSpPr txBox="1"/>
          <p:nvPr/>
        </p:nvSpPr>
        <p:spPr>
          <a:xfrm>
            <a:off x="4334256" y="3306470"/>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VMD · 상품기획 · 출점전략</a:t>
            </a:r>
            <a:endParaRPr lang="en-US" sz="1150" dirty="0"/>
          </a:p>
        </p:txBody>
      </p:sp>
      <p:sp>
        <p:nvSpPr>
          <p:cNvPr id="26" name="Text 23"/>
          <p:cNvSpPr txBox="1"/>
          <p:nvPr/>
        </p:nvSpPr>
        <p:spPr>
          <a:xfrm>
            <a:off x="7717536" y="3306470"/>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1,500만원 + 성과 5~10%</a:t>
            </a:r>
            <a:endParaRPr lang="en-US" sz="1300" dirty="0"/>
          </a:p>
        </p:txBody>
      </p:sp>
      <p:sp>
        <p:nvSpPr>
          <p:cNvPr id="27" name="Shape 24"/>
          <p:cNvSpPr/>
          <p:nvPr/>
        </p:nvSpPr>
        <p:spPr>
          <a:xfrm>
            <a:off x="10680192" y="3547872"/>
            <a:ext cx="804672" cy="329184"/>
          </a:xfrm>
          <a:prstGeom prst="roundRect">
            <a:avLst>
              <a:gd name="adj" fmla="val 13889"/>
            </a:avLst>
          </a:prstGeom>
          <a:solidFill>
            <a:srgbClr val="E4E8EE"/>
          </a:solidFill>
          <a:ln/>
        </p:spPr>
      </p:sp>
      <p:sp>
        <p:nvSpPr>
          <p:cNvPr id="28" name="Text 25"/>
          <p:cNvSpPr txBox="1"/>
          <p:nvPr/>
        </p:nvSpPr>
        <p:spPr>
          <a:xfrm>
            <a:off x="10680192" y="3547872"/>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고부가</a:t>
            </a:r>
            <a:endParaRPr lang="en-US" sz="1000" dirty="0"/>
          </a:p>
        </p:txBody>
      </p:sp>
      <p:sp>
        <p:nvSpPr>
          <p:cNvPr id="29" name="Shape 26"/>
          <p:cNvSpPr/>
          <p:nvPr/>
        </p:nvSpPr>
        <p:spPr>
          <a:xfrm>
            <a:off x="566928" y="4219042"/>
            <a:ext cx="11055096" cy="811987"/>
          </a:xfrm>
          <a:prstGeom prst="roundRect">
            <a:avLst>
              <a:gd name="adj" fmla="val 6757"/>
            </a:avLst>
          </a:prstGeom>
          <a:solidFill>
            <a:srgbClr val="FFFFFF"/>
          </a:solidFill>
          <a:ln w="12700">
            <a:solidFill>
              <a:srgbClr val="E4E8EE"/>
            </a:solidFill>
            <a:prstDash val="solid"/>
          </a:ln>
        </p:spPr>
      </p:sp>
      <p:sp>
        <p:nvSpPr>
          <p:cNvPr id="30" name="Text 27"/>
          <p:cNvSpPr txBox="1"/>
          <p:nvPr/>
        </p:nvSpPr>
        <p:spPr>
          <a:xfrm>
            <a:off x="768096" y="4219042"/>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④</a:t>
            </a:r>
            <a:endParaRPr lang="en-US" sz="2000" dirty="0"/>
          </a:p>
        </p:txBody>
      </p:sp>
      <p:sp>
        <p:nvSpPr>
          <p:cNvPr id="31" name="Text 28"/>
          <p:cNvSpPr txBox="1"/>
          <p:nvPr/>
        </p:nvSpPr>
        <p:spPr>
          <a:xfrm>
            <a:off x="1353312" y="4219042"/>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맑은 고딕" pitchFamily="34" charset="0"/>
                <a:ea typeface="맑은 고딕" pitchFamily="34" charset="-122"/>
                <a:cs typeface="맑은 고딕" pitchFamily="34" charset="-120"/>
              </a:rPr>
              <a:t>L.POINT 리타게팅</a:t>
            </a:r>
            <a:endParaRPr lang="en-US" sz="1500" dirty="0"/>
          </a:p>
        </p:txBody>
      </p:sp>
      <p:sp>
        <p:nvSpPr>
          <p:cNvPr id="32" name="Text 29"/>
          <p:cNvSpPr txBox="1"/>
          <p:nvPr/>
        </p:nvSpPr>
        <p:spPr>
          <a:xfrm>
            <a:off x="4334256" y="4219042"/>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안 산 고객에게 앱 쿠폰 발송</a:t>
            </a:r>
            <a:endParaRPr lang="en-US" sz="1150" dirty="0"/>
          </a:p>
        </p:txBody>
      </p:sp>
      <p:sp>
        <p:nvSpPr>
          <p:cNvPr id="33" name="Text 30"/>
          <p:cNvSpPr txBox="1"/>
          <p:nvPr/>
        </p:nvSpPr>
        <p:spPr>
          <a:xfrm>
            <a:off x="7717536" y="4219042"/>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CPM / CPA</a:t>
            </a:r>
            <a:endParaRPr lang="en-US" sz="1300" dirty="0"/>
          </a:p>
        </p:txBody>
      </p:sp>
      <p:sp>
        <p:nvSpPr>
          <p:cNvPr id="34" name="Shape 31"/>
          <p:cNvSpPr/>
          <p:nvPr/>
        </p:nvSpPr>
        <p:spPr>
          <a:xfrm>
            <a:off x="10680192" y="4460443"/>
            <a:ext cx="804672" cy="329184"/>
          </a:xfrm>
          <a:prstGeom prst="roundRect">
            <a:avLst>
              <a:gd name="adj" fmla="val 13889"/>
            </a:avLst>
          </a:prstGeom>
          <a:solidFill>
            <a:srgbClr val="E11D2E"/>
          </a:solidFill>
          <a:ln/>
        </p:spPr>
      </p:sp>
      <p:sp>
        <p:nvSpPr>
          <p:cNvPr id="35" name="Text 32"/>
          <p:cNvSpPr txBox="1"/>
          <p:nvPr/>
        </p:nvSpPr>
        <p:spPr>
          <a:xfrm>
            <a:off x="10680192" y="4460443"/>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리커링</a:t>
            </a:r>
            <a:endParaRPr lang="en-US" sz="1000" dirty="0"/>
          </a:p>
        </p:txBody>
      </p:sp>
      <p:sp>
        <p:nvSpPr>
          <p:cNvPr id="36" name="Shape 33"/>
          <p:cNvSpPr/>
          <p:nvPr/>
        </p:nvSpPr>
        <p:spPr>
          <a:xfrm>
            <a:off x="566928" y="5131613"/>
            <a:ext cx="11055096" cy="811987"/>
          </a:xfrm>
          <a:prstGeom prst="roundRect">
            <a:avLst>
              <a:gd name="adj" fmla="val 6757"/>
            </a:avLst>
          </a:prstGeom>
          <a:solidFill>
            <a:srgbClr val="F7F8FA"/>
          </a:solidFill>
          <a:ln w="12700">
            <a:solidFill>
              <a:srgbClr val="E4E8EE"/>
            </a:solidFill>
            <a:prstDash val="solid"/>
          </a:ln>
        </p:spPr>
      </p:sp>
      <p:sp>
        <p:nvSpPr>
          <p:cNvPr id="37" name="Text 34"/>
          <p:cNvSpPr txBox="1"/>
          <p:nvPr/>
        </p:nvSpPr>
        <p:spPr>
          <a:xfrm>
            <a:off x="768096" y="5131613"/>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⑤</a:t>
            </a:r>
            <a:endParaRPr lang="en-US" sz="2000" dirty="0"/>
          </a:p>
        </p:txBody>
      </p:sp>
      <p:sp>
        <p:nvSpPr>
          <p:cNvPr id="38" name="Text 35"/>
          <p:cNvSpPr txBox="1"/>
          <p:nvPr/>
        </p:nvSpPr>
        <p:spPr>
          <a:xfrm>
            <a:off x="1353312" y="5131613"/>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맑은 고딕" pitchFamily="34" charset="0"/>
                <a:ea typeface="맑은 고딕" pitchFamily="34" charset="-122"/>
                <a:cs typeface="맑은 고딕" pitchFamily="34" charset="-120"/>
              </a:rPr>
              <a:t>벤치마크 라이선스</a:t>
            </a:r>
            <a:endParaRPr lang="en-US" sz="1500" dirty="0"/>
          </a:p>
        </p:txBody>
      </p:sp>
      <p:sp>
        <p:nvSpPr>
          <p:cNvPr id="39" name="Text 36"/>
          <p:cNvSpPr txBox="1"/>
          <p:nvPr/>
        </p:nvSpPr>
        <p:spPr>
          <a:xfrm>
            <a:off x="4334256" y="5131613"/>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카테고리 기준치 정기 리포트</a:t>
            </a:r>
            <a:endParaRPr lang="en-US" sz="1150" dirty="0"/>
          </a:p>
        </p:txBody>
      </p:sp>
      <p:sp>
        <p:nvSpPr>
          <p:cNvPr id="40" name="Text 37"/>
          <p:cNvSpPr txBox="1"/>
          <p:nvPr/>
        </p:nvSpPr>
        <p:spPr>
          <a:xfrm>
            <a:off x="7717536" y="5131613"/>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연 2,000~5,000만원</a:t>
            </a:r>
            <a:endParaRPr lang="en-US" sz="1300" dirty="0"/>
          </a:p>
        </p:txBody>
      </p:sp>
      <p:sp>
        <p:nvSpPr>
          <p:cNvPr id="41" name="Shape 38"/>
          <p:cNvSpPr/>
          <p:nvPr/>
        </p:nvSpPr>
        <p:spPr>
          <a:xfrm>
            <a:off x="10680192" y="5373014"/>
            <a:ext cx="804672" cy="329184"/>
          </a:xfrm>
          <a:prstGeom prst="roundRect">
            <a:avLst>
              <a:gd name="adj" fmla="val 13889"/>
            </a:avLst>
          </a:prstGeom>
          <a:solidFill>
            <a:srgbClr val="E11D2E"/>
          </a:solidFill>
          <a:ln/>
        </p:spPr>
      </p:sp>
      <p:sp>
        <p:nvSpPr>
          <p:cNvPr id="42" name="Text 39"/>
          <p:cNvSpPr txBox="1"/>
          <p:nvPr/>
        </p:nvSpPr>
        <p:spPr>
          <a:xfrm>
            <a:off x="10680192" y="5373014"/>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맑은 고딕" pitchFamily="34" charset="0"/>
                <a:ea typeface="맑은 고딕" pitchFamily="34" charset="-122"/>
                <a:cs typeface="맑은 고딕" pitchFamily="34" charset="-120"/>
              </a:rPr>
              <a:t>리커링</a:t>
            </a:r>
            <a:endParaRPr lang="en-US" sz="1000" dirty="0"/>
          </a:p>
        </p:txBody>
      </p:sp>
      <p:sp>
        <p:nvSpPr>
          <p:cNvPr id="43" name="Text 40"/>
          <p:cNvSpPr txBox="1"/>
          <p:nvPr/>
        </p:nvSpPr>
        <p:spPr>
          <a:xfrm>
            <a:off x="566928" y="6163056"/>
            <a:ext cx="11055096" cy="365760"/>
          </a:xfrm>
          <a:prstGeom prst="rect">
            <a:avLst/>
          </a:prstGeom>
          <a:noFill/>
          <a:ln/>
        </p:spPr>
        <p:txBody>
          <a:bodyPr wrap="square" lIns="0" tIns="0" rIns="0" bIns="0" rtlCol="0" anchor="ctr"/>
          <a:lstStyle/>
          <a:p>
            <a:pPr algn="ctr" indent="0" marL="0">
              <a:lnSpc>
                <a:spcPts val="2300"/>
              </a:lnSpc>
              <a:buNone/>
            </a:pPr>
            <a:r>
              <a:rPr lang="en-US" sz="1500" b="1" dirty="0">
                <a:solidFill>
                  <a:srgbClr val="0E1420"/>
                </a:solidFill>
                <a:latin typeface="맑은 고딕" pitchFamily="34" charset="0"/>
                <a:ea typeface="맑은 고딕" pitchFamily="34" charset="-122"/>
                <a:cs typeface="맑은 고딕" pitchFamily="34" charset="-120"/>
              </a:rPr>
              <a:t>구글 애널리틱스는 무료입니다. 구글은 측정이 아니라 광고로 법니다. 저희도 같습니다.</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05</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수익원  |  3개년 손익 — 24개월에 손익분기</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 내부 검증 전 추정치 — 롯데 내부 데이터로 재검증 필요</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STEP 1 · 가치 전달</a:t>
            </a:r>
            <a:endParaRPr lang="en-US" sz="1100" dirty="0"/>
          </a:p>
        </p:txBody>
      </p:sp>
      <p:graphicFrame>
        <p:nvGraphicFramePr>
          <p:cNvPr id="8" name="Chart 0" descr=""/>
          <p:cNvGraphicFramePr/>
          <p:nvPr/>
        </p:nvGraphicFramePr>
        <p:xfrm>
          <a:off x="566928" y="1481328"/>
          <a:ext cx="7269480" cy="4370832"/>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110728" y="1481328"/>
            <a:ext cx="3511296" cy="749808"/>
          </a:xfrm>
          <a:prstGeom prst="roundRect">
            <a:avLst>
              <a:gd name="adj" fmla="val 7317"/>
            </a:avLst>
          </a:prstGeom>
          <a:solidFill>
            <a:srgbClr val="F7F8FA"/>
          </a:solidFill>
          <a:ln w="12700">
            <a:solidFill>
              <a:srgbClr val="E4E8EE"/>
            </a:solidFill>
            <a:prstDash val="solid"/>
          </a:ln>
        </p:spPr>
      </p:sp>
      <p:sp>
        <p:nvSpPr>
          <p:cNvPr id="10" name="Text 6"/>
          <p:cNvSpPr txBox="1"/>
          <p:nvPr/>
        </p:nvSpPr>
        <p:spPr>
          <a:xfrm>
            <a:off x="8385048" y="1481328"/>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누적 손익분기</a:t>
            </a:r>
            <a:endParaRPr lang="en-US" sz="1150" dirty="0"/>
          </a:p>
        </p:txBody>
      </p:sp>
      <p:sp>
        <p:nvSpPr>
          <p:cNvPr id="11" name="Text 7"/>
          <p:cNvSpPr txBox="1"/>
          <p:nvPr/>
        </p:nvSpPr>
        <p:spPr>
          <a:xfrm>
            <a:off x="9884664" y="1481328"/>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맑은 고딕" pitchFamily="34" charset="0"/>
                <a:ea typeface="맑은 고딕" pitchFamily="34" charset="-122"/>
                <a:cs typeface="맑은 고딕" pitchFamily="34" charset="-120"/>
              </a:rPr>
              <a:t>24개월</a:t>
            </a:r>
            <a:endParaRPr lang="en-US" sz="1800" dirty="0"/>
          </a:p>
        </p:txBody>
      </p:sp>
      <p:sp>
        <p:nvSpPr>
          <p:cNvPr id="12" name="Shape 8"/>
          <p:cNvSpPr/>
          <p:nvPr/>
        </p:nvSpPr>
        <p:spPr>
          <a:xfrm>
            <a:off x="8110728" y="2340864"/>
            <a:ext cx="3511296" cy="749808"/>
          </a:xfrm>
          <a:prstGeom prst="roundRect">
            <a:avLst>
              <a:gd name="adj" fmla="val 7317"/>
            </a:avLst>
          </a:prstGeom>
          <a:solidFill>
            <a:srgbClr val="F7F8FA"/>
          </a:solidFill>
          <a:ln w="12700">
            <a:solidFill>
              <a:srgbClr val="E4E8EE"/>
            </a:solidFill>
            <a:prstDash val="solid"/>
          </a:ln>
        </p:spPr>
      </p:sp>
      <p:sp>
        <p:nvSpPr>
          <p:cNvPr id="13" name="Text 9"/>
          <p:cNvSpPr txBox="1"/>
          <p:nvPr/>
        </p:nvSpPr>
        <p:spPr>
          <a:xfrm>
            <a:off x="8385048" y="2340864"/>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매출총이익률</a:t>
            </a:r>
            <a:endParaRPr lang="en-US" sz="1150" dirty="0"/>
          </a:p>
        </p:txBody>
      </p:sp>
      <p:sp>
        <p:nvSpPr>
          <p:cNvPr id="14" name="Text 10"/>
          <p:cNvSpPr txBox="1"/>
          <p:nvPr/>
        </p:nvSpPr>
        <p:spPr>
          <a:xfrm>
            <a:off x="9884664" y="2340864"/>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맑은 고딕" pitchFamily="34" charset="0"/>
                <a:ea typeface="맑은 고딕" pitchFamily="34" charset="-122"/>
                <a:cs typeface="맑은 고딕" pitchFamily="34" charset="-120"/>
              </a:rPr>
              <a:t>77%</a:t>
            </a:r>
            <a:endParaRPr lang="en-US" sz="1800" dirty="0"/>
          </a:p>
        </p:txBody>
      </p:sp>
      <p:sp>
        <p:nvSpPr>
          <p:cNvPr id="15" name="Shape 11"/>
          <p:cNvSpPr/>
          <p:nvPr/>
        </p:nvSpPr>
        <p:spPr>
          <a:xfrm>
            <a:off x="8110728" y="3200400"/>
            <a:ext cx="3511296" cy="749808"/>
          </a:xfrm>
          <a:prstGeom prst="roundRect">
            <a:avLst>
              <a:gd name="adj" fmla="val 7317"/>
            </a:avLst>
          </a:prstGeom>
          <a:solidFill>
            <a:srgbClr val="F7F8FA"/>
          </a:solidFill>
          <a:ln w="12700">
            <a:solidFill>
              <a:srgbClr val="E4E8EE"/>
            </a:solidFill>
            <a:prstDash val="solid"/>
          </a:ln>
        </p:spPr>
      </p:sp>
      <p:sp>
        <p:nvSpPr>
          <p:cNvPr id="16" name="Text 12"/>
          <p:cNvSpPr txBox="1"/>
          <p:nvPr/>
        </p:nvSpPr>
        <p:spPr>
          <a:xfrm>
            <a:off x="8385048" y="3200400"/>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3년 설비투자</a:t>
            </a:r>
            <a:endParaRPr lang="en-US" sz="1150" dirty="0"/>
          </a:p>
        </p:txBody>
      </p:sp>
      <p:sp>
        <p:nvSpPr>
          <p:cNvPr id="17" name="Text 13"/>
          <p:cNvSpPr txBox="1"/>
          <p:nvPr/>
        </p:nvSpPr>
        <p:spPr>
          <a:xfrm>
            <a:off x="9884664" y="3200400"/>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맑은 고딕" pitchFamily="34" charset="0"/>
                <a:ea typeface="맑은 고딕" pitchFamily="34" charset="-122"/>
                <a:cs typeface="맑은 고딕" pitchFamily="34" charset="-120"/>
              </a:rPr>
              <a:t>11억원</a:t>
            </a:r>
            <a:endParaRPr lang="en-US" sz="1800" dirty="0"/>
          </a:p>
        </p:txBody>
      </p:sp>
      <p:sp>
        <p:nvSpPr>
          <p:cNvPr id="18" name="Shape 14"/>
          <p:cNvSpPr/>
          <p:nvPr/>
        </p:nvSpPr>
        <p:spPr>
          <a:xfrm>
            <a:off x="8110728" y="4059936"/>
            <a:ext cx="3511296" cy="749808"/>
          </a:xfrm>
          <a:prstGeom prst="roundRect">
            <a:avLst>
              <a:gd name="adj" fmla="val 7317"/>
            </a:avLst>
          </a:prstGeom>
          <a:solidFill>
            <a:srgbClr val="F7F8FA"/>
          </a:solidFill>
          <a:ln w="12700">
            <a:solidFill>
              <a:srgbClr val="E4E8EE"/>
            </a:solidFill>
            <a:prstDash val="solid"/>
          </a:ln>
        </p:spPr>
      </p:sp>
      <p:sp>
        <p:nvSpPr>
          <p:cNvPr id="19" name="Text 15"/>
          <p:cNvSpPr txBox="1"/>
          <p:nvPr/>
        </p:nvSpPr>
        <p:spPr>
          <a:xfrm>
            <a:off x="8385048" y="4059936"/>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맑은 고딕" pitchFamily="34" charset="0"/>
                <a:ea typeface="맑은 고딕" pitchFamily="34" charset="-122"/>
                <a:cs typeface="맑은 고딕" pitchFamily="34" charset="-120"/>
              </a:rPr>
              <a:t>파일럿 시작 비용</a:t>
            </a:r>
            <a:endParaRPr lang="en-US" sz="1150" dirty="0"/>
          </a:p>
        </p:txBody>
      </p:sp>
      <p:sp>
        <p:nvSpPr>
          <p:cNvPr id="20" name="Text 16"/>
          <p:cNvSpPr txBox="1"/>
          <p:nvPr/>
        </p:nvSpPr>
        <p:spPr>
          <a:xfrm>
            <a:off x="9884664" y="4059936"/>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맑은 고딕" pitchFamily="34" charset="0"/>
                <a:ea typeface="맑은 고딕" pitchFamily="34" charset="-122"/>
                <a:cs typeface="맑은 고딕" pitchFamily="34" charset="-120"/>
              </a:rPr>
              <a:t>1.5억원</a:t>
            </a:r>
            <a:endParaRPr lang="en-US" sz="1800" dirty="0"/>
          </a:p>
        </p:txBody>
      </p:sp>
      <p:sp>
        <p:nvSpPr>
          <p:cNvPr id="21" name="Shape 17"/>
          <p:cNvSpPr/>
          <p:nvPr/>
        </p:nvSpPr>
        <p:spPr>
          <a:xfrm>
            <a:off x="8110728" y="4974336"/>
            <a:ext cx="3511296" cy="877824"/>
          </a:xfrm>
          <a:prstGeom prst="roundRect">
            <a:avLst>
              <a:gd name="adj" fmla="val 6250"/>
            </a:avLst>
          </a:prstGeom>
          <a:solidFill>
            <a:srgbClr val="0E1420"/>
          </a:solidFill>
          <a:ln w="12700">
            <a:solidFill>
              <a:srgbClr val="0E1420"/>
            </a:solidFill>
            <a:prstDash val="solid"/>
          </a:ln>
        </p:spPr>
      </p:sp>
      <p:sp>
        <p:nvSpPr>
          <p:cNvPr id="22" name="Text 18"/>
          <p:cNvSpPr txBox="1"/>
          <p:nvPr/>
        </p:nvSpPr>
        <p:spPr>
          <a:xfrm>
            <a:off x="8385048" y="4974336"/>
            <a:ext cx="2962656" cy="877824"/>
          </a:xfrm>
          <a:prstGeom prst="rect">
            <a:avLst/>
          </a:prstGeom>
          <a:noFill/>
          <a:ln/>
        </p:spPr>
        <p:txBody>
          <a:bodyPr wrap="square" lIns="0" tIns="0" rIns="0" bIns="0" rtlCol="0" anchor="ctr"/>
          <a:lstStyle/>
          <a:p>
            <a:pPr algn="l" indent="0" marL="0">
              <a:lnSpc>
                <a:spcPts val="1700"/>
              </a:lnSpc>
              <a:buNone/>
            </a:pPr>
            <a:r>
              <a:rPr lang="en-US" sz="1150" b="1" dirty="0">
                <a:solidFill>
                  <a:srgbClr val="F5A623"/>
                </a:solidFill>
                <a:latin typeface="맑은 고딕" pitchFamily="34" charset="0"/>
                <a:ea typeface="맑은 고딕" pitchFamily="34" charset="-122"/>
                <a:cs typeface="맑은 고딕" pitchFamily="34" charset="-120"/>
              </a:rPr>
              <a:t>침투율 저조 + 구독 저조 + 광고 미실행이 동시에 일어나도 Y3는 흑자 (+5.1억)</a:t>
            </a:r>
            <a:endParaRPr lang="en-US" sz="1150" dirty="0"/>
          </a:p>
        </p:txBody>
      </p:sp>
      <p:sp>
        <p:nvSpPr>
          <p:cNvPr id="23" name="Text 19"/>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파일럿 1.5억으로 시작해 24개월에 손익분기를 넘습니다.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0E1420"/>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06</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핵심 자원  |  반드시 필요한 자산은?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새로 사는 자산이 거의 없습니다 — 이미 가진 그룹 자산 위에 AI를 얹는 AI 트랜스포메이션 과제입니다</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5E6979"/>
                </a:solidFill>
                <a:latin typeface="맑은 고딕" pitchFamily="34" charset="0"/>
                <a:ea typeface="맑은 고딕" pitchFamily="34" charset="-122"/>
                <a:cs typeface="맑은 고딕" pitchFamily="34" charset="-120"/>
              </a:rPr>
              <a:t>STEP 2 · 효율적 운영</a:t>
            </a:r>
            <a:endParaRPr lang="en-US" sz="1100" dirty="0"/>
          </a:p>
        </p:txBody>
      </p:sp>
      <p:sp>
        <p:nvSpPr>
          <p:cNvPr id="8" name="Shape 5"/>
          <p:cNvSpPr/>
          <p:nvPr/>
        </p:nvSpPr>
        <p:spPr>
          <a:xfrm>
            <a:off x="566928" y="1481328"/>
            <a:ext cx="5454396" cy="2148840"/>
          </a:xfrm>
          <a:prstGeom prst="roundRect">
            <a:avLst>
              <a:gd name="adj" fmla="val 255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872996"/>
            <a:ext cx="49057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물리적</a:t>
            </a:r>
            <a:endParaRPr lang="en-US" sz="1800" dirty="0"/>
          </a:p>
        </p:txBody>
      </p:sp>
      <p:sp>
        <p:nvSpPr>
          <p:cNvPr id="10" name="Text 7"/>
          <p:cNvSpPr txBox="1"/>
          <p:nvPr/>
        </p:nvSpPr>
        <p:spPr>
          <a:xfrm>
            <a:off x="841248" y="2289556"/>
            <a:ext cx="4905756" cy="967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기존 CCTV · 전원 · 네트워크 · 보안망 재활용</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팝업존 보완 카메라 (대당 약 25만원)</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엣지박스 점포당 1식 (약 300만원)</a:t>
            </a:r>
            <a:endParaRPr lang="en-US" sz="1300" dirty="0"/>
          </a:p>
        </p:txBody>
      </p:sp>
      <p:sp>
        <p:nvSpPr>
          <p:cNvPr id="11" name="Shape 8"/>
          <p:cNvSpPr/>
          <p:nvPr/>
        </p:nvSpPr>
        <p:spPr>
          <a:xfrm>
            <a:off x="6167628" y="1481328"/>
            <a:ext cx="5454396" cy="2148840"/>
          </a:xfrm>
          <a:prstGeom prst="roundRect">
            <a:avLst>
              <a:gd name="adj" fmla="val 2553"/>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2" name="Text 9"/>
          <p:cNvSpPr txBox="1"/>
          <p:nvPr/>
        </p:nvSpPr>
        <p:spPr>
          <a:xfrm>
            <a:off x="6441948" y="1872996"/>
            <a:ext cx="49057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지적 · 데이터  ★</a:t>
            </a:r>
            <a:endParaRPr lang="en-US" sz="1800" dirty="0"/>
          </a:p>
        </p:txBody>
      </p:sp>
      <p:sp>
        <p:nvSpPr>
          <p:cNvPr id="13" name="Text 10"/>
          <p:cNvSpPr txBox="1"/>
          <p:nvPr/>
        </p:nvSpPr>
        <p:spPr>
          <a:xfrm>
            <a:off x="6441948" y="2289556"/>
            <a:ext cx="4905756" cy="967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FFFFFF"/>
                </a:solidFill>
                <a:latin typeface="맑은 고딕" pitchFamily="34" charset="0"/>
                <a:ea typeface="맑은 고딕" pitchFamily="34" charset="-122"/>
                <a:cs typeface="맑은 고딕" pitchFamily="34" charset="-120"/>
              </a:rPr>
              <a:t>L.POINT 소비 이력 · POS 결제 · 전점 트래픽</a:t>
            </a:r>
            <a:endParaRPr lang="en-US" sz="1300" dirty="0"/>
          </a:p>
          <a:p>
            <a:pPr marL="342900" indent="-342900">
              <a:lnSpc>
                <a:spcPts val="2000"/>
              </a:lnSpc>
              <a:spcAft>
                <a:spcPts val="700"/>
              </a:spcAft>
              <a:buSzPct val="100000"/>
              <a:buChar char="•"/>
            </a:pPr>
            <a:r>
              <a:rPr lang="en-US" sz="1300" dirty="0">
                <a:solidFill>
                  <a:srgbClr val="FFFFFF"/>
                </a:solidFill>
                <a:latin typeface="맑은 고딕" pitchFamily="34" charset="0"/>
                <a:ea typeface="맑은 고딕" pitchFamily="34" charset="-122"/>
                <a:cs typeface="맑은 고딕" pitchFamily="34" charset="-120"/>
              </a:rPr>
              <a:t>카테고리 벤치마크 DB — 시간으로만 쌓임</a:t>
            </a:r>
            <a:endParaRPr lang="en-US" sz="1300" dirty="0"/>
          </a:p>
          <a:p>
            <a:pPr marL="342900" indent="-342900">
              <a:lnSpc>
                <a:spcPts val="2000"/>
              </a:lnSpc>
              <a:spcAft>
                <a:spcPts val="700"/>
              </a:spcAft>
              <a:buSzPct val="100000"/>
              <a:buChar char="•"/>
            </a:pPr>
            <a:r>
              <a:rPr lang="en-US" sz="1300" dirty="0">
                <a:solidFill>
                  <a:srgbClr val="FFFFFF"/>
                </a:solidFill>
                <a:latin typeface="맑은 고딕" pitchFamily="34" charset="0"/>
                <a:ea typeface="맑은 고딕" pitchFamily="34" charset="-122"/>
                <a:cs typeface="맑은 고딕" pitchFamily="34" charset="-120"/>
              </a:rPr>
              <a:t>엣지 추론 모델 · 리포트 자동화 템플릿</a:t>
            </a:r>
            <a:endParaRPr lang="en-US" sz="1300" dirty="0"/>
          </a:p>
        </p:txBody>
      </p:sp>
      <p:sp>
        <p:nvSpPr>
          <p:cNvPr id="14" name="Shape 11"/>
          <p:cNvSpPr/>
          <p:nvPr/>
        </p:nvSpPr>
        <p:spPr>
          <a:xfrm>
            <a:off x="566928" y="3794760"/>
            <a:ext cx="5454396" cy="2148840"/>
          </a:xfrm>
          <a:prstGeom prst="roundRect">
            <a:avLst>
              <a:gd name="adj" fmla="val 255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5" name="Text 12"/>
          <p:cNvSpPr txBox="1"/>
          <p:nvPr/>
        </p:nvSpPr>
        <p:spPr>
          <a:xfrm>
            <a:off x="841248" y="4186428"/>
            <a:ext cx="49057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인적</a:t>
            </a:r>
            <a:endParaRPr lang="en-US" sz="1800" dirty="0"/>
          </a:p>
        </p:txBody>
      </p:sp>
      <p:sp>
        <p:nvSpPr>
          <p:cNvPr id="16" name="Text 13"/>
          <p:cNvSpPr txBox="1"/>
          <p:nvPr/>
        </p:nvSpPr>
        <p:spPr>
          <a:xfrm>
            <a:off x="841248" y="4602988"/>
            <a:ext cx="4905756" cy="967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리테일 컨설턴트 14 · DS/ML 8 · 애널리스트 8</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개발 6 · 영업/CS 4 · PO 2  (Y3 42명)</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컨설턴트 비중이 높은 이유: 처방·검증이 상품의 본체</a:t>
            </a:r>
            <a:endParaRPr lang="en-US" sz="1300" dirty="0"/>
          </a:p>
        </p:txBody>
      </p:sp>
      <p:sp>
        <p:nvSpPr>
          <p:cNvPr id="17" name="Shape 14"/>
          <p:cNvSpPr/>
          <p:nvPr/>
        </p:nvSpPr>
        <p:spPr>
          <a:xfrm>
            <a:off x="6167628" y="3794760"/>
            <a:ext cx="5454396" cy="2148840"/>
          </a:xfrm>
          <a:prstGeom prst="roundRect">
            <a:avLst>
              <a:gd name="adj" fmla="val 255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8" name="Text 15"/>
          <p:cNvSpPr txBox="1"/>
          <p:nvPr/>
        </p:nvSpPr>
        <p:spPr>
          <a:xfrm>
            <a:off x="6441948" y="4186428"/>
            <a:ext cx="49057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금융</a:t>
            </a:r>
            <a:endParaRPr lang="en-US" sz="1800" dirty="0"/>
          </a:p>
        </p:txBody>
      </p:sp>
      <p:sp>
        <p:nvSpPr>
          <p:cNvPr id="19" name="Text 16"/>
          <p:cNvSpPr txBox="1"/>
          <p:nvPr/>
        </p:nvSpPr>
        <p:spPr>
          <a:xfrm>
            <a:off x="6441948" y="4602988"/>
            <a:ext cx="4905756" cy="967232"/>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3년 CAPEX 11억 · 최대 현금소진 10억</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10개 점포 파일럿 1.5억</a:t>
            </a:r>
            <a:endParaRPr lang="en-US" sz="1300" dirty="0"/>
          </a:p>
          <a:p>
            <a:pPr marL="342900" indent="-342900">
              <a:lnSpc>
                <a:spcPts val="2000"/>
              </a:lnSpc>
              <a:spcAft>
                <a:spcPts val="700"/>
              </a:spcAft>
              <a:buSzPct val="100000"/>
              <a:buChar char="•"/>
            </a:pPr>
            <a:r>
              <a:rPr lang="en-US" sz="1300" dirty="0">
                <a:solidFill>
                  <a:srgbClr val="0E1420"/>
                </a:solidFill>
                <a:latin typeface="맑은 고딕" pitchFamily="34" charset="0"/>
                <a:ea typeface="맑은 고딕" pitchFamily="34" charset="-122"/>
                <a:cs typeface="맑은 고딕" pitchFamily="34" charset="-120"/>
              </a:rPr>
              <a:t>CCTV가 이미 있어 가볍게 시작하는 사업</a:t>
            </a:r>
            <a:endParaRPr lang="en-US" sz="1300" dirty="0"/>
          </a:p>
        </p:txBody>
      </p:sp>
      <p:sp>
        <p:nvSpPr>
          <p:cNvPr id="20" name="Text 17"/>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0E1420"/>
                </a:solidFill>
                <a:latin typeface="맑은 고딕" pitchFamily="34" charset="0"/>
                <a:ea typeface="맑은 고딕" pitchFamily="34" charset="-122"/>
                <a:cs typeface="맑은 고딕" pitchFamily="34" charset="-120"/>
              </a:rPr>
              <a:t>카메라는 누구나 깔 수 있습니다.  L.POINT와 POS와 전점 트래픽을 한 번에 가진 곳은 롯데뿐입니다.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0E1420"/>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07</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핵심 활동  |  반드시 수행해야 하는 활동은?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생산은 기계가, 문제해결은 사람이, 플랫폼은 시간이 합니다</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5E6979"/>
                </a:solidFill>
                <a:latin typeface="맑은 고딕" pitchFamily="34" charset="0"/>
                <a:ea typeface="맑은 고딕" pitchFamily="34" charset="-122"/>
                <a:cs typeface="맑은 고딕" pitchFamily="34" charset="-120"/>
              </a:rPr>
              <a:t>STEP 2 · 효율적 운영</a:t>
            </a:r>
            <a:endParaRPr lang="en-US" sz="1100" dirty="0"/>
          </a:p>
        </p:txBody>
      </p:sp>
      <p:sp>
        <p:nvSpPr>
          <p:cNvPr id="8" name="Shape 5"/>
          <p:cNvSpPr/>
          <p:nvPr/>
        </p:nvSpPr>
        <p:spPr>
          <a:xfrm>
            <a:off x="566928" y="1481328"/>
            <a:ext cx="3587496" cy="2201028"/>
          </a:xfrm>
          <a:prstGeom prst="roundRect">
            <a:avLst>
              <a:gd name="adj" fmla="val 249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859720"/>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생산</a:t>
            </a:r>
            <a:endParaRPr lang="en-US" sz="1800" dirty="0"/>
          </a:p>
        </p:txBody>
      </p:sp>
      <p:sp>
        <p:nvSpPr>
          <p:cNvPr id="10" name="Text 7"/>
          <p:cNvSpPr txBox="1"/>
          <p:nvPr/>
        </p:nvSpPr>
        <p:spPr>
          <a:xfrm>
            <a:off x="841248" y="2276280"/>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시스템이 한다</a:t>
            </a:r>
            <a:endParaRPr lang="en-US" sz="1000" dirty="0"/>
          </a:p>
        </p:txBody>
      </p:sp>
      <p:sp>
        <p:nvSpPr>
          <p:cNvPr id="11" name="Text 8"/>
          <p:cNvSpPr txBox="1"/>
          <p:nvPr/>
        </p:nvSpPr>
        <p:spPr>
          <a:xfrm>
            <a:off x="841248" y="2585652"/>
            <a:ext cx="303885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엣지 추론 — 영상을 클라우드로 올리지 않고 카메라 단에서 숫자로 변환</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리포트 90% 자동 생성</a:t>
            </a:r>
            <a:endParaRPr lang="en-US" sz="1150" dirty="0"/>
          </a:p>
        </p:txBody>
      </p:sp>
      <p:sp>
        <p:nvSpPr>
          <p:cNvPr id="12" name="Shape 9"/>
          <p:cNvSpPr/>
          <p:nvPr/>
        </p:nvSpPr>
        <p:spPr>
          <a:xfrm>
            <a:off x="4300728" y="1481328"/>
            <a:ext cx="3587496" cy="2201028"/>
          </a:xfrm>
          <a:prstGeom prst="roundRect">
            <a:avLst>
              <a:gd name="adj" fmla="val 2493"/>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859720"/>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문제해결</a:t>
            </a:r>
            <a:endParaRPr lang="en-US" sz="1800" dirty="0"/>
          </a:p>
        </p:txBody>
      </p:sp>
      <p:sp>
        <p:nvSpPr>
          <p:cNvPr id="14" name="Text 11"/>
          <p:cNvSpPr txBox="1"/>
          <p:nvPr/>
        </p:nvSpPr>
        <p:spPr>
          <a:xfrm>
            <a:off x="4575048" y="2276280"/>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맑은 고딕" pitchFamily="34" charset="0"/>
                <a:ea typeface="맑은 고딕" pitchFamily="34" charset="-122"/>
                <a:cs typeface="맑은 고딕" pitchFamily="34" charset="-120"/>
              </a:rPr>
              <a:t>사람이 한다 — 상품의 본체</a:t>
            </a:r>
            <a:endParaRPr lang="en-US" sz="1000" dirty="0"/>
          </a:p>
        </p:txBody>
      </p:sp>
      <p:sp>
        <p:nvSpPr>
          <p:cNvPr id="15" name="Text 12"/>
          <p:cNvSpPr txBox="1"/>
          <p:nvPr/>
        </p:nvSpPr>
        <p:spPr>
          <a:xfrm>
            <a:off x="4575048" y="2585652"/>
            <a:ext cx="303885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FFFFFF"/>
                </a:solidFill>
                <a:latin typeface="맑은 고딕" pitchFamily="34" charset="0"/>
                <a:ea typeface="맑은 고딕" pitchFamily="34" charset="-122"/>
                <a:cs typeface="맑은 고딕" pitchFamily="34" charset="-120"/>
              </a:rPr>
              <a:t>고객 인사이트 분석 (신규 비율·미구매자·교차구매)</a:t>
            </a:r>
            <a:endParaRPr lang="en-US" sz="1150" dirty="0"/>
          </a:p>
          <a:p>
            <a:pPr marL="342900" indent="-342900">
              <a:lnSpc>
                <a:spcPts val="1700"/>
              </a:lnSpc>
              <a:spcAft>
                <a:spcPts val="700"/>
              </a:spcAft>
              <a:buSzPct val="100000"/>
              <a:buChar char="•"/>
            </a:pPr>
            <a:r>
              <a:rPr lang="en-US" sz="1150" dirty="0">
                <a:solidFill>
                  <a:srgbClr val="FFFFFF"/>
                </a:solidFill>
                <a:latin typeface="맑은 고딕" pitchFamily="34" charset="0"/>
                <a:ea typeface="맑은 고딕" pitchFamily="34" charset="-122"/>
                <a:cs typeface="맑은 고딕" pitchFamily="34" charset="-120"/>
              </a:rPr>
              <a:t>개선 처방 → 2~4주 적용 → POS 전후 검증</a:t>
            </a:r>
            <a:endParaRPr lang="en-US" sz="1150" dirty="0"/>
          </a:p>
        </p:txBody>
      </p:sp>
      <p:sp>
        <p:nvSpPr>
          <p:cNvPr id="16" name="Shape 13"/>
          <p:cNvSpPr/>
          <p:nvPr/>
        </p:nvSpPr>
        <p:spPr>
          <a:xfrm>
            <a:off x="8034528" y="1481328"/>
            <a:ext cx="3587496" cy="2201028"/>
          </a:xfrm>
          <a:prstGeom prst="roundRect">
            <a:avLst>
              <a:gd name="adj" fmla="val 2493"/>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859720"/>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맑은 고딕" pitchFamily="34" charset="0"/>
                <a:ea typeface="맑은 고딕" pitchFamily="34" charset="-122"/>
                <a:cs typeface="맑은 고딕" pitchFamily="34" charset="-120"/>
              </a:rPr>
              <a:t>플랫폼</a:t>
            </a:r>
            <a:endParaRPr lang="en-US" sz="1800" dirty="0"/>
          </a:p>
        </p:txBody>
      </p:sp>
      <p:sp>
        <p:nvSpPr>
          <p:cNvPr id="18" name="Text 15"/>
          <p:cNvSpPr txBox="1"/>
          <p:nvPr/>
        </p:nvSpPr>
        <p:spPr>
          <a:xfrm>
            <a:off x="8308848" y="2276280"/>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맑은 고딕" pitchFamily="34" charset="0"/>
                <a:ea typeface="맑은 고딕" pitchFamily="34" charset="-122"/>
                <a:cs typeface="맑은 고딕" pitchFamily="34" charset="-120"/>
              </a:rPr>
              <a:t>시간이 한다</a:t>
            </a:r>
            <a:endParaRPr lang="en-US" sz="1000" dirty="0"/>
          </a:p>
        </p:txBody>
      </p:sp>
      <p:sp>
        <p:nvSpPr>
          <p:cNvPr id="19" name="Text 16"/>
          <p:cNvSpPr txBox="1"/>
          <p:nvPr/>
        </p:nvSpPr>
        <p:spPr>
          <a:xfrm>
            <a:off x="8308848" y="2585652"/>
            <a:ext cx="303885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카테고리 벤치마크 DB 축적</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L.POINT 리타게팅 운영 · 3사 데이터 결합 거버넌스</a:t>
            </a:r>
            <a:endParaRPr lang="en-US" sz="1150" dirty="0"/>
          </a:p>
        </p:txBody>
      </p:sp>
      <p:sp>
        <p:nvSpPr>
          <p:cNvPr id="20" name="Text 17"/>
          <p:cNvSpPr txBox="1"/>
          <p:nvPr/>
        </p:nvSpPr>
        <p:spPr>
          <a:xfrm>
            <a:off x="566928" y="3865236"/>
            <a:ext cx="11055096"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맑은 고딕" pitchFamily="34" charset="0"/>
                <a:ea typeface="맑은 고딕" pitchFamily="34" charset="-122"/>
                <a:cs typeface="맑은 고딕" pitchFamily="34" charset="-120"/>
              </a:rPr>
              <a:t>운영 원칙 · 핵심가치 Respect(존중) — 사람을 추적하지 않습니다. 공간을 측정합니다.</a:t>
            </a:r>
            <a:endParaRPr lang="en-US" sz="1250" dirty="0"/>
          </a:p>
        </p:txBody>
      </p:sp>
      <p:sp>
        <p:nvSpPr>
          <p:cNvPr id="21" name="Shape 18"/>
          <p:cNvSpPr/>
          <p:nvPr/>
        </p:nvSpPr>
        <p:spPr>
          <a:xfrm>
            <a:off x="566928" y="4194420"/>
            <a:ext cx="3587496" cy="1932060"/>
          </a:xfrm>
          <a:prstGeom prst="roundRect">
            <a:avLst>
              <a:gd name="adj" fmla="val 2840"/>
            </a:avLst>
          </a:prstGeom>
          <a:solidFill>
            <a:srgbClr val="EFF3F8"/>
          </a:solidFill>
          <a:ln w="12700">
            <a:solidFill>
              <a:srgbClr val="EFF3F8"/>
            </a:solidFill>
            <a:prstDash val="solid"/>
          </a:ln>
        </p:spPr>
      </p:sp>
      <p:sp>
        <p:nvSpPr>
          <p:cNvPr id="22" name="Text 19"/>
          <p:cNvSpPr txBox="1"/>
          <p:nvPr/>
        </p:nvSpPr>
        <p:spPr>
          <a:xfrm>
            <a:off x="841248" y="4553390"/>
            <a:ext cx="3038856" cy="205232"/>
          </a:xfrm>
          <a:prstGeom prst="rect">
            <a:avLst/>
          </a:prstGeom>
          <a:noFill/>
          <a:ln/>
        </p:spPr>
        <p:txBody>
          <a:bodyPr wrap="square" lIns="0" tIns="0" rIns="0" bIns="0" rtlCol="0" anchor="t"/>
          <a:lstStyle/>
          <a:p>
            <a:pPr algn="l" indent="0" marL="0">
              <a:lnSpc>
                <a:spcPts val="1400"/>
              </a:lnSpc>
              <a:buNone/>
            </a:pPr>
            <a:r>
              <a:rPr lang="en-US" sz="1200" b="1" dirty="0">
                <a:solidFill>
                  <a:srgbClr val="0E1420"/>
                </a:solidFill>
                <a:latin typeface="맑은 고딕" pitchFamily="34" charset="0"/>
                <a:ea typeface="맑은 고딕" pitchFamily="34" charset="-122"/>
                <a:cs typeface="맑은 고딕" pitchFamily="34" charset="-120"/>
              </a:rPr>
              <a:t>Layer 1 · 공간</a:t>
            </a:r>
            <a:endParaRPr lang="en-US" sz="1200" dirty="0"/>
          </a:p>
        </p:txBody>
      </p:sp>
      <p:sp>
        <p:nvSpPr>
          <p:cNvPr id="23" name="Text 20"/>
          <p:cNvSpPr txBox="1"/>
          <p:nvPr/>
        </p:nvSpPr>
        <p:spPr>
          <a:xfrm>
            <a:off x="841248" y="4868350"/>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완전 익명 — 원본 미저장, 카메라 안에서 좌표·숫자로 변환. 연령대·성별은 특징값 없이 속성값만 추출</a:t>
            </a:r>
            <a:endParaRPr lang="en-US" sz="1000" dirty="0"/>
          </a:p>
        </p:txBody>
      </p:sp>
      <p:sp>
        <p:nvSpPr>
          <p:cNvPr id="24" name="Text 21"/>
          <p:cNvSpPr txBox="1"/>
          <p:nvPr/>
        </p:nvSpPr>
        <p:spPr>
          <a:xfrm>
            <a:off x="841248" y="5716524"/>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커버리지 = 방문자 100% (비회원 포함)</a:t>
            </a:r>
            <a:endParaRPr lang="en-US" sz="1000" dirty="0"/>
          </a:p>
        </p:txBody>
      </p:sp>
      <p:sp>
        <p:nvSpPr>
          <p:cNvPr id="25" name="Shape 22"/>
          <p:cNvSpPr/>
          <p:nvPr/>
        </p:nvSpPr>
        <p:spPr>
          <a:xfrm>
            <a:off x="4300728" y="4194420"/>
            <a:ext cx="3587496" cy="1932060"/>
          </a:xfrm>
          <a:prstGeom prst="roundRect">
            <a:avLst>
              <a:gd name="adj" fmla="val 2840"/>
            </a:avLst>
          </a:prstGeom>
          <a:solidFill>
            <a:srgbClr val="EFF3F8"/>
          </a:solidFill>
          <a:ln w="12700">
            <a:solidFill>
              <a:srgbClr val="EFF3F8"/>
            </a:solidFill>
            <a:prstDash val="solid"/>
          </a:ln>
        </p:spPr>
      </p:sp>
      <p:sp>
        <p:nvSpPr>
          <p:cNvPr id="26" name="Text 23"/>
          <p:cNvSpPr txBox="1"/>
          <p:nvPr/>
        </p:nvSpPr>
        <p:spPr>
          <a:xfrm>
            <a:off x="4575048" y="4553390"/>
            <a:ext cx="3038856" cy="205232"/>
          </a:xfrm>
          <a:prstGeom prst="rect">
            <a:avLst/>
          </a:prstGeom>
          <a:noFill/>
          <a:ln/>
        </p:spPr>
        <p:txBody>
          <a:bodyPr wrap="square" lIns="0" tIns="0" rIns="0" bIns="0" rtlCol="0" anchor="t"/>
          <a:lstStyle/>
          <a:p>
            <a:pPr algn="l" indent="0" marL="0">
              <a:lnSpc>
                <a:spcPts val="1400"/>
              </a:lnSpc>
              <a:buNone/>
            </a:pPr>
            <a:r>
              <a:rPr lang="en-US" sz="1200" b="1" dirty="0">
                <a:solidFill>
                  <a:srgbClr val="0E1420"/>
                </a:solidFill>
                <a:latin typeface="맑은 고딕" pitchFamily="34" charset="0"/>
                <a:ea typeface="맑은 고딕" pitchFamily="34" charset="-122"/>
                <a:cs typeface="맑은 고딕" pitchFamily="34" charset="-120"/>
              </a:rPr>
              <a:t>Layer 2 · 고객</a:t>
            </a:r>
            <a:endParaRPr lang="en-US" sz="1200" dirty="0"/>
          </a:p>
        </p:txBody>
      </p:sp>
      <p:sp>
        <p:nvSpPr>
          <p:cNvPr id="27" name="Text 24"/>
          <p:cNvSpPr txBox="1"/>
          <p:nvPr/>
        </p:nvSpPr>
        <p:spPr>
          <a:xfrm>
            <a:off x="4575048" y="4868350"/>
            <a:ext cx="3038856" cy="598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동의 기반 — L.POINT 앱 체크인·QR·결제 적립 시에만 연결. 여기서만 소비 이력·교차구매가 붙습니다</a:t>
            </a:r>
            <a:endParaRPr lang="en-US" sz="1000" dirty="0"/>
          </a:p>
        </p:txBody>
      </p:sp>
      <p:sp>
        <p:nvSpPr>
          <p:cNvPr id="28" name="Text 25"/>
          <p:cNvSpPr txBox="1"/>
          <p:nvPr/>
        </p:nvSpPr>
        <p:spPr>
          <a:xfrm>
            <a:off x="4575048" y="5716524"/>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커버리지 = 동의 회원</a:t>
            </a:r>
            <a:endParaRPr lang="en-US" sz="1000" dirty="0"/>
          </a:p>
        </p:txBody>
      </p:sp>
      <p:sp>
        <p:nvSpPr>
          <p:cNvPr id="29" name="Shape 26"/>
          <p:cNvSpPr/>
          <p:nvPr/>
        </p:nvSpPr>
        <p:spPr>
          <a:xfrm>
            <a:off x="8034528" y="4194420"/>
            <a:ext cx="3587496" cy="1932060"/>
          </a:xfrm>
          <a:prstGeom prst="roundRect">
            <a:avLst>
              <a:gd name="adj" fmla="val 2840"/>
            </a:avLst>
          </a:prstGeom>
          <a:solidFill>
            <a:srgbClr val="EFF3F8"/>
          </a:solidFill>
          <a:ln w="12700">
            <a:solidFill>
              <a:srgbClr val="EFF3F8"/>
            </a:solidFill>
            <a:prstDash val="solid"/>
          </a:ln>
        </p:spPr>
      </p:sp>
      <p:sp>
        <p:nvSpPr>
          <p:cNvPr id="30" name="Text 27"/>
          <p:cNvSpPr txBox="1"/>
          <p:nvPr/>
        </p:nvSpPr>
        <p:spPr>
          <a:xfrm>
            <a:off x="8308848" y="4553390"/>
            <a:ext cx="3038856" cy="205232"/>
          </a:xfrm>
          <a:prstGeom prst="rect">
            <a:avLst/>
          </a:prstGeom>
          <a:noFill/>
          <a:ln/>
        </p:spPr>
        <p:txBody>
          <a:bodyPr wrap="square" lIns="0" tIns="0" rIns="0" bIns="0" rtlCol="0" anchor="t"/>
          <a:lstStyle/>
          <a:p>
            <a:pPr algn="l" indent="0" marL="0">
              <a:lnSpc>
                <a:spcPts val="1400"/>
              </a:lnSpc>
              <a:buNone/>
            </a:pPr>
            <a:r>
              <a:rPr lang="en-US" sz="1200" b="1" dirty="0">
                <a:solidFill>
                  <a:srgbClr val="0E1420"/>
                </a:solidFill>
                <a:latin typeface="맑은 고딕" pitchFamily="34" charset="0"/>
                <a:ea typeface="맑은 고딕" pitchFamily="34" charset="-122"/>
                <a:cs typeface="맑은 고딕" pitchFamily="34" charset="-120"/>
              </a:rPr>
              <a:t>연결</a:t>
            </a:r>
            <a:endParaRPr lang="en-US" sz="1200" dirty="0"/>
          </a:p>
        </p:txBody>
      </p:sp>
      <p:sp>
        <p:nvSpPr>
          <p:cNvPr id="31" name="Text 28"/>
          <p:cNvSpPr txBox="1"/>
          <p:nvPr/>
        </p:nvSpPr>
        <p:spPr>
          <a:xfrm>
            <a:off x="8308848" y="4868350"/>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개인 단위가 아니라 시간대 × 구역 × 세그먼트 집계 단위로만</a:t>
            </a:r>
            <a:endParaRPr lang="en-US" sz="1000" dirty="0"/>
          </a:p>
        </p:txBody>
      </p:sp>
      <p:sp>
        <p:nvSpPr>
          <p:cNvPr id="32" name="Text 29"/>
          <p:cNvSpPr txBox="1"/>
          <p:nvPr/>
        </p:nvSpPr>
        <p:spPr>
          <a:xfrm>
            <a:off x="8308848" y="5716524"/>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맑은 고딕" pitchFamily="34" charset="0"/>
                <a:ea typeface="맑은 고딕" pitchFamily="34" charset="-122"/>
                <a:cs typeface="맑은 고딕" pitchFamily="34" charset="-120"/>
              </a:rPr>
              <a:t>최소 집계 5명 미만 셀은 미표시</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0E1420"/>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08</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핵심 파트너  |  외부 파트너나 공급업체는 누구인가?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세 조각이 다 모여야 성립하는 사업입니다 — 그래서 지금까지 아무도 못 했습니다</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5E6979"/>
                </a:solidFill>
                <a:latin typeface="맑은 고딕" pitchFamily="34" charset="0"/>
                <a:ea typeface="맑은 고딕" pitchFamily="34" charset="-122"/>
                <a:cs typeface="맑은 고딕" pitchFamily="34" charset="-120"/>
              </a:rPr>
              <a:t>STEP 2 · 효율적 운영</a:t>
            </a:r>
            <a:endParaRPr lang="en-US" sz="1100" dirty="0"/>
          </a:p>
        </p:txBody>
      </p:sp>
      <p:sp>
        <p:nvSpPr>
          <p:cNvPr id="8" name="Text 5"/>
          <p:cNvSpPr txBox="1"/>
          <p:nvPr/>
        </p:nvSpPr>
        <p:spPr>
          <a:xfrm>
            <a:off x="566928" y="1481328"/>
            <a:ext cx="45720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맑은 고딕" pitchFamily="34" charset="0"/>
                <a:ea typeface="맑은 고딕" pitchFamily="34" charset="-122"/>
                <a:cs typeface="맑은 고딕" pitchFamily="34" charset="-120"/>
              </a:rPr>
              <a:t>내부 3사 합작 · 그룹 시너지</a:t>
            </a:r>
            <a:endParaRPr lang="en-US" sz="1250" dirty="0"/>
          </a:p>
        </p:txBody>
      </p:sp>
      <p:sp>
        <p:nvSpPr>
          <p:cNvPr id="9" name="Shape 6"/>
          <p:cNvSpPr/>
          <p:nvPr/>
        </p:nvSpPr>
        <p:spPr>
          <a:xfrm>
            <a:off x="566928" y="1792224"/>
            <a:ext cx="3587496" cy="1928470"/>
          </a:xfrm>
          <a:prstGeom prst="roundRect">
            <a:avLst>
              <a:gd name="adj" fmla="val 2845"/>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0" name="Text 7"/>
          <p:cNvSpPr txBox="1"/>
          <p:nvPr/>
        </p:nvSpPr>
        <p:spPr>
          <a:xfrm>
            <a:off x="841248" y="2261667"/>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롯데백화점</a:t>
            </a:r>
            <a:endParaRPr lang="en-US" sz="1800" dirty="0"/>
          </a:p>
        </p:txBody>
      </p:sp>
      <p:sp>
        <p:nvSpPr>
          <p:cNvPr id="11" name="Text 8"/>
          <p:cNvSpPr txBox="1"/>
          <p:nvPr/>
        </p:nvSpPr>
        <p:spPr>
          <a:xfrm>
            <a:off x="841248" y="2678227"/>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맑은 고딕" pitchFamily="34" charset="0"/>
                <a:ea typeface="맑은 고딕" pitchFamily="34" charset="-122"/>
                <a:cs typeface="맑은 고딕" pitchFamily="34" charset="-120"/>
              </a:rPr>
              <a:t>공간 · 트래픽 · POS · MD 지식</a:t>
            </a:r>
            <a:endParaRPr lang="en-US" sz="1000" dirty="0"/>
          </a:p>
        </p:txBody>
      </p:sp>
      <p:sp>
        <p:nvSpPr>
          <p:cNvPr id="12" name="Text 9"/>
          <p:cNvSpPr txBox="1"/>
          <p:nvPr/>
        </p:nvSpPr>
        <p:spPr>
          <a:xfrm>
            <a:off x="841248" y="3310738"/>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맑은 고딕" pitchFamily="34" charset="0"/>
                <a:ea typeface="맑은 고딕" pitchFamily="34" charset="-122"/>
                <a:cs typeface="맑은 고딕" pitchFamily="34" charset="-120"/>
              </a:rPr>
              <a:t>첫 고객이자 판매 채널</a:t>
            </a:r>
            <a:endParaRPr lang="en-US" sz="1000" dirty="0"/>
          </a:p>
        </p:txBody>
      </p:sp>
      <p:sp>
        <p:nvSpPr>
          <p:cNvPr id="13" name="Shape 10"/>
          <p:cNvSpPr/>
          <p:nvPr/>
        </p:nvSpPr>
        <p:spPr>
          <a:xfrm>
            <a:off x="4300728" y="1792224"/>
            <a:ext cx="3587496" cy="1928470"/>
          </a:xfrm>
          <a:prstGeom prst="roundRect">
            <a:avLst>
              <a:gd name="adj" fmla="val 2845"/>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4" name="Text 11"/>
          <p:cNvSpPr txBox="1"/>
          <p:nvPr/>
        </p:nvSpPr>
        <p:spPr>
          <a:xfrm>
            <a:off x="4575048" y="2261667"/>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롯데이노베이트</a:t>
            </a:r>
            <a:endParaRPr lang="en-US" sz="1800" dirty="0"/>
          </a:p>
        </p:txBody>
      </p:sp>
      <p:sp>
        <p:nvSpPr>
          <p:cNvPr id="15" name="Text 12"/>
          <p:cNvSpPr txBox="1"/>
          <p:nvPr/>
        </p:nvSpPr>
        <p:spPr>
          <a:xfrm>
            <a:off x="4575048" y="2678227"/>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맑은 고딕" pitchFamily="34" charset="0"/>
                <a:ea typeface="맑은 고딕" pitchFamily="34" charset="-122"/>
                <a:cs typeface="맑은 고딕" pitchFamily="34" charset="-120"/>
              </a:rPr>
              <a:t>비전 AI 엔진 · 엣지 인프라</a:t>
            </a:r>
            <a:endParaRPr lang="en-US" sz="1000" dirty="0"/>
          </a:p>
        </p:txBody>
      </p:sp>
      <p:sp>
        <p:nvSpPr>
          <p:cNvPr id="16" name="Text 13"/>
          <p:cNvSpPr txBox="1"/>
          <p:nvPr/>
        </p:nvSpPr>
        <p:spPr>
          <a:xfrm>
            <a:off x="4575048" y="3310738"/>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맑은 고딕" pitchFamily="34" charset="0"/>
                <a:ea typeface="맑은 고딕" pitchFamily="34" charset="-122"/>
                <a:cs typeface="맑은 고딕" pitchFamily="34" charset="-120"/>
              </a:rPr>
              <a:t>생산 담당</a:t>
            </a:r>
            <a:endParaRPr lang="en-US" sz="1000" dirty="0"/>
          </a:p>
        </p:txBody>
      </p:sp>
      <p:sp>
        <p:nvSpPr>
          <p:cNvPr id="17" name="Shape 14"/>
          <p:cNvSpPr/>
          <p:nvPr/>
        </p:nvSpPr>
        <p:spPr>
          <a:xfrm>
            <a:off x="8034528" y="1792224"/>
            <a:ext cx="3587496" cy="1928470"/>
          </a:xfrm>
          <a:prstGeom prst="roundRect">
            <a:avLst>
              <a:gd name="adj" fmla="val 2845"/>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8" name="Text 15"/>
          <p:cNvSpPr txBox="1"/>
          <p:nvPr/>
        </p:nvSpPr>
        <p:spPr>
          <a:xfrm>
            <a:off x="8308848" y="2261667"/>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맑은 고딕" pitchFamily="34" charset="0"/>
                <a:ea typeface="맑은 고딕" pitchFamily="34" charset="-122"/>
                <a:cs typeface="맑은 고딕" pitchFamily="34" charset="-120"/>
              </a:rPr>
              <a:t>롯데멤버스</a:t>
            </a:r>
            <a:endParaRPr lang="en-US" sz="1800" dirty="0"/>
          </a:p>
        </p:txBody>
      </p:sp>
      <p:sp>
        <p:nvSpPr>
          <p:cNvPr id="19" name="Text 16"/>
          <p:cNvSpPr txBox="1"/>
          <p:nvPr/>
        </p:nvSpPr>
        <p:spPr>
          <a:xfrm>
            <a:off x="8308848" y="2678227"/>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맑은 고딕" pitchFamily="34" charset="0"/>
                <a:ea typeface="맑은 고딕" pitchFamily="34" charset="-122"/>
                <a:cs typeface="맑은 고딕" pitchFamily="34" charset="-120"/>
              </a:rPr>
              <a:t>L.POINT 소비 이력 · 도달 채널</a:t>
            </a:r>
            <a:endParaRPr lang="en-US" sz="1000" dirty="0"/>
          </a:p>
        </p:txBody>
      </p:sp>
      <p:sp>
        <p:nvSpPr>
          <p:cNvPr id="20" name="Text 17"/>
          <p:cNvSpPr txBox="1"/>
          <p:nvPr/>
        </p:nvSpPr>
        <p:spPr>
          <a:xfrm>
            <a:off x="8308848" y="3310738"/>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맑은 고딕" pitchFamily="34" charset="0"/>
                <a:ea typeface="맑은 고딕" pitchFamily="34" charset="-122"/>
                <a:cs typeface="맑은 고딕" pitchFamily="34" charset="-120"/>
              </a:rPr>
              <a:t>인사이트와 실행 담당</a:t>
            </a:r>
            <a:endParaRPr lang="en-US" sz="1000" dirty="0"/>
          </a:p>
        </p:txBody>
      </p:sp>
      <p:sp>
        <p:nvSpPr>
          <p:cNvPr id="21" name="Text 18"/>
          <p:cNvSpPr txBox="1"/>
          <p:nvPr/>
        </p:nvSpPr>
        <p:spPr>
          <a:xfrm>
            <a:off x="4154424" y="2500427"/>
            <a:ext cx="146304" cy="512064"/>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a:t>
            </a:r>
            <a:endParaRPr lang="en-US" sz="2000" dirty="0"/>
          </a:p>
        </p:txBody>
      </p:sp>
      <p:sp>
        <p:nvSpPr>
          <p:cNvPr id="22" name="Text 19"/>
          <p:cNvSpPr txBox="1"/>
          <p:nvPr/>
        </p:nvSpPr>
        <p:spPr>
          <a:xfrm>
            <a:off x="7888224" y="2500427"/>
            <a:ext cx="146304" cy="512064"/>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맑은 고딕" pitchFamily="34" charset="0"/>
                <a:ea typeface="맑은 고딕" pitchFamily="34" charset="-122"/>
                <a:cs typeface="맑은 고딕" pitchFamily="34" charset="-120"/>
              </a:rPr>
              <a:t>+</a:t>
            </a:r>
            <a:endParaRPr lang="en-US" sz="2000" dirty="0"/>
          </a:p>
        </p:txBody>
      </p:sp>
      <p:sp>
        <p:nvSpPr>
          <p:cNvPr id="23" name="Text 20"/>
          <p:cNvSpPr txBox="1"/>
          <p:nvPr/>
        </p:nvSpPr>
        <p:spPr>
          <a:xfrm>
            <a:off x="566928" y="3903574"/>
            <a:ext cx="45720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맑은 고딕" pitchFamily="34" charset="0"/>
                <a:ea typeface="맑은 고딕" pitchFamily="34" charset="-122"/>
                <a:cs typeface="맑은 고딕" pitchFamily="34" charset="-120"/>
              </a:rPr>
              <a:t>외부 파트너</a:t>
            </a:r>
            <a:endParaRPr lang="en-US" sz="1250" dirty="0"/>
          </a:p>
        </p:txBody>
      </p:sp>
      <p:sp>
        <p:nvSpPr>
          <p:cNvPr id="24" name="Shape 21"/>
          <p:cNvSpPr/>
          <p:nvPr/>
        </p:nvSpPr>
        <p:spPr>
          <a:xfrm>
            <a:off x="566928" y="4232758"/>
            <a:ext cx="3587496" cy="1578712"/>
          </a:xfrm>
          <a:prstGeom prst="roundRect">
            <a:avLst>
              <a:gd name="adj" fmla="val 3475"/>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25" name="Text 22"/>
          <p:cNvSpPr txBox="1"/>
          <p:nvPr/>
        </p:nvSpPr>
        <p:spPr>
          <a:xfrm>
            <a:off x="841248" y="4656861"/>
            <a:ext cx="303885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맑은 고딕" pitchFamily="34" charset="0"/>
                <a:ea typeface="맑은 고딕" pitchFamily="34" charset="-122"/>
                <a:cs typeface="맑은 고딕" pitchFamily="34" charset="-120"/>
              </a:rPr>
              <a:t>비전 AI 엔진 벤더</a:t>
            </a:r>
            <a:endParaRPr lang="en-US" sz="1300" dirty="0"/>
          </a:p>
        </p:txBody>
      </p:sp>
      <p:sp>
        <p:nvSpPr>
          <p:cNvPr id="26" name="Text 23"/>
          <p:cNvSpPr txBox="1"/>
          <p:nvPr/>
        </p:nvSpPr>
        <p:spPr>
          <a:xfrm>
            <a:off x="841248" y="4997221"/>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라이선스 또는 M&amp;A — Build/Buy 병행 검토. 엔진은 사고, 데이터 결합과 검증 루프는 직접 만든다</a:t>
            </a:r>
            <a:endParaRPr lang="en-US" sz="1000" dirty="0"/>
          </a:p>
        </p:txBody>
      </p:sp>
      <p:sp>
        <p:nvSpPr>
          <p:cNvPr id="27" name="Shape 24"/>
          <p:cNvSpPr/>
          <p:nvPr/>
        </p:nvSpPr>
        <p:spPr>
          <a:xfrm>
            <a:off x="4300728" y="4232758"/>
            <a:ext cx="3587496" cy="1578712"/>
          </a:xfrm>
          <a:prstGeom prst="roundRect">
            <a:avLst>
              <a:gd name="adj" fmla="val 3475"/>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28" name="Text 25"/>
          <p:cNvSpPr txBox="1"/>
          <p:nvPr/>
        </p:nvSpPr>
        <p:spPr>
          <a:xfrm>
            <a:off x="4575048" y="4656861"/>
            <a:ext cx="303885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맑은 고딕" pitchFamily="34" charset="0"/>
                <a:ea typeface="맑은 고딕" pitchFamily="34" charset="-122"/>
                <a:cs typeface="맑은 고딕" pitchFamily="34" charset="-120"/>
              </a:rPr>
              <a:t>외부 VMD 디자이너</a:t>
            </a:r>
            <a:endParaRPr lang="en-US" sz="1300" dirty="0"/>
          </a:p>
        </p:txBody>
      </p:sp>
      <p:sp>
        <p:nvSpPr>
          <p:cNvPr id="29" name="Text 26"/>
          <p:cNvSpPr txBox="1"/>
          <p:nvPr/>
        </p:nvSpPr>
        <p:spPr>
          <a:xfrm>
            <a:off x="4575048" y="4997221"/>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컨설팅 건당 변동비(400만원)로 유연하게 조달</a:t>
            </a:r>
            <a:endParaRPr lang="en-US" sz="1000" dirty="0"/>
          </a:p>
        </p:txBody>
      </p:sp>
      <p:sp>
        <p:nvSpPr>
          <p:cNvPr id="30" name="Shape 27"/>
          <p:cNvSpPr/>
          <p:nvPr/>
        </p:nvSpPr>
        <p:spPr>
          <a:xfrm>
            <a:off x="8034528" y="4232758"/>
            <a:ext cx="3587496" cy="1578712"/>
          </a:xfrm>
          <a:prstGeom prst="roundRect">
            <a:avLst>
              <a:gd name="adj" fmla="val 3475"/>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31" name="Text 28"/>
          <p:cNvSpPr txBox="1"/>
          <p:nvPr/>
        </p:nvSpPr>
        <p:spPr>
          <a:xfrm>
            <a:off x="8308848" y="4656861"/>
            <a:ext cx="303885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맑은 고딕" pitchFamily="34" charset="0"/>
                <a:ea typeface="맑은 고딕" pitchFamily="34" charset="-122"/>
                <a:cs typeface="맑은 고딕" pitchFamily="34" charset="-120"/>
              </a:rPr>
              <a:t>법무 · DPO · 개인정보 영향평가</a:t>
            </a:r>
            <a:endParaRPr lang="en-US" sz="1300" dirty="0"/>
          </a:p>
        </p:txBody>
      </p:sp>
      <p:sp>
        <p:nvSpPr>
          <p:cNvPr id="32" name="Text 29"/>
          <p:cNvSpPr txBox="1"/>
          <p:nvPr/>
        </p:nvSpPr>
        <p:spPr>
          <a:xfrm>
            <a:off x="8308848" y="4997221"/>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맑은 고딕" pitchFamily="34" charset="0"/>
                <a:ea typeface="맑은 고딕" pitchFamily="34" charset="-122"/>
                <a:cs typeface="맑은 고딕" pitchFamily="34" charset="-120"/>
              </a:rPr>
              <a:t>착수 전 마일스톤 1번. 2계층 설계의 법적 검토</a:t>
            </a:r>
            <a:endParaRPr lang="en-US" sz="1000" dirty="0"/>
          </a:p>
        </p:txBody>
      </p:sp>
      <p:sp>
        <p:nvSpPr>
          <p:cNvPr id="33" name="Text 30"/>
          <p:cNvSpPr txBox="1"/>
          <p:nvPr/>
        </p:nvSpPr>
        <p:spPr>
          <a:xfrm>
            <a:off x="566928" y="6163056"/>
            <a:ext cx="11055096" cy="365760"/>
          </a:xfrm>
          <a:prstGeom prst="rect">
            <a:avLst/>
          </a:prstGeom>
          <a:noFill/>
          <a:ln/>
        </p:spPr>
        <p:txBody>
          <a:bodyPr wrap="square" lIns="0" tIns="0" rIns="0" bIns="0" rtlCol="0" anchor="ctr"/>
          <a:lstStyle/>
          <a:p>
            <a:pPr algn="ctr" indent="0" marL="0">
              <a:lnSpc>
                <a:spcPts val="1900"/>
              </a:lnSpc>
              <a:buNone/>
            </a:pPr>
            <a:r>
              <a:rPr lang="en-US" sz="1250" b="1" dirty="0">
                <a:solidFill>
                  <a:srgbClr val="0E1420"/>
                </a:solidFill>
                <a:latin typeface="맑은 고딕" pitchFamily="34" charset="0"/>
                <a:ea typeface="맑은 고딕" pitchFamily="34" charset="-122"/>
                <a:cs typeface="맑은 고딕" pitchFamily="34" charset="-120"/>
              </a:rPr>
              <a:t>조직: 3사 합작 TF → 성과 검증 후 분사(Spin-off) 옵션   ·   한 사만으로는 만들 수 없는, 그룹이어야 가능한 사업입니다</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0E1420"/>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맑은 고딕" pitchFamily="34" charset="0"/>
                <a:ea typeface="맑은 고딕" pitchFamily="34" charset="-122"/>
                <a:cs typeface="맑은 고딕" pitchFamily="34" charset="-120"/>
              </a:rPr>
              <a:t>09</a:t>
            </a:r>
            <a:endParaRPr lang="en-US" sz="1500" dirty="0"/>
          </a:p>
        </p:txBody>
      </p:sp>
      <p:sp>
        <p:nvSpPr>
          <p:cNvPr id="5" name="Text 2"/>
          <p:cNvSpPr txBox="1"/>
          <p:nvPr/>
        </p:nvSpPr>
        <p:spPr>
          <a:xfrm>
            <a:off x="1170432"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비용 구조  |  가장 큰 비용 항목은?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가장 큰 항목은 인건비 — 의도된 구조입니다. 클라우드 비용은 엣지로 1/10</a:t>
            </a:r>
            <a:endParaRPr lang="en-US" sz="1250" dirty="0"/>
          </a:p>
        </p:txBody>
      </p:sp>
      <p:sp>
        <p:nvSpPr>
          <p:cNvPr id="7" name="Text 4"/>
          <p:cNvSpPr txBox="1"/>
          <p:nvPr/>
        </p:nvSpPr>
        <p:spPr>
          <a:xfrm>
            <a:off x="9235440" y="457200"/>
            <a:ext cx="2386584" cy="310896"/>
          </a:xfrm>
          <a:prstGeom prst="rect">
            <a:avLst/>
          </a:prstGeom>
          <a:noFill/>
          <a:ln/>
        </p:spPr>
        <p:txBody>
          <a:bodyPr wrap="square" lIns="0" tIns="0" rIns="0" bIns="0" rtlCol="0" anchor="ctr"/>
          <a:lstStyle/>
          <a:p>
            <a:pPr algn="r" indent="0" marL="0">
              <a:lnSpc>
                <a:spcPts val="1700"/>
              </a:lnSpc>
              <a:buNone/>
            </a:pPr>
            <a:r>
              <a:rPr lang="en-US" sz="1100" b="1" spc="100" kern="0" dirty="0">
                <a:solidFill>
                  <a:srgbClr val="5E6979"/>
                </a:solidFill>
                <a:latin typeface="맑은 고딕" pitchFamily="34" charset="0"/>
                <a:ea typeface="맑은 고딕" pitchFamily="34" charset="-122"/>
                <a:cs typeface="맑은 고딕" pitchFamily="34" charset="-120"/>
              </a:rPr>
              <a:t>STEP 2 · 효율적 운영</a:t>
            </a:r>
            <a:endParaRPr lang="en-US" sz="1100" dirty="0"/>
          </a:p>
        </p:txBody>
      </p:sp>
      <p:graphicFrame>
        <p:nvGraphicFramePr>
          <p:cNvPr id="8" name="Chart 0" descr=""/>
          <p:cNvGraphicFramePr/>
          <p:nvPr/>
        </p:nvGraphicFramePr>
        <p:xfrm>
          <a:off x="566928" y="1481328"/>
          <a:ext cx="5852160" cy="3602736"/>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693408" y="1481328"/>
            <a:ext cx="4928616" cy="1719072"/>
          </a:xfrm>
          <a:prstGeom prst="roundRect">
            <a:avLst>
              <a:gd name="adj" fmla="val 3191"/>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0" name="Text 6"/>
          <p:cNvSpPr txBox="1"/>
          <p:nvPr/>
        </p:nvSpPr>
        <p:spPr>
          <a:xfrm>
            <a:off x="6967728" y="1700784"/>
            <a:ext cx="437997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고정비  (Y1 → Y3, 억원)</a:t>
            </a:r>
            <a:endParaRPr lang="en-US" sz="1100" dirty="0"/>
          </a:p>
        </p:txBody>
      </p:sp>
      <p:sp>
        <p:nvSpPr>
          <p:cNvPr id="11" name="Text 7"/>
          <p:cNvSpPr txBox="1"/>
          <p:nvPr/>
        </p:nvSpPr>
        <p:spPr>
          <a:xfrm>
            <a:off x="6967728" y="2017268"/>
            <a:ext cx="437997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인건비 15.0 → 42.0  (컨설턴트 14명 포함) ★ 최대 항목</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인프라·솔루션 1.5 → 4.0 / 마케팅·감가·법무 1.8 → 7.7</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판관비 합계 18.3 → 53.7</a:t>
            </a:r>
            <a:endParaRPr lang="en-US" sz="1150" dirty="0"/>
          </a:p>
        </p:txBody>
      </p:sp>
      <p:sp>
        <p:nvSpPr>
          <p:cNvPr id="12" name="Shape 8"/>
          <p:cNvSpPr/>
          <p:nvPr/>
        </p:nvSpPr>
        <p:spPr>
          <a:xfrm>
            <a:off x="6693408" y="3364992"/>
            <a:ext cx="4928616" cy="1719072"/>
          </a:xfrm>
          <a:prstGeom prst="roundRect">
            <a:avLst>
              <a:gd name="adj" fmla="val 3191"/>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3" name="Text 9"/>
          <p:cNvSpPr txBox="1"/>
          <p:nvPr/>
        </p:nvSpPr>
        <p:spPr>
          <a:xfrm>
            <a:off x="6967728" y="3584448"/>
            <a:ext cx="437997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맑은 고딕" pitchFamily="34" charset="0"/>
                <a:ea typeface="맑은 고딕" pitchFamily="34" charset="-122"/>
                <a:cs typeface="맑은 고딕" pitchFamily="34" charset="-120"/>
              </a:rPr>
              <a:t>변동비  (단위 원가)</a:t>
            </a:r>
            <a:endParaRPr lang="en-US" sz="1100" dirty="0"/>
          </a:p>
        </p:txBody>
      </p:sp>
      <p:sp>
        <p:nvSpPr>
          <p:cNvPr id="14" name="Text 10"/>
          <p:cNvSpPr txBox="1"/>
          <p:nvPr/>
        </p:nvSpPr>
        <p:spPr>
          <a:xfrm>
            <a:off x="6967728" y="3900932"/>
            <a:ext cx="437997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팝업 건당 75만 (설치 35 · 인사이트 분석 25 · 추론 3 …)</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구독 매장당 월 7만 / 컨설팅 건당 400만 / RMN 매체 40%</a:t>
            </a:r>
            <a:endParaRPr lang="en-US" sz="1150" dirty="0"/>
          </a:p>
          <a:p>
            <a:pPr marL="342900" indent="-342900">
              <a:lnSpc>
                <a:spcPts val="1700"/>
              </a:lnSpc>
              <a:spcAft>
                <a:spcPts val="700"/>
              </a:spcAft>
              <a:buSzPct val="100000"/>
              <a:buChar char="•"/>
            </a:pPr>
            <a:r>
              <a:rPr lang="en-US" sz="1150" dirty="0">
                <a:solidFill>
                  <a:srgbClr val="0E1420"/>
                </a:solidFill>
                <a:latin typeface="맑은 고딕" pitchFamily="34" charset="0"/>
                <a:ea typeface="맑은 고딕" pitchFamily="34" charset="-122"/>
                <a:cs typeface="맑은 고딕" pitchFamily="34" charset="-120"/>
              </a:rPr>
              <a:t>→ 매출총이익률 77%  (Y1~Y3 동일)</a:t>
            </a:r>
            <a:endParaRPr lang="en-US" sz="1150" dirty="0"/>
          </a:p>
        </p:txBody>
      </p:sp>
      <p:sp>
        <p:nvSpPr>
          <p:cNvPr id="15" name="Shape 11"/>
          <p:cNvSpPr/>
          <p:nvPr/>
        </p:nvSpPr>
        <p:spPr>
          <a:xfrm>
            <a:off x="566928" y="5358384"/>
            <a:ext cx="11055096" cy="749808"/>
          </a:xfrm>
          <a:prstGeom prst="roundRect">
            <a:avLst>
              <a:gd name="adj" fmla="val 7317"/>
            </a:avLst>
          </a:prstGeom>
          <a:solidFill>
            <a:srgbClr val="0E1420"/>
          </a:solidFill>
          <a:ln/>
        </p:spPr>
      </p:sp>
      <p:sp>
        <p:nvSpPr>
          <p:cNvPr id="16" name="Text 12"/>
          <p:cNvSpPr txBox="1"/>
          <p:nvPr/>
        </p:nvSpPr>
        <p:spPr>
          <a:xfrm>
            <a:off x="932688" y="5358384"/>
            <a:ext cx="10323576" cy="74980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맑은 고딕" pitchFamily="34" charset="0"/>
                <a:ea typeface="맑은 고딕" pitchFamily="34" charset="-122"/>
                <a:cs typeface="맑은 고딕" pitchFamily="34" charset="-120"/>
              </a:rPr>
              <a:t>경쟁사가 못 넘은 벽은 원가 구조였습니다.  매장이 10배 늘어도 비용은 10배 늘지 않습니다.</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420"/>
        </a:solidFill>
      </p:bgPr>
    </p:bg>
    <p:spTree>
      <p:nvGrpSpPr>
        <p:cNvPr id="1" name=""/>
        <p:cNvGrpSpPr/>
        <p:nvPr/>
      </p:nvGrpSpPr>
      <p:grpSpPr>
        <a:xfrm>
          <a:off x="0" y="0"/>
          <a:ext cx="0" cy="0"/>
          <a:chOff x="0" y="0"/>
          <a:chExt cx="0" cy="0"/>
        </a:xfrm>
      </p:grpSpPr>
      <p:sp>
        <p:nvSpPr>
          <p:cNvPr id="3" name="Text 0"/>
          <p:cNvSpPr txBox="1"/>
          <p:nvPr/>
        </p:nvSpPr>
        <p:spPr>
          <a:xfrm>
            <a:off x="822960" y="621792"/>
            <a:ext cx="5486400" cy="243332"/>
          </a:xfrm>
          <a:prstGeom prst="rect">
            <a:avLst/>
          </a:prstGeom>
          <a:noFill/>
          <a:ln/>
        </p:spPr>
        <p:txBody>
          <a:bodyPr wrap="square" lIns="0" tIns="0" rIns="0" bIns="0" rtlCol="0" anchor="t"/>
          <a:lstStyle/>
          <a:p>
            <a:pPr algn="l" indent="0" marL="0">
              <a:lnSpc>
                <a:spcPts val="1700"/>
              </a:lnSpc>
              <a:buNone/>
            </a:pPr>
            <a:r>
              <a:rPr lang="en-US" sz="1100" b="1" spc="200" kern="0" dirty="0">
                <a:solidFill>
                  <a:srgbClr val="F5A623"/>
                </a:solidFill>
                <a:latin typeface="맑은 고딕" pitchFamily="34" charset="0"/>
                <a:ea typeface="맑은 고딕" pitchFamily="34" charset="-122"/>
                <a:cs typeface="맑은 고딕" pitchFamily="34" charset="-120"/>
              </a:rPr>
              <a:t>실행 로드맵</a:t>
            </a:r>
            <a:endParaRPr lang="en-US" sz="1100" dirty="0"/>
          </a:p>
        </p:txBody>
      </p:sp>
      <p:sp>
        <p:nvSpPr>
          <p:cNvPr id="4" name="Shape 1"/>
          <p:cNvSpPr/>
          <p:nvPr/>
        </p:nvSpPr>
        <p:spPr>
          <a:xfrm>
            <a:off x="822960" y="1005840"/>
            <a:ext cx="2615184" cy="1298448"/>
          </a:xfrm>
          <a:prstGeom prst="roundRect">
            <a:avLst>
              <a:gd name="adj" fmla="val 4225"/>
            </a:avLst>
          </a:prstGeom>
          <a:solidFill>
            <a:srgbClr val="1A2233"/>
          </a:solidFill>
          <a:ln w="12700">
            <a:solidFill>
              <a:srgbClr val="1A2233"/>
            </a:solidFill>
            <a:prstDash val="solid"/>
          </a:ln>
        </p:spPr>
      </p:sp>
      <p:sp>
        <p:nvSpPr>
          <p:cNvPr id="5" name="Text 2"/>
          <p:cNvSpPr txBox="1"/>
          <p:nvPr/>
        </p:nvSpPr>
        <p:spPr>
          <a:xfrm>
            <a:off x="1060704" y="1133856"/>
            <a:ext cx="2157984" cy="281432"/>
          </a:xfrm>
          <a:prstGeom prst="rect">
            <a:avLst/>
          </a:prstGeom>
          <a:noFill/>
          <a:ln/>
        </p:spPr>
        <p:txBody>
          <a:bodyPr wrap="square" lIns="0" tIns="0" rIns="0" bIns="0" rtlCol="0" anchor="t"/>
          <a:lstStyle/>
          <a:p>
            <a:pPr algn="l" indent="0" marL="0">
              <a:lnSpc>
                <a:spcPts val="2000"/>
              </a:lnSpc>
              <a:buNone/>
            </a:pPr>
            <a:r>
              <a:rPr lang="en-US" sz="1300" b="1" dirty="0">
                <a:solidFill>
                  <a:srgbClr val="F5A623"/>
                </a:solidFill>
                <a:latin typeface="맑은 고딕" pitchFamily="34" charset="0"/>
                <a:ea typeface="맑은 고딕" pitchFamily="34" charset="-122"/>
                <a:cs typeface="맑은 고딕" pitchFamily="34" charset="-120"/>
              </a:rPr>
              <a:t>Phase 0</a:t>
            </a:r>
            <a:endParaRPr lang="en-US" sz="1300" dirty="0"/>
          </a:p>
        </p:txBody>
      </p:sp>
      <p:sp>
        <p:nvSpPr>
          <p:cNvPr id="6" name="Text 3"/>
          <p:cNvSpPr txBox="1"/>
          <p:nvPr/>
        </p:nvSpPr>
        <p:spPr>
          <a:xfrm>
            <a:off x="1060704" y="1399032"/>
            <a:ext cx="2157984" cy="217932"/>
          </a:xfrm>
          <a:prstGeom prst="rect">
            <a:avLst/>
          </a:prstGeom>
          <a:noFill/>
          <a:ln/>
        </p:spPr>
        <p:txBody>
          <a:bodyPr wrap="square" lIns="0" tIns="0" rIns="0" bIns="0" rtlCol="0" anchor="t"/>
          <a:lstStyle/>
          <a:p>
            <a:pPr algn="l" indent="0" marL="0">
              <a:lnSpc>
                <a:spcPts val="1500"/>
              </a:lnSpc>
              <a:buNone/>
            </a:pPr>
            <a:r>
              <a:rPr lang="en-US" sz="1000" dirty="0">
                <a:solidFill>
                  <a:srgbClr val="8C97A8"/>
                </a:solidFill>
                <a:latin typeface="맑은 고딕" pitchFamily="34" charset="0"/>
                <a:ea typeface="맑은 고딕" pitchFamily="34" charset="-122"/>
                <a:cs typeface="맑은 고딕" pitchFamily="34" charset="-120"/>
              </a:rPr>
              <a:t>0~3개월</a:t>
            </a:r>
            <a:endParaRPr lang="en-US" sz="1000" dirty="0"/>
          </a:p>
        </p:txBody>
      </p:sp>
      <p:sp>
        <p:nvSpPr>
          <p:cNvPr id="7" name="Text 4"/>
          <p:cNvSpPr txBox="1"/>
          <p:nvPr/>
        </p:nvSpPr>
        <p:spPr>
          <a:xfrm>
            <a:off x="1060704" y="1664208"/>
            <a:ext cx="2194560" cy="217932"/>
          </a:xfrm>
          <a:prstGeom prst="rect">
            <a:avLst/>
          </a:prstGeom>
          <a:noFill/>
          <a:ln/>
        </p:spPr>
        <p:txBody>
          <a:bodyPr wrap="square" lIns="0" tIns="0" rIns="0" bIns="0" rtlCol="0" anchor="t"/>
          <a:lstStyle/>
          <a:p>
            <a:pPr algn="l" indent="0" marL="0">
              <a:lnSpc>
                <a:spcPts val="1500"/>
              </a:lnSpc>
              <a:buNone/>
            </a:pPr>
            <a:r>
              <a:rPr lang="en-US" sz="1100" dirty="0">
                <a:solidFill>
                  <a:srgbClr val="FFFFFF"/>
                </a:solidFill>
                <a:latin typeface="맑은 고딕" pitchFamily="34" charset="0"/>
                <a:ea typeface="맑은 고딕" pitchFamily="34" charset="-122"/>
                <a:cs typeface="맑은 고딕" pitchFamily="34" charset="-120"/>
              </a:rPr>
              <a:t>롯데 내부 도입 · 10개점 파일럿</a:t>
            </a:r>
            <a:endParaRPr lang="en-US" sz="1100" dirty="0"/>
          </a:p>
        </p:txBody>
      </p:sp>
      <p:sp>
        <p:nvSpPr>
          <p:cNvPr id="8" name="Shape 5"/>
          <p:cNvSpPr/>
          <p:nvPr/>
        </p:nvSpPr>
        <p:spPr>
          <a:xfrm>
            <a:off x="3566160" y="1005840"/>
            <a:ext cx="2615184" cy="1298448"/>
          </a:xfrm>
          <a:prstGeom prst="roundRect">
            <a:avLst>
              <a:gd name="adj" fmla="val 4225"/>
            </a:avLst>
          </a:prstGeom>
          <a:solidFill>
            <a:srgbClr val="1A2233"/>
          </a:solidFill>
          <a:ln w="12700">
            <a:solidFill>
              <a:srgbClr val="1A2233"/>
            </a:solidFill>
            <a:prstDash val="solid"/>
          </a:ln>
        </p:spPr>
      </p:sp>
      <p:sp>
        <p:nvSpPr>
          <p:cNvPr id="9" name="Text 6"/>
          <p:cNvSpPr txBox="1"/>
          <p:nvPr/>
        </p:nvSpPr>
        <p:spPr>
          <a:xfrm>
            <a:off x="3803904" y="1133856"/>
            <a:ext cx="2157984"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맑은 고딕" pitchFamily="34" charset="0"/>
                <a:ea typeface="맑은 고딕" pitchFamily="34" charset="-122"/>
                <a:cs typeface="맑은 고딕" pitchFamily="34" charset="-120"/>
              </a:rPr>
              <a:t>Phase 1</a:t>
            </a:r>
            <a:endParaRPr lang="en-US" sz="1300" dirty="0"/>
          </a:p>
        </p:txBody>
      </p:sp>
      <p:sp>
        <p:nvSpPr>
          <p:cNvPr id="10" name="Text 7"/>
          <p:cNvSpPr txBox="1"/>
          <p:nvPr/>
        </p:nvSpPr>
        <p:spPr>
          <a:xfrm>
            <a:off x="3803904" y="1399032"/>
            <a:ext cx="2157984" cy="217932"/>
          </a:xfrm>
          <a:prstGeom prst="rect">
            <a:avLst/>
          </a:prstGeom>
          <a:noFill/>
          <a:ln/>
        </p:spPr>
        <p:txBody>
          <a:bodyPr wrap="square" lIns="0" tIns="0" rIns="0" bIns="0" rtlCol="0" anchor="t"/>
          <a:lstStyle/>
          <a:p>
            <a:pPr algn="l" indent="0" marL="0">
              <a:lnSpc>
                <a:spcPts val="1500"/>
              </a:lnSpc>
              <a:buNone/>
            </a:pPr>
            <a:r>
              <a:rPr lang="en-US" sz="1000" dirty="0">
                <a:solidFill>
                  <a:srgbClr val="8C97A8"/>
                </a:solidFill>
                <a:latin typeface="맑은 고딕" pitchFamily="34" charset="0"/>
                <a:ea typeface="맑은 고딕" pitchFamily="34" charset="-122"/>
                <a:cs typeface="맑은 고딕" pitchFamily="34" charset="-120"/>
              </a:rPr>
              <a:t>4~12개월</a:t>
            </a:r>
            <a:endParaRPr lang="en-US" sz="1000" dirty="0"/>
          </a:p>
        </p:txBody>
      </p:sp>
      <p:sp>
        <p:nvSpPr>
          <p:cNvPr id="11" name="Text 8"/>
          <p:cNvSpPr txBox="1"/>
          <p:nvPr/>
        </p:nvSpPr>
        <p:spPr>
          <a:xfrm>
            <a:off x="3803904" y="1664208"/>
            <a:ext cx="2194560" cy="217932"/>
          </a:xfrm>
          <a:prstGeom prst="rect">
            <a:avLst/>
          </a:prstGeom>
          <a:noFill/>
          <a:ln/>
        </p:spPr>
        <p:txBody>
          <a:bodyPr wrap="square" lIns="0" tIns="0" rIns="0" bIns="0" rtlCol="0" anchor="t"/>
          <a:lstStyle/>
          <a:p>
            <a:pPr algn="l" indent="0" marL="0">
              <a:lnSpc>
                <a:spcPts val="1500"/>
              </a:lnSpc>
              <a:buNone/>
            </a:pPr>
            <a:r>
              <a:rPr lang="en-US" sz="1100" dirty="0">
                <a:solidFill>
                  <a:srgbClr val="FFFFFF"/>
                </a:solidFill>
                <a:latin typeface="맑은 고딕" pitchFamily="34" charset="0"/>
                <a:ea typeface="맑은 고딕" pitchFamily="34" charset="-122"/>
                <a:cs typeface="맑은 고딕" pitchFamily="34" charset="-120"/>
              </a:rPr>
              <a:t>팝업 유료 판매 · 검증 케이스 3건</a:t>
            </a:r>
            <a:endParaRPr lang="en-US" sz="1100" dirty="0"/>
          </a:p>
        </p:txBody>
      </p:sp>
      <p:sp>
        <p:nvSpPr>
          <p:cNvPr id="12" name="Shape 9"/>
          <p:cNvSpPr/>
          <p:nvPr/>
        </p:nvSpPr>
        <p:spPr>
          <a:xfrm>
            <a:off x="6309360" y="1005840"/>
            <a:ext cx="2615184" cy="1298448"/>
          </a:xfrm>
          <a:prstGeom prst="roundRect">
            <a:avLst>
              <a:gd name="adj" fmla="val 4225"/>
            </a:avLst>
          </a:prstGeom>
          <a:solidFill>
            <a:srgbClr val="1A2233"/>
          </a:solidFill>
          <a:ln w="12700">
            <a:solidFill>
              <a:srgbClr val="1A2233"/>
            </a:solidFill>
            <a:prstDash val="solid"/>
          </a:ln>
        </p:spPr>
      </p:sp>
      <p:sp>
        <p:nvSpPr>
          <p:cNvPr id="13" name="Text 10"/>
          <p:cNvSpPr txBox="1"/>
          <p:nvPr/>
        </p:nvSpPr>
        <p:spPr>
          <a:xfrm>
            <a:off x="6547104" y="1133856"/>
            <a:ext cx="2157984"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맑은 고딕" pitchFamily="34" charset="0"/>
                <a:ea typeface="맑은 고딕" pitchFamily="34" charset="-122"/>
                <a:cs typeface="맑은 고딕" pitchFamily="34" charset="-120"/>
              </a:rPr>
              <a:t>Phase 2</a:t>
            </a:r>
            <a:endParaRPr lang="en-US" sz="1300" dirty="0"/>
          </a:p>
        </p:txBody>
      </p:sp>
      <p:sp>
        <p:nvSpPr>
          <p:cNvPr id="14" name="Text 11"/>
          <p:cNvSpPr txBox="1"/>
          <p:nvPr/>
        </p:nvSpPr>
        <p:spPr>
          <a:xfrm>
            <a:off x="6547104" y="1399032"/>
            <a:ext cx="2157984" cy="217932"/>
          </a:xfrm>
          <a:prstGeom prst="rect">
            <a:avLst/>
          </a:prstGeom>
          <a:noFill/>
          <a:ln/>
        </p:spPr>
        <p:txBody>
          <a:bodyPr wrap="square" lIns="0" tIns="0" rIns="0" bIns="0" rtlCol="0" anchor="t"/>
          <a:lstStyle/>
          <a:p>
            <a:pPr algn="l" indent="0" marL="0">
              <a:lnSpc>
                <a:spcPts val="1500"/>
              </a:lnSpc>
              <a:buNone/>
            </a:pPr>
            <a:r>
              <a:rPr lang="en-US" sz="1000" dirty="0">
                <a:solidFill>
                  <a:srgbClr val="8C97A8"/>
                </a:solidFill>
                <a:latin typeface="맑은 고딕" pitchFamily="34" charset="0"/>
                <a:ea typeface="맑은 고딕" pitchFamily="34" charset="-122"/>
                <a:cs typeface="맑은 고딕" pitchFamily="34" charset="-120"/>
              </a:rPr>
              <a:t>13~24개월</a:t>
            </a:r>
            <a:endParaRPr lang="en-US" sz="1000" dirty="0"/>
          </a:p>
        </p:txBody>
      </p:sp>
      <p:sp>
        <p:nvSpPr>
          <p:cNvPr id="15" name="Text 12"/>
          <p:cNvSpPr txBox="1"/>
          <p:nvPr/>
        </p:nvSpPr>
        <p:spPr>
          <a:xfrm>
            <a:off x="6547104" y="1664208"/>
            <a:ext cx="2194560" cy="217932"/>
          </a:xfrm>
          <a:prstGeom prst="rect">
            <a:avLst/>
          </a:prstGeom>
          <a:noFill/>
          <a:ln/>
        </p:spPr>
        <p:txBody>
          <a:bodyPr wrap="square" lIns="0" tIns="0" rIns="0" bIns="0" rtlCol="0" anchor="t"/>
          <a:lstStyle/>
          <a:p>
            <a:pPr algn="l" indent="0" marL="0">
              <a:lnSpc>
                <a:spcPts val="1500"/>
              </a:lnSpc>
              <a:buNone/>
            </a:pPr>
            <a:r>
              <a:rPr lang="en-US" sz="1100" dirty="0">
                <a:solidFill>
                  <a:srgbClr val="FFFFFF"/>
                </a:solidFill>
                <a:latin typeface="맑은 고딕" pitchFamily="34" charset="0"/>
                <a:ea typeface="맑은 고딕" pitchFamily="34" charset="-122"/>
                <a:cs typeface="맑은 고딕" pitchFamily="34" charset="-120"/>
              </a:rPr>
              <a:t>전점 확산 · 구독 · 리타게팅</a:t>
            </a:r>
            <a:endParaRPr lang="en-US" sz="1100" dirty="0"/>
          </a:p>
        </p:txBody>
      </p:sp>
      <p:sp>
        <p:nvSpPr>
          <p:cNvPr id="16" name="Shape 13"/>
          <p:cNvSpPr/>
          <p:nvPr/>
        </p:nvSpPr>
        <p:spPr>
          <a:xfrm>
            <a:off x="9052560" y="1005840"/>
            <a:ext cx="2615184" cy="1298448"/>
          </a:xfrm>
          <a:prstGeom prst="roundRect">
            <a:avLst>
              <a:gd name="adj" fmla="val 4225"/>
            </a:avLst>
          </a:prstGeom>
          <a:solidFill>
            <a:srgbClr val="1A2233"/>
          </a:solidFill>
          <a:ln w="12700">
            <a:solidFill>
              <a:srgbClr val="1A2233"/>
            </a:solidFill>
            <a:prstDash val="solid"/>
          </a:ln>
        </p:spPr>
      </p:sp>
      <p:sp>
        <p:nvSpPr>
          <p:cNvPr id="17" name="Text 14"/>
          <p:cNvSpPr txBox="1"/>
          <p:nvPr/>
        </p:nvSpPr>
        <p:spPr>
          <a:xfrm>
            <a:off x="9290304" y="1133856"/>
            <a:ext cx="2157984"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맑은 고딕" pitchFamily="34" charset="0"/>
                <a:ea typeface="맑은 고딕" pitchFamily="34" charset="-122"/>
                <a:cs typeface="맑은 고딕" pitchFamily="34" charset="-120"/>
              </a:rPr>
              <a:t>Phase 3</a:t>
            </a:r>
            <a:endParaRPr lang="en-US" sz="1300" dirty="0"/>
          </a:p>
        </p:txBody>
      </p:sp>
      <p:sp>
        <p:nvSpPr>
          <p:cNvPr id="18" name="Text 15"/>
          <p:cNvSpPr txBox="1"/>
          <p:nvPr/>
        </p:nvSpPr>
        <p:spPr>
          <a:xfrm>
            <a:off x="9290304" y="1399032"/>
            <a:ext cx="2157984" cy="217932"/>
          </a:xfrm>
          <a:prstGeom prst="rect">
            <a:avLst/>
          </a:prstGeom>
          <a:noFill/>
          <a:ln/>
        </p:spPr>
        <p:txBody>
          <a:bodyPr wrap="square" lIns="0" tIns="0" rIns="0" bIns="0" rtlCol="0" anchor="t"/>
          <a:lstStyle/>
          <a:p>
            <a:pPr algn="l" indent="0" marL="0">
              <a:lnSpc>
                <a:spcPts val="1500"/>
              </a:lnSpc>
              <a:buNone/>
            </a:pPr>
            <a:r>
              <a:rPr lang="en-US" sz="1000" dirty="0">
                <a:solidFill>
                  <a:srgbClr val="8C97A8"/>
                </a:solidFill>
                <a:latin typeface="맑은 고딕" pitchFamily="34" charset="0"/>
                <a:ea typeface="맑은 고딕" pitchFamily="34" charset="-122"/>
                <a:cs typeface="맑은 고딕" pitchFamily="34" charset="-120"/>
              </a:rPr>
              <a:t>25~36개월</a:t>
            </a:r>
            <a:endParaRPr lang="en-US" sz="1000" dirty="0"/>
          </a:p>
        </p:txBody>
      </p:sp>
      <p:sp>
        <p:nvSpPr>
          <p:cNvPr id="19" name="Text 16"/>
          <p:cNvSpPr txBox="1"/>
          <p:nvPr/>
        </p:nvSpPr>
        <p:spPr>
          <a:xfrm>
            <a:off x="9290304" y="1664208"/>
            <a:ext cx="2194560" cy="217932"/>
          </a:xfrm>
          <a:prstGeom prst="rect">
            <a:avLst/>
          </a:prstGeom>
          <a:noFill/>
          <a:ln/>
        </p:spPr>
        <p:txBody>
          <a:bodyPr wrap="square" lIns="0" tIns="0" rIns="0" bIns="0" rtlCol="0" anchor="t"/>
          <a:lstStyle/>
          <a:p>
            <a:pPr algn="l" indent="0" marL="0">
              <a:lnSpc>
                <a:spcPts val="1500"/>
              </a:lnSpc>
              <a:buNone/>
            </a:pPr>
            <a:r>
              <a:rPr lang="en-US" sz="1100" dirty="0">
                <a:solidFill>
                  <a:srgbClr val="FFFFFF"/>
                </a:solidFill>
                <a:latin typeface="맑은 고딕" pitchFamily="34" charset="0"/>
                <a:ea typeface="맑은 고딕" pitchFamily="34" charset="-122"/>
                <a:cs typeface="맑은 고딕" pitchFamily="34" charset="-120"/>
              </a:rPr>
              <a:t>계열사 · 해외 롯데몰 · 외부</a:t>
            </a:r>
            <a:endParaRPr lang="en-US" sz="1100" dirty="0"/>
          </a:p>
        </p:txBody>
      </p:sp>
      <p:sp>
        <p:nvSpPr>
          <p:cNvPr id="20" name="Text 17"/>
          <p:cNvSpPr txBox="1"/>
          <p:nvPr/>
        </p:nvSpPr>
        <p:spPr>
          <a:xfrm>
            <a:off x="822960" y="2816352"/>
            <a:ext cx="10515600" cy="548132"/>
          </a:xfrm>
          <a:prstGeom prst="rect">
            <a:avLst/>
          </a:prstGeom>
          <a:noFill/>
          <a:ln/>
        </p:spPr>
        <p:txBody>
          <a:bodyPr wrap="square" lIns="0" tIns="0" rIns="0" bIns="0" rtlCol="0" anchor="t"/>
          <a:lstStyle/>
          <a:p>
            <a:pPr algn="l" indent="0" marL="0">
              <a:lnSpc>
                <a:spcPts val="4100"/>
              </a:lnSpc>
              <a:buNone/>
            </a:pPr>
            <a:r>
              <a:rPr lang="en-US" sz="3400" b="1" dirty="0">
                <a:solidFill>
                  <a:srgbClr val="8C97A8"/>
                </a:solidFill>
                <a:latin typeface="맑은 고딕" pitchFamily="34" charset="0"/>
                <a:ea typeface="맑은 고딕" pitchFamily="34" charset="-122"/>
                <a:cs typeface="맑은 고딕" pitchFamily="34" charset="-120"/>
              </a:rPr>
              <a:t>브랜드는 자기가 판 것만 압니다.</a:t>
            </a:r>
            <a:endParaRPr lang="en-US" sz="3400" dirty="0"/>
          </a:p>
        </p:txBody>
      </p:sp>
      <p:sp>
        <p:nvSpPr>
          <p:cNvPr id="21" name="Text 18"/>
          <p:cNvSpPr txBox="1"/>
          <p:nvPr/>
        </p:nvSpPr>
        <p:spPr>
          <a:xfrm>
            <a:off x="822960" y="3529584"/>
            <a:ext cx="10515600" cy="548132"/>
          </a:xfrm>
          <a:prstGeom prst="rect">
            <a:avLst/>
          </a:prstGeom>
          <a:noFill/>
          <a:ln/>
        </p:spPr>
        <p:txBody>
          <a:bodyPr wrap="square" lIns="0" tIns="0" rIns="0" bIns="0" rtlCol="0" anchor="t"/>
          <a:lstStyle/>
          <a:p>
            <a:pPr algn="l" indent="0" marL="0">
              <a:lnSpc>
                <a:spcPts val="4100"/>
              </a:lnSpc>
              <a:buNone/>
            </a:pPr>
            <a:r>
              <a:rPr lang="en-US" sz="3400" b="1" dirty="0">
                <a:solidFill>
                  <a:srgbClr val="FFFFFF"/>
                </a:solidFill>
                <a:latin typeface="맑은 고딕" pitchFamily="34" charset="0"/>
                <a:ea typeface="맑은 고딕" pitchFamily="34" charset="-122"/>
                <a:cs typeface="맑은 고딕" pitchFamily="34" charset="-120"/>
              </a:rPr>
              <a:t>저희는 놓친 사람이 누구였는지 알려줍니다.</a:t>
            </a:r>
            <a:endParaRPr lang="en-US" sz="3400" dirty="0"/>
          </a:p>
        </p:txBody>
      </p:sp>
      <p:sp>
        <p:nvSpPr>
          <p:cNvPr id="22" name="Text 19"/>
          <p:cNvSpPr txBox="1"/>
          <p:nvPr/>
        </p:nvSpPr>
        <p:spPr>
          <a:xfrm>
            <a:off x="822960" y="4443984"/>
            <a:ext cx="10515600" cy="281432"/>
          </a:xfrm>
          <a:prstGeom prst="rect">
            <a:avLst/>
          </a:prstGeom>
          <a:noFill/>
          <a:ln/>
        </p:spPr>
        <p:txBody>
          <a:bodyPr wrap="square" lIns="0" tIns="0" rIns="0" bIns="0" rtlCol="0" anchor="t"/>
          <a:lstStyle/>
          <a:p>
            <a:pPr algn="l" indent="0" marL="0">
              <a:lnSpc>
                <a:spcPts val="2000"/>
              </a:lnSpc>
              <a:buNone/>
            </a:pPr>
            <a:r>
              <a:rPr lang="en-US" sz="1300" dirty="0">
                <a:solidFill>
                  <a:srgbClr val="AEB8C7"/>
                </a:solidFill>
                <a:latin typeface="맑은 고딕" pitchFamily="34" charset="0"/>
                <a:ea typeface="맑은 고딕" pitchFamily="34" charset="-122"/>
                <a:cs typeface="맑은 고딕" pitchFamily="34" charset="-120"/>
              </a:rPr>
              <a:t>매일 삭제되던 97명의 데이터를 — 브랜드에게는 성장의 답으로 · 고객에게는 더 나은 매장 경험으로 · 롯데에게는 새로운 수익으로</a:t>
            </a:r>
            <a:endParaRPr lang="en-US" sz="1300" dirty="0"/>
          </a:p>
        </p:txBody>
      </p:sp>
      <p:sp>
        <p:nvSpPr>
          <p:cNvPr id="23" name="Shape 20"/>
          <p:cNvSpPr/>
          <p:nvPr/>
        </p:nvSpPr>
        <p:spPr>
          <a:xfrm>
            <a:off x="822960" y="5138928"/>
            <a:ext cx="7589520" cy="896112"/>
          </a:xfrm>
          <a:prstGeom prst="roundRect">
            <a:avLst>
              <a:gd name="adj" fmla="val 6122"/>
            </a:avLst>
          </a:prstGeom>
          <a:solidFill>
            <a:srgbClr val="1A2233"/>
          </a:solidFill>
          <a:ln w="12700">
            <a:solidFill>
              <a:srgbClr val="1A2233"/>
            </a:solidFill>
            <a:prstDash val="solid"/>
          </a:ln>
        </p:spPr>
      </p:sp>
      <p:sp>
        <p:nvSpPr>
          <p:cNvPr id="24" name="Text 21"/>
          <p:cNvSpPr txBox="1"/>
          <p:nvPr/>
        </p:nvSpPr>
        <p:spPr>
          <a:xfrm>
            <a:off x="1170432" y="5138928"/>
            <a:ext cx="6949440" cy="896112"/>
          </a:xfrm>
          <a:prstGeom prst="rect">
            <a:avLst/>
          </a:prstGeom>
          <a:noFill/>
          <a:ln/>
        </p:spPr>
        <p:txBody>
          <a:bodyPr wrap="square" lIns="0" tIns="0" rIns="0" bIns="0" rtlCol="0" anchor="ctr"/>
          <a:lstStyle/>
          <a:p>
            <a:pPr algn="l" indent="0" marL="0">
              <a:lnSpc>
                <a:spcPts val="2700"/>
              </a:lnSpc>
              <a:buNone/>
            </a:pPr>
            <a:r>
              <a:rPr lang="en-US" sz="1800" b="1" dirty="0">
                <a:solidFill>
                  <a:srgbClr val="F5A623"/>
                </a:solidFill>
                <a:latin typeface="맑은 고딕" pitchFamily="34" charset="0"/>
                <a:ea typeface="맑은 고딕" pitchFamily="34" charset="-122"/>
                <a:cs typeface="맑은 고딕" pitchFamily="34" charset="-120"/>
              </a:rPr>
              <a:t>온라인에 GA가 있다면,  오프라인에는 L.GA가 있습니다.</a:t>
            </a:r>
            <a:endParaRPr lang="en-US" sz="1800" dirty="0"/>
          </a:p>
        </p:txBody>
      </p:sp>
      <p:sp>
        <p:nvSpPr>
          <p:cNvPr id="25" name="Shape 22"/>
          <p:cNvSpPr/>
          <p:nvPr/>
        </p:nvSpPr>
        <p:spPr>
          <a:xfrm>
            <a:off x="8650224" y="5138928"/>
            <a:ext cx="2715768" cy="896112"/>
          </a:xfrm>
          <a:prstGeom prst="roundRect">
            <a:avLst>
              <a:gd name="adj" fmla="val 6122"/>
            </a:avLst>
          </a:prstGeom>
          <a:solidFill>
            <a:srgbClr val="1A2233"/>
          </a:solidFill>
          <a:ln w="12700">
            <a:solidFill>
              <a:srgbClr val="1A2233"/>
            </a:solidFill>
            <a:prstDash val="solid"/>
          </a:ln>
        </p:spPr>
      </p:sp>
      <p:sp>
        <p:nvSpPr>
          <p:cNvPr id="26" name="Text 23"/>
          <p:cNvSpPr txBox="1"/>
          <p:nvPr/>
        </p:nvSpPr>
        <p:spPr>
          <a:xfrm>
            <a:off x="8650224" y="5138928"/>
            <a:ext cx="2715768" cy="896112"/>
          </a:xfrm>
          <a:prstGeom prst="rect">
            <a:avLst/>
          </a:prstGeom>
          <a:noFill/>
          <a:ln/>
        </p:spPr>
        <p:txBody>
          <a:bodyPr wrap="square" lIns="0" tIns="0" rIns="0" bIns="0" rtlCol="0" anchor="ctr"/>
          <a:lstStyle/>
          <a:p>
            <a:pPr algn="ctr" indent="0" marL="0">
              <a:lnSpc>
                <a:spcPts val="1700"/>
              </a:lnSpc>
              <a:buNone/>
            </a:pPr>
            <a:r>
              <a:rPr lang="en-US" sz="1250" b="1" dirty="0">
                <a:solidFill>
                  <a:srgbClr val="AEB8C7"/>
                </a:solidFill>
                <a:latin typeface="맑은 고딕" pitchFamily="34" charset="0"/>
                <a:ea typeface="맑은 고딕" pitchFamily="34" charset="-122"/>
                <a:cs typeface="맑은 고딕" pitchFamily="34" charset="-120"/>
              </a:rPr>
              <a:t>Lifetime</a:t>
            </a:r>
            <a:endParaRPr lang="en-US" sz="1250" dirty="0"/>
          </a:p>
          <a:p>
            <a:pPr algn="ctr" indent="0" marL="0">
              <a:lnSpc>
                <a:spcPts val="1700"/>
              </a:lnSpc>
              <a:buNone/>
            </a:pPr>
            <a:r>
              <a:rPr lang="en-US" sz="1250" b="1" dirty="0">
                <a:solidFill>
                  <a:srgbClr val="AEB8C7"/>
                </a:solidFill>
                <a:latin typeface="맑은 고딕" pitchFamily="34" charset="0"/>
                <a:ea typeface="맑은 고딕" pitchFamily="34" charset="-122"/>
                <a:cs typeface="맑은 고딕" pitchFamily="34" charset="-120"/>
              </a:rPr>
              <a:t>Value Creator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566928" y="402336"/>
            <a:ext cx="841248" cy="420624"/>
          </a:xfrm>
          <a:prstGeom prst="roundRect">
            <a:avLst>
              <a:gd name="adj" fmla="val 17391"/>
            </a:avLst>
          </a:prstGeom>
          <a:solidFill>
            <a:srgbClr val="E11D2E"/>
          </a:solidFill>
          <a:ln/>
        </p:spPr>
      </p:sp>
      <p:sp>
        <p:nvSpPr>
          <p:cNvPr id="4" name="Text 1"/>
          <p:cNvSpPr txBox="1"/>
          <p:nvPr/>
        </p:nvSpPr>
        <p:spPr>
          <a:xfrm>
            <a:off x="566928" y="402336"/>
            <a:ext cx="841248" cy="420624"/>
          </a:xfrm>
          <a:prstGeom prst="rect">
            <a:avLst/>
          </a:prstGeom>
          <a:noFill/>
          <a:ln/>
        </p:spPr>
        <p:txBody>
          <a:bodyPr wrap="square" lIns="0" tIns="0" rIns="0" bIns="0" rtlCol="0" anchor="ctr"/>
          <a:lstStyle/>
          <a:p>
            <a:pPr algn="ctr" indent="0" marL="0">
              <a:lnSpc>
                <a:spcPts val="1800"/>
              </a:lnSpc>
              <a:buNone/>
            </a:pPr>
            <a:r>
              <a:rPr lang="en-US" sz="1200" b="1" dirty="0">
                <a:solidFill>
                  <a:srgbClr val="FFFFFF"/>
                </a:solidFill>
                <a:latin typeface="맑은 고딕" pitchFamily="34" charset="0"/>
                <a:ea typeface="맑은 고딕" pitchFamily="34" charset="-122"/>
                <a:cs typeface="맑은 고딕" pitchFamily="34" charset="-120"/>
              </a:rPr>
              <a:t>Q&amp;A</a:t>
            </a:r>
            <a:endParaRPr lang="en-US" sz="1200" dirty="0"/>
          </a:p>
        </p:txBody>
      </p:sp>
      <p:sp>
        <p:nvSpPr>
          <p:cNvPr id="5" name="Text 2"/>
          <p:cNvSpPr txBox="1"/>
          <p:nvPr/>
        </p:nvSpPr>
        <p:spPr>
          <a:xfrm>
            <a:off x="1572768" y="365760"/>
            <a:ext cx="859536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맑은 고딕" pitchFamily="34" charset="0"/>
                <a:ea typeface="맑은 고딕" pitchFamily="34" charset="-122"/>
                <a:cs typeface="맑은 고딕" pitchFamily="34" charset="-120"/>
              </a:rPr>
              <a:t>리스크와 대응</a:t>
            </a:r>
            <a:endParaRPr lang="en-US" sz="2600" dirty="0"/>
          </a:p>
        </p:txBody>
      </p:sp>
      <p:sp>
        <p:nvSpPr>
          <p:cNvPr id="6" name="Text 3"/>
          <p:cNvSpPr txBox="1"/>
          <p:nvPr/>
        </p:nvSpPr>
        <p:spPr>
          <a:xfrm>
            <a:off x="1572768" y="932688"/>
            <a:ext cx="10049256"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맑은 고딕" pitchFamily="34" charset="0"/>
                <a:ea typeface="맑은 고딕" pitchFamily="34" charset="-122"/>
                <a:cs typeface="맑은 고딕" pitchFamily="34" charset="-120"/>
              </a:rPr>
              <a:t>백업 슬라이드 — Q&amp;A 대응용</a:t>
            </a:r>
            <a:endParaRPr lang="en-US" sz="1250" dirty="0"/>
          </a:p>
        </p:txBody>
      </p:sp>
      <p:sp>
        <p:nvSpPr>
          <p:cNvPr id="7" name="Shape 4"/>
          <p:cNvSpPr/>
          <p:nvPr/>
        </p:nvSpPr>
        <p:spPr>
          <a:xfrm>
            <a:off x="566928" y="1481328"/>
            <a:ext cx="11055096" cy="585216"/>
          </a:xfrm>
          <a:prstGeom prst="roundRect">
            <a:avLst>
              <a:gd name="adj" fmla="val 9375"/>
            </a:avLst>
          </a:prstGeom>
          <a:solidFill>
            <a:srgbClr val="FFFFFF"/>
          </a:solidFill>
          <a:ln w="12700">
            <a:solidFill>
              <a:srgbClr val="E4E8EE"/>
            </a:solidFill>
            <a:prstDash val="solid"/>
          </a:ln>
        </p:spPr>
      </p:sp>
      <p:sp>
        <p:nvSpPr>
          <p:cNvPr id="8" name="Text 5"/>
          <p:cNvSpPr txBox="1"/>
          <p:nvPr/>
        </p:nvSpPr>
        <p:spPr>
          <a:xfrm>
            <a:off x="877824" y="1481328"/>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개인정보 규제</a:t>
            </a:r>
            <a:endParaRPr lang="en-US" sz="1300" dirty="0"/>
          </a:p>
        </p:txBody>
      </p:sp>
      <p:sp>
        <p:nvSpPr>
          <p:cNvPr id="9" name="Text 6"/>
          <p:cNvSpPr txBox="1"/>
          <p:nvPr/>
        </p:nvSpPr>
        <p:spPr>
          <a:xfrm>
            <a:off x="3895344" y="1481328"/>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엣지 추론 · 원본 미저장 · 동의 기반 2계층 설계. 착수 전 법무·DPO 검토 및 영향평가</a:t>
            </a:r>
            <a:endParaRPr lang="en-US" sz="1150" dirty="0"/>
          </a:p>
        </p:txBody>
      </p:sp>
      <p:sp>
        <p:nvSpPr>
          <p:cNvPr id="10" name="Shape 7"/>
          <p:cNvSpPr/>
          <p:nvPr/>
        </p:nvSpPr>
        <p:spPr>
          <a:xfrm>
            <a:off x="566928" y="2157984"/>
            <a:ext cx="11055096" cy="585216"/>
          </a:xfrm>
          <a:prstGeom prst="roundRect">
            <a:avLst>
              <a:gd name="adj" fmla="val 9375"/>
            </a:avLst>
          </a:prstGeom>
          <a:solidFill>
            <a:srgbClr val="F7F8FA"/>
          </a:solidFill>
          <a:ln w="12700">
            <a:solidFill>
              <a:srgbClr val="E4E8EE"/>
            </a:solidFill>
            <a:prstDash val="solid"/>
          </a:ln>
        </p:spPr>
      </p:sp>
      <p:sp>
        <p:nvSpPr>
          <p:cNvPr id="11" name="Text 8"/>
          <p:cNvSpPr txBox="1"/>
          <p:nvPr/>
        </p:nvSpPr>
        <p:spPr>
          <a:xfrm>
            <a:off x="877824" y="2157984"/>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CCTV 목적 외 이용</a:t>
            </a:r>
            <a:endParaRPr lang="en-US" sz="1300" dirty="0"/>
          </a:p>
        </p:txBody>
      </p:sp>
      <p:sp>
        <p:nvSpPr>
          <p:cNvPr id="12" name="Text 9"/>
          <p:cNvSpPr txBox="1"/>
          <p:nvPr/>
        </p:nvSpPr>
        <p:spPr>
          <a:xfrm>
            <a:off x="3895344" y="2157984"/>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설치 목적에 '고객 분석' 추가 · 안내판 및 운영관리방침 갱신 (착수 전 A7)</a:t>
            </a:r>
            <a:endParaRPr lang="en-US" sz="1150" dirty="0"/>
          </a:p>
        </p:txBody>
      </p:sp>
      <p:sp>
        <p:nvSpPr>
          <p:cNvPr id="13" name="Shape 10"/>
          <p:cNvSpPr/>
          <p:nvPr/>
        </p:nvSpPr>
        <p:spPr>
          <a:xfrm>
            <a:off x="566928" y="2834640"/>
            <a:ext cx="11055096" cy="585216"/>
          </a:xfrm>
          <a:prstGeom prst="roundRect">
            <a:avLst>
              <a:gd name="adj" fmla="val 9375"/>
            </a:avLst>
          </a:prstGeom>
          <a:solidFill>
            <a:srgbClr val="FFFFFF"/>
          </a:solidFill>
          <a:ln w="12700">
            <a:solidFill>
              <a:srgbClr val="E4E8EE"/>
            </a:solidFill>
            <a:prstDash val="solid"/>
          </a:ln>
        </p:spPr>
      </p:sp>
      <p:sp>
        <p:nvSpPr>
          <p:cNvPr id="14" name="Text 11"/>
          <p:cNvSpPr txBox="1"/>
          <p:nvPr/>
        </p:nvSpPr>
        <p:spPr>
          <a:xfrm>
            <a:off x="877824" y="2834640"/>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기존 CCTV 사양 부적합</a:t>
            </a:r>
            <a:endParaRPr lang="en-US" sz="1300" dirty="0"/>
          </a:p>
        </p:txBody>
      </p:sp>
      <p:sp>
        <p:nvSpPr>
          <p:cNvPr id="15" name="Text 12"/>
          <p:cNvSpPr txBox="1"/>
          <p:nvPr/>
        </p:nvSpPr>
        <p:spPr>
          <a:xfrm>
            <a:off x="3895344" y="2834640"/>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팝업존 한정 저가 보완 카메라(대당 약 25만원) 설치를 CAPEX에 반영</a:t>
            </a:r>
            <a:endParaRPr lang="en-US" sz="1150" dirty="0"/>
          </a:p>
        </p:txBody>
      </p:sp>
      <p:sp>
        <p:nvSpPr>
          <p:cNvPr id="16" name="Shape 13"/>
          <p:cNvSpPr/>
          <p:nvPr/>
        </p:nvSpPr>
        <p:spPr>
          <a:xfrm>
            <a:off x="566928" y="3511296"/>
            <a:ext cx="11055096" cy="585216"/>
          </a:xfrm>
          <a:prstGeom prst="roundRect">
            <a:avLst>
              <a:gd name="adj" fmla="val 9375"/>
            </a:avLst>
          </a:prstGeom>
          <a:solidFill>
            <a:srgbClr val="F7F8FA"/>
          </a:solidFill>
          <a:ln w="12700">
            <a:solidFill>
              <a:srgbClr val="E4E8EE"/>
            </a:solidFill>
            <a:prstDash val="solid"/>
          </a:ln>
        </p:spPr>
      </p:sp>
      <p:sp>
        <p:nvSpPr>
          <p:cNvPr id="17" name="Text 14"/>
          <p:cNvSpPr txBox="1"/>
          <p:nvPr/>
        </p:nvSpPr>
        <p:spPr>
          <a:xfrm>
            <a:off x="877824" y="3511296"/>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브랜드 지불 의사 부족</a:t>
            </a:r>
            <a:endParaRPr lang="en-US" sz="1300" dirty="0"/>
          </a:p>
        </p:txBody>
      </p:sp>
      <p:sp>
        <p:nvSpPr>
          <p:cNvPr id="18" name="Text 15"/>
          <p:cNvSpPr txBox="1"/>
          <p:nvPr/>
        </p:nvSpPr>
        <p:spPr>
          <a:xfrm>
            <a:off x="3895344" y="3511296"/>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1년차 파일럿 무상 제공 → 가치 검증 후 과금. 지불 의사를 가정하지 않음</a:t>
            </a:r>
            <a:endParaRPr lang="en-US" sz="1150" dirty="0"/>
          </a:p>
        </p:txBody>
      </p:sp>
      <p:sp>
        <p:nvSpPr>
          <p:cNvPr id="19" name="Shape 16"/>
          <p:cNvSpPr/>
          <p:nvPr/>
        </p:nvSpPr>
        <p:spPr>
          <a:xfrm>
            <a:off x="566928" y="4187952"/>
            <a:ext cx="11055096" cy="585216"/>
          </a:xfrm>
          <a:prstGeom prst="roundRect">
            <a:avLst>
              <a:gd name="adj" fmla="val 9375"/>
            </a:avLst>
          </a:prstGeom>
          <a:solidFill>
            <a:srgbClr val="FFFFFF"/>
          </a:solidFill>
          <a:ln w="12700">
            <a:solidFill>
              <a:srgbClr val="E4E8EE"/>
            </a:solidFill>
            <a:prstDash val="solid"/>
          </a:ln>
        </p:spPr>
      </p:sp>
      <p:sp>
        <p:nvSpPr>
          <p:cNvPr id="20" name="Text 17"/>
          <p:cNvSpPr txBox="1"/>
          <p:nvPr/>
        </p:nvSpPr>
        <p:spPr>
          <a:xfrm>
            <a:off x="877824" y="4187952"/>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인식 정확도 논란</a:t>
            </a:r>
            <a:endParaRPr lang="en-US" sz="1300" dirty="0"/>
          </a:p>
        </p:txBody>
      </p:sp>
      <p:sp>
        <p:nvSpPr>
          <p:cNvPr id="21" name="Text 18"/>
          <p:cNvSpPr txBox="1"/>
          <p:nvPr/>
        </p:nvSpPr>
        <p:spPr>
          <a:xfrm>
            <a:off x="3895344" y="4187952"/>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개인 정확도가 아닌 집계 정확도로 KPI 정의. 핵심 인사이트는 L.POINT·POS 실데이터 기반</a:t>
            </a:r>
            <a:endParaRPr lang="en-US" sz="1150" dirty="0"/>
          </a:p>
        </p:txBody>
      </p:sp>
      <p:sp>
        <p:nvSpPr>
          <p:cNvPr id="22" name="Shape 19"/>
          <p:cNvSpPr/>
          <p:nvPr/>
        </p:nvSpPr>
        <p:spPr>
          <a:xfrm>
            <a:off x="566928" y="4864608"/>
            <a:ext cx="11055096" cy="585216"/>
          </a:xfrm>
          <a:prstGeom prst="roundRect">
            <a:avLst>
              <a:gd name="adj" fmla="val 9375"/>
            </a:avLst>
          </a:prstGeom>
          <a:solidFill>
            <a:srgbClr val="F7F8FA"/>
          </a:solidFill>
          <a:ln w="12700">
            <a:solidFill>
              <a:srgbClr val="E4E8EE"/>
            </a:solidFill>
            <a:prstDash val="solid"/>
          </a:ln>
        </p:spPr>
      </p:sp>
      <p:sp>
        <p:nvSpPr>
          <p:cNvPr id="23" name="Text 20"/>
          <p:cNvSpPr txBox="1"/>
          <p:nvPr/>
        </p:nvSpPr>
        <p:spPr>
          <a:xfrm>
            <a:off x="877824" y="4864608"/>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계열사 데이터 거버넌스</a:t>
            </a:r>
            <a:endParaRPr lang="en-US" sz="1300" dirty="0"/>
          </a:p>
        </p:txBody>
      </p:sp>
      <p:sp>
        <p:nvSpPr>
          <p:cNvPr id="24" name="Text 21"/>
          <p:cNvSpPr txBox="1"/>
          <p:nvPr/>
        </p:nvSpPr>
        <p:spPr>
          <a:xfrm>
            <a:off x="3895344" y="4864608"/>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3사 데이터 제공 협약·수익 배분 사전 합의 (마일스톤 1번)</a:t>
            </a:r>
            <a:endParaRPr lang="en-US" sz="1150" dirty="0"/>
          </a:p>
        </p:txBody>
      </p:sp>
      <p:sp>
        <p:nvSpPr>
          <p:cNvPr id="25" name="Shape 22"/>
          <p:cNvSpPr/>
          <p:nvPr/>
        </p:nvSpPr>
        <p:spPr>
          <a:xfrm>
            <a:off x="566928" y="5541264"/>
            <a:ext cx="11055096" cy="585216"/>
          </a:xfrm>
          <a:prstGeom prst="roundRect">
            <a:avLst>
              <a:gd name="adj" fmla="val 9375"/>
            </a:avLst>
          </a:prstGeom>
          <a:solidFill>
            <a:srgbClr val="FFFFFF"/>
          </a:solidFill>
          <a:ln w="12700">
            <a:solidFill>
              <a:srgbClr val="E4E8EE"/>
            </a:solidFill>
            <a:prstDash val="solid"/>
          </a:ln>
        </p:spPr>
      </p:sp>
      <p:sp>
        <p:nvSpPr>
          <p:cNvPr id="26" name="Text 23"/>
          <p:cNvSpPr txBox="1"/>
          <p:nvPr/>
        </p:nvSpPr>
        <p:spPr>
          <a:xfrm>
            <a:off x="877824" y="5541264"/>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맑은 고딕" pitchFamily="34" charset="0"/>
                <a:ea typeface="맑은 고딕" pitchFamily="34" charset="-122"/>
                <a:cs typeface="맑은 고딕" pitchFamily="34" charset="-120"/>
              </a:rPr>
              <a:t>경쟁사 선점</a:t>
            </a:r>
            <a:endParaRPr lang="en-US" sz="1300" dirty="0"/>
          </a:p>
        </p:txBody>
      </p:sp>
      <p:sp>
        <p:nvSpPr>
          <p:cNvPr id="27" name="Text 24"/>
          <p:cNvSpPr txBox="1"/>
          <p:nvPr/>
        </p:nvSpPr>
        <p:spPr>
          <a:xfrm>
            <a:off x="3895344" y="5541264"/>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맑은 고딕" pitchFamily="34" charset="0"/>
                <a:ea typeface="맑은 고딕" pitchFamily="34" charset="-122"/>
                <a:cs typeface="맑은 고딕" pitchFamily="34" charset="-120"/>
              </a:rPr>
              <a:t>벤치마크 DB는 시간으로만 축적. 인수(M&amp;A)도 옵션으로 병행 검토</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L.GA - Lotte Growth Analytics (Business Model Canvas)</dc:title>
  <dc:subject>PptxGenJS Presentation</dc:subject>
  <dc:creator>LMBA Team</dc:creator>
  <cp:lastModifiedBy>LMBA Team</cp:lastModifiedBy>
  <cp:revision>1</cp:revision>
  <dcterms:created xsi:type="dcterms:W3CDTF">2026-09-16T08:44:09Z</dcterms:created>
  <dcterms:modified xsi:type="dcterms:W3CDTF">2026-09-16T08:44:09Z</dcterms:modified>
</cp:coreProperties>
</file>