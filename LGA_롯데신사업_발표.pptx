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D6675"/>
                </a:solidFill>
                <a:latin typeface="맑은 고딕"/>
              </a:defRPr>
            </a:pPr>
            <a:r>
              <a:rPr sz="1200" b="0" i="0" u="none" strike="noStrike">
                <a:solidFill>
                  <a:srgbClr val="5D6675"/>
                </a:solidFill>
                <a:latin typeface="맑은 고딕"/>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D6675"/>
            </a:solidFill>
            <a:effectLst/>
          </c:spPr>
          <c:invertIfNegative val="0"/>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D6675"/>
                </a:solidFill>
                <a:latin typeface="맑은 고딕"/>
              </a:defRPr>
            </a:pPr>
            <a:r>
              <a:rPr sz="1300" b="0" i="0" u="none" strike="noStrike">
                <a:solidFill>
                  <a:srgbClr val="5D6675"/>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B2130"/>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D6675"/>
                </a:solidFill>
                <a:latin typeface="맑은 고딕"/>
              </a:defRPr>
            </a:pPr>
            <a:r>
              <a:rPr sz="1200" b="0" i="0" u="none" strike="noStrike">
                <a:solidFill>
                  <a:srgbClr val="5D6675"/>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D6675"/>
            </a:solidFill>
            <a:ln w="38100" cap="flat">
              <a:solidFill>
                <a:srgbClr val="5D667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D6675"/>
              </a:solidFill>
              <a:ln w="9525" cap="flat">
                <a:solidFill>
                  <a:srgbClr val="5D6675"/>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두 층의 커버리지가 다르다는 점을 봐주십시오. 1층은 비회원을 포함한 방문자 100%입니다. 얼굴 특징값을 저장하지 않고 연령대와 성별 속성값만 뽑기 때문에 익명이고, 그래서 전수로 쓸 수 있습니다. 2층은 동의한 회원만이고, 소비 이력은 여기서만 붙습니다. 리포트는 두 층을 구분해 표기하고, 5명 미만 셀은 표시하지 않습니다.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한 사만으로는 만들 수 없는, 그룹이어야 가능한 사업입니다.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1234440"/>
            <a:ext cx="6400800" cy="310896"/>
          </a:xfrm>
          <a:prstGeom prst="rect">
            <a:avLst/>
          </a:prstGeom>
          <a:noFill/>
          <a:ln/>
        </p:spPr>
        <p:txBody>
          <a:bodyPr wrap="square" lIns="0" tIns="0" rIns="0" bIns="0" rtlCol="0" anchor="ctr"/>
          <a:lstStyle/>
          <a:p>
            <a:pPr indent="0" marL="0">
              <a:buNone/>
            </a:pPr>
            <a:r>
              <a:rPr lang="en-US" sz="1400" b="1" spc="200" kern="0" dirty="0">
                <a:solidFill>
                  <a:srgbClr val="F2A33C"/>
                </a:solidFill>
                <a:latin typeface="맑은 고딕" pitchFamily="34" charset="0"/>
                <a:ea typeface="맑은 고딕" pitchFamily="34" charset="-122"/>
                <a:cs typeface="맑은 고딕" pitchFamily="34" charset="-120"/>
              </a:rPr>
              <a:t>롯데그룹 신사업 제안  ·  비즈니스 모델 캔버스</a:t>
            </a:r>
            <a:endParaRPr lang="en-US" sz="1400" dirty="0"/>
          </a:p>
        </p:txBody>
      </p:sp>
      <p:sp>
        <p:nvSpPr>
          <p:cNvPr id="3" name="Text 1"/>
          <p:cNvSpPr txBox="1"/>
          <p:nvPr/>
        </p:nvSpPr>
        <p:spPr>
          <a:xfrm>
            <a:off x="777240" y="1600200"/>
            <a:ext cx="5852160" cy="1143000"/>
          </a:xfrm>
          <a:prstGeom prst="rect">
            <a:avLst/>
          </a:prstGeom>
          <a:noFill/>
          <a:ln/>
        </p:spPr>
        <p:txBody>
          <a:bodyPr wrap="square" lIns="0" tIns="0" rIns="0" bIns="0" rtlCol="0" anchor="ctr"/>
          <a:lstStyle/>
          <a:p>
            <a:pPr indent="0" marL="0">
              <a:buNone/>
            </a:pPr>
            <a:r>
              <a:rPr lang="en-US" sz="6800" b="1" dirty="0">
                <a:solidFill>
                  <a:srgbClr val="FFFFFF"/>
                </a:solidFill>
                <a:latin typeface="맑은 고딕" pitchFamily="34" charset="0"/>
                <a:ea typeface="맑은 고딕" pitchFamily="34" charset="-122"/>
                <a:cs typeface="맑은 고딕" pitchFamily="34" charset="-120"/>
              </a:rPr>
              <a:t>L.GA</a:t>
            </a:r>
            <a:endParaRPr lang="en-US" sz="6800" dirty="0"/>
          </a:p>
        </p:txBody>
      </p:sp>
      <p:sp>
        <p:nvSpPr>
          <p:cNvPr id="4" name="Text 2"/>
          <p:cNvSpPr txBox="1"/>
          <p:nvPr/>
        </p:nvSpPr>
        <p:spPr>
          <a:xfrm>
            <a:off x="822960" y="2761488"/>
            <a:ext cx="5852160" cy="365760"/>
          </a:xfrm>
          <a:prstGeom prst="rect">
            <a:avLst/>
          </a:prstGeom>
          <a:noFill/>
          <a:ln/>
        </p:spPr>
        <p:txBody>
          <a:bodyPr wrap="square" lIns="0" tIns="0" rIns="0" bIns="0" rtlCol="0" anchor="ctr"/>
          <a:lstStyle/>
          <a:p>
            <a:pPr indent="0" marL="0">
              <a:buNone/>
            </a:pPr>
            <a:r>
              <a:rPr lang="en-US" sz="1900" dirty="0">
                <a:solidFill>
                  <a:srgbClr val="A7AFBE"/>
                </a:solidFill>
                <a:latin typeface="맑은 고딕" pitchFamily="34" charset="0"/>
                <a:ea typeface="맑은 고딕" pitchFamily="34" charset="-122"/>
                <a:cs typeface="맑은 고딕" pitchFamily="34" charset="-120"/>
              </a:rPr>
              <a:t>Lotte Growth Analytics</a:t>
            </a:r>
            <a:endParaRPr lang="en-US" sz="1900" dirty="0"/>
          </a:p>
        </p:txBody>
      </p:sp>
      <p:sp>
        <p:nvSpPr>
          <p:cNvPr id="5" name="Text 3"/>
          <p:cNvSpPr txBox="1"/>
          <p:nvPr/>
        </p:nvSpPr>
        <p:spPr>
          <a:xfrm>
            <a:off x="822960" y="3429000"/>
            <a:ext cx="5669280" cy="1188720"/>
          </a:xfrm>
          <a:prstGeom prst="rect">
            <a:avLst/>
          </a:prstGeom>
          <a:noFill/>
          <a:ln/>
        </p:spPr>
        <p:txBody>
          <a:bodyPr wrap="square" lIns="0" tIns="0" rIns="0" bIns="0" rtlCol="0" anchor="ctr"/>
          <a:lstStyle/>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100" dirty="0"/>
          </a:p>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100" dirty="0"/>
          </a:p>
        </p:txBody>
      </p:sp>
      <p:sp>
        <p:nvSpPr>
          <p:cNvPr id="6" name="Shape 4"/>
          <p:cNvSpPr/>
          <p:nvPr/>
        </p:nvSpPr>
        <p:spPr>
          <a:xfrm>
            <a:off x="822960" y="4864608"/>
            <a:ext cx="5669280" cy="786384"/>
          </a:xfrm>
          <a:prstGeom prst="roundRect">
            <a:avLst>
              <a:gd name="adj" fmla="val 6977"/>
            </a:avLst>
          </a:prstGeom>
          <a:solidFill>
            <a:srgbClr val="1B2130"/>
          </a:solidFill>
          <a:ln/>
        </p:spPr>
      </p:sp>
      <p:sp>
        <p:nvSpPr>
          <p:cNvPr id="7" name="Text 5"/>
          <p:cNvSpPr txBox="1"/>
          <p:nvPr/>
        </p:nvSpPr>
        <p:spPr>
          <a:xfrm>
            <a:off x="1143000" y="4983480"/>
            <a:ext cx="5120640" cy="274320"/>
          </a:xfrm>
          <a:prstGeom prst="rect">
            <a:avLst/>
          </a:prstGeom>
          <a:noFill/>
          <a:ln/>
        </p:spPr>
        <p:txBody>
          <a:bodyPr wrap="square" lIns="0" tIns="0" rIns="0" bIns="0" rtlCol="0" anchor="ctr"/>
          <a:lstStyle/>
          <a:p>
            <a:pPr indent="0" marL="0">
              <a:buNone/>
            </a:pPr>
            <a:r>
              <a:rPr lang="en-US" sz="1250" b="1" dirty="0">
                <a:solidFill>
                  <a:srgbClr val="F2A33C"/>
                </a:solidFill>
                <a:latin typeface="맑은 고딕" pitchFamily="34" charset="0"/>
                <a:ea typeface="맑은 고딕" pitchFamily="34" charset="-122"/>
                <a:cs typeface="맑은 고딕" pitchFamily="34" charset="-120"/>
              </a:rPr>
              <a:t>Lifetime Value Creator</a:t>
            </a:r>
            <a:endParaRPr lang="en-US" sz="1250" dirty="0"/>
          </a:p>
        </p:txBody>
      </p:sp>
      <p:sp>
        <p:nvSpPr>
          <p:cNvPr id="8" name="Text 6"/>
          <p:cNvSpPr txBox="1"/>
          <p:nvPr/>
        </p:nvSpPr>
        <p:spPr>
          <a:xfrm>
            <a:off x="1143000" y="5266944"/>
            <a:ext cx="5120640" cy="274320"/>
          </a:xfrm>
          <a:prstGeom prst="rect">
            <a:avLst/>
          </a:prstGeom>
          <a:noFill/>
          <a:ln/>
        </p:spPr>
        <p:txBody>
          <a:bodyPr wrap="square" lIns="0" tIns="0" rIns="0" bIns="0" rtlCol="0" anchor="ctr"/>
          <a:lstStyle/>
          <a:p>
            <a:pPr indent="0" marL="0">
              <a:buNone/>
            </a:pPr>
            <a:r>
              <a:rPr lang="en-US" sz="1150" dirty="0">
                <a:solidFill>
                  <a:srgbClr val="A7AFBE"/>
                </a:solidFill>
                <a:latin typeface="맑은 고딕" pitchFamily="34" charset="0"/>
                <a:ea typeface="맑은 고딕" pitchFamily="34" charset="-122"/>
                <a:cs typeface="맑은 고딕" pitchFamily="34" charset="-120"/>
              </a:rPr>
              <a:t>결제한 순간에만 쌓이던 고객 가치를, 사지 않은 순간까지 넓힙니다.</a:t>
            </a:r>
            <a:endParaRPr lang="en-US" sz="1150" dirty="0"/>
          </a:p>
        </p:txBody>
      </p:sp>
      <p:sp>
        <p:nvSpPr>
          <p:cNvPr id="9" name="Text 7"/>
          <p:cNvSpPr txBox="1"/>
          <p:nvPr/>
        </p:nvSpPr>
        <p:spPr>
          <a:xfrm>
            <a:off x="822960" y="5989320"/>
            <a:ext cx="5852160" cy="3108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롯데그룹 핵심인재 MBA 과정  |  최종 발표</a:t>
            </a:r>
            <a:endParaRPr lang="en-US" sz="1200" dirty="0"/>
          </a:p>
        </p:txBody>
      </p:sp>
      <p:sp>
        <p:nvSpPr>
          <p:cNvPr id="10" name="Shape 8"/>
          <p:cNvSpPr/>
          <p:nvPr/>
        </p:nvSpPr>
        <p:spPr>
          <a:xfrm>
            <a:off x="7178040" y="1417320"/>
            <a:ext cx="4434840" cy="4023360"/>
          </a:xfrm>
          <a:prstGeom prst="roundRect">
            <a:avLst>
              <a:gd name="adj" fmla="val 1818"/>
            </a:avLst>
          </a:prstGeom>
          <a:solidFill>
            <a:srgbClr val="1B2130"/>
          </a:solidFill>
          <a:ln/>
        </p:spPr>
      </p:sp>
      <p:sp>
        <p:nvSpPr>
          <p:cNvPr id="11" name="Text 9"/>
          <p:cNvSpPr txBox="1"/>
          <p:nvPr/>
        </p:nvSpPr>
        <p:spPr>
          <a:xfrm>
            <a:off x="7589520" y="1828800"/>
            <a:ext cx="3657600" cy="329184"/>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매장에 들어오는 100명 중</a:t>
            </a:r>
            <a:endParaRPr lang="en-US" sz="1500" dirty="0"/>
          </a:p>
        </p:txBody>
      </p:sp>
      <p:sp>
        <p:nvSpPr>
          <p:cNvPr id="12" name="Text 10"/>
          <p:cNvSpPr txBox="1"/>
          <p:nvPr/>
        </p:nvSpPr>
        <p:spPr>
          <a:xfrm>
            <a:off x="7589520" y="2240280"/>
            <a:ext cx="3749040" cy="1188720"/>
          </a:xfrm>
          <a:prstGeom prst="rect">
            <a:avLst/>
          </a:prstGeom>
          <a:noFill/>
          <a:ln/>
        </p:spPr>
        <p:txBody>
          <a:bodyPr wrap="square" lIns="0" tIns="0" rIns="0" bIns="0" rtlCol="0" anchor="b"/>
          <a:lstStyle/>
          <a:p>
            <a:pPr indent="0" marL="0">
              <a:buNone/>
            </a:pPr>
            <a:r>
              <a:rPr lang="en-US" sz="7800" b="1" dirty="0">
                <a:solidFill>
                  <a:srgbClr val="E11D2E"/>
                </a:solidFill>
                <a:latin typeface="맑은 고딕" pitchFamily="34" charset="0"/>
                <a:ea typeface="맑은 고딕" pitchFamily="34" charset="-122"/>
                <a:cs typeface="맑은 고딕" pitchFamily="34" charset="-120"/>
              </a:rPr>
              <a:t>3</a:t>
            </a:r>
            <a:pPr indent="0" marL="0">
              <a:buNone/>
            </a:pPr>
            <a:r>
              <a:rPr lang="en-US" sz="2100" b="1" dirty="0">
                <a:solidFill>
                  <a:srgbClr val="FFFFFF"/>
                </a:solidFill>
                <a:latin typeface="맑은 고딕" pitchFamily="34" charset="0"/>
                <a:ea typeface="맑은 고딕" pitchFamily="34" charset="-122"/>
                <a:cs typeface="맑은 고딕" pitchFamily="34" charset="-120"/>
              </a:rPr>
              <a:t>명만 구매합니다.</a:t>
            </a:r>
            <a:endParaRPr lang="en-US" sz="7800" dirty="0"/>
          </a:p>
        </p:txBody>
      </p:sp>
      <p:sp>
        <p:nvSpPr>
          <p:cNvPr id="13" name="Text 11"/>
          <p:cNvSpPr txBox="1"/>
          <p:nvPr/>
        </p:nvSpPr>
        <p:spPr>
          <a:xfrm>
            <a:off x="7589520" y="3886200"/>
            <a:ext cx="3749040" cy="1005840"/>
          </a:xfrm>
          <a:prstGeom prst="rect">
            <a:avLst/>
          </a:prstGeom>
          <a:noFill/>
          <a:ln/>
        </p:spPr>
        <p:txBody>
          <a:bodyPr wrap="square" lIns="0" tIns="0" rIns="0" bIns="0" rtlCol="0" anchor="t"/>
          <a:lstStyle/>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나머지 97명이 무엇을 보고 왜 돌아섰는지는</a:t>
            </a:r>
            <a:endParaRPr lang="en-US" sz="1400" dirty="0"/>
          </a:p>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매일 CCTV에 찍히고, 매일 그냥 삭제됩니다.</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BMC</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한 장으로 보는 L.GA 비즈니스 모델</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Step 1 가치 전달(01~05)을 먼저 확정하고, Step 2 효율적 운영(06~09)을 채웠습니다 — 다음 장에서 그룹 전략과의 정합성을 먼저 보겠습니다</a:t>
            </a:r>
            <a:endParaRPr lang="en-US" sz="1300" dirty="0"/>
          </a:p>
        </p:txBody>
      </p:sp>
      <p:sp>
        <p:nvSpPr>
          <p:cNvPr id="6" name="Shape 4"/>
          <p:cNvSpPr/>
          <p:nvPr/>
        </p:nvSpPr>
        <p:spPr>
          <a:xfrm>
            <a:off x="548640" y="1463040"/>
            <a:ext cx="2139696" cy="3154680"/>
          </a:xfrm>
          <a:prstGeom prst="roundRect">
            <a:avLst>
              <a:gd name="adj" fmla="val 2137"/>
            </a:avLst>
          </a:prstGeom>
          <a:solidFill>
            <a:srgbClr val="EDF1F6"/>
          </a:solidFill>
          <a:ln w="12700">
            <a:solidFill>
              <a:srgbClr val="E3E6EB"/>
            </a:solidFill>
            <a:prstDash val="solid"/>
          </a:ln>
        </p:spPr>
      </p:sp>
      <p:sp>
        <p:nvSpPr>
          <p:cNvPr id="7" name="Shape 5"/>
          <p:cNvSpPr/>
          <p:nvPr/>
        </p:nvSpPr>
        <p:spPr>
          <a:xfrm>
            <a:off x="685800" y="1591056"/>
            <a:ext cx="365760" cy="274320"/>
          </a:xfrm>
          <a:prstGeom prst="roundRect">
            <a:avLst>
              <a:gd name="adj" fmla="val 16667"/>
            </a:avLst>
          </a:prstGeom>
          <a:solidFill>
            <a:srgbClr val="101420"/>
          </a:solidFill>
          <a:ln/>
        </p:spPr>
      </p:sp>
      <p:sp>
        <p:nvSpPr>
          <p:cNvPr id="8" name="Text 6"/>
          <p:cNvSpPr txBox="1"/>
          <p:nvPr/>
        </p:nvSpPr>
        <p:spPr>
          <a:xfrm>
            <a:off x="685800"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08</a:t>
            </a:r>
            <a:endParaRPr lang="en-US" sz="1000" dirty="0"/>
          </a:p>
        </p:txBody>
      </p:sp>
      <p:sp>
        <p:nvSpPr>
          <p:cNvPr id="9" name="Text 7"/>
          <p:cNvSpPr txBox="1"/>
          <p:nvPr/>
        </p:nvSpPr>
        <p:spPr>
          <a:xfrm>
            <a:off x="1115568"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파트너</a:t>
            </a:r>
            <a:endParaRPr lang="en-US" sz="1200" dirty="0"/>
          </a:p>
        </p:txBody>
      </p:sp>
      <p:sp>
        <p:nvSpPr>
          <p:cNvPr id="10" name="Text 8"/>
          <p:cNvSpPr txBox="1"/>
          <p:nvPr/>
        </p:nvSpPr>
        <p:spPr>
          <a:xfrm>
            <a:off x="685800"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롯데백화점 · 롯데이노베이트 · 롯데멤버스 3사 합작</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비전 AI 엔진 벤더 (Build/Buy)</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외부 VMD · 법무·DPO</a:t>
            </a:r>
            <a:endParaRPr lang="en-US" sz="1000" dirty="0"/>
          </a:p>
        </p:txBody>
      </p:sp>
      <p:sp>
        <p:nvSpPr>
          <p:cNvPr id="11" name="Shape 9"/>
          <p:cNvSpPr/>
          <p:nvPr/>
        </p:nvSpPr>
        <p:spPr>
          <a:xfrm>
            <a:off x="2779776" y="1463040"/>
            <a:ext cx="2139696" cy="1531620"/>
          </a:xfrm>
          <a:prstGeom prst="roundRect">
            <a:avLst>
              <a:gd name="adj" fmla="val 2985"/>
            </a:avLst>
          </a:prstGeom>
          <a:solidFill>
            <a:srgbClr val="EDF1F6"/>
          </a:solidFill>
          <a:ln w="12700">
            <a:solidFill>
              <a:srgbClr val="E3E6EB"/>
            </a:solidFill>
            <a:prstDash val="solid"/>
          </a:ln>
        </p:spPr>
      </p:sp>
      <p:sp>
        <p:nvSpPr>
          <p:cNvPr id="12" name="Shape 10"/>
          <p:cNvSpPr/>
          <p:nvPr/>
        </p:nvSpPr>
        <p:spPr>
          <a:xfrm>
            <a:off x="2916936" y="1591056"/>
            <a:ext cx="365760" cy="274320"/>
          </a:xfrm>
          <a:prstGeom prst="roundRect">
            <a:avLst>
              <a:gd name="adj" fmla="val 16667"/>
            </a:avLst>
          </a:prstGeom>
          <a:solidFill>
            <a:srgbClr val="101420"/>
          </a:solidFill>
          <a:ln/>
        </p:spPr>
      </p:sp>
      <p:sp>
        <p:nvSpPr>
          <p:cNvPr id="13" name="Text 11"/>
          <p:cNvSpPr txBox="1"/>
          <p:nvPr/>
        </p:nvSpPr>
        <p:spPr>
          <a:xfrm>
            <a:off x="2916936"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07</a:t>
            </a:r>
            <a:endParaRPr lang="en-US" sz="1000" dirty="0"/>
          </a:p>
        </p:txBody>
      </p:sp>
      <p:sp>
        <p:nvSpPr>
          <p:cNvPr id="14" name="Text 12"/>
          <p:cNvSpPr txBox="1"/>
          <p:nvPr/>
        </p:nvSpPr>
        <p:spPr>
          <a:xfrm>
            <a:off x="3346704"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활동</a:t>
            </a:r>
            <a:endParaRPr lang="en-US" sz="1200" dirty="0"/>
          </a:p>
        </p:txBody>
      </p:sp>
      <p:sp>
        <p:nvSpPr>
          <p:cNvPr id="15" name="Text 13"/>
          <p:cNvSpPr txBox="1"/>
          <p:nvPr/>
        </p:nvSpPr>
        <p:spPr>
          <a:xfrm>
            <a:off x="2916936" y="196596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엣지 추론 · 리포트 자동화</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인사이트 → 처방 → POS 검증</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벤치마크 DB · 리타게팅 운영</a:t>
            </a:r>
            <a:endParaRPr lang="en-US" sz="1000" dirty="0"/>
          </a:p>
        </p:txBody>
      </p:sp>
      <p:sp>
        <p:nvSpPr>
          <p:cNvPr id="16" name="Shape 14"/>
          <p:cNvSpPr/>
          <p:nvPr/>
        </p:nvSpPr>
        <p:spPr>
          <a:xfrm>
            <a:off x="2779776" y="3086100"/>
            <a:ext cx="2139696" cy="1531620"/>
          </a:xfrm>
          <a:prstGeom prst="roundRect">
            <a:avLst>
              <a:gd name="adj" fmla="val 2985"/>
            </a:avLst>
          </a:prstGeom>
          <a:solidFill>
            <a:srgbClr val="EDF1F6"/>
          </a:solidFill>
          <a:ln w="12700">
            <a:solidFill>
              <a:srgbClr val="E3E6EB"/>
            </a:solidFill>
            <a:prstDash val="solid"/>
          </a:ln>
        </p:spPr>
      </p:sp>
      <p:sp>
        <p:nvSpPr>
          <p:cNvPr id="17" name="Shape 15"/>
          <p:cNvSpPr/>
          <p:nvPr/>
        </p:nvSpPr>
        <p:spPr>
          <a:xfrm>
            <a:off x="2916936" y="3214116"/>
            <a:ext cx="365760" cy="274320"/>
          </a:xfrm>
          <a:prstGeom prst="roundRect">
            <a:avLst>
              <a:gd name="adj" fmla="val 16667"/>
            </a:avLst>
          </a:prstGeom>
          <a:solidFill>
            <a:srgbClr val="101420"/>
          </a:solidFill>
          <a:ln/>
        </p:spPr>
      </p:sp>
      <p:sp>
        <p:nvSpPr>
          <p:cNvPr id="18" name="Text 16"/>
          <p:cNvSpPr txBox="1"/>
          <p:nvPr/>
        </p:nvSpPr>
        <p:spPr>
          <a:xfrm>
            <a:off x="2916936" y="321411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06</a:t>
            </a:r>
            <a:endParaRPr lang="en-US" sz="1000" dirty="0"/>
          </a:p>
        </p:txBody>
      </p:sp>
      <p:sp>
        <p:nvSpPr>
          <p:cNvPr id="19" name="Text 17"/>
          <p:cNvSpPr txBox="1"/>
          <p:nvPr/>
        </p:nvSpPr>
        <p:spPr>
          <a:xfrm>
            <a:off x="3346704" y="319582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자원</a:t>
            </a:r>
            <a:endParaRPr lang="en-US" sz="1200" dirty="0"/>
          </a:p>
        </p:txBody>
      </p:sp>
      <p:sp>
        <p:nvSpPr>
          <p:cNvPr id="20" name="Text 18"/>
          <p:cNvSpPr txBox="1"/>
          <p:nvPr/>
        </p:nvSpPr>
        <p:spPr>
          <a:xfrm>
            <a:off x="2916936" y="358902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기존 CCTV · 엣지박스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L.POINT · POS · 전점 트래픽 ★</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컨설턴트 14명 · CAPEX 11억</a:t>
            </a:r>
            <a:endParaRPr lang="en-US" sz="1000" dirty="0"/>
          </a:p>
        </p:txBody>
      </p:sp>
      <p:sp>
        <p:nvSpPr>
          <p:cNvPr id="21" name="Shape 19"/>
          <p:cNvSpPr/>
          <p:nvPr/>
        </p:nvSpPr>
        <p:spPr>
          <a:xfrm>
            <a:off x="5010912" y="1463040"/>
            <a:ext cx="2139696" cy="3154680"/>
          </a:xfrm>
          <a:prstGeom prst="roundRect">
            <a:avLst>
              <a:gd name="adj" fmla="val 2137"/>
            </a:avLst>
          </a:prstGeom>
          <a:solidFill>
            <a:srgbClr val="101420"/>
          </a:solidFill>
          <a:ln w="12700">
            <a:solidFill>
              <a:srgbClr val="101420"/>
            </a:solidFill>
            <a:prstDash val="solid"/>
          </a:ln>
        </p:spPr>
      </p:sp>
      <p:sp>
        <p:nvSpPr>
          <p:cNvPr id="22" name="Shape 20"/>
          <p:cNvSpPr/>
          <p:nvPr/>
        </p:nvSpPr>
        <p:spPr>
          <a:xfrm>
            <a:off x="5148072" y="1591056"/>
            <a:ext cx="365760" cy="274320"/>
          </a:xfrm>
          <a:prstGeom prst="roundRect">
            <a:avLst>
              <a:gd name="adj" fmla="val 16667"/>
            </a:avLst>
          </a:prstGeom>
          <a:solidFill>
            <a:srgbClr val="F2A33C"/>
          </a:solidFill>
          <a:ln/>
        </p:spPr>
      </p:sp>
      <p:sp>
        <p:nvSpPr>
          <p:cNvPr id="23" name="Text 21"/>
          <p:cNvSpPr txBox="1"/>
          <p:nvPr/>
        </p:nvSpPr>
        <p:spPr>
          <a:xfrm>
            <a:off x="5148072" y="1591056"/>
            <a:ext cx="365760" cy="274320"/>
          </a:xfrm>
          <a:prstGeom prst="rect">
            <a:avLst/>
          </a:prstGeom>
          <a:noFill/>
          <a:ln/>
        </p:spPr>
        <p:txBody>
          <a:bodyPr wrap="square" lIns="0" tIns="0" rIns="0" bIns="0" rtlCol="0" anchor="ctr"/>
          <a:lstStyle/>
          <a:p>
            <a:pPr algn="ctr" indent="0" marL="0">
              <a:buNone/>
            </a:pPr>
            <a:r>
              <a:rPr lang="en-US" sz="1000" b="1" dirty="0">
                <a:solidFill>
                  <a:srgbClr val="101420"/>
                </a:solidFill>
                <a:latin typeface="맑은 고딕" pitchFamily="34" charset="0"/>
                <a:ea typeface="맑은 고딕" pitchFamily="34" charset="-122"/>
                <a:cs typeface="맑은 고딕" pitchFamily="34" charset="-120"/>
              </a:rPr>
              <a:t>02</a:t>
            </a:r>
            <a:endParaRPr lang="en-US" sz="1000" dirty="0"/>
          </a:p>
        </p:txBody>
      </p:sp>
      <p:sp>
        <p:nvSpPr>
          <p:cNvPr id="24" name="Text 22"/>
          <p:cNvSpPr txBox="1"/>
          <p:nvPr/>
        </p:nvSpPr>
        <p:spPr>
          <a:xfrm>
            <a:off x="5577840" y="1572768"/>
            <a:ext cx="1453896" cy="310896"/>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가치 제안</a:t>
            </a:r>
            <a:endParaRPr lang="en-US" sz="1200" dirty="0"/>
          </a:p>
        </p:txBody>
      </p:sp>
      <p:sp>
        <p:nvSpPr>
          <p:cNvPr id="25" name="Text 23"/>
          <p:cNvSpPr txBox="1"/>
          <p:nvPr/>
        </p:nvSpPr>
        <p:spPr>
          <a:xfrm>
            <a:off x="5148072"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브랜드가 모르는 자기 고객 — 신규 비율 · 미구매자 · 교차구매 · 이탈 SKU · 차기 출점</a:t>
            </a:r>
            <a:endParaRPr lang="en-US" sz="1000" dirty="0"/>
          </a:p>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처방이 통했는지 POS로 증명</a:t>
            </a:r>
            <a:endParaRPr lang="en-US" sz="1000" dirty="0"/>
          </a:p>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온라인 GA의 오프라인 구현</a:t>
            </a:r>
            <a:endParaRPr lang="en-US" sz="1000" dirty="0"/>
          </a:p>
        </p:txBody>
      </p:sp>
      <p:sp>
        <p:nvSpPr>
          <p:cNvPr id="26" name="Shape 24"/>
          <p:cNvSpPr/>
          <p:nvPr/>
        </p:nvSpPr>
        <p:spPr>
          <a:xfrm>
            <a:off x="7242048" y="1463040"/>
            <a:ext cx="2139696" cy="1531620"/>
          </a:xfrm>
          <a:prstGeom prst="roundRect">
            <a:avLst>
              <a:gd name="adj" fmla="val 2985"/>
            </a:avLst>
          </a:prstGeom>
          <a:solidFill>
            <a:srgbClr val="FBECEC"/>
          </a:solidFill>
          <a:ln w="12700">
            <a:solidFill>
              <a:srgbClr val="E3E6EB"/>
            </a:solidFill>
            <a:prstDash val="solid"/>
          </a:ln>
        </p:spPr>
      </p:sp>
      <p:sp>
        <p:nvSpPr>
          <p:cNvPr id="27" name="Shape 25"/>
          <p:cNvSpPr/>
          <p:nvPr/>
        </p:nvSpPr>
        <p:spPr>
          <a:xfrm>
            <a:off x="7379208" y="1591056"/>
            <a:ext cx="365760" cy="274320"/>
          </a:xfrm>
          <a:prstGeom prst="roundRect">
            <a:avLst>
              <a:gd name="adj" fmla="val 16667"/>
            </a:avLst>
          </a:prstGeom>
          <a:solidFill>
            <a:srgbClr val="E11D2E"/>
          </a:solidFill>
          <a:ln/>
        </p:spPr>
      </p:sp>
      <p:sp>
        <p:nvSpPr>
          <p:cNvPr id="28" name="Text 26"/>
          <p:cNvSpPr txBox="1"/>
          <p:nvPr/>
        </p:nvSpPr>
        <p:spPr>
          <a:xfrm>
            <a:off x="7379208"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04</a:t>
            </a:r>
            <a:endParaRPr lang="en-US" sz="1000" dirty="0"/>
          </a:p>
        </p:txBody>
      </p:sp>
      <p:sp>
        <p:nvSpPr>
          <p:cNvPr id="29" name="Text 27"/>
          <p:cNvSpPr txBox="1"/>
          <p:nvPr/>
        </p:nvSpPr>
        <p:spPr>
          <a:xfrm>
            <a:off x="7808976"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고객 관계</a:t>
            </a:r>
            <a:endParaRPr lang="en-US" sz="1200" dirty="0"/>
          </a:p>
        </p:txBody>
      </p:sp>
      <p:sp>
        <p:nvSpPr>
          <p:cNvPr id="30" name="Text 28"/>
          <p:cNvSpPr txBox="1"/>
          <p:nvPr/>
        </p:nvSpPr>
        <p:spPr>
          <a:xfrm>
            <a:off x="7379208" y="196596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파일럿 무상 → 검증 후 과금</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POS 검증 리포트 = 갱신 근거</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구독 · 컨설팅 · 리타게팅 업셀</a:t>
            </a:r>
            <a:endParaRPr lang="en-US" sz="1000" dirty="0"/>
          </a:p>
        </p:txBody>
      </p:sp>
      <p:sp>
        <p:nvSpPr>
          <p:cNvPr id="31" name="Shape 29"/>
          <p:cNvSpPr/>
          <p:nvPr/>
        </p:nvSpPr>
        <p:spPr>
          <a:xfrm>
            <a:off x="7242048" y="3086100"/>
            <a:ext cx="2139696" cy="1531620"/>
          </a:xfrm>
          <a:prstGeom prst="roundRect">
            <a:avLst>
              <a:gd name="adj" fmla="val 2985"/>
            </a:avLst>
          </a:prstGeom>
          <a:solidFill>
            <a:srgbClr val="FBECEC"/>
          </a:solidFill>
          <a:ln w="12700">
            <a:solidFill>
              <a:srgbClr val="E3E6EB"/>
            </a:solidFill>
            <a:prstDash val="solid"/>
          </a:ln>
        </p:spPr>
      </p:sp>
      <p:sp>
        <p:nvSpPr>
          <p:cNvPr id="32" name="Shape 30"/>
          <p:cNvSpPr/>
          <p:nvPr/>
        </p:nvSpPr>
        <p:spPr>
          <a:xfrm>
            <a:off x="7379208" y="3214116"/>
            <a:ext cx="365760" cy="274320"/>
          </a:xfrm>
          <a:prstGeom prst="roundRect">
            <a:avLst>
              <a:gd name="adj" fmla="val 16667"/>
            </a:avLst>
          </a:prstGeom>
          <a:solidFill>
            <a:srgbClr val="E11D2E"/>
          </a:solidFill>
          <a:ln/>
        </p:spPr>
      </p:sp>
      <p:sp>
        <p:nvSpPr>
          <p:cNvPr id="33" name="Text 31"/>
          <p:cNvSpPr txBox="1"/>
          <p:nvPr/>
        </p:nvSpPr>
        <p:spPr>
          <a:xfrm>
            <a:off x="7379208" y="321411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03</a:t>
            </a:r>
            <a:endParaRPr lang="en-US" sz="1000" dirty="0"/>
          </a:p>
        </p:txBody>
      </p:sp>
      <p:sp>
        <p:nvSpPr>
          <p:cNvPr id="34" name="Text 32"/>
          <p:cNvSpPr txBox="1"/>
          <p:nvPr/>
        </p:nvSpPr>
        <p:spPr>
          <a:xfrm>
            <a:off x="7808976" y="319582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채널</a:t>
            </a:r>
            <a:endParaRPr lang="en-US" sz="1200" dirty="0"/>
          </a:p>
        </p:txBody>
      </p:sp>
      <p:sp>
        <p:nvSpPr>
          <p:cNvPr id="35" name="Text 33"/>
          <p:cNvSpPr txBox="1"/>
          <p:nvPr/>
        </p:nvSpPr>
        <p:spPr>
          <a:xfrm>
            <a:off x="7379208" y="358902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MD·영업관리 팝업 계약 번들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L.GA 포털 · 리포트 미팅</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계열사 → 해외 롯데몰 → 외부</a:t>
            </a:r>
            <a:endParaRPr lang="en-US" sz="1000" dirty="0"/>
          </a:p>
        </p:txBody>
      </p:sp>
      <p:sp>
        <p:nvSpPr>
          <p:cNvPr id="36" name="Shape 34"/>
          <p:cNvSpPr/>
          <p:nvPr/>
        </p:nvSpPr>
        <p:spPr>
          <a:xfrm>
            <a:off x="9473184" y="1463040"/>
            <a:ext cx="2139696" cy="3154680"/>
          </a:xfrm>
          <a:prstGeom prst="roundRect">
            <a:avLst>
              <a:gd name="adj" fmla="val 2137"/>
            </a:avLst>
          </a:prstGeom>
          <a:solidFill>
            <a:srgbClr val="FBECEC"/>
          </a:solidFill>
          <a:ln w="12700">
            <a:solidFill>
              <a:srgbClr val="E3E6EB"/>
            </a:solidFill>
            <a:prstDash val="solid"/>
          </a:ln>
        </p:spPr>
      </p:sp>
      <p:sp>
        <p:nvSpPr>
          <p:cNvPr id="37" name="Shape 35"/>
          <p:cNvSpPr/>
          <p:nvPr/>
        </p:nvSpPr>
        <p:spPr>
          <a:xfrm>
            <a:off x="9610344" y="1591056"/>
            <a:ext cx="365760" cy="274320"/>
          </a:xfrm>
          <a:prstGeom prst="roundRect">
            <a:avLst>
              <a:gd name="adj" fmla="val 16667"/>
            </a:avLst>
          </a:prstGeom>
          <a:solidFill>
            <a:srgbClr val="E11D2E"/>
          </a:solidFill>
          <a:ln/>
        </p:spPr>
      </p:sp>
      <p:sp>
        <p:nvSpPr>
          <p:cNvPr id="38" name="Text 36"/>
          <p:cNvSpPr txBox="1"/>
          <p:nvPr/>
        </p:nvSpPr>
        <p:spPr>
          <a:xfrm>
            <a:off x="9610344"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01</a:t>
            </a:r>
            <a:endParaRPr lang="en-US" sz="1000" dirty="0"/>
          </a:p>
        </p:txBody>
      </p:sp>
      <p:sp>
        <p:nvSpPr>
          <p:cNvPr id="39" name="Text 37"/>
          <p:cNvSpPr txBox="1"/>
          <p:nvPr/>
        </p:nvSpPr>
        <p:spPr>
          <a:xfrm>
            <a:off x="10040112"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고객 세그먼트</a:t>
            </a:r>
            <a:endParaRPr lang="en-US" sz="1200" dirty="0"/>
          </a:p>
        </p:txBody>
      </p:sp>
      <p:sp>
        <p:nvSpPr>
          <p:cNvPr id="40" name="Text 38"/>
          <p:cNvSpPr txBox="1"/>
          <p:nvPr/>
        </p:nvSpPr>
        <p:spPr>
          <a:xfrm>
            <a:off x="9610344"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 팝업 브랜드 (연 2,000건 가정)</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상설 입점 브랜드 매장</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 내부 MD · 계열사 (첫 고객)</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외부 유통사 · 해외 (Phase 3)</a:t>
            </a:r>
            <a:endParaRPr lang="en-US" sz="1000" dirty="0"/>
          </a:p>
        </p:txBody>
      </p:sp>
      <p:sp>
        <p:nvSpPr>
          <p:cNvPr id="41" name="Shape 39"/>
          <p:cNvSpPr/>
          <p:nvPr/>
        </p:nvSpPr>
        <p:spPr>
          <a:xfrm>
            <a:off x="548640" y="4727448"/>
            <a:ext cx="5486400" cy="1627632"/>
          </a:xfrm>
          <a:prstGeom prst="roundRect">
            <a:avLst>
              <a:gd name="adj" fmla="val 2809"/>
            </a:avLst>
          </a:prstGeom>
          <a:solidFill>
            <a:srgbClr val="EDF1F6"/>
          </a:solidFill>
          <a:ln w="12700">
            <a:solidFill>
              <a:srgbClr val="E3E6EB"/>
            </a:solidFill>
            <a:prstDash val="solid"/>
          </a:ln>
        </p:spPr>
      </p:sp>
      <p:sp>
        <p:nvSpPr>
          <p:cNvPr id="42" name="Shape 40"/>
          <p:cNvSpPr/>
          <p:nvPr/>
        </p:nvSpPr>
        <p:spPr>
          <a:xfrm>
            <a:off x="685800" y="4855464"/>
            <a:ext cx="365760" cy="274320"/>
          </a:xfrm>
          <a:prstGeom prst="roundRect">
            <a:avLst>
              <a:gd name="adj" fmla="val 16667"/>
            </a:avLst>
          </a:prstGeom>
          <a:solidFill>
            <a:srgbClr val="101420"/>
          </a:solidFill>
          <a:ln/>
        </p:spPr>
      </p:sp>
      <p:sp>
        <p:nvSpPr>
          <p:cNvPr id="43" name="Text 41"/>
          <p:cNvSpPr txBox="1"/>
          <p:nvPr/>
        </p:nvSpPr>
        <p:spPr>
          <a:xfrm>
            <a:off x="685800" y="4855464"/>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09</a:t>
            </a:r>
            <a:endParaRPr lang="en-US" sz="1000" dirty="0"/>
          </a:p>
        </p:txBody>
      </p:sp>
      <p:sp>
        <p:nvSpPr>
          <p:cNvPr id="44" name="Text 42"/>
          <p:cNvSpPr txBox="1"/>
          <p:nvPr/>
        </p:nvSpPr>
        <p:spPr>
          <a:xfrm>
            <a:off x="1115568" y="4837176"/>
            <a:ext cx="4800600"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비용 구조</a:t>
            </a:r>
            <a:endParaRPr lang="en-US" sz="1200" dirty="0"/>
          </a:p>
        </p:txBody>
      </p:sp>
      <p:sp>
        <p:nvSpPr>
          <p:cNvPr id="45" name="Text 43"/>
          <p:cNvSpPr txBox="1"/>
          <p:nvPr/>
        </p:nvSpPr>
        <p:spPr>
          <a:xfrm>
            <a:off x="685800" y="5230368"/>
            <a:ext cx="5212080" cy="1033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고정비: 인건비(컨설턴트) 중심 — Y3 판관비 53.7억</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변동비: 팝업 건당 75만 · 엣지로 클라우드 1/10 → GM 77%</a:t>
            </a:r>
            <a:endParaRPr lang="en-US" sz="1000" dirty="0"/>
          </a:p>
        </p:txBody>
      </p:sp>
      <p:sp>
        <p:nvSpPr>
          <p:cNvPr id="46" name="Shape 44"/>
          <p:cNvSpPr/>
          <p:nvPr/>
        </p:nvSpPr>
        <p:spPr>
          <a:xfrm>
            <a:off x="6153912" y="4727448"/>
            <a:ext cx="5486400" cy="1627632"/>
          </a:xfrm>
          <a:prstGeom prst="roundRect">
            <a:avLst>
              <a:gd name="adj" fmla="val 2809"/>
            </a:avLst>
          </a:prstGeom>
          <a:solidFill>
            <a:srgbClr val="FBECEC"/>
          </a:solidFill>
          <a:ln w="12700">
            <a:solidFill>
              <a:srgbClr val="E3E6EB"/>
            </a:solidFill>
            <a:prstDash val="solid"/>
          </a:ln>
        </p:spPr>
      </p:sp>
      <p:sp>
        <p:nvSpPr>
          <p:cNvPr id="47" name="Shape 45"/>
          <p:cNvSpPr/>
          <p:nvPr/>
        </p:nvSpPr>
        <p:spPr>
          <a:xfrm>
            <a:off x="6291072" y="4855464"/>
            <a:ext cx="365760" cy="274320"/>
          </a:xfrm>
          <a:prstGeom prst="roundRect">
            <a:avLst>
              <a:gd name="adj" fmla="val 16667"/>
            </a:avLst>
          </a:prstGeom>
          <a:solidFill>
            <a:srgbClr val="E11D2E"/>
          </a:solidFill>
          <a:ln/>
        </p:spPr>
      </p:sp>
      <p:sp>
        <p:nvSpPr>
          <p:cNvPr id="48" name="Text 46"/>
          <p:cNvSpPr txBox="1"/>
          <p:nvPr/>
        </p:nvSpPr>
        <p:spPr>
          <a:xfrm>
            <a:off x="6291072" y="4855464"/>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05</a:t>
            </a:r>
            <a:endParaRPr lang="en-US" sz="1000" dirty="0"/>
          </a:p>
        </p:txBody>
      </p:sp>
      <p:sp>
        <p:nvSpPr>
          <p:cNvPr id="49" name="Text 47"/>
          <p:cNvSpPr txBox="1"/>
          <p:nvPr/>
        </p:nvSpPr>
        <p:spPr>
          <a:xfrm>
            <a:off x="6720840" y="4837176"/>
            <a:ext cx="4800600"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수익원</a:t>
            </a:r>
            <a:endParaRPr lang="en-US" sz="1200" dirty="0"/>
          </a:p>
        </p:txBody>
      </p:sp>
      <p:sp>
        <p:nvSpPr>
          <p:cNvPr id="50" name="Text 48"/>
          <p:cNvSpPr txBox="1"/>
          <p:nvPr/>
        </p:nvSpPr>
        <p:spPr>
          <a:xfrm>
            <a:off x="6291072" y="5230368"/>
            <a:ext cx="5212080" cy="1033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팝업 패키지 320만 · 구독 월 45만 · 컨설팅 1,500만+성과 · 리타게팅 · 라이선스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FIT</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왜 롯데인가  |  그룹 전략과 핵심가치에 맞는 사업입니다</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신사업을 먼저 만들고 명분을 붙인 것이 아니라, 그룹이 가려는 방향에서 거꾸로 설계했습니다</a:t>
            </a:r>
            <a:endParaRPr lang="en-US" sz="1300" dirty="0"/>
          </a:p>
        </p:txBody>
      </p:sp>
      <p:sp>
        <p:nvSpPr>
          <p:cNvPr id="6" name="Shape 4"/>
          <p:cNvSpPr/>
          <p:nvPr/>
        </p:nvSpPr>
        <p:spPr>
          <a:xfrm>
            <a:off x="548640" y="1481328"/>
            <a:ext cx="3529584" cy="1938528"/>
          </a:xfrm>
          <a:prstGeom prst="roundRect">
            <a:avLst>
              <a:gd name="adj" fmla="val 330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7" name="Text 5"/>
          <p:cNvSpPr txBox="1"/>
          <p:nvPr/>
        </p:nvSpPr>
        <p:spPr>
          <a:xfrm>
            <a:off x="841248" y="164592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그룹 비전</a:t>
            </a:r>
            <a:endParaRPr lang="en-US" sz="1100" dirty="0"/>
          </a:p>
        </p:txBody>
      </p:sp>
      <p:sp>
        <p:nvSpPr>
          <p:cNvPr id="8" name="Text 6"/>
          <p:cNvSpPr txBox="1"/>
          <p:nvPr/>
        </p:nvSpPr>
        <p:spPr>
          <a:xfrm>
            <a:off x="841248" y="1938528"/>
            <a:ext cx="2944368" cy="402336"/>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Lifetime Value Creator</a:t>
            </a:r>
            <a:endParaRPr lang="en-US" sz="1700" dirty="0"/>
          </a:p>
        </p:txBody>
      </p:sp>
      <p:sp>
        <p:nvSpPr>
          <p:cNvPr id="9" name="Text 7"/>
          <p:cNvSpPr txBox="1"/>
          <p:nvPr/>
        </p:nvSpPr>
        <p:spPr>
          <a:xfrm>
            <a:off x="841248" y="2395728"/>
            <a:ext cx="2944368" cy="950976"/>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고객의 '평생 가치'는 지금까지 결제한 순간에만 기록됐습니다.</a:t>
            </a:r>
            <a:endParaRPr lang="en-US" sz="1100" dirty="0"/>
          </a:p>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L.GA는 사지 않은 순간까지 가치로 바꿉니다.</a:t>
            </a:r>
            <a:endParaRPr lang="en-US" sz="1100" dirty="0"/>
          </a:p>
        </p:txBody>
      </p:sp>
      <p:sp>
        <p:nvSpPr>
          <p:cNvPr id="10" name="Shape 8"/>
          <p:cNvSpPr/>
          <p:nvPr/>
        </p:nvSpPr>
        <p:spPr>
          <a:xfrm>
            <a:off x="4270248" y="1481328"/>
            <a:ext cx="3529584" cy="1938528"/>
          </a:xfrm>
          <a:prstGeom prst="roundRect">
            <a:avLst>
              <a:gd name="adj" fmla="val 3302"/>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4562856" y="1645920"/>
            <a:ext cx="2944368" cy="274320"/>
          </a:xfrm>
          <a:prstGeom prst="rect">
            <a:avLst/>
          </a:prstGeom>
          <a:noFill/>
          <a:ln/>
        </p:spPr>
        <p:txBody>
          <a:bodyPr wrap="square" lIns="0" tIns="0" rIns="0" bIns="0" rtlCol="0" anchor="ctr"/>
          <a:lstStyle/>
          <a:p>
            <a:pPr indent="0" marL="0">
              <a:buNone/>
            </a:pPr>
            <a:r>
              <a:rPr lang="en-US" sz="1100" b="1" spc="100" kern="0" dirty="0">
                <a:solidFill>
                  <a:srgbClr val="F2A33C"/>
                </a:solidFill>
                <a:latin typeface="맑은 고딕" pitchFamily="34" charset="0"/>
                <a:ea typeface="맑은 고딕" pitchFamily="34" charset="-122"/>
                <a:cs typeface="맑은 고딕" pitchFamily="34" charset="-120"/>
              </a:rPr>
              <a:t>경영 방침</a:t>
            </a:r>
            <a:endParaRPr lang="en-US" sz="1100" dirty="0"/>
          </a:p>
        </p:txBody>
      </p:sp>
      <p:sp>
        <p:nvSpPr>
          <p:cNvPr id="12" name="Text 10"/>
          <p:cNvSpPr txBox="1"/>
          <p:nvPr/>
        </p:nvSpPr>
        <p:spPr>
          <a:xfrm>
            <a:off x="4562856" y="1938528"/>
            <a:ext cx="2944368" cy="402336"/>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AI 트랜스포메이션</a:t>
            </a:r>
            <a:endParaRPr lang="en-US" sz="1700" dirty="0"/>
          </a:p>
        </p:txBody>
      </p:sp>
      <p:sp>
        <p:nvSpPr>
          <p:cNvPr id="13" name="Text 11"/>
          <p:cNvSpPr txBox="1"/>
          <p:nvPr/>
        </p:nvSpPr>
        <p:spPr>
          <a:xfrm>
            <a:off x="4562856" y="2395728"/>
            <a:ext cx="2944368" cy="950976"/>
          </a:xfrm>
          <a:prstGeom prst="rect">
            <a:avLst/>
          </a:prstGeom>
          <a:noFill/>
          <a:ln/>
        </p:spPr>
        <p:txBody>
          <a:bodyPr wrap="square" lIns="0" tIns="0" rIns="0" bIns="0" rtlCol="0" anchor="t"/>
          <a:lstStyle/>
          <a:p>
            <a:pPr indent="0" marL="0">
              <a:lnSpc>
                <a:spcPts val="1600"/>
              </a:lnSpc>
              <a:buNone/>
            </a:pPr>
            <a:r>
              <a:rPr lang="en-US" sz="1100" dirty="0">
                <a:solidFill>
                  <a:srgbClr val="A7AFBE"/>
                </a:solidFill>
                <a:latin typeface="맑은 고딕" pitchFamily="34" charset="0"/>
                <a:ea typeface="맑은 고딕" pitchFamily="34" charset="-122"/>
                <a:cs typeface="맑은 고딕" pitchFamily="34" charset="-120"/>
              </a:rPr>
              <a:t>새 인프라를 사는 사업이 아닙니다.</a:t>
            </a:r>
            <a:endParaRPr lang="en-US" sz="1100" dirty="0"/>
          </a:p>
          <a:p>
            <a:pPr indent="0" marL="0">
              <a:lnSpc>
                <a:spcPts val="1600"/>
              </a:lnSpc>
              <a:buNone/>
            </a:pPr>
            <a:r>
              <a:rPr lang="en-US" sz="1100" dirty="0">
                <a:solidFill>
                  <a:srgbClr val="A7AFBE"/>
                </a:solidFill>
                <a:latin typeface="맑은 고딕" pitchFamily="34" charset="0"/>
                <a:ea typeface="맑은 고딕" pitchFamily="34" charset="-122"/>
                <a:cs typeface="맑은 고딕" pitchFamily="34" charset="-120"/>
              </a:rPr>
              <a:t>이미 깔려 있는 CCTV 위에 AI를 얹는 — 기존 자산의 AI 내재화 사례입니다.</a:t>
            </a:r>
            <a:endParaRPr lang="en-US" sz="1100" dirty="0"/>
          </a:p>
        </p:txBody>
      </p:sp>
      <p:sp>
        <p:nvSpPr>
          <p:cNvPr id="14" name="Shape 12"/>
          <p:cNvSpPr/>
          <p:nvPr/>
        </p:nvSpPr>
        <p:spPr>
          <a:xfrm>
            <a:off x="7991856" y="1481328"/>
            <a:ext cx="3529584" cy="1938528"/>
          </a:xfrm>
          <a:prstGeom prst="roundRect">
            <a:avLst>
              <a:gd name="adj" fmla="val 330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5" name="Text 13"/>
          <p:cNvSpPr txBox="1"/>
          <p:nvPr/>
        </p:nvSpPr>
        <p:spPr>
          <a:xfrm>
            <a:off x="8284464" y="164592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신성장 테마</a:t>
            </a:r>
            <a:endParaRPr lang="en-US" sz="1100" dirty="0"/>
          </a:p>
        </p:txBody>
      </p:sp>
      <p:sp>
        <p:nvSpPr>
          <p:cNvPr id="16" name="Text 14"/>
          <p:cNvSpPr txBox="1"/>
          <p:nvPr/>
        </p:nvSpPr>
        <p:spPr>
          <a:xfrm>
            <a:off x="8284464" y="1938528"/>
            <a:ext cx="2944368" cy="402336"/>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뉴라이프플랫폼</a:t>
            </a:r>
            <a:endParaRPr lang="en-US" sz="1700" dirty="0"/>
          </a:p>
        </p:txBody>
      </p:sp>
      <p:sp>
        <p:nvSpPr>
          <p:cNvPr id="17" name="Text 15"/>
          <p:cNvSpPr txBox="1"/>
          <p:nvPr/>
        </p:nvSpPr>
        <p:spPr>
          <a:xfrm>
            <a:off x="8284464" y="2395728"/>
            <a:ext cx="2944368" cy="950976"/>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상품을 파는 유통에서 데이터를 파는 플랫폼으로.</a:t>
            </a:r>
            <a:endParaRPr lang="en-US" sz="1100" dirty="0"/>
          </a:p>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롯데 리테일 자산의 플랫폼화 그 자체입니다.</a:t>
            </a:r>
            <a:endParaRPr lang="en-US" sz="1100" dirty="0"/>
          </a:p>
        </p:txBody>
      </p:sp>
      <p:sp>
        <p:nvSpPr>
          <p:cNvPr id="18" name="Text 16"/>
          <p:cNvSpPr txBox="1"/>
          <p:nvPr/>
        </p:nvSpPr>
        <p:spPr>
          <a:xfrm>
            <a:off x="548640" y="3566160"/>
            <a:ext cx="54864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그룹 핵심가치 = 이 사업의 설계 원칙</a:t>
            </a:r>
            <a:endParaRPr lang="en-US" sz="1300" dirty="0"/>
          </a:p>
        </p:txBody>
      </p:sp>
      <p:sp>
        <p:nvSpPr>
          <p:cNvPr id="19" name="Text 17"/>
          <p:cNvSpPr txBox="1"/>
          <p:nvPr/>
        </p:nvSpPr>
        <p:spPr>
          <a:xfrm>
            <a:off x="6217920" y="3566160"/>
            <a:ext cx="5422392" cy="310896"/>
          </a:xfrm>
          <a:prstGeom prst="rect">
            <a:avLst/>
          </a:prstGeom>
          <a:noFill/>
          <a:ln/>
        </p:spPr>
        <p:txBody>
          <a:bodyPr wrap="square" lIns="0" tIns="0" rIns="0" bIns="0" rtlCol="0" anchor="ctr"/>
          <a:lstStyle/>
          <a:p>
            <a:pPr algn="r" indent="0" marL="0">
              <a:buNone/>
            </a:pPr>
            <a:r>
              <a:rPr lang="en-US" sz="1150" dirty="0">
                <a:solidFill>
                  <a:srgbClr val="5D6675"/>
                </a:solidFill>
                <a:latin typeface="맑은 고딕" pitchFamily="34" charset="0"/>
                <a:ea typeface="맑은 고딕" pitchFamily="34" charset="-122"/>
                <a:cs typeface="맑은 고딕" pitchFamily="34" charset="-120"/>
              </a:rPr>
              <a:t>미션 · 사랑과 신뢰를 받는 제품과 서비스</a:t>
            </a:r>
            <a:endParaRPr lang="en-US" sz="1150" dirty="0"/>
          </a:p>
        </p:txBody>
      </p:sp>
      <p:sp>
        <p:nvSpPr>
          <p:cNvPr id="20" name="Shape 18"/>
          <p:cNvSpPr/>
          <p:nvPr/>
        </p:nvSpPr>
        <p:spPr>
          <a:xfrm>
            <a:off x="548640" y="3931920"/>
            <a:ext cx="2670048" cy="1627632"/>
          </a:xfrm>
          <a:prstGeom prst="roundRect">
            <a:avLst>
              <a:gd name="adj" fmla="val 3371"/>
            </a:avLst>
          </a:prstGeom>
          <a:solidFill>
            <a:srgbClr val="FBECEC"/>
          </a:solidFill>
          <a:ln w="12700">
            <a:solidFill>
              <a:srgbClr val="FBECEC"/>
            </a:solidFill>
            <a:prstDash val="solid"/>
          </a:ln>
        </p:spPr>
      </p:sp>
      <p:sp>
        <p:nvSpPr>
          <p:cNvPr id="21" name="Text 19"/>
          <p:cNvSpPr txBox="1"/>
          <p:nvPr/>
        </p:nvSpPr>
        <p:spPr>
          <a:xfrm>
            <a:off x="786384"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Beyond Customer</a:t>
            </a:r>
            <a:endParaRPr lang="en-US" sz="1250" dirty="0"/>
          </a:p>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Expectation</a:t>
            </a:r>
            <a:endParaRPr lang="en-US" sz="1250" dirty="0"/>
          </a:p>
        </p:txBody>
      </p:sp>
      <p:sp>
        <p:nvSpPr>
          <p:cNvPr id="22" name="Text 20"/>
          <p:cNvSpPr txBox="1"/>
          <p:nvPr/>
        </p:nvSpPr>
        <p:spPr>
          <a:xfrm>
            <a:off x="786384"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고객 기대 그 이상</a:t>
            </a:r>
            <a:endParaRPr lang="en-US" sz="1050" dirty="0"/>
          </a:p>
        </p:txBody>
      </p:sp>
      <p:sp>
        <p:nvSpPr>
          <p:cNvPr id="23" name="Text 21"/>
          <p:cNvSpPr txBox="1"/>
          <p:nvPr/>
        </p:nvSpPr>
        <p:spPr>
          <a:xfrm>
            <a:off x="786384"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리포트에서 멈추지 않습니다. 처방하고, POS로 증명까지 합니다.</a:t>
            </a:r>
            <a:endParaRPr lang="en-US" sz="1050" dirty="0"/>
          </a:p>
        </p:txBody>
      </p:sp>
      <p:sp>
        <p:nvSpPr>
          <p:cNvPr id="24" name="Shape 22"/>
          <p:cNvSpPr/>
          <p:nvPr/>
        </p:nvSpPr>
        <p:spPr>
          <a:xfrm>
            <a:off x="3355848" y="3931920"/>
            <a:ext cx="2670048" cy="1627632"/>
          </a:xfrm>
          <a:prstGeom prst="roundRect">
            <a:avLst>
              <a:gd name="adj" fmla="val 3371"/>
            </a:avLst>
          </a:prstGeom>
          <a:solidFill>
            <a:srgbClr val="FBECEC"/>
          </a:solidFill>
          <a:ln w="12700">
            <a:solidFill>
              <a:srgbClr val="FBECEC"/>
            </a:solidFill>
            <a:prstDash val="solid"/>
          </a:ln>
        </p:spPr>
      </p:sp>
      <p:sp>
        <p:nvSpPr>
          <p:cNvPr id="25" name="Text 23"/>
          <p:cNvSpPr txBox="1"/>
          <p:nvPr/>
        </p:nvSpPr>
        <p:spPr>
          <a:xfrm>
            <a:off x="3593592"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Challenge</a:t>
            </a:r>
            <a:endParaRPr lang="en-US" sz="1250" dirty="0"/>
          </a:p>
        </p:txBody>
      </p:sp>
      <p:sp>
        <p:nvSpPr>
          <p:cNvPr id="26" name="Text 24"/>
          <p:cNvSpPr txBox="1"/>
          <p:nvPr/>
        </p:nvSpPr>
        <p:spPr>
          <a:xfrm>
            <a:off x="3593592"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도전</a:t>
            </a:r>
            <a:endParaRPr lang="en-US" sz="1050" dirty="0"/>
          </a:p>
        </p:txBody>
      </p:sp>
      <p:sp>
        <p:nvSpPr>
          <p:cNvPr id="27" name="Text 25"/>
          <p:cNvSpPr txBox="1"/>
          <p:nvPr/>
        </p:nvSpPr>
        <p:spPr>
          <a:xfrm>
            <a:off x="3593592"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'사지 않은 고객'을 데이터화한 유통사는 아직 없습니다.</a:t>
            </a:r>
            <a:endParaRPr lang="en-US" sz="1050" dirty="0"/>
          </a:p>
        </p:txBody>
      </p:sp>
      <p:sp>
        <p:nvSpPr>
          <p:cNvPr id="28" name="Shape 26"/>
          <p:cNvSpPr/>
          <p:nvPr/>
        </p:nvSpPr>
        <p:spPr>
          <a:xfrm>
            <a:off x="6163056" y="3931920"/>
            <a:ext cx="2670048" cy="1627632"/>
          </a:xfrm>
          <a:prstGeom prst="roundRect">
            <a:avLst>
              <a:gd name="adj" fmla="val 3371"/>
            </a:avLst>
          </a:prstGeom>
          <a:solidFill>
            <a:srgbClr val="FBECEC"/>
          </a:solidFill>
          <a:ln w="12700">
            <a:solidFill>
              <a:srgbClr val="FBECEC"/>
            </a:solidFill>
            <a:prstDash val="solid"/>
          </a:ln>
        </p:spPr>
      </p:sp>
      <p:sp>
        <p:nvSpPr>
          <p:cNvPr id="29" name="Text 27"/>
          <p:cNvSpPr txBox="1"/>
          <p:nvPr/>
        </p:nvSpPr>
        <p:spPr>
          <a:xfrm>
            <a:off x="6400800"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Respect</a:t>
            </a:r>
            <a:endParaRPr lang="en-US" sz="1250" dirty="0"/>
          </a:p>
        </p:txBody>
      </p:sp>
      <p:sp>
        <p:nvSpPr>
          <p:cNvPr id="30" name="Text 28"/>
          <p:cNvSpPr txBox="1"/>
          <p:nvPr/>
        </p:nvSpPr>
        <p:spPr>
          <a:xfrm>
            <a:off x="6400800"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존중</a:t>
            </a:r>
            <a:endParaRPr lang="en-US" sz="1050" dirty="0"/>
          </a:p>
        </p:txBody>
      </p:sp>
      <p:sp>
        <p:nvSpPr>
          <p:cNvPr id="31" name="Text 29"/>
          <p:cNvSpPr txBox="1"/>
          <p:nvPr/>
        </p:nvSpPr>
        <p:spPr>
          <a:xfrm>
            <a:off x="6400800"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사람을 추적하지 않고 공간을 측정합니다. 동의 없이 개인을 연결하지 않습니다.</a:t>
            </a:r>
            <a:endParaRPr lang="en-US" sz="1050" dirty="0"/>
          </a:p>
        </p:txBody>
      </p:sp>
      <p:sp>
        <p:nvSpPr>
          <p:cNvPr id="32" name="Shape 30"/>
          <p:cNvSpPr/>
          <p:nvPr/>
        </p:nvSpPr>
        <p:spPr>
          <a:xfrm>
            <a:off x="8970264" y="3931920"/>
            <a:ext cx="2670048" cy="1627632"/>
          </a:xfrm>
          <a:prstGeom prst="roundRect">
            <a:avLst>
              <a:gd name="adj" fmla="val 3371"/>
            </a:avLst>
          </a:prstGeom>
          <a:solidFill>
            <a:srgbClr val="FBECEC"/>
          </a:solidFill>
          <a:ln w="12700">
            <a:solidFill>
              <a:srgbClr val="FBECEC"/>
            </a:solidFill>
            <a:prstDash val="solid"/>
          </a:ln>
        </p:spPr>
      </p:sp>
      <p:sp>
        <p:nvSpPr>
          <p:cNvPr id="33" name="Text 31"/>
          <p:cNvSpPr txBox="1"/>
          <p:nvPr/>
        </p:nvSpPr>
        <p:spPr>
          <a:xfrm>
            <a:off x="9208008"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Originality</a:t>
            </a:r>
            <a:endParaRPr lang="en-US" sz="1250" dirty="0"/>
          </a:p>
        </p:txBody>
      </p:sp>
      <p:sp>
        <p:nvSpPr>
          <p:cNvPr id="34" name="Text 32"/>
          <p:cNvSpPr txBox="1"/>
          <p:nvPr/>
        </p:nvSpPr>
        <p:spPr>
          <a:xfrm>
            <a:off x="9208008"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독창성</a:t>
            </a:r>
            <a:endParaRPr lang="en-US" sz="1050" dirty="0"/>
          </a:p>
        </p:txBody>
      </p:sp>
      <p:sp>
        <p:nvSpPr>
          <p:cNvPr id="35" name="Text 33"/>
          <p:cNvSpPr txBox="1"/>
          <p:nvPr/>
        </p:nvSpPr>
        <p:spPr>
          <a:xfrm>
            <a:off x="9208008"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GA를 옮기지 않고, 오프라인 고유 지표로 다시 정의했습니다.</a:t>
            </a:r>
            <a:endParaRPr lang="en-US" sz="1050" dirty="0"/>
          </a:p>
        </p:txBody>
      </p:sp>
      <p:sp>
        <p:nvSpPr>
          <p:cNvPr id="36" name="Shape 34"/>
          <p:cNvSpPr/>
          <p:nvPr/>
        </p:nvSpPr>
        <p:spPr>
          <a:xfrm>
            <a:off x="548640" y="5715000"/>
            <a:ext cx="11091672" cy="777240"/>
          </a:xfrm>
          <a:prstGeom prst="roundRect">
            <a:avLst>
              <a:gd name="adj" fmla="val 7059"/>
            </a:avLst>
          </a:prstGeom>
          <a:solidFill>
            <a:srgbClr val="101420"/>
          </a:solidFill>
          <a:ln/>
        </p:spPr>
      </p:sp>
      <p:sp>
        <p:nvSpPr>
          <p:cNvPr id="37" name="Text 35"/>
          <p:cNvSpPr txBox="1"/>
          <p:nvPr/>
        </p:nvSpPr>
        <p:spPr>
          <a:xfrm>
            <a:off x="914400" y="5715000"/>
            <a:ext cx="10424160" cy="77724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롯데가 '할 수 있는' 신사업이 아니라,  롯데만 할 수 있고 롯데의 약속에 맞는 신사업입니다.</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고객 세그먼트  |  우리의 타겟 고객은 누구인가?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성과 측정 니즈가 가장 절박한 곳부터, 안에서 밖으로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72768"/>
            <a:ext cx="3529584" cy="2377440"/>
          </a:xfrm>
          <a:prstGeom prst="roundRect">
            <a:avLst>
              <a:gd name="adj" fmla="val 2692"/>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783080"/>
            <a:ext cx="2944368" cy="274320"/>
          </a:xfrm>
          <a:prstGeom prst="rect">
            <a:avLst/>
          </a:prstGeom>
          <a:noFill/>
          <a:ln/>
        </p:spPr>
        <p:txBody>
          <a:bodyPr wrap="square" lIns="0" tIns="0" rIns="0" bIns="0" rtlCol="0" anchor="ctr"/>
          <a:lstStyle/>
          <a:p>
            <a:pPr indent="0" marL="0">
              <a:buNone/>
            </a:pPr>
            <a:r>
              <a:rPr lang="en-US" sz="1100" b="1" spc="100" kern="0" dirty="0">
                <a:solidFill>
                  <a:srgbClr val="F2A33C"/>
                </a:solidFill>
                <a:latin typeface="맑은 고딕" pitchFamily="34" charset="0"/>
                <a:ea typeface="맑은 고딕" pitchFamily="34" charset="-122"/>
                <a:cs typeface="맑은 고딕" pitchFamily="34" charset="-120"/>
              </a:rPr>
              <a:t>1차 · 핵심</a:t>
            </a:r>
            <a:endParaRPr lang="en-US" sz="1100" dirty="0"/>
          </a:p>
        </p:txBody>
      </p:sp>
      <p:sp>
        <p:nvSpPr>
          <p:cNvPr id="9" name="Text 7"/>
          <p:cNvSpPr txBox="1"/>
          <p:nvPr/>
        </p:nvSpPr>
        <p:spPr>
          <a:xfrm>
            <a:off x="841248" y="2103120"/>
            <a:ext cx="2944368" cy="411480"/>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 팝업 브랜드</a:t>
            </a:r>
            <a:endParaRPr lang="en-US" sz="1700" dirty="0"/>
          </a:p>
        </p:txBody>
      </p:sp>
      <p:sp>
        <p:nvSpPr>
          <p:cNvPr id="10" name="Text 8"/>
          <p:cNvSpPr txBox="1"/>
          <p:nvPr/>
        </p:nvSpPr>
        <p:spPr>
          <a:xfrm>
            <a:off x="841248"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A7AFBE"/>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200" dirty="0"/>
          </a:p>
          <a:p>
            <a:pPr indent="0" marL="0">
              <a:lnSpc>
                <a:spcPts val="1900"/>
              </a:lnSpc>
              <a:buNone/>
            </a:pPr>
            <a:r>
              <a:rPr lang="en-US" sz="1200" dirty="0">
                <a:solidFill>
                  <a:srgbClr val="A7AFBE"/>
                </a:solidFill>
                <a:latin typeface="맑은 고딕" pitchFamily="34" charset="0"/>
                <a:ea typeface="맑은 고딕" pitchFamily="34" charset="-122"/>
                <a:cs typeface="맑은 고딕" pitchFamily="34" charset="-120"/>
              </a:rPr>
              <a:t>연 약 2,000건 (가정)</a:t>
            </a:r>
            <a:endParaRPr lang="en-US" sz="1200" dirty="0"/>
          </a:p>
        </p:txBody>
      </p:sp>
      <p:sp>
        <p:nvSpPr>
          <p:cNvPr id="11" name="Shape 9"/>
          <p:cNvSpPr/>
          <p:nvPr/>
        </p:nvSpPr>
        <p:spPr>
          <a:xfrm>
            <a:off x="4270248" y="1572768"/>
            <a:ext cx="3529584" cy="2377440"/>
          </a:xfrm>
          <a:prstGeom prst="roundRect">
            <a:avLst>
              <a:gd name="adj" fmla="val 269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2" name="Text 10"/>
          <p:cNvSpPr txBox="1"/>
          <p:nvPr/>
        </p:nvSpPr>
        <p:spPr>
          <a:xfrm>
            <a:off x="4562856" y="178308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3" name="Text 11"/>
          <p:cNvSpPr txBox="1"/>
          <p:nvPr/>
        </p:nvSpPr>
        <p:spPr>
          <a:xfrm>
            <a:off x="4562856" y="2103120"/>
            <a:ext cx="2944368" cy="411480"/>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상설 입점 브랜드 매장</a:t>
            </a:r>
            <a:endParaRPr lang="en-US" sz="1700" dirty="0"/>
          </a:p>
        </p:txBody>
      </p:sp>
      <p:sp>
        <p:nvSpPr>
          <p:cNvPr id="14" name="Text 12"/>
          <p:cNvSpPr txBox="1"/>
          <p:nvPr/>
        </p:nvSpPr>
        <p:spPr>
          <a:xfrm>
            <a:off x="4562856"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200" dirty="0"/>
          </a:p>
        </p:txBody>
      </p:sp>
      <p:sp>
        <p:nvSpPr>
          <p:cNvPr id="15" name="Shape 13"/>
          <p:cNvSpPr/>
          <p:nvPr/>
        </p:nvSpPr>
        <p:spPr>
          <a:xfrm>
            <a:off x="7991856" y="1572768"/>
            <a:ext cx="3529584" cy="2377440"/>
          </a:xfrm>
          <a:prstGeom prst="roundRect">
            <a:avLst>
              <a:gd name="adj" fmla="val 269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6" name="Text 14"/>
          <p:cNvSpPr txBox="1"/>
          <p:nvPr/>
        </p:nvSpPr>
        <p:spPr>
          <a:xfrm>
            <a:off x="8284464" y="178308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7" name="Text 15"/>
          <p:cNvSpPr txBox="1"/>
          <p:nvPr/>
        </p:nvSpPr>
        <p:spPr>
          <a:xfrm>
            <a:off x="8284464" y="2103120"/>
            <a:ext cx="2944368" cy="411480"/>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롯데 내부 MD · 계열사</a:t>
            </a:r>
            <a:endParaRPr lang="en-US" sz="1700" dirty="0"/>
          </a:p>
        </p:txBody>
      </p:sp>
      <p:sp>
        <p:nvSpPr>
          <p:cNvPr id="18" name="Text 16"/>
          <p:cNvSpPr txBox="1"/>
          <p:nvPr/>
        </p:nvSpPr>
        <p:spPr>
          <a:xfrm>
            <a:off x="8284464"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200" dirty="0"/>
          </a:p>
        </p:txBody>
      </p:sp>
      <p:sp>
        <p:nvSpPr>
          <p:cNvPr id="19" name="Text 17"/>
          <p:cNvSpPr txBox="1"/>
          <p:nvPr/>
        </p:nvSpPr>
        <p:spPr>
          <a:xfrm>
            <a:off x="548640" y="4224528"/>
            <a:ext cx="27432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이들의 Pain</a:t>
            </a:r>
            <a:endParaRPr lang="en-US" sz="1300" dirty="0"/>
          </a:p>
        </p:txBody>
      </p:sp>
      <p:sp>
        <p:nvSpPr>
          <p:cNvPr id="20" name="Shape 18"/>
          <p:cNvSpPr/>
          <p:nvPr/>
        </p:nvSpPr>
        <p:spPr>
          <a:xfrm>
            <a:off x="548640" y="4590288"/>
            <a:ext cx="3529584" cy="1188720"/>
          </a:xfrm>
          <a:prstGeom prst="roundRect">
            <a:avLst>
              <a:gd name="adj" fmla="val 3846"/>
            </a:avLst>
          </a:prstGeom>
          <a:solidFill>
            <a:srgbClr val="FBECEC"/>
          </a:solidFill>
          <a:ln w="12700">
            <a:solidFill>
              <a:srgbClr val="FBECEC"/>
            </a:solidFill>
            <a:prstDash val="solid"/>
          </a:ln>
        </p:spPr>
      </p:sp>
      <p:sp>
        <p:nvSpPr>
          <p:cNvPr id="21" name="Text 19"/>
          <p:cNvSpPr txBox="1"/>
          <p:nvPr/>
        </p:nvSpPr>
        <p:spPr>
          <a:xfrm>
            <a:off x="777240"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1</a:t>
            </a:r>
            <a:endParaRPr lang="en-US" sz="2800" dirty="0"/>
          </a:p>
        </p:txBody>
      </p:sp>
      <p:sp>
        <p:nvSpPr>
          <p:cNvPr id="22" name="Text 20"/>
          <p:cNvSpPr txBox="1"/>
          <p:nvPr/>
        </p:nvSpPr>
        <p:spPr>
          <a:xfrm>
            <a:off x="1280160"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팝업이 끝나면 손에 쥐는 건 매출 총액과 인스타 해시태그 개수뿐</a:t>
            </a:r>
            <a:endParaRPr lang="en-US" sz="1200" dirty="0"/>
          </a:p>
        </p:txBody>
      </p:sp>
      <p:sp>
        <p:nvSpPr>
          <p:cNvPr id="23" name="Shape 21"/>
          <p:cNvSpPr/>
          <p:nvPr/>
        </p:nvSpPr>
        <p:spPr>
          <a:xfrm>
            <a:off x="4270248" y="4590288"/>
            <a:ext cx="3529584" cy="1188720"/>
          </a:xfrm>
          <a:prstGeom prst="roundRect">
            <a:avLst>
              <a:gd name="adj" fmla="val 3846"/>
            </a:avLst>
          </a:prstGeom>
          <a:solidFill>
            <a:srgbClr val="FBECEC"/>
          </a:solidFill>
          <a:ln w="12700">
            <a:solidFill>
              <a:srgbClr val="FBECEC"/>
            </a:solidFill>
            <a:prstDash val="solid"/>
          </a:ln>
        </p:spPr>
      </p:sp>
      <p:sp>
        <p:nvSpPr>
          <p:cNvPr id="24" name="Text 22"/>
          <p:cNvSpPr txBox="1"/>
          <p:nvPr/>
        </p:nvSpPr>
        <p:spPr>
          <a:xfrm>
            <a:off x="4498848"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2</a:t>
            </a:r>
            <a:endParaRPr lang="en-US" sz="2800" dirty="0"/>
          </a:p>
        </p:txBody>
      </p:sp>
      <p:sp>
        <p:nvSpPr>
          <p:cNvPr id="25" name="Text 23"/>
          <p:cNvSpPr txBox="1"/>
          <p:nvPr/>
        </p:nvSpPr>
        <p:spPr>
          <a:xfrm>
            <a:off x="5001768"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온 사람 중 신규가 몇 %인지, 안 산 사람이 누구인지 모른다</a:t>
            </a:r>
            <a:endParaRPr lang="en-US" sz="1200" dirty="0"/>
          </a:p>
        </p:txBody>
      </p:sp>
      <p:sp>
        <p:nvSpPr>
          <p:cNvPr id="26" name="Shape 24"/>
          <p:cNvSpPr/>
          <p:nvPr/>
        </p:nvSpPr>
        <p:spPr>
          <a:xfrm>
            <a:off x="7991856" y="4590288"/>
            <a:ext cx="3529584" cy="1188720"/>
          </a:xfrm>
          <a:prstGeom prst="roundRect">
            <a:avLst>
              <a:gd name="adj" fmla="val 3846"/>
            </a:avLst>
          </a:prstGeom>
          <a:solidFill>
            <a:srgbClr val="FBECEC"/>
          </a:solidFill>
          <a:ln w="12700">
            <a:solidFill>
              <a:srgbClr val="FBECEC"/>
            </a:solidFill>
            <a:prstDash val="solid"/>
          </a:ln>
        </p:spPr>
      </p:sp>
      <p:sp>
        <p:nvSpPr>
          <p:cNvPr id="27" name="Text 25"/>
          <p:cNvSpPr txBox="1"/>
          <p:nvPr/>
        </p:nvSpPr>
        <p:spPr>
          <a:xfrm>
            <a:off x="8220456"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3</a:t>
            </a:r>
            <a:endParaRPr lang="en-US" sz="2800" dirty="0"/>
          </a:p>
        </p:txBody>
      </p:sp>
      <p:sp>
        <p:nvSpPr>
          <p:cNvPr id="28" name="Text 26"/>
          <p:cNvSpPr txBox="1"/>
          <p:nvPr/>
        </p:nvSpPr>
        <p:spPr>
          <a:xfrm>
            <a:off x="8723376"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그래서 다음 팝업도 감으로 연다</a:t>
            </a:r>
            <a:endParaRPr lang="en-US" sz="1200" dirty="0"/>
          </a:p>
        </p:txBody>
      </p:sp>
      <p:sp>
        <p:nvSpPr>
          <p:cNvPr id="29" name="Text 27"/>
          <p:cNvSpPr txBox="1"/>
          <p:nvPr/>
        </p:nvSpPr>
        <p:spPr>
          <a:xfrm>
            <a:off x="548640" y="5897880"/>
            <a:ext cx="11091672" cy="365760"/>
          </a:xfrm>
          <a:prstGeom prst="rect">
            <a:avLst/>
          </a:prstGeom>
          <a:noFill/>
          <a:ln/>
        </p:spPr>
        <p:txBody>
          <a:bodyPr wrap="square" lIns="0" tIns="0" rIns="0" bIns="0" rtlCol="0" anchor="ctr"/>
          <a:lstStyle/>
          <a:p>
            <a:pPr algn="ctr" indent="0" marL="0">
              <a:buNone/>
            </a:pPr>
            <a:r>
              <a:rPr lang="en-US" sz="1250" b="1" dirty="0">
                <a:solidFill>
                  <a:srgbClr val="E11D2E"/>
                </a:solidFill>
                <a:latin typeface="맑은 고딕" pitchFamily="34" charset="0"/>
                <a:ea typeface="맑은 고딕" pitchFamily="34" charset="-122"/>
                <a:cs typeface="맑은 고딕" pitchFamily="34" charset="-120"/>
              </a:rPr>
              <a:t>Beyond Customer Expectation  —  </a:t>
            </a:r>
            <a:pPr algn="ctr" indent="0" marL="0">
              <a:buNone/>
            </a:pPr>
            <a:r>
              <a:rPr lang="en-US" sz="1250" b="1" dirty="0">
                <a:solidFill>
                  <a:srgbClr val="101420"/>
                </a:solidFill>
                <a:latin typeface="맑은 고딕" pitchFamily="34" charset="0"/>
                <a:ea typeface="맑은 고딕" pitchFamily="34" charset="-122"/>
                <a:cs typeface="맑은 고딕"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20"/>
        </a:solidFill>
      </p:bgPr>
    </p:bg>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가치 제안  |  브랜드가 모르는 자기 고객</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A7AFBE"/>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F2A33C"/>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66928" y="1645920"/>
            <a:ext cx="11064240" cy="749808"/>
          </a:xfrm>
          <a:prstGeom prst="roundRect">
            <a:avLst>
              <a:gd name="adj" fmla="val 6098"/>
            </a:avLst>
          </a:prstGeom>
          <a:solidFill>
            <a:srgbClr val="1B2130"/>
          </a:solidFill>
          <a:ln/>
        </p:spPr>
      </p:sp>
      <p:sp>
        <p:nvSpPr>
          <p:cNvPr id="8" name="Shape 6"/>
          <p:cNvSpPr/>
          <p:nvPr/>
        </p:nvSpPr>
        <p:spPr>
          <a:xfrm>
            <a:off x="841248" y="1819656"/>
            <a:ext cx="402336" cy="402336"/>
          </a:xfrm>
          <a:prstGeom prst="ellipse">
            <a:avLst/>
          </a:prstGeom>
          <a:solidFill>
            <a:srgbClr val="E11D2E"/>
          </a:solidFill>
          <a:ln/>
        </p:spPr>
      </p:sp>
      <p:sp>
        <p:nvSpPr>
          <p:cNvPr id="9" name="Text 7"/>
          <p:cNvSpPr txBox="1"/>
          <p:nvPr/>
        </p:nvSpPr>
        <p:spPr>
          <a:xfrm>
            <a:off x="841248" y="18196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0" name="Text 8"/>
          <p:cNvSpPr txBox="1"/>
          <p:nvPr/>
        </p:nvSpPr>
        <p:spPr>
          <a:xfrm>
            <a:off x="1463040" y="1719072"/>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1" name="Text 9"/>
          <p:cNvSpPr txBox="1"/>
          <p:nvPr/>
        </p:nvSpPr>
        <p:spPr>
          <a:xfrm>
            <a:off x="6629400" y="1719072"/>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200" dirty="0"/>
          </a:p>
        </p:txBody>
      </p:sp>
      <p:sp>
        <p:nvSpPr>
          <p:cNvPr id="12" name="Shape 10"/>
          <p:cNvSpPr/>
          <p:nvPr/>
        </p:nvSpPr>
        <p:spPr>
          <a:xfrm>
            <a:off x="566928" y="2496312"/>
            <a:ext cx="11064240" cy="749808"/>
          </a:xfrm>
          <a:prstGeom prst="roundRect">
            <a:avLst>
              <a:gd name="adj" fmla="val 6098"/>
            </a:avLst>
          </a:prstGeom>
          <a:solidFill>
            <a:srgbClr val="1B2130"/>
          </a:solidFill>
          <a:ln/>
        </p:spPr>
      </p:sp>
      <p:sp>
        <p:nvSpPr>
          <p:cNvPr id="13" name="Shape 11"/>
          <p:cNvSpPr/>
          <p:nvPr/>
        </p:nvSpPr>
        <p:spPr>
          <a:xfrm>
            <a:off x="841248" y="2670048"/>
            <a:ext cx="402336" cy="402336"/>
          </a:xfrm>
          <a:prstGeom prst="ellipse">
            <a:avLst/>
          </a:prstGeom>
          <a:solidFill>
            <a:srgbClr val="E11D2E"/>
          </a:solidFill>
          <a:ln/>
        </p:spPr>
      </p:sp>
      <p:sp>
        <p:nvSpPr>
          <p:cNvPr id="14" name="Text 12"/>
          <p:cNvSpPr txBox="1"/>
          <p:nvPr/>
        </p:nvSpPr>
        <p:spPr>
          <a:xfrm>
            <a:off x="841248" y="26700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5" name="Text 13"/>
          <p:cNvSpPr txBox="1"/>
          <p:nvPr/>
        </p:nvSpPr>
        <p:spPr>
          <a:xfrm>
            <a:off x="1463040" y="2569464"/>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6" name="Text 14"/>
          <p:cNvSpPr txBox="1"/>
          <p:nvPr/>
        </p:nvSpPr>
        <p:spPr>
          <a:xfrm>
            <a:off x="6629400" y="2569464"/>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200" dirty="0"/>
          </a:p>
        </p:txBody>
      </p:sp>
      <p:sp>
        <p:nvSpPr>
          <p:cNvPr id="17" name="Shape 15"/>
          <p:cNvSpPr/>
          <p:nvPr/>
        </p:nvSpPr>
        <p:spPr>
          <a:xfrm>
            <a:off x="566928" y="3346704"/>
            <a:ext cx="11064240" cy="749808"/>
          </a:xfrm>
          <a:prstGeom prst="roundRect">
            <a:avLst>
              <a:gd name="adj" fmla="val 6098"/>
            </a:avLst>
          </a:prstGeom>
          <a:solidFill>
            <a:srgbClr val="1B2130"/>
          </a:solidFill>
          <a:ln/>
        </p:spPr>
      </p:sp>
      <p:sp>
        <p:nvSpPr>
          <p:cNvPr id="18" name="Shape 16"/>
          <p:cNvSpPr/>
          <p:nvPr/>
        </p:nvSpPr>
        <p:spPr>
          <a:xfrm>
            <a:off x="841248" y="3520440"/>
            <a:ext cx="402336" cy="402336"/>
          </a:xfrm>
          <a:prstGeom prst="ellipse">
            <a:avLst/>
          </a:prstGeom>
          <a:solidFill>
            <a:srgbClr val="E11D2E"/>
          </a:solidFill>
          <a:ln/>
        </p:spPr>
      </p:sp>
      <p:sp>
        <p:nvSpPr>
          <p:cNvPr id="19" name="Text 17"/>
          <p:cNvSpPr txBox="1"/>
          <p:nvPr/>
        </p:nvSpPr>
        <p:spPr>
          <a:xfrm>
            <a:off x="841248" y="352044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0" name="Text 18"/>
          <p:cNvSpPr txBox="1"/>
          <p:nvPr/>
        </p:nvSpPr>
        <p:spPr>
          <a:xfrm>
            <a:off x="1463040" y="3419856"/>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1" name="Text 19"/>
          <p:cNvSpPr txBox="1"/>
          <p:nvPr/>
        </p:nvSpPr>
        <p:spPr>
          <a:xfrm>
            <a:off x="6629400" y="3419856"/>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200" dirty="0"/>
          </a:p>
        </p:txBody>
      </p:sp>
      <p:sp>
        <p:nvSpPr>
          <p:cNvPr id="22" name="Shape 20"/>
          <p:cNvSpPr/>
          <p:nvPr/>
        </p:nvSpPr>
        <p:spPr>
          <a:xfrm>
            <a:off x="566928" y="4197096"/>
            <a:ext cx="11064240" cy="749808"/>
          </a:xfrm>
          <a:prstGeom prst="roundRect">
            <a:avLst>
              <a:gd name="adj" fmla="val 6098"/>
            </a:avLst>
          </a:prstGeom>
          <a:solidFill>
            <a:srgbClr val="1B2130"/>
          </a:solidFill>
          <a:ln/>
        </p:spPr>
      </p:sp>
      <p:sp>
        <p:nvSpPr>
          <p:cNvPr id="23" name="Shape 21"/>
          <p:cNvSpPr/>
          <p:nvPr/>
        </p:nvSpPr>
        <p:spPr>
          <a:xfrm>
            <a:off x="841248" y="4370832"/>
            <a:ext cx="402336" cy="402336"/>
          </a:xfrm>
          <a:prstGeom prst="ellipse">
            <a:avLst/>
          </a:prstGeom>
          <a:solidFill>
            <a:srgbClr val="E11D2E"/>
          </a:solidFill>
          <a:ln/>
        </p:spPr>
      </p:sp>
      <p:sp>
        <p:nvSpPr>
          <p:cNvPr id="24" name="Text 22"/>
          <p:cNvSpPr txBox="1"/>
          <p:nvPr/>
        </p:nvSpPr>
        <p:spPr>
          <a:xfrm>
            <a:off x="841248" y="437083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5" name="Text 23"/>
          <p:cNvSpPr txBox="1"/>
          <p:nvPr/>
        </p:nvSpPr>
        <p:spPr>
          <a:xfrm>
            <a:off x="1463040" y="4270248"/>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6" name="Text 24"/>
          <p:cNvSpPr txBox="1"/>
          <p:nvPr/>
        </p:nvSpPr>
        <p:spPr>
          <a:xfrm>
            <a:off x="6629400" y="4270248"/>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200" dirty="0"/>
          </a:p>
        </p:txBody>
      </p:sp>
      <p:sp>
        <p:nvSpPr>
          <p:cNvPr id="27" name="Shape 25"/>
          <p:cNvSpPr/>
          <p:nvPr/>
        </p:nvSpPr>
        <p:spPr>
          <a:xfrm>
            <a:off x="566928" y="5047488"/>
            <a:ext cx="11064240" cy="749808"/>
          </a:xfrm>
          <a:prstGeom prst="roundRect">
            <a:avLst>
              <a:gd name="adj" fmla="val 6098"/>
            </a:avLst>
          </a:prstGeom>
          <a:solidFill>
            <a:srgbClr val="1B2130"/>
          </a:solidFill>
          <a:ln/>
        </p:spPr>
      </p:sp>
      <p:sp>
        <p:nvSpPr>
          <p:cNvPr id="28" name="Shape 26"/>
          <p:cNvSpPr/>
          <p:nvPr/>
        </p:nvSpPr>
        <p:spPr>
          <a:xfrm>
            <a:off x="841248" y="5221224"/>
            <a:ext cx="402336" cy="402336"/>
          </a:xfrm>
          <a:prstGeom prst="ellipse">
            <a:avLst/>
          </a:prstGeom>
          <a:solidFill>
            <a:srgbClr val="E11D2E"/>
          </a:solidFill>
          <a:ln/>
        </p:spPr>
      </p:sp>
      <p:sp>
        <p:nvSpPr>
          <p:cNvPr id="29" name="Text 27"/>
          <p:cNvSpPr txBox="1"/>
          <p:nvPr/>
        </p:nvSpPr>
        <p:spPr>
          <a:xfrm>
            <a:off x="841248" y="5221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0" name="Text 28"/>
          <p:cNvSpPr txBox="1"/>
          <p:nvPr/>
        </p:nvSpPr>
        <p:spPr>
          <a:xfrm>
            <a:off x="1463040" y="5120640"/>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1" name="Text 29"/>
          <p:cNvSpPr txBox="1"/>
          <p:nvPr/>
        </p:nvSpPr>
        <p:spPr>
          <a:xfrm>
            <a:off x="6629400" y="5120640"/>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롯데 전점 트래픽이 있어야만 나오는 처방입니다</a:t>
            </a:r>
            <a:endParaRPr lang="en-US" sz="1200" dirty="0"/>
          </a:p>
        </p:txBody>
      </p:sp>
      <p:sp>
        <p:nvSpPr>
          <p:cNvPr id="32" name="Text 30"/>
          <p:cNvSpPr txBox="1"/>
          <p:nvPr/>
        </p:nvSpPr>
        <p:spPr>
          <a:xfrm>
            <a:off x="566928" y="5989320"/>
            <a:ext cx="11064240" cy="384048"/>
          </a:xfrm>
          <a:prstGeom prst="rect">
            <a:avLst/>
          </a:prstGeom>
          <a:noFill/>
          <a:ln/>
        </p:spPr>
        <p:txBody>
          <a:bodyPr wrap="square" lIns="0" tIns="0" rIns="0" bIns="0" rtlCol="0" anchor="ctr"/>
          <a:lstStyle/>
          <a:p>
            <a:pPr algn="ctr" indent="0" marL="0">
              <a:buNone/>
            </a:pPr>
            <a:r>
              <a:rPr lang="en-US" sz="1400" b="1" dirty="0">
                <a:solidFill>
                  <a:srgbClr val="F2A33C"/>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가치 제안  |  처방의 효과를 POS로 증명합니다</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7" name="Chart 0" descr=""/>
          <p:cNvGraphicFramePr/>
          <p:nvPr/>
        </p:nvGraphicFramePr>
        <p:xfrm>
          <a:off x="548640" y="155448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858000" y="1554480"/>
            <a:ext cx="4782312" cy="1691640"/>
          </a:xfrm>
          <a:prstGeom prst="roundRect">
            <a:avLst>
              <a:gd name="adj" fmla="val 3243"/>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9" name="Text 6"/>
          <p:cNvSpPr txBox="1"/>
          <p:nvPr/>
        </p:nvSpPr>
        <p:spPr>
          <a:xfrm>
            <a:off x="7178040" y="1737360"/>
            <a:ext cx="4206240" cy="292608"/>
          </a:xfrm>
          <a:prstGeom prst="rect">
            <a:avLst/>
          </a:prstGeom>
          <a:noFill/>
          <a:ln/>
        </p:spPr>
        <p:txBody>
          <a:bodyPr wrap="square" lIns="0" tIns="0" rIns="0" bIns="0" rtlCol="0" anchor="ctr"/>
          <a:lstStyle/>
          <a:p>
            <a:pPr indent="0" marL="0">
              <a:buNone/>
            </a:pPr>
            <a:r>
              <a:rPr lang="en-US" sz="1300" b="1" dirty="0">
                <a:solidFill>
                  <a:srgbClr val="5D6675"/>
                </a:solidFill>
                <a:latin typeface="맑은 고딕" pitchFamily="34" charset="0"/>
                <a:ea typeface="맑은 고딕" pitchFamily="34" charset="-122"/>
                <a:cs typeface="맑은 고딕" pitchFamily="34" charset="-120"/>
              </a:rPr>
              <a:t>개선 → 적용 → 검증</a:t>
            </a:r>
            <a:endParaRPr lang="en-US" sz="1300" dirty="0"/>
          </a:p>
        </p:txBody>
      </p:sp>
      <p:sp>
        <p:nvSpPr>
          <p:cNvPr id="10" name="Text 7"/>
          <p:cNvSpPr txBox="1"/>
          <p:nvPr/>
        </p:nvSpPr>
        <p:spPr>
          <a:xfrm>
            <a:off x="7178040" y="2103120"/>
            <a:ext cx="4206240" cy="10058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진열·동선·상품 배치 개선안 제시</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2~4주 적용 후 POS 결제 데이터로 전후 실측 비교</a:t>
            </a:r>
            <a:endParaRPr lang="en-US" sz="1200" dirty="0"/>
          </a:p>
        </p:txBody>
      </p:sp>
      <p:sp>
        <p:nvSpPr>
          <p:cNvPr id="11" name="Shape 8"/>
          <p:cNvSpPr/>
          <p:nvPr/>
        </p:nvSpPr>
        <p:spPr>
          <a:xfrm>
            <a:off x="6858000" y="3383280"/>
            <a:ext cx="4782312" cy="1828800"/>
          </a:xfrm>
          <a:prstGeom prst="roundRect">
            <a:avLst>
              <a:gd name="adj" fmla="val 3000"/>
            </a:avLst>
          </a:prstGeom>
          <a:solidFill>
            <a:srgbClr val="101420"/>
          </a:solidFill>
          <a:ln/>
        </p:spPr>
      </p:sp>
      <p:sp>
        <p:nvSpPr>
          <p:cNvPr id="12" name="Text 9"/>
          <p:cNvSpPr txBox="1"/>
          <p:nvPr/>
        </p:nvSpPr>
        <p:spPr>
          <a:xfrm>
            <a:off x="7178040" y="3584448"/>
            <a:ext cx="4206240" cy="731520"/>
          </a:xfrm>
          <a:prstGeom prst="rect">
            <a:avLst/>
          </a:prstGeom>
          <a:noFill/>
          <a:ln/>
        </p:spPr>
        <p:txBody>
          <a:bodyPr wrap="square" lIns="0" tIns="0" rIns="0" bIns="0" rtlCol="0" anchor="ctr"/>
          <a:lstStyle/>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효과를 증명 못 하는 컨설팅은</a:t>
            </a:r>
            <a:endParaRPr lang="en-US" sz="1400" dirty="0"/>
          </a:p>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한 번 팔리고 끝납니다.</a:t>
            </a:r>
            <a:endParaRPr lang="en-US" sz="1400" dirty="0"/>
          </a:p>
        </p:txBody>
      </p:sp>
      <p:sp>
        <p:nvSpPr>
          <p:cNvPr id="13" name="Text 10"/>
          <p:cNvSpPr txBox="1"/>
          <p:nvPr/>
        </p:nvSpPr>
        <p:spPr>
          <a:xfrm>
            <a:off x="7178040" y="4434840"/>
            <a:ext cx="4206240" cy="54864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증명하는 컨설팅은 갱신됩니다.</a:t>
            </a:r>
            <a:endParaRPr lang="en-US" sz="1600" dirty="0"/>
          </a:p>
        </p:txBody>
      </p:sp>
      <p:sp>
        <p:nvSpPr>
          <p:cNvPr id="14" name="Shape 11"/>
          <p:cNvSpPr/>
          <p:nvPr/>
        </p:nvSpPr>
        <p:spPr>
          <a:xfrm>
            <a:off x="548640" y="5440680"/>
            <a:ext cx="11091672" cy="868680"/>
          </a:xfrm>
          <a:prstGeom prst="roundRect">
            <a:avLst>
              <a:gd name="adj" fmla="val 5263"/>
            </a:avLst>
          </a:prstGeom>
          <a:solidFill>
            <a:srgbClr val="F6F7F9"/>
          </a:solidFill>
          <a:ln w="12700">
            <a:solidFill>
              <a:srgbClr val="E3E6EB"/>
            </a:solidFill>
            <a:prstDash val="solid"/>
          </a:ln>
        </p:spPr>
      </p:sp>
      <p:sp>
        <p:nvSpPr>
          <p:cNvPr id="15" name="Text 12"/>
          <p:cNvSpPr txBox="1"/>
          <p:nvPr/>
        </p:nvSpPr>
        <p:spPr>
          <a:xfrm>
            <a:off x="868680" y="5440680"/>
            <a:ext cx="2377440" cy="868680"/>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온라인 GA의 오프라인 구현</a:t>
            </a:r>
            <a:endParaRPr lang="en-US" sz="1200" dirty="0"/>
          </a:p>
        </p:txBody>
      </p:sp>
      <p:sp>
        <p:nvSpPr>
          <p:cNvPr id="16" name="Text 13"/>
          <p:cNvSpPr txBox="1"/>
          <p:nvPr/>
        </p:nvSpPr>
        <p:spPr>
          <a:xfrm>
            <a:off x="3246120"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노출  →  </a:t>
            </a:r>
            <a:pPr indent="0" marL="0">
              <a:buNone/>
            </a:pPr>
            <a:r>
              <a:rPr lang="en-US" sz="1200" b="1" dirty="0">
                <a:solidFill>
                  <a:srgbClr val="101420"/>
                </a:solidFill>
                <a:latin typeface="맑은 고딕" pitchFamily="34" charset="0"/>
                <a:ea typeface="맑은 고딕" pitchFamily="34" charset="-122"/>
                <a:cs typeface="맑은 고딕" pitchFamily="34" charset="-120"/>
              </a:rPr>
              <a:t>통행 수</a:t>
            </a:r>
            <a:endParaRPr lang="en-US" sz="1200" dirty="0"/>
          </a:p>
        </p:txBody>
      </p:sp>
      <p:sp>
        <p:nvSpPr>
          <p:cNvPr id="17" name="Text 14"/>
          <p:cNvSpPr txBox="1"/>
          <p:nvPr/>
        </p:nvSpPr>
        <p:spPr>
          <a:xfrm>
            <a:off x="4928616"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클릭률  →  </a:t>
            </a:r>
            <a:pPr indent="0" marL="0">
              <a:buNone/>
            </a:pPr>
            <a:r>
              <a:rPr lang="en-US" sz="1200" b="1" dirty="0">
                <a:solidFill>
                  <a:srgbClr val="E11D2E"/>
                </a:solidFill>
                <a:latin typeface="맑은 고딕" pitchFamily="34" charset="0"/>
                <a:ea typeface="맑은 고딕" pitchFamily="34" charset="-122"/>
                <a:cs typeface="맑은 고딕" pitchFamily="34" charset="-120"/>
              </a:rPr>
              <a:t>유입률 ★</a:t>
            </a:r>
            <a:endParaRPr lang="en-US" sz="1200" dirty="0"/>
          </a:p>
        </p:txBody>
      </p:sp>
      <p:sp>
        <p:nvSpPr>
          <p:cNvPr id="18" name="Text 15"/>
          <p:cNvSpPr txBox="1"/>
          <p:nvPr/>
        </p:nvSpPr>
        <p:spPr>
          <a:xfrm>
            <a:off x="6611112"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장바구니  →  </a:t>
            </a:r>
            <a:pPr indent="0" marL="0">
              <a:buNone/>
            </a:pPr>
            <a:r>
              <a:rPr lang="en-US" sz="1200" b="1" dirty="0">
                <a:solidFill>
                  <a:srgbClr val="101420"/>
                </a:solidFill>
                <a:latin typeface="맑은 고딕" pitchFamily="34" charset="0"/>
                <a:ea typeface="맑은 고딕" pitchFamily="34" charset="-122"/>
                <a:cs typeface="맑은 고딕" pitchFamily="34" charset="-120"/>
              </a:rPr>
              <a:t>집품률</a:t>
            </a:r>
            <a:endParaRPr lang="en-US" sz="1200" dirty="0"/>
          </a:p>
        </p:txBody>
      </p:sp>
      <p:sp>
        <p:nvSpPr>
          <p:cNvPr id="19" name="Text 16"/>
          <p:cNvSpPr txBox="1"/>
          <p:nvPr/>
        </p:nvSpPr>
        <p:spPr>
          <a:xfrm>
            <a:off x="8293608"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구매  →  </a:t>
            </a:r>
            <a:pPr indent="0" marL="0">
              <a:buNone/>
            </a:pPr>
            <a:r>
              <a:rPr lang="en-US" sz="1200" b="1" dirty="0">
                <a:solidFill>
                  <a:srgbClr val="101420"/>
                </a:solidFill>
                <a:latin typeface="맑은 고딕" pitchFamily="34" charset="0"/>
                <a:ea typeface="맑은 고딕" pitchFamily="34" charset="-122"/>
                <a:cs typeface="맑은 고딕" pitchFamily="34" charset="-120"/>
              </a:rPr>
              <a:t>전환율</a:t>
            </a:r>
            <a:endParaRPr lang="en-US" sz="1200" dirty="0"/>
          </a:p>
        </p:txBody>
      </p:sp>
      <p:sp>
        <p:nvSpPr>
          <p:cNvPr id="20" name="Text 17"/>
          <p:cNvSpPr txBox="1"/>
          <p:nvPr/>
        </p:nvSpPr>
        <p:spPr>
          <a:xfrm>
            <a:off x="9976104"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이탈률  →  </a:t>
            </a:r>
            <a:pPr indent="0" marL="0">
              <a:buNone/>
            </a:pPr>
            <a:r>
              <a:rPr lang="en-US" sz="1200" b="1" dirty="0">
                <a:solidFill>
                  <a:srgbClr val="101420"/>
                </a:solidFill>
                <a:latin typeface="맑은 고딕" pitchFamily="34" charset="0"/>
                <a:ea typeface="맑은 고딕" pitchFamily="34" charset="-122"/>
                <a:cs typeface="맑은 고딕" pitchFamily="34" charset="-120"/>
              </a:rPr>
              <a:t>3초 이탈</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채널  |  고객에게 어떻게 접근하는가?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외부 영업이 아니라 계약 시점에 팔립니다 — 안에서 밖으로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91056"/>
            <a:ext cx="11091672" cy="969264"/>
          </a:xfrm>
          <a:prstGeom prst="roundRect">
            <a:avLst>
              <a:gd name="adj" fmla="val 4717"/>
            </a:avLst>
          </a:prstGeom>
          <a:solidFill>
            <a:srgbClr val="101420"/>
          </a:solidFill>
          <a:ln w="12700">
            <a:solidFill>
              <a:srgbClr val="101420"/>
            </a:solidFill>
            <a:prstDash val="solid"/>
          </a:ln>
        </p:spPr>
      </p:sp>
      <p:sp>
        <p:nvSpPr>
          <p:cNvPr id="8" name="Text 6"/>
          <p:cNvSpPr txBox="1"/>
          <p:nvPr/>
        </p:nvSpPr>
        <p:spPr>
          <a:xfrm>
            <a:off x="868680" y="1591056"/>
            <a:ext cx="2651760" cy="969264"/>
          </a:xfrm>
          <a:prstGeom prst="rect">
            <a:avLst/>
          </a:prstGeom>
          <a:noFill/>
          <a:ln/>
        </p:spPr>
        <p:txBody>
          <a:bodyPr wrap="square" lIns="0" tIns="0" rIns="0" bIns="0" rtlCol="0" anchor="ctr"/>
          <a:lstStyle/>
          <a:p>
            <a:pPr indent="0" marL="0">
              <a:buNone/>
            </a:pPr>
            <a:r>
              <a:rPr lang="en-US" sz="1400" b="1" dirty="0">
                <a:solidFill>
                  <a:srgbClr val="F2A33C"/>
                </a:solidFill>
                <a:latin typeface="맑은 고딕" pitchFamily="34" charset="0"/>
                <a:ea typeface="맑은 고딕" pitchFamily="34" charset="-122"/>
                <a:cs typeface="맑은 고딕" pitchFamily="34" charset="-120"/>
              </a:rPr>
              <a:t>영업 채널 · 내부</a:t>
            </a:r>
            <a:endParaRPr lang="en-US" sz="1400" dirty="0"/>
          </a:p>
        </p:txBody>
      </p:sp>
      <p:sp>
        <p:nvSpPr>
          <p:cNvPr id="9" name="Text 7"/>
          <p:cNvSpPr txBox="1"/>
          <p:nvPr/>
        </p:nvSpPr>
        <p:spPr>
          <a:xfrm>
            <a:off x="3611880" y="1700784"/>
            <a:ext cx="7772400" cy="457200"/>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백화점 MD·영업관리팀이 팝업 계약 체결 시 번들 제안</a:t>
            </a:r>
            <a:endParaRPr lang="en-US" sz="1400" dirty="0"/>
          </a:p>
        </p:txBody>
      </p:sp>
      <p:sp>
        <p:nvSpPr>
          <p:cNvPr id="10" name="Text 8"/>
          <p:cNvSpPr txBox="1"/>
          <p:nvPr/>
        </p:nvSpPr>
        <p:spPr>
          <a:xfrm>
            <a:off x="3611880" y="2139696"/>
            <a:ext cx="7772400" cy="329184"/>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외부 영업비용 ≈ 0.  계약 시점 = 판매 시점</a:t>
            </a:r>
            <a:endParaRPr lang="en-US" sz="1100" dirty="0"/>
          </a:p>
        </p:txBody>
      </p:sp>
      <p:sp>
        <p:nvSpPr>
          <p:cNvPr id="11" name="Shape 9"/>
          <p:cNvSpPr/>
          <p:nvPr/>
        </p:nvSpPr>
        <p:spPr>
          <a:xfrm>
            <a:off x="548640" y="2688336"/>
            <a:ext cx="11091672" cy="969264"/>
          </a:xfrm>
          <a:prstGeom prst="roundRect">
            <a:avLst>
              <a:gd name="adj" fmla="val 4717"/>
            </a:avLst>
          </a:prstGeom>
          <a:solidFill>
            <a:srgbClr val="FFFFFF"/>
          </a:solidFill>
          <a:ln w="12700">
            <a:solidFill>
              <a:srgbClr val="E3E6EB"/>
            </a:solidFill>
            <a:prstDash val="solid"/>
          </a:ln>
        </p:spPr>
      </p:sp>
      <p:sp>
        <p:nvSpPr>
          <p:cNvPr id="12" name="Text 10"/>
          <p:cNvSpPr txBox="1"/>
          <p:nvPr/>
        </p:nvSpPr>
        <p:spPr>
          <a:xfrm>
            <a:off x="868680" y="268833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제품 채널</a:t>
            </a:r>
            <a:endParaRPr lang="en-US" sz="1400" dirty="0"/>
          </a:p>
        </p:txBody>
      </p:sp>
      <p:sp>
        <p:nvSpPr>
          <p:cNvPr id="13" name="Text 11"/>
          <p:cNvSpPr txBox="1"/>
          <p:nvPr/>
        </p:nvSpPr>
        <p:spPr>
          <a:xfrm>
            <a:off x="3611880" y="279806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L.GA 브랜드 포털(대시보드) + 팝업 종료 7일 내 컨설턴트 리포트 미팅</a:t>
            </a:r>
            <a:endParaRPr lang="en-US" sz="1400" dirty="0"/>
          </a:p>
        </p:txBody>
      </p:sp>
      <p:sp>
        <p:nvSpPr>
          <p:cNvPr id="14" name="Text 12"/>
          <p:cNvSpPr txBox="1"/>
          <p:nvPr/>
        </p:nvSpPr>
        <p:spPr>
          <a:xfrm>
            <a:off x="3611880" y="323697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리포트를 던지지 않고, 설명합니다</a:t>
            </a:r>
            <a:endParaRPr lang="en-US" sz="1100" dirty="0"/>
          </a:p>
        </p:txBody>
      </p:sp>
      <p:sp>
        <p:nvSpPr>
          <p:cNvPr id="15" name="Shape 13"/>
          <p:cNvSpPr/>
          <p:nvPr/>
        </p:nvSpPr>
        <p:spPr>
          <a:xfrm>
            <a:off x="548640" y="3785616"/>
            <a:ext cx="11091672" cy="969264"/>
          </a:xfrm>
          <a:prstGeom prst="roundRect">
            <a:avLst>
              <a:gd name="adj" fmla="val 4717"/>
            </a:avLst>
          </a:prstGeom>
          <a:solidFill>
            <a:srgbClr val="F6F7F9"/>
          </a:solidFill>
          <a:ln w="12700">
            <a:solidFill>
              <a:srgbClr val="E3E6EB"/>
            </a:solidFill>
            <a:prstDash val="solid"/>
          </a:ln>
        </p:spPr>
      </p:sp>
      <p:sp>
        <p:nvSpPr>
          <p:cNvPr id="16" name="Text 14"/>
          <p:cNvSpPr txBox="1"/>
          <p:nvPr/>
        </p:nvSpPr>
        <p:spPr>
          <a:xfrm>
            <a:off x="868680" y="378561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확산 채널</a:t>
            </a:r>
            <a:endParaRPr lang="en-US" sz="1400" dirty="0"/>
          </a:p>
        </p:txBody>
      </p:sp>
      <p:sp>
        <p:nvSpPr>
          <p:cNvPr id="17" name="Text 15"/>
          <p:cNvSpPr txBox="1"/>
          <p:nvPr/>
        </p:nvSpPr>
        <p:spPr>
          <a:xfrm>
            <a:off x="3611880" y="389534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롯데 계열사(마트·하이마트·시네마·면세) → 해외 롯데몰 → 외부 유통사</a:t>
            </a:r>
            <a:endParaRPr lang="en-US" sz="1400" dirty="0"/>
          </a:p>
        </p:txBody>
      </p:sp>
      <p:sp>
        <p:nvSpPr>
          <p:cNvPr id="18" name="Text 16"/>
          <p:cNvSpPr txBox="1"/>
          <p:nvPr/>
        </p:nvSpPr>
        <p:spPr>
          <a:xfrm>
            <a:off x="3611880" y="433425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레퍼런스가 쌓인 뒤에 밖으로</a:t>
            </a:r>
            <a:endParaRPr lang="en-US" sz="1100" dirty="0"/>
          </a:p>
        </p:txBody>
      </p:sp>
      <p:sp>
        <p:nvSpPr>
          <p:cNvPr id="19" name="Shape 17"/>
          <p:cNvSpPr/>
          <p:nvPr/>
        </p:nvSpPr>
        <p:spPr>
          <a:xfrm>
            <a:off x="548640" y="4882896"/>
            <a:ext cx="11091672" cy="969264"/>
          </a:xfrm>
          <a:prstGeom prst="roundRect">
            <a:avLst>
              <a:gd name="adj" fmla="val 4717"/>
            </a:avLst>
          </a:prstGeom>
          <a:solidFill>
            <a:srgbClr val="FFFFFF"/>
          </a:solidFill>
          <a:ln w="12700">
            <a:solidFill>
              <a:srgbClr val="E3E6EB"/>
            </a:solidFill>
            <a:prstDash val="solid"/>
          </a:ln>
        </p:spPr>
      </p:sp>
      <p:sp>
        <p:nvSpPr>
          <p:cNvPr id="20" name="Text 18"/>
          <p:cNvSpPr txBox="1"/>
          <p:nvPr/>
        </p:nvSpPr>
        <p:spPr>
          <a:xfrm>
            <a:off x="868680" y="488289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도달 채널 · 고객의 고객</a:t>
            </a:r>
            <a:endParaRPr lang="en-US" sz="1400" dirty="0"/>
          </a:p>
        </p:txBody>
      </p:sp>
      <p:sp>
        <p:nvSpPr>
          <p:cNvPr id="21" name="Text 19"/>
          <p:cNvSpPr txBox="1"/>
          <p:nvPr/>
        </p:nvSpPr>
        <p:spPr>
          <a:xfrm>
            <a:off x="3611880" y="499262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L.POINT 앱 푸시 · 사이니지 · 키오스크</a:t>
            </a:r>
            <a:endParaRPr lang="en-US" sz="1400" dirty="0"/>
          </a:p>
        </p:txBody>
      </p:sp>
      <p:sp>
        <p:nvSpPr>
          <p:cNvPr id="22" name="Text 20"/>
          <p:cNvSpPr txBox="1"/>
          <p:nvPr/>
        </p:nvSpPr>
        <p:spPr>
          <a:xfrm>
            <a:off x="3611880" y="543153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인사이트를 실행(리타게팅)으로 연결</a:t>
            </a:r>
            <a:endParaRPr lang="en-US" sz="1100" dirty="0"/>
          </a:p>
        </p:txBody>
      </p:sp>
      <p:sp>
        <p:nvSpPr>
          <p:cNvPr id="23" name="Text 21"/>
          <p:cNvSpPr txBox="1"/>
          <p:nvPr/>
        </p:nvSpPr>
        <p:spPr>
          <a:xfrm>
            <a:off x="548640" y="6035040"/>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첫 고객은 외부 브랜드가 아니라 롯데 자신입니다.  그룹 안에서 검증하고, 그룹 시너지로 확산합니다.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고객 관계  |  어떻게 확보·유지·성장시킬 것인가?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증명이 갱신의 근거입니다 — 리텐션 엔진</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72768"/>
            <a:ext cx="3529584" cy="3063240"/>
          </a:xfrm>
          <a:prstGeom prst="roundRect">
            <a:avLst>
              <a:gd name="adj" fmla="val 209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810512"/>
            <a:ext cx="2944368" cy="384048"/>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확보  Acquire</a:t>
            </a:r>
            <a:endParaRPr lang="en-US" sz="1700" dirty="0"/>
          </a:p>
        </p:txBody>
      </p:sp>
      <p:sp>
        <p:nvSpPr>
          <p:cNvPr id="9" name="Text 7"/>
          <p:cNvSpPr txBox="1"/>
          <p:nvPr/>
        </p:nvSpPr>
        <p:spPr>
          <a:xfrm>
            <a:off x="841248"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Phase 0: 롯데 내부 도입 (매출 0, 데이터 확보)</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파일럿 3건 무상 제공</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 계약 시 번들 → 검증 후 과금</a:t>
            </a:r>
            <a:endParaRPr lang="en-US" sz="1250" dirty="0"/>
          </a:p>
        </p:txBody>
      </p:sp>
      <p:sp>
        <p:nvSpPr>
          <p:cNvPr id="10" name="Text 8"/>
          <p:cNvSpPr txBox="1"/>
          <p:nvPr/>
        </p:nvSpPr>
        <p:spPr>
          <a:xfrm>
            <a:off x="841248" y="3931920"/>
            <a:ext cx="2944368" cy="548640"/>
          </a:xfrm>
          <a:prstGeom prst="rect">
            <a:avLst/>
          </a:prstGeom>
          <a:noFill/>
          <a:ln/>
        </p:spPr>
        <p:txBody>
          <a:bodyPr wrap="square" lIns="0" tIns="0" rIns="0" bIns="0" rtlCol="0" anchor="b"/>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지불 의사를 가정하지 않는다</a:t>
            </a:r>
            <a:endParaRPr lang="en-US" sz="1200" dirty="0"/>
          </a:p>
        </p:txBody>
      </p:sp>
      <p:sp>
        <p:nvSpPr>
          <p:cNvPr id="11" name="Text 9"/>
          <p:cNvSpPr txBox="1"/>
          <p:nvPr/>
        </p:nvSpPr>
        <p:spPr>
          <a:xfrm>
            <a:off x="4078224" y="2834640"/>
            <a:ext cx="192024" cy="457200"/>
          </a:xfrm>
          <a:prstGeom prst="rect">
            <a:avLst/>
          </a:prstGeom>
          <a:noFill/>
          <a:ln/>
        </p:spPr>
        <p:txBody>
          <a:bodyPr wrap="square" lIns="0" tIns="0" rIns="0" bIns="0" rtlCol="0" anchor="ctr"/>
          <a:lstStyle/>
          <a:p>
            <a:pPr algn="ctr" indent="0" marL="0">
              <a:buNone/>
            </a:pPr>
            <a:r>
              <a:rPr lang="en-US" sz="1600" b="1" dirty="0">
                <a:solidFill>
                  <a:srgbClr val="5D6675"/>
                </a:solidFill>
                <a:latin typeface="맑은 고딕" pitchFamily="34" charset="0"/>
                <a:ea typeface="맑은 고딕" pitchFamily="34" charset="-122"/>
                <a:cs typeface="맑은 고딕" pitchFamily="34" charset="-120"/>
              </a:rPr>
              <a:t>→</a:t>
            </a:r>
            <a:endParaRPr lang="en-US" sz="1600" dirty="0"/>
          </a:p>
        </p:txBody>
      </p:sp>
      <p:sp>
        <p:nvSpPr>
          <p:cNvPr id="12" name="Shape 10"/>
          <p:cNvSpPr/>
          <p:nvPr/>
        </p:nvSpPr>
        <p:spPr>
          <a:xfrm>
            <a:off x="4270248" y="1572768"/>
            <a:ext cx="3529584" cy="3063240"/>
          </a:xfrm>
          <a:prstGeom prst="roundRect">
            <a:avLst>
              <a:gd name="adj" fmla="val 2090"/>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3" name="Text 11"/>
          <p:cNvSpPr txBox="1"/>
          <p:nvPr/>
        </p:nvSpPr>
        <p:spPr>
          <a:xfrm>
            <a:off x="4562856" y="1810512"/>
            <a:ext cx="2944368" cy="384048"/>
          </a:xfrm>
          <a:prstGeom prst="rect">
            <a:avLst/>
          </a:prstGeom>
          <a:noFill/>
          <a:ln/>
        </p:spPr>
        <p:txBody>
          <a:bodyPr wrap="square" lIns="0" tIns="0" rIns="0" bIns="0" rtlCol="0" anchor="ctr"/>
          <a:lstStyle/>
          <a:p>
            <a:pPr indent="0" marL="0">
              <a:buNone/>
            </a:pPr>
            <a:r>
              <a:rPr lang="en-US" sz="1700" b="1" dirty="0">
                <a:solidFill>
                  <a:srgbClr val="F2A33C"/>
                </a:solidFill>
                <a:latin typeface="맑은 고딕" pitchFamily="34" charset="0"/>
                <a:ea typeface="맑은 고딕" pitchFamily="34" charset="-122"/>
                <a:cs typeface="맑은 고딕" pitchFamily="34" charset="-120"/>
              </a:rPr>
              <a:t>유지  Retain</a:t>
            </a:r>
            <a:endParaRPr lang="en-US" sz="1700" dirty="0"/>
          </a:p>
        </p:txBody>
      </p:sp>
      <p:sp>
        <p:nvSpPr>
          <p:cNvPr id="14" name="Text 12"/>
          <p:cNvSpPr txBox="1"/>
          <p:nvPr/>
        </p:nvSpPr>
        <p:spPr>
          <a:xfrm>
            <a:off x="4562856"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POS 전후 효과 검증 리포트</a:t>
            </a:r>
            <a:endParaRPr lang="en-US" sz="1250" dirty="0"/>
          </a:p>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월간 처방 리포트 (구독)</a:t>
            </a:r>
            <a:endParaRPr lang="en-US" sz="1250" dirty="0"/>
          </a:p>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전담 컨설턴트 리포트 미팅</a:t>
            </a:r>
            <a:endParaRPr lang="en-US" sz="1250" dirty="0"/>
          </a:p>
        </p:txBody>
      </p:sp>
      <p:sp>
        <p:nvSpPr>
          <p:cNvPr id="15" name="Text 13"/>
          <p:cNvSpPr txBox="1"/>
          <p:nvPr/>
        </p:nvSpPr>
        <p:spPr>
          <a:xfrm>
            <a:off x="4562856" y="3931920"/>
            <a:ext cx="2944368" cy="548640"/>
          </a:xfrm>
          <a:prstGeom prst="rect">
            <a:avLst/>
          </a:prstGeom>
          <a:noFill/>
          <a:ln/>
        </p:spPr>
        <p:txBody>
          <a:bodyPr wrap="square" lIns="0" tIns="0" rIns="0" bIns="0" rtlCol="0" anchor="b"/>
          <a:lstStyle/>
          <a:p>
            <a:pPr indent="0" marL="0">
              <a:buNone/>
            </a:pPr>
            <a:r>
              <a:rPr lang="en-US" sz="1200" b="1" dirty="0">
                <a:solidFill>
                  <a:srgbClr val="A7AFBE"/>
                </a:solidFill>
                <a:latin typeface="맑은 고딕" pitchFamily="34" charset="0"/>
                <a:ea typeface="맑은 고딕" pitchFamily="34" charset="-122"/>
                <a:cs typeface="맑은 고딕" pitchFamily="34" charset="-120"/>
              </a:rPr>
              <a:t>증명하는 컨설팅은 갱신된다</a:t>
            </a:r>
            <a:endParaRPr lang="en-US" sz="1200" dirty="0"/>
          </a:p>
        </p:txBody>
      </p:sp>
      <p:sp>
        <p:nvSpPr>
          <p:cNvPr id="16" name="Text 14"/>
          <p:cNvSpPr txBox="1"/>
          <p:nvPr/>
        </p:nvSpPr>
        <p:spPr>
          <a:xfrm>
            <a:off x="7799832" y="2834640"/>
            <a:ext cx="192024" cy="457200"/>
          </a:xfrm>
          <a:prstGeom prst="rect">
            <a:avLst/>
          </a:prstGeom>
          <a:noFill/>
          <a:ln/>
        </p:spPr>
        <p:txBody>
          <a:bodyPr wrap="square" lIns="0" tIns="0" rIns="0" bIns="0" rtlCol="0" anchor="ctr"/>
          <a:lstStyle/>
          <a:p>
            <a:pPr algn="ctr" indent="0" marL="0">
              <a:buNone/>
            </a:pPr>
            <a:r>
              <a:rPr lang="en-US" sz="1600" b="1" dirty="0">
                <a:solidFill>
                  <a:srgbClr val="5D6675"/>
                </a:solidFill>
                <a:latin typeface="맑은 고딕" pitchFamily="34" charset="0"/>
                <a:ea typeface="맑은 고딕" pitchFamily="34" charset="-122"/>
                <a:cs typeface="맑은 고딕" pitchFamily="34" charset="-120"/>
              </a:rPr>
              <a:t>→</a:t>
            </a:r>
            <a:endParaRPr lang="en-US" sz="1600" dirty="0"/>
          </a:p>
        </p:txBody>
      </p:sp>
      <p:sp>
        <p:nvSpPr>
          <p:cNvPr id="17" name="Shape 15"/>
          <p:cNvSpPr/>
          <p:nvPr/>
        </p:nvSpPr>
        <p:spPr>
          <a:xfrm>
            <a:off x="7991856" y="1572768"/>
            <a:ext cx="3529584" cy="3063240"/>
          </a:xfrm>
          <a:prstGeom prst="roundRect">
            <a:avLst>
              <a:gd name="adj" fmla="val 209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8" name="Text 16"/>
          <p:cNvSpPr txBox="1"/>
          <p:nvPr/>
        </p:nvSpPr>
        <p:spPr>
          <a:xfrm>
            <a:off x="8284464" y="1810512"/>
            <a:ext cx="2944368" cy="384048"/>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성장  Grow</a:t>
            </a:r>
            <a:endParaRPr lang="en-US" sz="1700" dirty="0"/>
          </a:p>
        </p:txBody>
      </p:sp>
      <p:sp>
        <p:nvSpPr>
          <p:cNvPr id="19" name="Text 17"/>
          <p:cNvSpPr txBox="1"/>
          <p:nvPr/>
        </p:nvSpPr>
        <p:spPr>
          <a:xfrm>
            <a:off x="8284464"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 → 상설 구독 (정규 매장 첫 3개월 무료)</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 성장 컨설팅 + 성과연동 수수료</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 L.POINT 리타게팅</a:t>
            </a:r>
            <a:endParaRPr lang="en-US" sz="1250" dirty="0"/>
          </a:p>
        </p:txBody>
      </p:sp>
      <p:sp>
        <p:nvSpPr>
          <p:cNvPr id="20" name="Text 18"/>
          <p:cNvSpPr txBox="1"/>
          <p:nvPr/>
        </p:nvSpPr>
        <p:spPr>
          <a:xfrm>
            <a:off x="8284464" y="3931920"/>
            <a:ext cx="2944368" cy="548640"/>
          </a:xfrm>
          <a:prstGeom prst="rect">
            <a:avLst/>
          </a:prstGeom>
          <a:noFill/>
          <a:ln/>
        </p:spPr>
        <p:txBody>
          <a:bodyPr wrap="square" lIns="0" tIns="0" rIns="0" bIns="0" rtlCol="0" anchor="b"/>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깔때기 업셀 — 3년차 리커링 51%</a:t>
            </a:r>
            <a:endParaRPr lang="en-US" sz="1200" dirty="0"/>
          </a:p>
        </p:txBody>
      </p:sp>
      <p:sp>
        <p:nvSpPr>
          <p:cNvPr id="21" name="Shape 19"/>
          <p:cNvSpPr/>
          <p:nvPr/>
        </p:nvSpPr>
        <p:spPr>
          <a:xfrm>
            <a:off x="548640" y="4983480"/>
            <a:ext cx="11091672" cy="914400"/>
          </a:xfrm>
          <a:prstGeom prst="roundRect">
            <a:avLst>
              <a:gd name="adj" fmla="val 6000"/>
            </a:avLst>
          </a:prstGeom>
          <a:solidFill>
            <a:srgbClr val="101420"/>
          </a:solidFill>
          <a:ln/>
        </p:spPr>
      </p:sp>
      <p:sp>
        <p:nvSpPr>
          <p:cNvPr id="22" name="Text 20"/>
          <p:cNvSpPr txBox="1"/>
          <p:nvPr/>
        </p:nvSpPr>
        <p:spPr>
          <a:xfrm>
            <a:off x="914400" y="4983480"/>
            <a:ext cx="1042416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"바꿨더니 전환율이 8.1% → 11.4%"  —  이 문장이 다음 계약서입니다.</a:t>
            </a:r>
            <a:endParaRPr lang="en-US" sz="1600" dirty="0"/>
          </a:p>
        </p:txBody>
      </p:sp>
      <p:sp>
        <p:nvSpPr>
          <p:cNvPr id="23" name="Text 21"/>
          <p:cNvSpPr txBox="1"/>
          <p:nvPr/>
        </p:nvSpPr>
        <p:spPr>
          <a:xfrm>
            <a:off x="548640" y="6035040"/>
            <a:ext cx="11091672" cy="365760"/>
          </a:xfrm>
          <a:prstGeom prst="rect">
            <a:avLst/>
          </a:prstGeom>
          <a:noFill/>
          <a:ln/>
        </p:spPr>
        <p:txBody>
          <a:bodyPr wrap="square" lIns="0" tIns="0" rIns="0" bIns="0" rtlCol="0" anchor="ctr"/>
          <a:lstStyle/>
          <a:p>
            <a:pPr algn="ctr" indent="0" marL="0">
              <a:buNone/>
            </a:pPr>
            <a:r>
              <a:rPr lang="en-US" sz="1250" b="1" dirty="0">
                <a:solidFill>
                  <a:srgbClr val="E11D2E"/>
                </a:solidFill>
                <a:latin typeface="맑은 고딕" pitchFamily="34" charset="0"/>
                <a:ea typeface="맑은 고딕" pitchFamily="34" charset="-122"/>
                <a:cs typeface="맑은 고딕" pitchFamily="34" charset="-120"/>
              </a:rPr>
              <a:t>사랑과 신뢰를 받는 서비스  —  </a:t>
            </a:r>
            <a:pPr algn="ctr" indent="0" marL="0">
              <a:buNone/>
            </a:pPr>
            <a:r>
              <a:rPr lang="en-US" sz="1250" b="1" dirty="0">
                <a:solidFill>
                  <a:srgbClr val="101420"/>
                </a:solidFill>
                <a:latin typeface="맑은 고딕" pitchFamily="34" charset="0"/>
                <a:ea typeface="맑은 고딕" pitchFamily="34" charset="-122"/>
                <a:cs typeface="맑은 고딕"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수익원  |  고객은 무엇에 기꺼이 돈을 지불하는가?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627632"/>
            <a:ext cx="11091672" cy="768096"/>
          </a:xfrm>
          <a:prstGeom prst="roundRect">
            <a:avLst>
              <a:gd name="adj" fmla="val 5952"/>
            </a:avLst>
          </a:prstGeom>
          <a:solidFill>
            <a:srgbClr val="F6F7F9"/>
          </a:solidFill>
          <a:ln w="12700">
            <a:solidFill>
              <a:srgbClr val="E3E6EB"/>
            </a:solidFill>
            <a:prstDash val="solid"/>
          </a:ln>
        </p:spPr>
      </p:sp>
      <p:sp>
        <p:nvSpPr>
          <p:cNvPr id="8" name="Text 6"/>
          <p:cNvSpPr txBox="1"/>
          <p:nvPr/>
        </p:nvSpPr>
        <p:spPr>
          <a:xfrm>
            <a:off x="777240" y="1627632"/>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9" name="Text 7"/>
          <p:cNvSpPr txBox="1"/>
          <p:nvPr/>
        </p:nvSpPr>
        <p:spPr>
          <a:xfrm>
            <a:off x="1371600" y="1627632"/>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0" name="Text 8"/>
          <p:cNvSpPr txBox="1"/>
          <p:nvPr/>
        </p:nvSpPr>
        <p:spPr>
          <a:xfrm>
            <a:off x="4343400" y="1627632"/>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리포트 + 고객 인사이트 + 개선 처방</a:t>
            </a:r>
            <a:endParaRPr lang="en-US" sz="1200" dirty="0"/>
          </a:p>
        </p:txBody>
      </p:sp>
      <p:sp>
        <p:nvSpPr>
          <p:cNvPr id="11" name="Text 9"/>
          <p:cNvSpPr txBox="1"/>
          <p:nvPr/>
        </p:nvSpPr>
        <p:spPr>
          <a:xfrm>
            <a:off x="7726680" y="1627632"/>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ASP 320만원 / 건</a:t>
            </a:r>
            <a:endParaRPr lang="en-US" sz="1400" dirty="0"/>
          </a:p>
        </p:txBody>
      </p:sp>
      <p:sp>
        <p:nvSpPr>
          <p:cNvPr id="12" name="Shape 10"/>
          <p:cNvSpPr/>
          <p:nvPr/>
        </p:nvSpPr>
        <p:spPr>
          <a:xfrm>
            <a:off x="10716768" y="1847088"/>
            <a:ext cx="777240" cy="329184"/>
          </a:xfrm>
          <a:prstGeom prst="roundRect">
            <a:avLst>
              <a:gd name="adj" fmla="val 13889"/>
            </a:avLst>
          </a:prstGeom>
          <a:solidFill>
            <a:srgbClr val="E3E6EB"/>
          </a:solidFill>
          <a:ln/>
        </p:spPr>
      </p:sp>
      <p:sp>
        <p:nvSpPr>
          <p:cNvPr id="13" name="Text 11"/>
          <p:cNvSpPr txBox="1"/>
          <p:nvPr/>
        </p:nvSpPr>
        <p:spPr>
          <a:xfrm>
            <a:off x="10716768" y="1847088"/>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유입</a:t>
            </a:r>
            <a:endParaRPr lang="en-US" sz="1000" dirty="0"/>
          </a:p>
        </p:txBody>
      </p:sp>
      <p:sp>
        <p:nvSpPr>
          <p:cNvPr id="14" name="Shape 12"/>
          <p:cNvSpPr/>
          <p:nvPr/>
        </p:nvSpPr>
        <p:spPr>
          <a:xfrm>
            <a:off x="548640" y="2505456"/>
            <a:ext cx="11091672" cy="768096"/>
          </a:xfrm>
          <a:prstGeom prst="roundRect">
            <a:avLst>
              <a:gd name="adj" fmla="val 5952"/>
            </a:avLst>
          </a:prstGeom>
          <a:solidFill>
            <a:srgbClr val="FFFFFF"/>
          </a:solidFill>
          <a:ln w="12700">
            <a:solidFill>
              <a:srgbClr val="E3E6EB"/>
            </a:solidFill>
            <a:prstDash val="solid"/>
          </a:ln>
        </p:spPr>
      </p:sp>
      <p:sp>
        <p:nvSpPr>
          <p:cNvPr id="15" name="Text 13"/>
          <p:cNvSpPr txBox="1"/>
          <p:nvPr/>
        </p:nvSpPr>
        <p:spPr>
          <a:xfrm>
            <a:off x="777240" y="2505456"/>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6" name="Text 14"/>
          <p:cNvSpPr txBox="1"/>
          <p:nvPr/>
        </p:nvSpPr>
        <p:spPr>
          <a:xfrm>
            <a:off x="1371600" y="2505456"/>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상설 매장 구독</a:t>
            </a:r>
            <a:endParaRPr lang="en-US" sz="1500" dirty="0"/>
          </a:p>
        </p:txBody>
      </p:sp>
      <p:sp>
        <p:nvSpPr>
          <p:cNvPr id="17" name="Text 15"/>
          <p:cNvSpPr txBox="1"/>
          <p:nvPr/>
        </p:nvSpPr>
        <p:spPr>
          <a:xfrm>
            <a:off x="4343400" y="2505456"/>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월간 처방 리포트 + 대시보드</a:t>
            </a:r>
            <a:endParaRPr lang="en-US" sz="1200" dirty="0"/>
          </a:p>
        </p:txBody>
      </p:sp>
      <p:sp>
        <p:nvSpPr>
          <p:cNvPr id="18" name="Text 16"/>
          <p:cNvSpPr txBox="1"/>
          <p:nvPr/>
        </p:nvSpPr>
        <p:spPr>
          <a:xfrm>
            <a:off x="7726680" y="2505456"/>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월 45만원 / 매장</a:t>
            </a:r>
            <a:endParaRPr lang="en-US" sz="1400" dirty="0"/>
          </a:p>
        </p:txBody>
      </p:sp>
      <p:sp>
        <p:nvSpPr>
          <p:cNvPr id="19" name="Shape 17"/>
          <p:cNvSpPr/>
          <p:nvPr/>
        </p:nvSpPr>
        <p:spPr>
          <a:xfrm>
            <a:off x="10716768" y="2724912"/>
            <a:ext cx="777240" cy="329184"/>
          </a:xfrm>
          <a:prstGeom prst="roundRect">
            <a:avLst>
              <a:gd name="adj" fmla="val 13889"/>
            </a:avLst>
          </a:prstGeom>
          <a:solidFill>
            <a:srgbClr val="E11D2E"/>
          </a:solidFill>
          <a:ln/>
        </p:spPr>
      </p:sp>
      <p:sp>
        <p:nvSpPr>
          <p:cNvPr id="20" name="Text 18"/>
          <p:cNvSpPr txBox="1"/>
          <p:nvPr/>
        </p:nvSpPr>
        <p:spPr>
          <a:xfrm>
            <a:off x="10716768" y="2724912"/>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1" name="Shape 19"/>
          <p:cNvSpPr/>
          <p:nvPr/>
        </p:nvSpPr>
        <p:spPr>
          <a:xfrm>
            <a:off x="548640" y="3383280"/>
            <a:ext cx="11091672" cy="768096"/>
          </a:xfrm>
          <a:prstGeom prst="roundRect">
            <a:avLst>
              <a:gd name="adj" fmla="val 5952"/>
            </a:avLst>
          </a:prstGeom>
          <a:solidFill>
            <a:srgbClr val="F6F7F9"/>
          </a:solidFill>
          <a:ln w="12700">
            <a:solidFill>
              <a:srgbClr val="E3E6EB"/>
            </a:solidFill>
            <a:prstDash val="solid"/>
          </a:ln>
        </p:spPr>
      </p:sp>
      <p:sp>
        <p:nvSpPr>
          <p:cNvPr id="22" name="Text 20"/>
          <p:cNvSpPr txBox="1"/>
          <p:nvPr/>
        </p:nvSpPr>
        <p:spPr>
          <a:xfrm>
            <a:off x="777240" y="3383280"/>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3" name="Text 21"/>
          <p:cNvSpPr txBox="1"/>
          <p:nvPr/>
        </p:nvSpPr>
        <p:spPr>
          <a:xfrm>
            <a:off x="1371600" y="3383280"/>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4" name="Text 22"/>
          <p:cNvSpPr txBox="1"/>
          <p:nvPr/>
        </p:nvSpPr>
        <p:spPr>
          <a:xfrm>
            <a:off x="4343400" y="3383280"/>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VMD · 상품기획 · 출점전략</a:t>
            </a:r>
            <a:endParaRPr lang="en-US" sz="1200" dirty="0"/>
          </a:p>
        </p:txBody>
      </p:sp>
      <p:sp>
        <p:nvSpPr>
          <p:cNvPr id="25" name="Text 23"/>
          <p:cNvSpPr txBox="1"/>
          <p:nvPr/>
        </p:nvSpPr>
        <p:spPr>
          <a:xfrm>
            <a:off x="7726680" y="3383280"/>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1,500만원 + 성과 5~10%</a:t>
            </a:r>
            <a:endParaRPr lang="en-US" sz="1400" dirty="0"/>
          </a:p>
        </p:txBody>
      </p:sp>
      <p:sp>
        <p:nvSpPr>
          <p:cNvPr id="26" name="Shape 24"/>
          <p:cNvSpPr/>
          <p:nvPr/>
        </p:nvSpPr>
        <p:spPr>
          <a:xfrm>
            <a:off x="10716768" y="3602736"/>
            <a:ext cx="777240" cy="329184"/>
          </a:xfrm>
          <a:prstGeom prst="roundRect">
            <a:avLst>
              <a:gd name="adj" fmla="val 13889"/>
            </a:avLst>
          </a:prstGeom>
          <a:solidFill>
            <a:srgbClr val="E3E6EB"/>
          </a:solidFill>
          <a:ln/>
        </p:spPr>
      </p:sp>
      <p:sp>
        <p:nvSpPr>
          <p:cNvPr id="27" name="Text 25"/>
          <p:cNvSpPr txBox="1"/>
          <p:nvPr/>
        </p:nvSpPr>
        <p:spPr>
          <a:xfrm>
            <a:off x="10716768" y="3602736"/>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고부가</a:t>
            </a:r>
            <a:endParaRPr lang="en-US" sz="1000" dirty="0"/>
          </a:p>
        </p:txBody>
      </p:sp>
      <p:sp>
        <p:nvSpPr>
          <p:cNvPr id="28" name="Shape 26"/>
          <p:cNvSpPr/>
          <p:nvPr/>
        </p:nvSpPr>
        <p:spPr>
          <a:xfrm>
            <a:off x="548640" y="4261104"/>
            <a:ext cx="11091672" cy="768096"/>
          </a:xfrm>
          <a:prstGeom prst="roundRect">
            <a:avLst>
              <a:gd name="adj" fmla="val 5952"/>
            </a:avLst>
          </a:prstGeom>
          <a:solidFill>
            <a:srgbClr val="FFFFFF"/>
          </a:solidFill>
          <a:ln w="12700">
            <a:solidFill>
              <a:srgbClr val="E3E6EB"/>
            </a:solidFill>
            <a:prstDash val="solid"/>
          </a:ln>
        </p:spPr>
      </p:sp>
      <p:sp>
        <p:nvSpPr>
          <p:cNvPr id="29" name="Text 27"/>
          <p:cNvSpPr txBox="1"/>
          <p:nvPr/>
        </p:nvSpPr>
        <p:spPr>
          <a:xfrm>
            <a:off x="777240" y="4261104"/>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0" name="Text 28"/>
          <p:cNvSpPr txBox="1"/>
          <p:nvPr/>
        </p:nvSpPr>
        <p:spPr>
          <a:xfrm>
            <a:off x="1371600" y="4261104"/>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L.POINT 리타게팅</a:t>
            </a:r>
            <a:endParaRPr lang="en-US" sz="1500" dirty="0"/>
          </a:p>
        </p:txBody>
      </p:sp>
      <p:sp>
        <p:nvSpPr>
          <p:cNvPr id="31" name="Text 29"/>
          <p:cNvSpPr txBox="1"/>
          <p:nvPr/>
        </p:nvSpPr>
        <p:spPr>
          <a:xfrm>
            <a:off x="4343400" y="4261104"/>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안 산 고객에게 앱 쿠폰 발송</a:t>
            </a:r>
            <a:endParaRPr lang="en-US" sz="1200" dirty="0"/>
          </a:p>
        </p:txBody>
      </p:sp>
      <p:sp>
        <p:nvSpPr>
          <p:cNvPr id="32" name="Text 30"/>
          <p:cNvSpPr txBox="1"/>
          <p:nvPr/>
        </p:nvSpPr>
        <p:spPr>
          <a:xfrm>
            <a:off x="7726680" y="4261104"/>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CPM / CPA</a:t>
            </a:r>
            <a:endParaRPr lang="en-US" sz="1400" dirty="0"/>
          </a:p>
        </p:txBody>
      </p:sp>
      <p:sp>
        <p:nvSpPr>
          <p:cNvPr id="33" name="Shape 31"/>
          <p:cNvSpPr/>
          <p:nvPr/>
        </p:nvSpPr>
        <p:spPr>
          <a:xfrm>
            <a:off x="10716768" y="4480560"/>
            <a:ext cx="777240" cy="329184"/>
          </a:xfrm>
          <a:prstGeom prst="roundRect">
            <a:avLst>
              <a:gd name="adj" fmla="val 13889"/>
            </a:avLst>
          </a:prstGeom>
          <a:solidFill>
            <a:srgbClr val="E11D2E"/>
          </a:solidFill>
          <a:ln/>
        </p:spPr>
      </p:sp>
      <p:sp>
        <p:nvSpPr>
          <p:cNvPr id="34" name="Text 32"/>
          <p:cNvSpPr txBox="1"/>
          <p:nvPr/>
        </p:nvSpPr>
        <p:spPr>
          <a:xfrm>
            <a:off x="10716768" y="4480560"/>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5" name="Shape 33"/>
          <p:cNvSpPr/>
          <p:nvPr/>
        </p:nvSpPr>
        <p:spPr>
          <a:xfrm>
            <a:off x="548640" y="5138928"/>
            <a:ext cx="11091672" cy="768096"/>
          </a:xfrm>
          <a:prstGeom prst="roundRect">
            <a:avLst>
              <a:gd name="adj" fmla="val 5952"/>
            </a:avLst>
          </a:prstGeom>
          <a:solidFill>
            <a:srgbClr val="F6F7F9"/>
          </a:solidFill>
          <a:ln w="12700">
            <a:solidFill>
              <a:srgbClr val="E3E6EB"/>
            </a:solidFill>
            <a:prstDash val="solid"/>
          </a:ln>
        </p:spPr>
      </p:sp>
      <p:sp>
        <p:nvSpPr>
          <p:cNvPr id="36" name="Text 34"/>
          <p:cNvSpPr txBox="1"/>
          <p:nvPr/>
        </p:nvSpPr>
        <p:spPr>
          <a:xfrm>
            <a:off x="777240" y="5138928"/>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7" name="Text 35"/>
          <p:cNvSpPr txBox="1"/>
          <p:nvPr/>
        </p:nvSpPr>
        <p:spPr>
          <a:xfrm>
            <a:off x="1371600" y="5138928"/>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8" name="Text 36"/>
          <p:cNvSpPr txBox="1"/>
          <p:nvPr/>
        </p:nvSpPr>
        <p:spPr>
          <a:xfrm>
            <a:off x="4343400" y="5138928"/>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카테고리 기준치 정기 리포트</a:t>
            </a:r>
            <a:endParaRPr lang="en-US" sz="1200" dirty="0"/>
          </a:p>
        </p:txBody>
      </p:sp>
      <p:sp>
        <p:nvSpPr>
          <p:cNvPr id="39" name="Text 37"/>
          <p:cNvSpPr txBox="1"/>
          <p:nvPr/>
        </p:nvSpPr>
        <p:spPr>
          <a:xfrm>
            <a:off x="7726680" y="5138928"/>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연 2,000~5,000만원</a:t>
            </a:r>
            <a:endParaRPr lang="en-US" sz="1400" dirty="0"/>
          </a:p>
        </p:txBody>
      </p:sp>
      <p:sp>
        <p:nvSpPr>
          <p:cNvPr id="40" name="Shape 38"/>
          <p:cNvSpPr/>
          <p:nvPr/>
        </p:nvSpPr>
        <p:spPr>
          <a:xfrm>
            <a:off x="10716768" y="5358384"/>
            <a:ext cx="777240" cy="329184"/>
          </a:xfrm>
          <a:prstGeom prst="roundRect">
            <a:avLst>
              <a:gd name="adj" fmla="val 13889"/>
            </a:avLst>
          </a:prstGeom>
          <a:solidFill>
            <a:srgbClr val="E11D2E"/>
          </a:solidFill>
          <a:ln/>
        </p:spPr>
      </p:sp>
      <p:sp>
        <p:nvSpPr>
          <p:cNvPr id="41" name="Text 39"/>
          <p:cNvSpPr txBox="1"/>
          <p:nvPr/>
        </p:nvSpPr>
        <p:spPr>
          <a:xfrm>
            <a:off x="10716768" y="5358384"/>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2" name="Text 40"/>
          <p:cNvSpPr txBox="1"/>
          <p:nvPr/>
        </p:nvSpPr>
        <p:spPr>
          <a:xfrm>
            <a:off x="548640" y="6053328"/>
            <a:ext cx="11091672" cy="384048"/>
          </a:xfrm>
          <a:prstGeom prst="rect">
            <a:avLst/>
          </a:prstGeom>
          <a:noFill/>
          <a:ln/>
        </p:spPr>
        <p:txBody>
          <a:bodyPr wrap="square" lIns="0" tIns="0" rIns="0" bIns="0" rtlCol="0" anchor="ctr"/>
          <a:lstStyle/>
          <a:p>
            <a:pPr algn="ctr" indent="0" marL="0">
              <a:buNone/>
            </a:pPr>
            <a:r>
              <a:rPr lang="en-US" sz="1500" b="1" dirty="0">
                <a:solidFill>
                  <a:srgbClr val="10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수익원  |  3개년 손익 — 24개월에 손익분기</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 내부 검증 전 추정치 — 롯데 내부 데이터로 재검증 필요</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7" name="Chart 0" descr=""/>
          <p:cNvGraphicFramePr/>
          <p:nvPr/>
        </p:nvGraphicFramePr>
        <p:xfrm>
          <a:off x="548640" y="1600200"/>
          <a:ext cx="7315200" cy="3703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092440" y="1691640"/>
            <a:ext cx="3547872" cy="804672"/>
          </a:xfrm>
          <a:prstGeom prst="roundRect">
            <a:avLst>
              <a:gd name="adj" fmla="val 5682"/>
            </a:avLst>
          </a:prstGeom>
          <a:solidFill>
            <a:srgbClr val="F6F7F9"/>
          </a:solidFill>
          <a:ln w="12700">
            <a:solidFill>
              <a:srgbClr val="E3E6EB"/>
            </a:solidFill>
            <a:prstDash val="solid"/>
          </a:ln>
        </p:spPr>
      </p:sp>
      <p:sp>
        <p:nvSpPr>
          <p:cNvPr id="9" name="Text 6"/>
          <p:cNvSpPr txBox="1"/>
          <p:nvPr/>
        </p:nvSpPr>
        <p:spPr>
          <a:xfrm>
            <a:off x="8366760" y="16916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누적 손익분기</a:t>
            </a:r>
            <a:endParaRPr lang="en-US" sz="1200" dirty="0"/>
          </a:p>
        </p:txBody>
      </p:sp>
      <p:sp>
        <p:nvSpPr>
          <p:cNvPr id="10" name="Text 7"/>
          <p:cNvSpPr txBox="1"/>
          <p:nvPr/>
        </p:nvSpPr>
        <p:spPr>
          <a:xfrm>
            <a:off x="10058400" y="16916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24개월</a:t>
            </a:r>
            <a:endParaRPr lang="en-US" sz="1900" dirty="0"/>
          </a:p>
        </p:txBody>
      </p:sp>
      <p:sp>
        <p:nvSpPr>
          <p:cNvPr id="11" name="Shape 8"/>
          <p:cNvSpPr/>
          <p:nvPr/>
        </p:nvSpPr>
        <p:spPr>
          <a:xfrm>
            <a:off x="8092440" y="2606040"/>
            <a:ext cx="3547872" cy="804672"/>
          </a:xfrm>
          <a:prstGeom prst="roundRect">
            <a:avLst>
              <a:gd name="adj" fmla="val 5682"/>
            </a:avLst>
          </a:prstGeom>
          <a:solidFill>
            <a:srgbClr val="F6F7F9"/>
          </a:solidFill>
          <a:ln w="12700">
            <a:solidFill>
              <a:srgbClr val="E3E6EB"/>
            </a:solidFill>
            <a:prstDash val="solid"/>
          </a:ln>
        </p:spPr>
      </p:sp>
      <p:sp>
        <p:nvSpPr>
          <p:cNvPr id="12" name="Text 9"/>
          <p:cNvSpPr txBox="1"/>
          <p:nvPr/>
        </p:nvSpPr>
        <p:spPr>
          <a:xfrm>
            <a:off x="8366760" y="26060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매출총이익률</a:t>
            </a:r>
            <a:endParaRPr lang="en-US" sz="1200" dirty="0"/>
          </a:p>
        </p:txBody>
      </p:sp>
      <p:sp>
        <p:nvSpPr>
          <p:cNvPr id="13" name="Text 10"/>
          <p:cNvSpPr txBox="1"/>
          <p:nvPr/>
        </p:nvSpPr>
        <p:spPr>
          <a:xfrm>
            <a:off x="10058400" y="26060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77%</a:t>
            </a:r>
            <a:endParaRPr lang="en-US" sz="1900" dirty="0"/>
          </a:p>
        </p:txBody>
      </p:sp>
      <p:sp>
        <p:nvSpPr>
          <p:cNvPr id="14" name="Shape 11"/>
          <p:cNvSpPr/>
          <p:nvPr/>
        </p:nvSpPr>
        <p:spPr>
          <a:xfrm>
            <a:off x="8092440" y="3520440"/>
            <a:ext cx="3547872" cy="804672"/>
          </a:xfrm>
          <a:prstGeom prst="roundRect">
            <a:avLst>
              <a:gd name="adj" fmla="val 5682"/>
            </a:avLst>
          </a:prstGeom>
          <a:solidFill>
            <a:srgbClr val="F6F7F9"/>
          </a:solidFill>
          <a:ln w="12700">
            <a:solidFill>
              <a:srgbClr val="E3E6EB"/>
            </a:solidFill>
            <a:prstDash val="solid"/>
          </a:ln>
        </p:spPr>
      </p:sp>
      <p:sp>
        <p:nvSpPr>
          <p:cNvPr id="15" name="Text 12"/>
          <p:cNvSpPr txBox="1"/>
          <p:nvPr/>
        </p:nvSpPr>
        <p:spPr>
          <a:xfrm>
            <a:off x="8366760" y="35204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3년 설비투자</a:t>
            </a:r>
            <a:endParaRPr lang="en-US" sz="1200" dirty="0"/>
          </a:p>
        </p:txBody>
      </p:sp>
      <p:sp>
        <p:nvSpPr>
          <p:cNvPr id="16" name="Text 13"/>
          <p:cNvSpPr txBox="1"/>
          <p:nvPr/>
        </p:nvSpPr>
        <p:spPr>
          <a:xfrm>
            <a:off x="10058400" y="35204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11억원</a:t>
            </a:r>
            <a:endParaRPr lang="en-US" sz="1900" dirty="0"/>
          </a:p>
        </p:txBody>
      </p:sp>
      <p:sp>
        <p:nvSpPr>
          <p:cNvPr id="17" name="Shape 14"/>
          <p:cNvSpPr/>
          <p:nvPr/>
        </p:nvSpPr>
        <p:spPr>
          <a:xfrm>
            <a:off x="8092440" y="4434840"/>
            <a:ext cx="3547872" cy="804672"/>
          </a:xfrm>
          <a:prstGeom prst="roundRect">
            <a:avLst>
              <a:gd name="adj" fmla="val 5682"/>
            </a:avLst>
          </a:prstGeom>
          <a:solidFill>
            <a:srgbClr val="F6F7F9"/>
          </a:solidFill>
          <a:ln w="12700">
            <a:solidFill>
              <a:srgbClr val="E3E6EB"/>
            </a:solidFill>
            <a:prstDash val="solid"/>
          </a:ln>
        </p:spPr>
      </p:sp>
      <p:sp>
        <p:nvSpPr>
          <p:cNvPr id="18" name="Text 15"/>
          <p:cNvSpPr txBox="1"/>
          <p:nvPr/>
        </p:nvSpPr>
        <p:spPr>
          <a:xfrm>
            <a:off x="8366760" y="44348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파일럿 시작 비용</a:t>
            </a:r>
            <a:endParaRPr lang="en-US" sz="1200" dirty="0"/>
          </a:p>
        </p:txBody>
      </p:sp>
      <p:sp>
        <p:nvSpPr>
          <p:cNvPr id="19" name="Text 16"/>
          <p:cNvSpPr txBox="1"/>
          <p:nvPr/>
        </p:nvSpPr>
        <p:spPr>
          <a:xfrm>
            <a:off x="10058400" y="44348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1.5억원</a:t>
            </a:r>
            <a:endParaRPr lang="en-US" sz="1900" dirty="0"/>
          </a:p>
        </p:txBody>
      </p:sp>
      <p:sp>
        <p:nvSpPr>
          <p:cNvPr id="20" name="Shape 17"/>
          <p:cNvSpPr/>
          <p:nvPr/>
        </p:nvSpPr>
        <p:spPr>
          <a:xfrm>
            <a:off x="8092440" y="5349240"/>
            <a:ext cx="3547872" cy="868680"/>
          </a:xfrm>
          <a:prstGeom prst="roundRect">
            <a:avLst>
              <a:gd name="adj" fmla="val 5263"/>
            </a:avLst>
          </a:prstGeom>
          <a:solidFill>
            <a:srgbClr val="101420"/>
          </a:solidFill>
          <a:ln/>
        </p:spPr>
      </p:sp>
      <p:sp>
        <p:nvSpPr>
          <p:cNvPr id="21" name="Text 18"/>
          <p:cNvSpPr txBox="1"/>
          <p:nvPr/>
        </p:nvSpPr>
        <p:spPr>
          <a:xfrm>
            <a:off x="8321040" y="5349240"/>
            <a:ext cx="3108960" cy="868680"/>
          </a:xfrm>
          <a:prstGeom prst="rect">
            <a:avLst/>
          </a:prstGeom>
          <a:noFill/>
          <a:ln/>
        </p:spPr>
        <p:txBody>
          <a:bodyPr wrap="square" lIns="0" tIns="0" rIns="0" bIns="0" rtlCol="0" anchor="ctr"/>
          <a:lstStyle/>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침투율 저조 + 구독 저조 + 광고 미실행이</a:t>
            </a:r>
            <a:endParaRPr lang="en-US" sz="1100" dirty="0"/>
          </a:p>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동시에 일어나도 Y3는 흑자 (+5.1억)</a:t>
            </a:r>
            <a:endParaRPr lang="en-US" sz="1100" dirty="0"/>
          </a:p>
        </p:txBody>
      </p:sp>
      <p:sp>
        <p:nvSpPr>
          <p:cNvPr id="22" name="Text 19"/>
          <p:cNvSpPr txBox="1"/>
          <p:nvPr/>
        </p:nvSpPr>
        <p:spPr>
          <a:xfrm>
            <a:off x="548640" y="5440680"/>
            <a:ext cx="7315200" cy="384048"/>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파일럿 1.5억으로 시작해 24개월에 손익분기를 넘습니다.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자원  |  반드시 필요한 자산은?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새로 사는 자산이 거의 없습니다 — 이미 가진 그룹 자산 위에 AI를 얹는 AI 트랜스포메이션 과제입니다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Shape 5"/>
          <p:cNvSpPr/>
          <p:nvPr/>
        </p:nvSpPr>
        <p:spPr>
          <a:xfrm>
            <a:off x="548640" y="159105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68680" y="179222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물리적</a:t>
            </a:r>
            <a:endParaRPr lang="en-US" sz="1600" dirty="0"/>
          </a:p>
        </p:txBody>
      </p:sp>
      <p:sp>
        <p:nvSpPr>
          <p:cNvPr id="9" name="Text 7"/>
          <p:cNvSpPr txBox="1"/>
          <p:nvPr/>
        </p:nvSpPr>
        <p:spPr>
          <a:xfrm>
            <a:off x="868680" y="224942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기존 CCTV · 전원 · 네트워크 · 보안망 재활용</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팝업존 보완 카메라 (대당 약 25만원)</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엣지박스 점포당 1식 (약 300만원)</a:t>
            </a:r>
            <a:endParaRPr lang="en-US" sz="1250" dirty="0"/>
          </a:p>
        </p:txBody>
      </p:sp>
      <p:sp>
        <p:nvSpPr>
          <p:cNvPr id="10" name="Shape 8"/>
          <p:cNvSpPr/>
          <p:nvPr/>
        </p:nvSpPr>
        <p:spPr>
          <a:xfrm>
            <a:off x="6199632" y="1591056"/>
            <a:ext cx="5440680" cy="2103120"/>
          </a:xfrm>
          <a:prstGeom prst="roundRect">
            <a:avLst>
              <a:gd name="adj" fmla="val 2609"/>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6519672" y="1792224"/>
            <a:ext cx="4754880" cy="36576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지적 · 데이터  ★</a:t>
            </a:r>
            <a:endParaRPr lang="en-US" sz="1600" dirty="0"/>
          </a:p>
        </p:txBody>
      </p:sp>
      <p:sp>
        <p:nvSpPr>
          <p:cNvPr id="12" name="Text 10"/>
          <p:cNvSpPr txBox="1"/>
          <p:nvPr/>
        </p:nvSpPr>
        <p:spPr>
          <a:xfrm>
            <a:off x="6519672" y="224942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L.POINT 소비 이력 · POS 결제 · 전점 트래픽</a:t>
            </a:r>
            <a:endParaRPr lang="en-US" sz="1250" dirty="0"/>
          </a:p>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카테고리 벤치마크 DB — 시간으로만 쌓임</a:t>
            </a:r>
            <a:endParaRPr lang="en-US" sz="1250" dirty="0"/>
          </a:p>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엣지 추론 모델 · 리포트 자동화 템플릿</a:t>
            </a:r>
            <a:endParaRPr lang="en-US" sz="1250" dirty="0"/>
          </a:p>
        </p:txBody>
      </p:sp>
      <p:sp>
        <p:nvSpPr>
          <p:cNvPr id="13" name="Shape 11"/>
          <p:cNvSpPr/>
          <p:nvPr/>
        </p:nvSpPr>
        <p:spPr>
          <a:xfrm>
            <a:off x="548640" y="383133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4" name="Text 12"/>
          <p:cNvSpPr txBox="1"/>
          <p:nvPr/>
        </p:nvSpPr>
        <p:spPr>
          <a:xfrm>
            <a:off x="868680" y="403250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인적</a:t>
            </a:r>
            <a:endParaRPr lang="en-US" sz="1600" dirty="0"/>
          </a:p>
        </p:txBody>
      </p:sp>
      <p:sp>
        <p:nvSpPr>
          <p:cNvPr id="15" name="Text 13"/>
          <p:cNvSpPr txBox="1"/>
          <p:nvPr/>
        </p:nvSpPr>
        <p:spPr>
          <a:xfrm>
            <a:off x="868680" y="448970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리테일 컨설턴트 14 · DS/ML 8 · 애널리스트 8</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개발 6 · 영업/CS 4 · PO 2  (Y3 42명)</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컨설턴트 비중이 높은 이유: 처방·검증이 상품의 본체</a:t>
            </a:r>
            <a:endParaRPr lang="en-US" sz="1250" dirty="0"/>
          </a:p>
        </p:txBody>
      </p:sp>
      <p:sp>
        <p:nvSpPr>
          <p:cNvPr id="16" name="Shape 14"/>
          <p:cNvSpPr/>
          <p:nvPr/>
        </p:nvSpPr>
        <p:spPr>
          <a:xfrm>
            <a:off x="6199632" y="383133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7" name="Text 15"/>
          <p:cNvSpPr txBox="1"/>
          <p:nvPr/>
        </p:nvSpPr>
        <p:spPr>
          <a:xfrm>
            <a:off x="6519672" y="403250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금융</a:t>
            </a:r>
            <a:endParaRPr lang="en-US" sz="1600" dirty="0"/>
          </a:p>
        </p:txBody>
      </p:sp>
      <p:sp>
        <p:nvSpPr>
          <p:cNvPr id="18" name="Text 16"/>
          <p:cNvSpPr txBox="1"/>
          <p:nvPr/>
        </p:nvSpPr>
        <p:spPr>
          <a:xfrm>
            <a:off x="6519672" y="448970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3년 CAPEX 11억 · 최대 현금소진 10억</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10개 점포 파일럿 1.5억</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CCTV가 이미 있어 가볍게 시작하는 사업</a:t>
            </a:r>
            <a:endParaRPr lang="en-US" sz="1250" dirty="0"/>
          </a:p>
        </p:txBody>
      </p:sp>
      <p:sp>
        <p:nvSpPr>
          <p:cNvPr id="19" name="Text 17"/>
          <p:cNvSpPr txBox="1"/>
          <p:nvPr/>
        </p:nvSpPr>
        <p:spPr>
          <a:xfrm>
            <a:off x="548640" y="6108192"/>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카메라는 누구나 깔 수 있습니다.  L.POINT와 POS와 전점 트래픽을 한 번에 가진 곳은 롯데뿐입니다.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활동  |  반드시 수행해야 하는 활동은?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생산은 기계가, 문제해결은 사람이, 플랫폼은 시간이 합니다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Shape 5"/>
          <p:cNvSpPr/>
          <p:nvPr/>
        </p:nvSpPr>
        <p:spPr>
          <a:xfrm>
            <a:off x="548640" y="1572768"/>
            <a:ext cx="3529584" cy="2788920"/>
          </a:xfrm>
          <a:prstGeom prst="roundRect">
            <a:avLst>
              <a:gd name="adj" fmla="val 2295"/>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783080"/>
            <a:ext cx="2944368" cy="384048"/>
          </a:xfrm>
          <a:prstGeom prst="rect">
            <a:avLst/>
          </a:prstGeom>
          <a:noFill/>
          <a:ln/>
        </p:spPr>
        <p:txBody>
          <a:bodyPr wrap="square" lIns="0" tIns="0" rIns="0" bIns="0" rtlCol="0" anchor="ctr"/>
          <a:lstStyle/>
          <a:p>
            <a:pPr indent="0" marL="0">
              <a:buNone/>
            </a:pPr>
            <a:r>
              <a:rPr lang="en-US" sz="1800" b="1" dirty="0">
                <a:solidFill>
                  <a:srgbClr val="E11D2E"/>
                </a:solidFill>
                <a:latin typeface="맑은 고딕" pitchFamily="34" charset="0"/>
                <a:ea typeface="맑은 고딕" pitchFamily="34" charset="-122"/>
                <a:cs typeface="맑은 고딕" pitchFamily="34" charset="-120"/>
              </a:rPr>
              <a:t>생산</a:t>
            </a:r>
            <a:endParaRPr lang="en-US" sz="1800" dirty="0"/>
          </a:p>
        </p:txBody>
      </p:sp>
      <p:sp>
        <p:nvSpPr>
          <p:cNvPr id="9" name="Text 7"/>
          <p:cNvSpPr txBox="1"/>
          <p:nvPr/>
        </p:nvSpPr>
        <p:spPr>
          <a:xfrm>
            <a:off x="841248" y="2176272"/>
            <a:ext cx="2944368" cy="292608"/>
          </a:xfrm>
          <a:prstGeom prst="rect">
            <a:avLst/>
          </a:prstGeom>
          <a:noFill/>
          <a:ln/>
        </p:spPr>
        <p:txBody>
          <a:bodyPr wrap="square" lIns="0" tIns="0" rIns="0" bIns="0" rtlCol="0" anchor="ctr"/>
          <a:lstStyle/>
          <a:p>
            <a:pPr indent="0" marL="0">
              <a:buNone/>
            </a:pPr>
            <a:r>
              <a:rPr lang="en-US" sz="1100" b="1" dirty="0">
                <a:solidFill>
                  <a:srgbClr val="5D6675"/>
                </a:solidFill>
                <a:latin typeface="맑은 고딕" pitchFamily="34" charset="0"/>
                <a:ea typeface="맑은 고딕" pitchFamily="34" charset="-122"/>
                <a:cs typeface="맑은 고딕" pitchFamily="34" charset="-120"/>
              </a:rPr>
              <a:t>시스템이 한다</a:t>
            </a:r>
            <a:endParaRPr lang="en-US" sz="1100" dirty="0"/>
          </a:p>
        </p:txBody>
      </p:sp>
      <p:sp>
        <p:nvSpPr>
          <p:cNvPr id="10" name="Text 8"/>
          <p:cNvSpPr txBox="1"/>
          <p:nvPr/>
        </p:nvSpPr>
        <p:spPr>
          <a:xfrm>
            <a:off x="841248"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엣지 추론 — 영상을 클라우드로 올리지 않고 카메라 단에서 숫자로 변환</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리포트 90% 자동 생성</a:t>
            </a:r>
            <a:endParaRPr lang="en-US" sz="1200" dirty="0"/>
          </a:p>
        </p:txBody>
      </p:sp>
      <p:sp>
        <p:nvSpPr>
          <p:cNvPr id="11" name="Shape 9"/>
          <p:cNvSpPr/>
          <p:nvPr/>
        </p:nvSpPr>
        <p:spPr>
          <a:xfrm>
            <a:off x="4270248" y="1572768"/>
            <a:ext cx="3529584" cy="2788920"/>
          </a:xfrm>
          <a:prstGeom prst="roundRect">
            <a:avLst>
              <a:gd name="adj" fmla="val 2295"/>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2" name="Text 10"/>
          <p:cNvSpPr txBox="1"/>
          <p:nvPr/>
        </p:nvSpPr>
        <p:spPr>
          <a:xfrm>
            <a:off x="4562856" y="1783080"/>
            <a:ext cx="2944368" cy="384048"/>
          </a:xfrm>
          <a:prstGeom prst="rect">
            <a:avLst/>
          </a:prstGeom>
          <a:noFill/>
          <a:ln/>
        </p:spPr>
        <p:txBody>
          <a:bodyPr wrap="square" lIns="0" tIns="0" rIns="0" bIns="0" rtlCol="0" anchor="ctr"/>
          <a:lstStyle/>
          <a:p>
            <a:pPr indent="0" marL="0">
              <a:buNone/>
            </a:pPr>
            <a:r>
              <a:rPr lang="en-US" sz="1800" b="1" dirty="0">
                <a:solidFill>
                  <a:srgbClr val="F2A33C"/>
                </a:solidFill>
                <a:latin typeface="맑은 고딕" pitchFamily="34" charset="0"/>
                <a:ea typeface="맑은 고딕" pitchFamily="34" charset="-122"/>
                <a:cs typeface="맑은 고딕" pitchFamily="34" charset="-120"/>
              </a:rPr>
              <a:t>문제해결</a:t>
            </a:r>
            <a:endParaRPr lang="en-US" sz="1800" dirty="0"/>
          </a:p>
        </p:txBody>
      </p:sp>
      <p:sp>
        <p:nvSpPr>
          <p:cNvPr id="13" name="Text 11"/>
          <p:cNvSpPr txBox="1"/>
          <p:nvPr/>
        </p:nvSpPr>
        <p:spPr>
          <a:xfrm>
            <a:off x="4562856" y="2176272"/>
            <a:ext cx="2944368" cy="292608"/>
          </a:xfrm>
          <a:prstGeom prst="rect">
            <a:avLst/>
          </a:prstGeom>
          <a:noFill/>
          <a:ln/>
        </p:spPr>
        <p:txBody>
          <a:bodyPr wrap="square" lIns="0" tIns="0" rIns="0" bIns="0" rtlCol="0" anchor="ctr"/>
          <a:lstStyle/>
          <a:p>
            <a:pPr indent="0" marL="0">
              <a:buNone/>
            </a:pPr>
            <a:r>
              <a:rPr lang="en-US" sz="1100" b="1" dirty="0">
                <a:solidFill>
                  <a:srgbClr val="A7AFBE"/>
                </a:solidFill>
                <a:latin typeface="맑은 고딕" pitchFamily="34" charset="0"/>
                <a:ea typeface="맑은 고딕" pitchFamily="34" charset="-122"/>
                <a:cs typeface="맑은 고딕" pitchFamily="34" charset="-120"/>
              </a:rPr>
              <a:t>사람이 한다 — 상품의 본체</a:t>
            </a:r>
            <a:endParaRPr lang="en-US" sz="1100" dirty="0"/>
          </a:p>
        </p:txBody>
      </p:sp>
      <p:sp>
        <p:nvSpPr>
          <p:cNvPr id="14" name="Text 12"/>
          <p:cNvSpPr txBox="1"/>
          <p:nvPr/>
        </p:nvSpPr>
        <p:spPr>
          <a:xfrm>
            <a:off x="4562856"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고객 인사이트 분석 (신규 비율·미구매자·교차구매)</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개선 처방 → 2~4주 적용 → POS 전후 검증</a:t>
            </a:r>
            <a:endParaRPr lang="en-US" sz="1200" dirty="0"/>
          </a:p>
        </p:txBody>
      </p:sp>
      <p:sp>
        <p:nvSpPr>
          <p:cNvPr id="15" name="Shape 13"/>
          <p:cNvSpPr/>
          <p:nvPr/>
        </p:nvSpPr>
        <p:spPr>
          <a:xfrm>
            <a:off x="7991856" y="1572768"/>
            <a:ext cx="3529584" cy="2788920"/>
          </a:xfrm>
          <a:prstGeom prst="roundRect">
            <a:avLst>
              <a:gd name="adj" fmla="val 2295"/>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6" name="Text 14"/>
          <p:cNvSpPr txBox="1"/>
          <p:nvPr/>
        </p:nvSpPr>
        <p:spPr>
          <a:xfrm>
            <a:off x="8284464" y="1783080"/>
            <a:ext cx="2944368" cy="384048"/>
          </a:xfrm>
          <a:prstGeom prst="rect">
            <a:avLst/>
          </a:prstGeom>
          <a:noFill/>
          <a:ln/>
        </p:spPr>
        <p:txBody>
          <a:bodyPr wrap="square" lIns="0" tIns="0" rIns="0" bIns="0" rtlCol="0" anchor="ctr"/>
          <a:lstStyle/>
          <a:p>
            <a:pPr indent="0" marL="0">
              <a:buNone/>
            </a:pPr>
            <a:r>
              <a:rPr lang="en-US" sz="1800" b="1" dirty="0">
                <a:solidFill>
                  <a:srgbClr val="E11D2E"/>
                </a:solidFill>
                <a:latin typeface="맑은 고딕" pitchFamily="34" charset="0"/>
                <a:ea typeface="맑은 고딕" pitchFamily="34" charset="-122"/>
                <a:cs typeface="맑은 고딕" pitchFamily="34" charset="-120"/>
              </a:rPr>
              <a:t>플랫폼</a:t>
            </a:r>
            <a:endParaRPr lang="en-US" sz="1800" dirty="0"/>
          </a:p>
        </p:txBody>
      </p:sp>
      <p:sp>
        <p:nvSpPr>
          <p:cNvPr id="17" name="Text 15"/>
          <p:cNvSpPr txBox="1"/>
          <p:nvPr/>
        </p:nvSpPr>
        <p:spPr>
          <a:xfrm>
            <a:off x="8284464" y="2176272"/>
            <a:ext cx="2944368" cy="292608"/>
          </a:xfrm>
          <a:prstGeom prst="rect">
            <a:avLst/>
          </a:prstGeom>
          <a:noFill/>
          <a:ln/>
        </p:spPr>
        <p:txBody>
          <a:bodyPr wrap="square" lIns="0" tIns="0" rIns="0" bIns="0" rtlCol="0" anchor="ctr"/>
          <a:lstStyle/>
          <a:p>
            <a:pPr indent="0" marL="0">
              <a:buNone/>
            </a:pPr>
            <a:r>
              <a:rPr lang="en-US" sz="1100" b="1" dirty="0">
                <a:solidFill>
                  <a:srgbClr val="5D6675"/>
                </a:solidFill>
                <a:latin typeface="맑은 고딕" pitchFamily="34" charset="0"/>
                <a:ea typeface="맑은 고딕" pitchFamily="34" charset="-122"/>
                <a:cs typeface="맑은 고딕" pitchFamily="34" charset="-120"/>
              </a:rPr>
              <a:t>시간이 한다</a:t>
            </a:r>
            <a:endParaRPr lang="en-US" sz="1100" dirty="0"/>
          </a:p>
        </p:txBody>
      </p:sp>
      <p:sp>
        <p:nvSpPr>
          <p:cNvPr id="18" name="Text 16"/>
          <p:cNvSpPr txBox="1"/>
          <p:nvPr/>
        </p:nvSpPr>
        <p:spPr>
          <a:xfrm>
            <a:off x="8284464"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카테고리 벤치마크 DB 축적</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L.POINT 리타게팅 운영 · 3사 데이터 결합 거버넌스</a:t>
            </a:r>
            <a:endParaRPr lang="en-US" sz="1200" dirty="0"/>
          </a:p>
        </p:txBody>
      </p:sp>
      <p:sp>
        <p:nvSpPr>
          <p:cNvPr id="19" name="Text 17"/>
          <p:cNvSpPr txBox="1"/>
          <p:nvPr/>
        </p:nvSpPr>
        <p:spPr>
          <a:xfrm>
            <a:off x="548640" y="4572000"/>
            <a:ext cx="11091672"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운영 원칙 · 핵심가치 Respect(존중) — 사람을 추적하지 않습니다. 공간을 측정합니다.</a:t>
            </a:r>
            <a:endParaRPr lang="en-US" sz="1300" dirty="0"/>
          </a:p>
        </p:txBody>
      </p:sp>
      <p:sp>
        <p:nvSpPr>
          <p:cNvPr id="20" name="Shape 18"/>
          <p:cNvSpPr/>
          <p:nvPr/>
        </p:nvSpPr>
        <p:spPr>
          <a:xfrm>
            <a:off x="548640" y="4956048"/>
            <a:ext cx="3529584" cy="1389888"/>
          </a:xfrm>
          <a:prstGeom prst="roundRect">
            <a:avLst>
              <a:gd name="adj" fmla="val 3289"/>
            </a:avLst>
          </a:prstGeom>
          <a:solidFill>
            <a:srgbClr val="EDF1F6"/>
          </a:solidFill>
          <a:ln w="12700">
            <a:solidFill>
              <a:srgbClr val="EDF1F6"/>
            </a:solidFill>
            <a:prstDash val="solid"/>
          </a:ln>
        </p:spPr>
      </p:sp>
      <p:sp>
        <p:nvSpPr>
          <p:cNvPr id="21" name="Text 19"/>
          <p:cNvSpPr txBox="1"/>
          <p:nvPr/>
        </p:nvSpPr>
        <p:spPr>
          <a:xfrm>
            <a:off x="804672" y="5029200"/>
            <a:ext cx="3017520" cy="274320"/>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Layer 1 · 공간</a:t>
            </a:r>
            <a:endParaRPr lang="en-US" sz="1200" dirty="0"/>
          </a:p>
        </p:txBody>
      </p:sp>
      <p:sp>
        <p:nvSpPr>
          <p:cNvPr id="22" name="Text 20"/>
          <p:cNvSpPr txBox="1"/>
          <p:nvPr/>
        </p:nvSpPr>
        <p:spPr>
          <a:xfrm>
            <a:off x="804672" y="5303520"/>
            <a:ext cx="3017520" cy="658368"/>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완전 익명 — 원본 미저장, 카메라 안에서 좌표·숫자로 변환.</a:t>
            </a:r>
            <a:endParaRPr lang="en-US" sz="1050" dirty="0"/>
          </a:p>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연령대·성별은 특징값 없이 속성값만 추출</a:t>
            </a:r>
            <a:endParaRPr lang="en-US" sz="1050" dirty="0"/>
          </a:p>
        </p:txBody>
      </p:sp>
      <p:sp>
        <p:nvSpPr>
          <p:cNvPr id="23" name="Text 21"/>
          <p:cNvSpPr txBox="1"/>
          <p:nvPr/>
        </p:nvSpPr>
        <p:spPr>
          <a:xfrm>
            <a:off x="804672" y="5998464"/>
            <a:ext cx="3017520" cy="256032"/>
          </a:xfrm>
          <a:prstGeom prst="rect">
            <a:avLst/>
          </a:prstGeom>
          <a:noFill/>
          <a:ln/>
        </p:spPr>
        <p:txBody>
          <a:bodyPr wrap="square" lIns="0" tIns="0" rIns="0" bIns="0" rtlCol="0" anchor="ctr"/>
          <a:lstStyle/>
          <a:p>
            <a:pPr indent="0" marL="0">
              <a:buNone/>
            </a:pPr>
            <a:r>
              <a:rPr lang="en-US" sz="1050" b="1" dirty="0">
                <a:solidFill>
                  <a:srgbClr val="E11D2E"/>
                </a:solidFill>
                <a:latin typeface="맑은 고딕" pitchFamily="34" charset="0"/>
                <a:ea typeface="맑은 고딕" pitchFamily="34" charset="-122"/>
                <a:cs typeface="맑은 고딕" pitchFamily="34" charset="-120"/>
              </a:rPr>
              <a:t>커버리지 = 방문자 100% (비회원 포함)</a:t>
            </a:r>
            <a:endParaRPr lang="en-US" sz="1050" dirty="0"/>
          </a:p>
        </p:txBody>
      </p:sp>
      <p:sp>
        <p:nvSpPr>
          <p:cNvPr id="24" name="Shape 22"/>
          <p:cNvSpPr/>
          <p:nvPr/>
        </p:nvSpPr>
        <p:spPr>
          <a:xfrm>
            <a:off x="4270248" y="4956048"/>
            <a:ext cx="3529584" cy="1389888"/>
          </a:xfrm>
          <a:prstGeom prst="roundRect">
            <a:avLst>
              <a:gd name="adj" fmla="val 3289"/>
            </a:avLst>
          </a:prstGeom>
          <a:solidFill>
            <a:srgbClr val="EDF1F6"/>
          </a:solidFill>
          <a:ln w="12700">
            <a:solidFill>
              <a:srgbClr val="EDF1F6"/>
            </a:solidFill>
            <a:prstDash val="solid"/>
          </a:ln>
        </p:spPr>
      </p:sp>
      <p:sp>
        <p:nvSpPr>
          <p:cNvPr id="25" name="Text 23"/>
          <p:cNvSpPr txBox="1"/>
          <p:nvPr/>
        </p:nvSpPr>
        <p:spPr>
          <a:xfrm>
            <a:off x="4526280" y="5029200"/>
            <a:ext cx="3017520" cy="274320"/>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Layer 2 · 고객</a:t>
            </a:r>
            <a:endParaRPr lang="en-US" sz="1200" dirty="0"/>
          </a:p>
        </p:txBody>
      </p:sp>
      <p:sp>
        <p:nvSpPr>
          <p:cNvPr id="26" name="Text 24"/>
          <p:cNvSpPr txBox="1"/>
          <p:nvPr/>
        </p:nvSpPr>
        <p:spPr>
          <a:xfrm>
            <a:off x="4526280" y="5303520"/>
            <a:ext cx="3017520" cy="658368"/>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동의 기반 — L.POINT 앱 체크인·QR·결제 적립 시에만 연결.</a:t>
            </a:r>
            <a:endParaRPr lang="en-US" sz="1050" dirty="0"/>
          </a:p>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여기서만 소비 이력·교차구매가 붙습니다</a:t>
            </a:r>
            <a:endParaRPr lang="en-US" sz="1050" dirty="0"/>
          </a:p>
        </p:txBody>
      </p:sp>
      <p:sp>
        <p:nvSpPr>
          <p:cNvPr id="27" name="Text 25"/>
          <p:cNvSpPr txBox="1"/>
          <p:nvPr/>
        </p:nvSpPr>
        <p:spPr>
          <a:xfrm>
            <a:off x="4526280" y="5998464"/>
            <a:ext cx="3017520" cy="256032"/>
          </a:xfrm>
          <a:prstGeom prst="rect">
            <a:avLst/>
          </a:prstGeom>
          <a:noFill/>
          <a:ln/>
        </p:spPr>
        <p:txBody>
          <a:bodyPr wrap="square" lIns="0" tIns="0" rIns="0" bIns="0" rtlCol="0" anchor="ctr"/>
          <a:lstStyle/>
          <a:p>
            <a:pPr indent="0" marL="0">
              <a:buNone/>
            </a:pPr>
            <a:r>
              <a:rPr lang="en-US" sz="1050" b="1" dirty="0">
                <a:solidFill>
                  <a:srgbClr val="E11D2E"/>
                </a:solidFill>
                <a:latin typeface="맑은 고딕" pitchFamily="34" charset="0"/>
                <a:ea typeface="맑은 고딕" pitchFamily="34" charset="-122"/>
                <a:cs typeface="맑은 고딕" pitchFamily="34" charset="-120"/>
              </a:rPr>
              <a:t>커버리지 = 동의 회원</a:t>
            </a:r>
            <a:endParaRPr lang="en-US" sz="1050" dirty="0"/>
          </a:p>
        </p:txBody>
      </p:sp>
      <p:sp>
        <p:nvSpPr>
          <p:cNvPr id="28" name="Shape 26"/>
          <p:cNvSpPr/>
          <p:nvPr/>
        </p:nvSpPr>
        <p:spPr>
          <a:xfrm>
            <a:off x="7991856" y="4956048"/>
            <a:ext cx="3529584" cy="1389888"/>
          </a:xfrm>
          <a:prstGeom prst="roundRect">
            <a:avLst>
              <a:gd name="adj" fmla="val 3289"/>
            </a:avLst>
          </a:prstGeom>
          <a:solidFill>
            <a:srgbClr val="EDF1F6"/>
          </a:solidFill>
          <a:ln w="12700">
            <a:solidFill>
              <a:srgbClr val="EDF1F6"/>
            </a:solidFill>
            <a:prstDash val="solid"/>
          </a:ln>
        </p:spPr>
      </p:sp>
      <p:sp>
        <p:nvSpPr>
          <p:cNvPr id="29" name="Text 27"/>
          <p:cNvSpPr txBox="1"/>
          <p:nvPr/>
        </p:nvSpPr>
        <p:spPr>
          <a:xfrm>
            <a:off x="8247888" y="5029200"/>
            <a:ext cx="3017520" cy="274320"/>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연결</a:t>
            </a:r>
            <a:endParaRPr lang="en-US" sz="1200" dirty="0"/>
          </a:p>
        </p:txBody>
      </p:sp>
      <p:sp>
        <p:nvSpPr>
          <p:cNvPr id="30" name="Text 28"/>
          <p:cNvSpPr txBox="1"/>
          <p:nvPr/>
        </p:nvSpPr>
        <p:spPr>
          <a:xfrm>
            <a:off x="8247888" y="5303520"/>
            <a:ext cx="3017520" cy="658368"/>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개인 단위가 아니라 시간대 × 구역 × 세그먼트 집계 단위로만</a:t>
            </a:r>
            <a:endParaRPr lang="en-US" sz="1050" dirty="0"/>
          </a:p>
        </p:txBody>
      </p:sp>
      <p:sp>
        <p:nvSpPr>
          <p:cNvPr id="31" name="Text 29"/>
          <p:cNvSpPr txBox="1"/>
          <p:nvPr/>
        </p:nvSpPr>
        <p:spPr>
          <a:xfrm>
            <a:off x="8247888" y="5998464"/>
            <a:ext cx="3017520" cy="256032"/>
          </a:xfrm>
          <a:prstGeom prst="rect">
            <a:avLst/>
          </a:prstGeom>
          <a:noFill/>
          <a:ln/>
        </p:spPr>
        <p:txBody>
          <a:bodyPr wrap="square" lIns="0" tIns="0" rIns="0" bIns="0" rtlCol="0" anchor="ctr"/>
          <a:lstStyle/>
          <a:p>
            <a:pPr indent="0" marL="0">
              <a:buNone/>
            </a:pPr>
            <a:r>
              <a:rPr lang="en-US" sz="1050" b="1" dirty="0">
                <a:solidFill>
                  <a:srgbClr val="E11D2E"/>
                </a:solidFill>
                <a:latin typeface="맑은 고딕" pitchFamily="34" charset="0"/>
                <a:ea typeface="맑은 고딕" pitchFamily="34" charset="-122"/>
                <a:cs typeface="맑은 고딕" pitchFamily="34" charset="-120"/>
              </a:rPr>
              <a:t>최소 집계 5명 미만 셀은 미표시</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08</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파트너  |  외부 파트너나 공급업체는 누구인가?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세 조각이 다 모여야 성립하는 사업입니다 — 그래서 지금까지 아무도 못 했습니다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Text 5"/>
          <p:cNvSpPr txBox="1"/>
          <p:nvPr/>
        </p:nvSpPr>
        <p:spPr>
          <a:xfrm>
            <a:off x="548640" y="1536192"/>
            <a:ext cx="45720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내부 3사 합작 · 그룹 시너지</a:t>
            </a:r>
            <a:endParaRPr lang="en-US" sz="1300" dirty="0"/>
          </a:p>
        </p:txBody>
      </p:sp>
      <p:sp>
        <p:nvSpPr>
          <p:cNvPr id="8" name="Shape 6"/>
          <p:cNvSpPr/>
          <p:nvPr/>
        </p:nvSpPr>
        <p:spPr>
          <a:xfrm>
            <a:off x="548640"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9" name="Text 7"/>
          <p:cNvSpPr txBox="1"/>
          <p:nvPr/>
        </p:nvSpPr>
        <p:spPr>
          <a:xfrm>
            <a:off x="841248"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롯데백화점</a:t>
            </a:r>
            <a:endParaRPr lang="en-US" sz="1700" dirty="0"/>
          </a:p>
        </p:txBody>
      </p:sp>
      <p:sp>
        <p:nvSpPr>
          <p:cNvPr id="10" name="Text 8"/>
          <p:cNvSpPr txBox="1"/>
          <p:nvPr/>
        </p:nvSpPr>
        <p:spPr>
          <a:xfrm>
            <a:off x="841248"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공간 · 트래픽 · POS · MD 지식</a:t>
            </a:r>
            <a:endParaRPr lang="en-US" sz="1300" dirty="0"/>
          </a:p>
        </p:txBody>
      </p:sp>
      <p:sp>
        <p:nvSpPr>
          <p:cNvPr id="11" name="Text 9"/>
          <p:cNvSpPr txBox="1"/>
          <p:nvPr/>
        </p:nvSpPr>
        <p:spPr>
          <a:xfrm>
            <a:off x="841248"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첫 고객이자 판매 채널</a:t>
            </a:r>
            <a:endParaRPr lang="en-US" sz="1100" dirty="0"/>
          </a:p>
        </p:txBody>
      </p:sp>
      <p:sp>
        <p:nvSpPr>
          <p:cNvPr id="12" name="Text 10"/>
          <p:cNvSpPr txBox="1"/>
          <p:nvPr/>
        </p:nvSpPr>
        <p:spPr>
          <a:xfrm>
            <a:off x="4078224" y="2468880"/>
            <a:ext cx="192024" cy="548640"/>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13" name="Shape 11"/>
          <p:cNvSpPr/>
          <p:nvPr/>
        </p:nvSpPr>
        <p:spPr>
          <a:xfrm>
            <a:off x="4270248"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14" name="Text 12"/>
          <p:cNvSpPr txBox="1"/>
          <p:nvPr/>
        </p:nvSpPr>
        <p:spPr>
          <a:xfrm>
            <a:off x="4562856"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롯데이노베이트</a:t>
            </a:r>
            <a:endParaRPr lang="en-US" sz="1700" dirty="0"/>
          </a:p>
        </p:txBody>
      </p:sp>
      <p:sp>
        <p:nvSpPr>
          <p:cNvPr id="15" name="Text 13"/>
          <p:cNvSpPr txBox="1"/>
          <p:nvPr/>
        </p:nvSpPr>
        <p:spPr>
          <a:xfrm>
            <a:off x="4562856"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비전 AI 엔진 · 엣지 인프라</a:t>
            </a:r>
            <a:endParaRPr lang="en-US" sz="1300" dirty="0"/>
          </a:p>
        </p:txBody>
      </p:sp>
      <p:sp>
        <p:nvSpPr>
          <p:cNvPr id="16" name="Text 14"/>
          <p:cNvSpPr txBox="1"/>
          <p:nvPr/>
        </p:nvSpPr>
        <p:spPr>
          <a:xfrm>
            <a:off x="4562856"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생산 담당</a:t>
            </a:r>
            <a:endParaRPr lang="en-US" sz="1100" dirty="0"/>
          </a:p>
        </p:txBody>
      </p:sp>
      <p:sp>
        <p:nvSpPr>
          <p:cNvPr id="17" name="Text 15"/>
          <p:cNvSpPr txBox="1"/>
          <p:nvPr/>
        </p:nvSpPr>
        <p:spPr>
          <a:xfrm>
            <a:off x="7799832" y="2468880"/>
            <a:ext cx="192024" cy="548640"/>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18" name="Shape 16"/>
          <p:cNvSpPr/>
          <p:nvPr/>
        </p:nvSpPr>
        <p:spPr>
          <a:xfrm>
            <a:off x="7991856"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19" name="Text 17"/>
          <p:cNvSpPr txBox="1"/>
          <p:nvPr/>
        </p:nvSpPr>
        <p:spPr>
          <a:xfrm>
            <a:off x="8284464"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롯데멤버스</a:t>
            </a:r>
            <a:endParaRPr lang="en-US" sz="1700" dirty="0"/>
          </a:p>
        </p:txBody>
      </p:sp>
      <p:sp>
        <p:nvSpPr>
          <p:cNvPr id="20" name="Text 18"/>
          <p:cNvSpPr txBox="1"/>
          <p:nvPr/>
        </p:nvSpPr>
        <p:spPr>
          <a:xfrm>
            <a:off x="8284464"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L.POINT 소비 이력 · 도달 채널</a:t>
            </a:r>
            <a:endParaRPr lang="en-US" sz="1300" dirty="0"/>
          </a:p>
        </p:txBody>
      </p:sp>
      <p:sp>
        <p:nvSpPr>
          <p:cNvPr id="21" name="Text 19"/>
          <p:cNvSpPr txBox="1"/>
          <p:nvPr/>
        </p:nvSpPr>
        <p:spPr>
          <a:xfrm>
            <a:off x="8284464"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인사이트와 실행 담당</a:t>
            </a:r>
            <a:endParaRPr lang="en-US" sz="1100" dirty="0"/>
          </a:p>
        </p:txBody>
      </p:sp>
      <p:sp>
        <p:nvSpPr>
          <p:cNvPr id="22" name="Text 20"/>
          <p:cNvSpPr txBox="1"/>
          <p:nvPr/>
        </p:nvSpPr>
        <p:spPr>
          <a:xfrm>
            <a:off x="548640" y="3886200"/>
            <a:ext cx="36576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외부 파트너</a:t>
            </a:r>
            <a:endParaRPr lang="en-US" sz="1300" dirty="0"/>
          </a:p>
        </p:txBody>
      </p:sp>
      <p:sp>
        <p:nvSpPr>
          <p:cNvPr id="23" name="Shape 21"/>
          <p:cNvSpPr/>
          <p:nvPr/>
        </p:nvSpPr>
        <p:spPr>
          <a:xfrm>
            <a:off x="548640" y="4251960"/>
            <a:ext cx="3529584" cy="1371600"/>
          </a:xfrm>
          <a:prstGeom prst="roundRect">
            <a:avLst>
              <a:gd name="adj" fmla="val 3333"/>
            </a:avLst>
          </a:prstGeom>
          <a:solidFill>
            <a:srgbClr val="F6F7F9"/>
          </a:solidFill>
          <a:ln w="12700">
            <a:solidFill>
              <a:srgbClr val="E3E6EB"/>
            </a:solidFill>
            <a:prstDash val="solid"/>
          </a:ln>
        </p:spPr>
      </p:sp>
      <p:sp>
        <p:nvSpPr>
          <p:cNvPr id="24" name="Text 22"/>
          <p:cNvSpPr txBox="1"/>
          <p:nvPr/>
        </p:nvSpPr>
        <p:spPr>
          <a:xfrm>
            <a:off x="822960"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비전 AI 엔진 벤더</a:t>
            </a:r>
            <a:endParaRPr lang="en-US" sz="1300" dirty="0"/>
          </a:p>
        </p:txBody>
      </p:sp>
      <p:sp>
        <p:nvSpPr>
          <p:cNvPr id="25" name="Text 23"/>
          <p:cNvSpPr txBox="1"/>
          <p:nvPr/>
        </p:nvSpPr>
        <p:spPr>
          <a:xfrm>
            <a:off x="822960"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라이선스 또는 M&amp;A — Build/Buy 병행 검토. 엔진은 사고, 데이터 결합과 검증 루프는 직접 만든다</a:t>
            </a:r>
            <a:endParaRPr lang="en-US" sz="1100" dirty="0"/>
          </a:p>
        </p:txBody>
      </p:sp>
      <p:sp>
        <p:nvSpPr>
          <p:cNvPr id="26" name="Shape 24"/>
          <p:cNvSpPr/>
          <p:nvPr/>
        </p:nvSpPr>
        <p:spPr>
          <a:xfrm>
            <a:off x="4270248" y="4251960"/>
            <a:ext cx="3529584" cy="1371600"/>
          </a:xfrm>
          <a:prstGeom prst="roundRect">
            <a:avLst>
              <a:gd name="adj" fmla="val 3333"/>
            </a:avLst>
          </a:prstGeom>
          <a:solidFill>
            <a:srgbClr val="F6F7F9"/>
          </a:solidFill>
          <a:ln w="12700">
            <a:solidFill>
              <a:srgbClr val="E3E6EB"/>
            </a:solidFill>
            <a:prstDash val="solid"/>
          </a:ln>
        </p:spPr>
      </p:sp>
      <p:sp>
        <p:nvSpPr>
          <p:cNvPr id="27" name="Text 25"/>
          <p:cNvSpPr txBox="1"/>
          <p:nvPr/>
        </p:nvSpPr>
        <p:spPr>
          <a:xfrm>
            <a:off x="4544568"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외부 VMD 디자이너</a:t>
            </a:r>
            <a:endParaRPr lang="en-US" sz="1300" dirty="0"/>
          </a:p>
        </p:txBody>
      </p:sp>
      <p:sp>
        <p:nvSpPr>
          <p:cNvPr id="28" name="Text 26"/>
          <p:cNvSpPr txBox="1"/>
          <p:nvPr/>
        </p:nvSpPr>
        <p:spPr>
          <a:xfrm>
            <a:off x="4544568"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컨설팅 건당 변동비(400만원)로 유연하게 조달</a:t>
            </a:r>
            <a:endParaRPr lang="en-US" sz="1100" dirty="0"/>
          </a:p>
        </p:txBody>
      </p:sp>
      <p:sp>
        <p:nvSpPr>
          <p:cNvPr id="29" name="Shape 27"/>
          <p:cNvSpPr/>
          <p:nvPr/>
        </p:nvSpPr>
        <p:spPr>
          <a:xfrm>
            <a:off x="7991856" y="4251960"/>
            <a:ext cx="3529584" cy="1371600"/>
          </a:xfrm>
          <a:prstGeom prst="roundRect">
            <a:avLst>
              <a:gd name="adj" fmla="val 3333"/>
            </a:avLst>
          </a:prstGeom>
          <a:solidFill>
            <a:srgbClr val="F6F7F9"/>
          </a:solidFill>
          <a:ln w="12700">
            <a:solidFill>
              <a:srgbClr val="E3E6EB"/>
            </a:solidFill>
            <a:prstDash val="solid"/>
          </a:ln>
        </p:spPr>
      </p:sp>
      <p:sp>
        <p:nvSpPr>
          <p:cNvPr id="30" name="Text 28"/>
          <p:cNvSpPr txBox="1"/>
          <p:nvPr/>
        </p:nvSpPr>
        <p:spPr>
          <a:xfrm>
            <a:off x="8266176"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법무 · DPO · 개인정보 영향평가</a:t>
            </a:r>
            <a:endParaRPr lang="en-US" sz="1300" dirty="0"/>
          </a:p>
        </p:txBody>
      </p:sp>
      <p:sp>
        <p:nvSpPr>
          <p:cNvPr id="31" name="Text 29"/>
          <p:cNvSpPr txBox="1"/>
          <p:nvPr/>
        </p:nvSpPr>
        <p:spPr>
          <a:xfrm>
            <a:off x="8266176"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착수 전 마일스톤 1번. 2계층 설계의 법적 검토</a:t>
            </a:r>
            <a:endParaRPr lang="en-US" sz="1100" dirty="0"/>
          </a:p>
        </p:txBody>
      </p:sp>
      <p:sp>
        <p:nvSpPr>
          <p:cNvPr id="32" name="Text 30"/>
          <p:cNvSpPr txBox="1"/>
          <p:nvPr/>
        </p:nvSpPr>
        <p:spPr>
          <a:xfrm>
            <a:off x="548640" y="5852160"/>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조직: 3사 합작 TF → 성과 검증 후 분사(Spin-off) 옵션   ·   한 사만으로는 만들 수 없는, 그룹이어야 가능한 사업입니다</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09</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비용 구조  |  가장 큰 비용 항목은?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가장 큰 항목은 인건비 — 의도된 구조입니다. 클라우드 비용은 엣지로 1/10</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graphicFrame>
        <p:nvGraphicFramePr>
          <p:cNvPr id="7" name="Chart 0" descr=""/>
          <p:cNvGraphicFramePr/>
          <p:nvPr/>
        </p:nvGraphicFramePr>
        <p:xfrm>
          <a:off x="548640" y="155448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75120" y="1554480"/>
            <a:ext cx="4965192" cy="1783080"/>
          </a:xfrm>
          <a:prstGeom prst="roundRect">
            <a:avLst>
              <a:gd name="adj" fmla="val 3077"/>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9" name="Text 6"/>
          <p:cNvSpPr txBox="1"/>
          <p:nvPr/>
        </p:nvSpPr>
        <p:spPr>
          <a:xfrm>
            <a:off x="6995160" y="1719072"/>
            <a:ext cx="4389120" cy="292608"/>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고정비  (Y1 → Y3, 억원)</a:t>
            </a:r>
            <a:endParaRPr lang="en-US" sz="1200" dirty="0"/>
          </a:p>
        </p:txBody>
      </p:sp>
      <p:sp>
        <p:nvSpPr>
          <p:cNvPr id="10" name="Text 7"/>
          <p:cNvSpPr txBox="1"/>
          <p:nvPr/>
        </p:nvSpPr>
        <p:spPr>
          <a:xfrm>
            <a:off x="6995160" y="2057400"/>
            <a:ext cx="4434840" cy="1234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1" name="Shape 8"/>
          <p:cNvSpPr/>
          <p:nvPr/>
        </p:nvSpPr>
        <p:spPr>
          <a:xfrm>
            <a:off x="6675120" y="3474720"/>
            <a:ext cx="4965192" cy="1828800"/>
          </a:xfrm>
          <a:prstGeom prst="roundRect">
            <a:avLst>
              <a:gd name="adj" fmla="val 300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2" name="Text 9"/>
          <p:cNvSpPr txBox="1"/>
          <p:nvPr/>
        </p:nvSpPr>
        <p:spPr>
          <a:xfrm>
            <a:off x="6995160" y="3639312"/>
            <a:ext cx="4389120" cy="292608"/>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변동비  (단위 원가)</a:t>
            </a:r>
            <a:endParaRPr lang="en-US" sz="1200" dirty="0"/>
          </a:p>
        </p:txBody>
      </p:sp>
      <p:sp>
        <p:nvSpPr>
          <p:cNvPr id="13" name="Text 10"/>
          <p:cNvSpPr txBox="1"/>
          <p:nvPr/>
        </p:nvSpPr>
        <p:spPr>
          <a:xfrm>
            <a:off x="6995160" y="3977640"/>
            <a:ext cx="4434840" cy="12801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4" name="Shape 11"/>
          <p:cNvSpPr/>
          <p:nvPr/>
        </p:nvSpPr>
        <p:spPr>
          <a:xfrm>
            <a:off x="548640" y="5532120"/>
            <a:ext cx="11091672" cy="777240"/>
          </a:xfrm>
          <a:prstGeom prst="roundRect">
            <a:avLst>
              <a:gd name="adj" fmla="val 7059"/>
            </a:avLst>
          </a:prstGeom>
          <a:solidFill>
            <a:srgbClr val="101420"/>
          </a:solidFill>
          <a:ln/>
        </p:spPr>
      </p:sp>
      <p:sp>
        <p:nvSpPr>
          <p:cNvPr id="15" name="Text 12"/>
          <p:cNvSpPr txBox="1"/>
          <p:nvPr/>
        </p:nvSpPr>
        <p:spPr>
          <a:xfrm>
            <a:off x="914400" y="5532120"/>
            <a:ext cx="10424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경쟁사가 못 넘은 벽은 원가 구조였습니다.  매장이 10배 늘어도 비용은 10배 늘지 않습니다.</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310896"/>
          </a:xfrm>
          <a:prstGeom prst="rect">
            <a:avLst/>
          </a:prstGeom>
          <a:noFill/>
          <a:ln/>
        </p:spPr>
        <p:txBody>
          <a:bodyPr wrap="square" lIns="0" tIns="0" rIns="0" bIns="0" rtlCol="0" anchor="ctr"/>
          <a:lstStyle/>
          <a:p>
            <a:pPr indent="0" marL="0">
              <a:buNone/>
            </a:pPr>
            <a:r>
              <a:rPr lang="en-US" sz="1200" b="1" spc="200" kern="0" dirty="0">
                <a:solidFill>
                  <a:srgbClr val="F2A33C"/>
                </a:solidFill>
                <a:latin typeface="맑은 고딕" pitchFamily="34" charset="0"/>
                <a:ea typeface="맑은 고딕" pitchFamily="34" charset="-122"/>
                <a:cs typeface="맑은 고딕" pitchFamily="34" charset="-120"/>
              </a:rPr>
              <a:t>실행 로드맵</a:t>
            </a:r>
            <a:endParaRPr lang="en-US" sz="1200" dirty="0"/>
          </a:p>
        </p:txBody>
      </p:sp>
      <p:sp>
        <p:nvSpPr>
          <p:cNvPr id="3" name="Shape 1"/>
          <p:cNvSpPr/>
          <p:nvPr/>
        </p:nvSpPr>
        <p:spPr>
          <a:xfrm>
            <a:off x="822960" y="1051560"/>
            <a:ext cx="2560320" cy="1234440"/>
          </a:xfrm>
          <a:prstGeom prst="roundRect">
            <a:avLst>
              <a:gd name="adj" fmla="val 4444"/>
            </a:avLst>
          </a:prstGeom>
          <a:solidFill>
            <a:srgbClr val="1B2130"/>
          </a:solidFill>
          <a:ln/>
        </p:spPr>
      </p:sp>
      <p:sp>
        <p:nvSpPr>
          <p:cNvPr id="4" name="Text 2"/>
          <p:cNvSpPr txBox="1"/>
          <p:nvPr/>
        </p:nvSpPr>
        <p:spPr>
          <a:xfrm>
            <a:off x="1051560" y="1170432"/>
            <a:ext cx="2103120" cy="310896"/>
          </a:xfrm>
          <a:prstGeom prst="rect">
            <a:avLst/>
          </a:prstGeom>
          <a:noFill/>
          <a:ln/>
        </p:spPr>
        <p:txBody>
          <a:bodyPr wrap="square" lIns="0" tIns="0" rIns="0" bIns="0" rtlCol="0" anchor="ctr"/>
          <a:lstStyle/>
          <a:p>
            <a:pPr indent="0" marL="0">
              <a:buNone/>
            </a:pPr>
            <a:r>
              <a:rPr lang="en-US" sz="1400" b="1" dirty="0">
                <a:solidFill>
                  <a:srgbClr val="F2A33C"/>
                </a:solidFill>
                <a:latin typeface="맑은 고딕" pitchFamily="34" charset="0"/>
                <a:ea typeface="맑은 고딕" pitchFamily="34" charset="-122"/>
                <a:cs typeface="맑은 고딕" pitchFamily="34" charset="-120"/>
              </a:rPr>
              <a:t>Phase 0</a:t>
            </a:r>
            <a:endParaRPr lang="en-US" sz="1400" dirty="0"/>
          </a:p>
        </p:txBody>
      </p:sp>
      <p:sp>
        <p:nvSpPr>
          <p:cNvPr id="5" name="Text 3"/>
          <p:cNvSpPr txBox="1"/>
          <p:nvPr/>
        </p:nvSpPr>
        <p:spPr>
          <a:xfrm>
            <a:off x="10515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0~3개월</a:t>
            </a:r>
            <a:endParaRPr lang="en-US" sz="1000" dirty="0"/>
          </a:p>
        </p:txBody>
      </p:sp>
      <p:sp>
        <p:nvSpPr>
          <p:cNvPr id="6" name="Text 4"/>
          <p:cNvSpPr txBox="1"/>
          <p:nvPr/>
        </p:nvSpPr>
        <p:spPr>
          <a:xfrm>
            <a:off x="10515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롯데 내부 도입 · 10개점 파일럿</a:t>
            </a:r>
            <a:endParaRPr lang="en-US" sz="1100" dirty="0"/>
          </a:p>
        </p:txBody>
      </p:sp>
      <p:sp>
        <p:nvSpPr>
          <p:cNvPr id="7" name="Shape 5"/>
          <p:cNvSpPr/>
          <p:nvPr/>
        </p:nvSpPr>
        <p:spPr>
          <a:xfrm>
            <a:off x="3566160" y="1051560"/>
            <a:ext cx="2560320" cy="1234440"/>
          </a:xfrm>
          <a:prstGeom prst="roundRect">
            <a:avLst>
              <a:gd name="adj" fmla="val 4444"/>
            </a:avLst>
          </a:prstGeom>
          <a:solidFill>
            <a:srgbClr val="1B2130"/>
          </a:solidFill>
          <a:ln/>
        </p:spPr>
      </p:sp>
      <p:sp>
        <p:nvSpPr>
          <p:cNvPr id="8" name="Text 6"/>
          <p:cNvSpPr txBox="1"/>
          <p:nvPr/>
        </p:nvSpPr>
        <p:spPr>
          <a:xfrm>
            <a:off x="37947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1</a:t>
            </a:r>
            <a:endParaRPr lang="en-US" sz="1400" dirty="0"/>
          </a:p>
        </p:txBody>
      </p:sp>
      <p:sp>
        <p:nvSpPr>
          <p:cNvPr id="9" name="Text 7"/>
          <p:cNvSpPr txBox="1"/>
          <p:nvPr/>
        </p:nvSpPr>
        <p:spPr>
          <a:xfrm>
            <a:off x="37947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4~12개월</a:t>
            </a:r>
            <a:endParaRPr lang="en-US" sz="1000" dirty="0"/>
          </a:p>
        </p:txBody>
      </p:sp>
      <p:sp>
        <p:nvSpPr>
          <p:cNvPr id="10" name="Text 8"/>
          <p:cNvSpPr txBox="1"/>
          <p:nvPr/>
        </p:nvSpPr>
        <p:spPr>
          <a:xfrm>
            <a:off x="37947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팝업 유료 판매 · 검증 케이스 3건</a:t>
            </a:r>
            <a:endParaRPr lang="en-US" sz="1100" dirty="0"/>
          </a:p>
        </p:txBody>
      </p:sp>
      <p:sp>
        <p:nvSpPr>
          <p:cNvPr id="11" name="Shape 9"/>
          <p:cNvSpPr/>
          <p:nvPr/>
        </p:nvSpPr>
        <p:spPr>
          <a:xfrm>
            <a:off x="6309360" y="1051560"/>
            <a:ext cx="2560320" cy="1234440"/>
          </a:xfrm>
          <a:prstGeom prst="roundRect">
            <a:avLst>
              <a:gd name="adj" fmla="val 4444"/>
            </a:avLst>
          </a:prstGeom>
          <a:solidFill>
            <a:srgbClr val="1B2130"/>
          </a:solidFill>
          <a:ln/>
        </p:spPr>
      </p:sp>
      <p:sp>
        <p:nvSpPr>
          <p:cNvPr id="12" name="Text 10"/>
          <p:cNvSpPr txBox="1"/>
          <p:nvPr/>
        </p:nvSpPr>
        <p:spPr>
          <a:xfrm>
            <a:off x="65379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2</a:t>
            </a:r>
            <a:endParaRPr lang="en-US" sz="1400" dirty="0"/>
          </a:p>
        </p:txBody>
      </p:sp>
      <p:sp>
        <p:nvSpPr>
          <p:cNvPr id="13" name="Text 11"/>
          <p:cNvSpPr txBox="1"/>
          <p:nvPr/>
        </p:nvSpPr>
        <p:spPr>
          <a:xfrm>
            <a:off x="65379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13~24개월</a:t>
            </a:r>
            <a:endParaRPr lang="en-US" sz="1000" dirty="0"/>
          </a:p>
        </p:txBody>
      </p:sp>
      <p:sp>
        <p:nvSpPr>
          <p:cNvPr id="14" name="Text 12"/>
          <p:cNvSpPr txBox="1"/>
          <p:nvPr/>
        </p:nvSpPr>
        <p:spPr>
          <a:xfrm>
            <a:off x="65379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전점 확산 · 구독 · 리타게팅</a:t>
            </a:r>
            <a:endParaRPr lang="en-US" sz="1100" dirty="0"/>
          </a:p>
        </p:txBody>
      </p:sp>
      <p:sp>
        <p:nvSpPr>
          <p:cNvPr id="15" name="Shape 13"/>
          <p:cNvSpPr/>
          <p:nvPr/>
        </p:nvSpPr>
        <p:spPr>
          <a:xfrm>
            <a:off x="9052560" y="1051560"/>
            <a:ext cx="2560320" cy="1234440"/>
          </a:xfrm>
          <a:prstGeom prst="roundRect">
            <a:avLst>
              <a:gd name="adj" fmla="val 4444"/>
            </a:avLst>
          </a:prstGeom>
          <a:solidFill>
            <a:srgbClr val="1B2130"/>
          </a:solidFill>
          <a:ln/>
        </p:spPr>
      </p:sp>
      <p:sp>
        <p:nvSpPr>
          <p:cNvPr id="16" name="Text 14"/>
          <p:cNvSpPr txBox="1"/>
          <p:nvPr/>
        </p:nvSpPr>
        <p:spPr>
          <a:xfrm>
            <a:off x="92811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3</a:t>
            </a:r>
            <a:endParaRPr lang="en-US" sz="1400" dirty="0"/>
          </a:p>
        </p:txBody>
      </p:sp>
      <p:sp>
        <p:nvSpPr>
          <p:cNvPr id="17" name="Text 15"/>
          <p:cNvSpPr txBox="1"/>
          <p:nvPr/>
        </p:nvSpPr>
        <p:spPr>
          <a:xfrm>
            <a:off x="92811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25~36개월</a:t>
            </a:r>
            <a:endParaRPr lang="en-US" sz="1000" dirty="0"/>
          </a:p>
        </p:txBody>
      </p:sp>
      <p:sp>
        <p:nvSpPr>
          <p:cNvPr id="18" name="Text 16"/>
          <p:cNvSpPr txBox="1"/>
          <p:nvPr/>
        </p:nvSpPr>
        <p:spPr>
          <a:xfrm>
            <a:off x="92811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계열사 · 해외 롯데몰 · 외부</a:t>
            </a:r>
            <a:endParaRPr lang="en-US" sz="1100" dirty="0"/>
          </a:p>
        </p:txBody>
      </p:sp>
      <p:sp>
        <p:nvSpPr>
          <p:cNvPr id="19" name="Text 17"/>
          <p:cNvSpPr txBox="1"/>
          <p:nvPr/>
        </p:nvSpPr>
        <p:spPr>
          <a:xfrm>
            <a:off x="822960" y="2926080"/>
            <a:ext cx="10515600" cy="731520"/>
          </a:xfrm>
          <a:prstGeom prst="rect">
            <a:avLst/>
          </a:prstGeom>
          <a:noFill/>
          <a:ln/>
        </p:spPr>
        <p:txBody>
          <a:bodyPr wrap="square" lIns="0" tIns="0" rIns="0" bIns="0" rtlCol="0" anchor="ctr"/>
          <a:lstStyle/>
          <a:p>
            <a:pPr indent="0" marL="0">
              <a:buNone/>
            </a:pPr>
            <a:r>
              <a:rPr lang="en-US" sz="3600" b="1" dirty="0">
                <a:solidFill>
                  <a:srgbClr val="A7AFBE"/>
                </a:solidFill>
                <a:latin typeface="맑은 고딕" pitchFamily="34" charset="0"/>
                <a:ea typeface="맑은 고딕" pitchFamily="34" charset="-122"/>
                <a:cs typeface="맑은 고딕" pitchFamily="34" charset="-120"/>
              </a:rPr>
              <a:t>브랜드는 자기가 판 것만 압니다.</a:t>
            </a:r>
            <a:endParaRPr lang="en-US" sz="3600" dirty="0"/>
          </a:p>
        </p:txBody>
      </p:sp>
      <p:sp>
        <p:nvSpPr>
          <p:cNvPr id="20" name="Text 18"/>
          <p:cNvSpPr txBox="1"/>
          <p:nvPr/>
        </p:nvSpPr>
        <p:spPr>
          <a:xfrm>
            <a:off x="822960" y="365760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600" dirty="0"/>
          </a:p>
        </p:txBody>
      </p:sp>
      <p:sp>
        <p:nvSpPr>
          <p:cNvPr id="21" name="Text 19"/>
          <p:cNvSpPr txBox="1"/>
          <p:nvPr/>
        </p:nvSpPr>
        <p:spPr>
          <a:xfrm>
            <a:off x="822960" y="4617720"/>
            <a:ext cx="10515600" cy="384048"/>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매일 삭제되던 97명의 데이터를 — 브랜드에게는 성장의 답으로 · 고객에게는 더 나은 매장 경험으로 · 롯데에게는 새로운 수익으로</a:t>
            </a:r>
            <a:endParaRPr lang="en-US" sz="1500" dirty="0"/>
          </a:p>
        </p:txBody>
      </p:sp>
      <p:sp>
        <p:nvSpPr>
          <p:cNvPr id="22" name="Shape 20"/>
          <p:cNvSpPr/>
          <p:nvPr/>
        </p:nvSpPr>
        <p:spPr>
          <a:xfrm>
            <a:off x="822960" y="5303520"/>
            <a:ext cx="7680960" cy="868680"/>
          </a:xfrm>
          <a:prstGeom prst="roundRect">
            <a:avLst>
              <a:gd name="adj" fmla="val 6316"/>
            </a:avLst>
          </a:prstGeom>
          <a:solidFill>
            <a:srgbClr val="1B2130"/>
          </a:solidFill>
          <a:ln/>
        </p:spPr>
      </p:sp>
      <p:sp>
        <p:nvSpPr>
          <p:cNvPr id="23" name="Text 21"/>
          <p:cNvSpPr txBox="1"/>
          <p:nvPr/>
        </p:nvSpPr>
        <p:spPr>
          <a:xfrm>
            <a:off x="1188720" y="5303520"/>
            <a:ext cx="7040880" cy="868680"/>
          </a:xfrm>
          <a:prstGeom prst="rect">
            <a:avLst/>
          </a:prstGeom>
          <a:noFill/>
          <a:ln/>
        </p:spPr>
        <p:txBody>
          <a:bodyPr wrap="square" lIns="0" tIns="0" rIns="0" bIns="0" rtlCol="0" anchor="ctr"/>
          <a:lstStyle/>
          <a:p>
            <a:pPr indent="0" marL="0">
              <a:buNone/>
            </a:pPr>
            <a:r>
              <a:rPr lang="en-US" sz="1900" b="1" dirty="0">
                <a:solidFill>
                  <a:srgbClr val="F2A33C"/>
                </a:solidFill>
                <a:latin typeface="맑은 고딕" pitchFamily="34" charset="0"/>
                <a:ea typeface="맑은 고딕" pitchFamily="34" charset="-122"/>
                <a:cs typeface="맑은 고딕" pitchFamily="34" charset="-120"/>
              </a:rPr>
              <a:t>온라인에 GA가 있다면,  오프라인에는 L.GA가 있습니다.</a:t>
            </a:r>
            <a:endParaRPr lang="en-US" sz="1900" dirty="0"/>
          </a:p>
        </p:txBody>
      </p:sp>
      <p:sp>
        <p:nvSpPr>
          <p:cNvPr id="24" name="Shape 22"/>
          <p:cNvSpPr/>
          <p:nvPr/>
        </p:nvSpPr>
        <p:spPr>
          <a:xfrm>
            <a:off x="8732520" y="5303520"/>
            <a:ext cx="2606040" cy="868680"/>
          </a:xfrm>
          <a:prstGeom prst="roundRect">
            <a:avLst>
              <a:gd name="adj" fmla="val 6316"/>
            </a:avLst>
          </a:prstGeom>
          <a:solidFill>
            <a:srgbClr val="1B2130"/>
          </a:solidFill>
          <a:ln/>
        </p:spPr>
      </p:sp>
      <p:sp>
        <p:nvSpPr>
          <p:cNvPr id="25" name="Text 23"/>
          <p:cNvSpPr txBox="1"/>
          <p:nvPr/>
        </p:nvSpPr>
        <p:spPr>
          <a:xfrm>
            <a:off x="8732520" y="5303520"/>
            <a:ext cx="2606040" cy="868680"/>
          </a:xfrm>
          <a:prstGeom prst="rect">
            <a:avLst/>
          </a:prstGeom>
          <a:noFill/>
          <a:ln/>
        </p:spPr>
        <p:txBody>
          <a:bodyPr wrap="square" lIns="0" tIns="0" rIns="0" bIns="0" rtlCol="0" anchor="ctr"/>
          <a:lstStyle/>
          <a:p>
            <a:pPr algn="ctr" indent="0" marL="0">
              <a:lnSpc>
                <a:spcPts val="1700"/>
              </a:lnSpc>
              <a:buNone/>
            </a:pPr>
            <a:r>
              <a:rPr lang="en-US" sz="1250" b="1" dirty="0">
                <a:solidFill>
                  <a:srgbClr val="A7AFBE"/>
                </a:solidFill>
                <a:latin typeface="맑은 고딕" pitchFamily="34" charset="0"/>
                <a:ea typeface="맑은 고딕" pitchFamily="34" charset="-122"/>
                <a:cs typeface="맑은 고딕" pitchFamily="34" charset="-120"/>
              </a:rPr>
              <a:t>Lifetime</a:t>
            </a:r>
            <a:endParaRPr lang="en-US" sz="1250" dirty="0"/>
          </a:p>
          <a:p>
            <a:pPr algn="ctr" indent="0" marL="0">
              <a:lnSpc>
                <a:spcPts val="1700"/>
              </a:lnSpc>
              <a:buNone/>
            </a:pPr>
            <a:r>
              <a:rPr lang="en-US" sz="1250" b="1" dirty="0">
                <a:solidFill>
                  <a:srgbClr val="A7AFBE"/>
                </a:solidFill>
                <a:latin typeface="맑은 고딕" pitchFamily="34" charset="0"/>
                <a:ea typeface="맑은 고딕" pitchFamily="34" charset="-122"/>
                <a:cs typeface="맑은 고딕" pitchFamily="34" charset="-120"/>
              </a:rPr>
              <a:t>Value Creator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Q&amp;A</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리스크와 대응</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백업 슬라이드 — Q&amp;A 대응용</a:t>
            </a:r>
            <a:endParaRPr lang="en-US" sz="1300" dirty="0"/>
          </a:p>
        </p:txBody>
      </p:sp>
      <p:sp>
        <p:nvSpPr>
          <p:cNvPr id="6" name="Shape 4"/>
          <p:cNvSpPr/>
          <p:nvPr/>
        </p:nvSpPr>
        <p:spPr>
          <a:xfrm>
            <a:off x="548640" y="1591056"/>
            <a:ext cx="11091672" cy="658368"/>
          </a:xfrm>
          <a:prstGeom prst="roundRect">
            <a:avLst>
              <a:gd name="adj" fmla="val 6944"/>
            </a:avLst>
          </a:prstGeom>
          <a:solidFill>
            <a:srgbClr val="FFFFFF"/>
          </a:solidFill>
          <a:ln w="12700">
            <a:solidFill>
              <a:srgbClr val="E3E6EB"/>
            </a:solidFill>
            <a:prstDash val="solid"/>
          </a:ln>
        </p:spPr>
      </p:sp>
      <p:sp>
        <p:nvSpPr>
          <p:cNvPr id="7" name="Text 5"/>
          <p:cNvSpPr txBox="1"/>
          <p:nvPr/>
        </p:nvSpPr>
        <p:spPr>
          <a:xfrm>
            <a:off x="841248" y="159105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개인정보 규제</a:t>
            </a:r>
            <a:endParaRPr lang="en-US" sz="1400" dirty="0"/>
          </a:p>
        </p:txBody>
      </p:sp>
      <p:sp>
        <p:nvSpPr>
          <p:cNvPr id="8" name="Text 6"/>
          <p:cNvSpPr txBox="1"/>
          <p:nvPr/>
        </p:nvSpPr>
        <p:spPr>
          <a:xfrm>
            <a:off x="3794760" y="159105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200" dirty="0"/>
          </a:p>
        </p:txBody>
      </p:sp>
      <p:sp>
        <p:nvSpPr>
          <p:cNvPr id="9" name="Shape 7"/>
          <p:cNvSpPr/>
          <p:nvPr/>
        </p:nvSpPr>
        <p:spPr>
          <a:xfrm>
            <a:off x="548640" y="2340864"/>
            <a:ext cx="11091672" cy="658368"/>
          </a:xfrm>
          <a:prstGeom prst="roundRect">
            <a:avLst>
              <a:gd name="adj" fmla="val 6944"/>
            </a:avLst>
          </a:prstGeom>
          <a:solidFill>
            <a:srgbClr val="F6F7F9"/>
          </a:solidFill>
          <a:ln w="12700">
            <a:solidFill>
              <a:srgbClr val="E3E6EB"/>
            </a:solidFill>
            <a:prstDash val="solid"/>
          </a:ln>
        </p:spPr>
      </p:sp>
      <p:sp>
        <p:nvSpPr>
          <p:cNvPr id="10" name="Text 8"/>
          <p:cNvSpPr txBox="1"/>
          <p:nvPr/>
        </p:nvSpPr>
        <p:spPr>
          <a:xfrm>
            <a:off x="841248" y="2340864"/>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기존 CCTV 사양 부적합</a:t>
            </a:r>
            <a:endParaRPr lang="en-US" sz="1400" dirty="0"/>
          </a:p>
        </p:txBody>
      </p:sp>
      <p:sp>
        <p:nvSpPr>
          <p:cNvPr id="11" name="Text 9"/>
          <p:cNvSpPr txBox="1"/>
          <p:nvPr/>
        </p:nvSpPr>
        <p:spPr>
          <a:xfrm>
            <a:off x="3794760" y="2340864"/>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200" dirty="0"/>
          </a:p>
        </p:txBody>
      </p:sp>
      <p:sp>
        <p:nvSpPr>
          <p:cNvPr id="12" name="Shape 10"/>
          <p:cNvSpPr/>
          <p:nvPr/>
        </p:nvSpPr>
        <p:spPr>
          <a:xfrm>
            <a:off x="548640" y="3090672"/>
            <a:ext cx="11091672" cy="658368"/>
          </a:xfrm>
          <a:prstGeom prst="roundRect">
            <a:avLst>
              <a:gd name="adj" fmla="val 6944"/>
            </a:avLst>
          </a:prstGeom>
          <a:solidFill>
            <a:srgbClr val="FFFFFF"/>
          </a:solidFill>
          <a:ln w="12700">
            <a:solidFill>
              <a:srgbClr val="E3E6EB"/>
            </a:solidFill>
            <a:prstDash val="solid"/>
          </a:ln>
        </p:spPr>
      </p:sp>
      <p:sp>
        <p:nvSpPr>
          <p:cNvPr id="13" name="Text 11"/>
          <p:cNvSpPr txBox="1"/>
          <p:nvPr/>
        </p:nvSpPr>
        <p:spPr>
          <a:xfrm>
            <a:off x="841248" y="3090672"/>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브랜드 지불 의사 부족</a:t>
            </a:r>
            <a:endParaRPr lang="en-US" sz="1400" dirty="0"/>
          </a:p>
        </p:txBody>
      </p:sp>
      <p:sp>
        <p:nvSpPr>
          <p:cNvPr id="14" name="Text 12"/>
          <p:cNvSpPr txBox="1"/>
          <p:nvPr/>
        </p:nvSpPr>
        <p:spPr>
          <a:xfrm>
            <a:off x="3794760" y="3090672"/>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200" dirty="0"/>
          </a:p>
        </p:txBody>
      </p:sp>
      <p:sp>
        <p:nvSpPr>
          <p:cNvPr id="15" name="Shape 13"/>
          <p:cNvSpPr/>
          <p:nvPr/>
        </p:nvSpPr>
        <p:spPr>
          <a:xfrm>
            <a:off x="548640" y="3840480"/>
            <a:ext cx="11091672" cy="658368"/>
          </a:xfrm>
          <a:prstGeom prst="roundRect">
            <a:avLst>
              <a:gd name="adj" fmla="val 6944"/>
            </a:avLst>
          </a:prstGeom>
          <a:solidFill>
            <a:srgbClr val="F6F7F9"/>
          </a:solidFill>
          <a:ln w="12700">
            <a:solidFill>
              <a:srgbClr val="E3E6EB"/>
            </a:solidFill>
            <a:prstDash val="solid"/>
          </a:ln>
        </p:spPr>
      </p:sp>
      <p:sp>
        <p:nvSpPr>
          <p:cNvPr id="16" name="Text 14"/>
          <p:cNvSpPr txBox="1"/>
          <p:nvPr/>
        </p:nvSpPr>
        <p:spPr>
          <a:xfrm>
            <a:off x="841248" y="3840480"/>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인식 정확도 논란</a:t>
            </a:r>
            <a:endParaRPr lang="en-US" sz="1400" dirty="0"/>
          </a:p>
        </p:txBody>
      </p:sp>
      <p:sp>
        <p:nvSpPr>
          <p:cNvPr id="17" name="Text 15"/>
          <p:cNvSpPr txBox="1"/>
          <p:nvPr/>
        </p:nvSpPr>
        <p:spPr>
          <a:xfrm>
            <a:off x="3794760" y="3840480"/>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200" dirty="0"/>
          </a:p>
        </p:txBody>
      </p:sp>
      <p:sp>
        <p:nvSpPr>
          <p:cNvPr id="18" name="Shape 16"/>
          <p:cNvSpPr/>
          <p:nvPr/>
        </p:nvSpPr>
        <p:spPr>
          <a:xfrm>
            <a:off x="548640" y="4590288"/>
            <a:ext cx="11091672" cy="658368"/>
          </a:xfrm>
          <a:prstGeom prst="roundRect">
            <a:avLst>
              <a:gd name="adj" fmla="val 6944"/>
            </a:avLst>
          </a:prstGeom>
          <a:solidFill>
            <a:srgbClr val="FFFFFF"/>
          </a:solidFill>
          <a:ln w="12700">
            <a:solidFill>
              <a:srgbClr val="E3E6EB"/>
            </a:solidFill>
            <a:prstDash val="solid"/>
          </a:ln>
        </p:spPr>
      </p:sp>
      <p:sp>
        <p:nvSpPr>
          <p:cNvPr id="19" name="Text 17"/>
          <p:cNvSpPr txBox="1"/>
          <p:nvPr/>
        </p:nvSpPr>
        <p:spPr>
          <a:xfrm>
            <a:off x="841248" y="4590288"/>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계열사 데이터 거버넌스</a:t>
            </a:r>
            <a:endParaRPr lang="en-US" sz="1400" dirty="0"/>
          </a:p>
        </p:txBody>
      </p:sp>
      <p:sp>
        <p:nvSpPr>
          <p:cNvPr id="20" name="Text 18"/>
          <p:cNvSpPr txBox="1"/>
          <p:nvPr/>
        </p:nvSpPr>
        <p:spPr>
          <a:xfrm>
            <a:off x="3794760" y="4590288"/>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200" dirty="0"/>
          </a:p>
        </p:txBody>
      </p:sp>
      <p:sp>
        <p:nvSpPr>
          <p:cNvPr id="21" name="Shape 19"/>
          <p:cNvSpPr/>
          <p:nvPr/>
        </p:nvSpPr>
        <p:spPr>
          <a:xfrm>
            <a:off x="548640" y="5340096"/>
            <a:ext cx="11091672" cy="658368"/>
          </a:xfrm>
          <a:prstGeom prst="roundRect">
            <a:avLst>
              <a:gd name="adj" fmla="val 6944"/>
            </a:avLst>
          </a:prstGeom>
          <a:solidFill>
            <a:srgbClr val="F6F7F9"/>
          </a:solidFill>
          <a:ln w="12700">
            <a:solidFill>
              <a:srgbClr val="E3E6EB"/>
            </a:solidFill>
            <a:prstDash val="solid"/>
          </a:ln>
        </p:spPr>
      </p:sp>
      <p:sp>
        <p:nvSpPr>
          <p:cNvPr id="22" name="Text 20"/>
          <p:cNvSpPr txBox="1"/>
          <p:nvPr/>
        </p:nvSpPr>
        <p:spPr>
          <a:xfrm>
            <a:off x="841248" y="534009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경쟁사 선점</a:t>
            </a:r>
            <a:endParaRPr lang="en-US" sz="1400" dirty="0"/>
          </a:p>
        </p:txBody>
      </p:sp>
      <p:sp>
        <p:nvSpPr>
          <p:cNvPr id="23" name="Text 21"/>
          <p:cNvSpPr txBox="1"/>
          <p:nvPr/>
        </p:nvSpPr>
        <p:spPr>
          <a:xfrm>
            <a:off x="3794760" y="534009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2026-09-16T01:21:04Z</dcterms:created>
  <dcterms:modified xsi:type="dcterms:W3CDTF">2026-09-16T01:21:04Z</dcterms:modified>
</cp:coreProperties>
</file>