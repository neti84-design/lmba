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[표지 · 0:20]
안녕하십니까. 넛츠입니다. /
예약 서비스업에서 **안 팔리면 0원으로 사라지는 시간**을, 지금 거기 갈 수 있는 사람에게 파는 서비스입니다. /
문제부터 숫자까지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[문제 — 두 개의 빈칸 · 1:00]
문제는 양쪽에 동시에 있습니다. /
왼쪽, **네일샵 사장님**입니다. 방금 전화를 받았습니다. 오늘 한 시 예약이 취소됐습니다. /
예약 기반 서비스업의 재고는 물건이 아니라 **시간**입니다. 팔지 못한 한 시부터 두 시는 내일로 넘길 수 없습니다. **그 자리에서 영원히 사라집니다.** /
당일 취소 한 건은 그 슬롯 매출의 **100% 손실**이고, 그 시간에도 임대료와 인건비는 그대로 나갑니다. /
오른쪽, **강남역 오후 두 시**입니다. 회의가 취소돼서 시간이 비었습니다. 무심코 손을 내려다봅니다. 손톱 정리를 한 게 언제였더라. /
약속 전 30분, 늦는 친구, 취소된 회의 — 누구에게나 이런 **떠 있는 시간**이 있습니다. 그런데 지금 이 근처에서 무엇을 할 수 있는지 알려주는 서비스가 없습니다. /
두 사람은 걸어서 십오 분 거리에 있습니다. **서로에게 정확히 필요한 사람인데, 서로의 존재를 모릅니다.** /
수요가 없는 게 아닙니다. **이 둘을 잇는 서비스가 없는 겁니다.**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[솔루션 · 0:45]
그 사이에 저희가 섭니다. 이름은 **넛츠**입니다. 심심풀이 땅콩 — 심심한 시간에, 한 줌, 가볍게. /
사장님은 오늘 비어버린 한 시간을 올립니다. 정가 사만 원짜리 네일 케어를 이만 사천 원에. /
가운데에서 저희가 세 가지를 합니다. **마감까지 남은 시간으로 값을 다시 매기고, 지금 갈 수 있는 사람만 걸러내고, 즉시 결제를 받습니다.** /
가운데 필터는 짧게만 말씀드리겠습니다. 현재시각에 이동시간과 준비 시간을 더해서 **마감 전에 도착 가능한 것만** 남깁니다. 도보냐 자전거냐에 따라 같은 자리에 서 있어도 다른 화면을 봅니다. 중요한 장치지만 **저희 코어는 아닙니다.** /
**코어는 비어 있는 시간을 지금 예약하게 만드는 것**이고, 그 구조는 다음 장입니다. /
오른쪽이 사용자가 보는 화면입니다. 홈에는 지금 갈 수 있는 예약만 뜨고, 상세에는 마감 시각과 정가 대비 할인, 그리고 “지금 갈 수 있어요” 한 줄이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[코어 메커니즘 · 0:20]
코어 메커니즘은 여섯 단계입니다. /
빈 슬롯이 생기고, 소멸이 임박했다고 판단하고, **가격을 다시 매기고**, 갈 수 있는 사람에게만 노출하고, 즉시 선결제를 받고, 재방문으로 전환합니다. /
중심 엔진은 **다이나믹 프라이싱**이고, 도달 가능성은 그 값이 붙은 슬롯을 **실제로 살 수 있는 사람에게 잇는 필터**입니다. /
한 문장으로 하면 이겁니다. **비어 있는 시간 슬롯을 실시간으로 가격화해서, 지금 살 수 있는 고객에게 연결하는 서비스형 다이나믹 프라이싱 플랫폼.**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[포지셔닝 맵 · 0:20]
이런 서비스 이미 있지 않냐고 물으실 겁니다. **반은 맞습니다.** /
**음식 떠리는 있습니다.** 마감히어로, 라스트오더. 그런데 음식만 하고, 물건 재고를 세는 구조라 1대1 예약 슬롯을 못 다룹니다. /
**미용실 예약도 있습니다.** 네이버예약이죠. 그런데 내일과 다음 주를 팝니다. **정가로 먹고살아서 스스로 할인을 걸 수 없습니다.** /
**내 주변도 있습니다.** 당근이죠. 그런데 중고 물건이고 사업자 재고가 아닙니다. /
그래서 오른쪽 위 칸이 비어 있습니다. **서비스업의 빈 자리를, 내 주변에서, 지금.**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[타깃 · 시장 규모 · 0:20]
고객은 **계획을 미리 세우지 않는 20~30대**입니다. 이 고객이 반응하는 건 가격이 아니라 **“지금 나만 찾아낸 자리”라는 발견의 재미**입니다. /
공급자는 예약 기반 소상공인입니다. 빈 슬롯의 한계비용은 0에 가까워서 **할인 여력이 실제로 존재**합니다. /
시장은 국내 예약 기반 서비스업 거래액 **약 12조**, 그중 안 팔려서 사라지는 빈 자리가 **약 3조**입니다. /
저희가 3년 안에 들어갈 서울 다섯 개 구가 **약 1,800억**, 타겟시장의 **6%**입니다. 여기부터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[비즈니스 모델 ① · 모으는 단계 · 0:50]
수익 모델입니다. **첫 12개월은 버는 단계가 아니라 모으는 단계입니다.** /
수익원은 **거래 수수료 3%, 하나뿐입니다.** 입점비도 월 구독료도 받지 않습니다. /
사장님이 비교하는 건 정가가 아니라 **0원**입니다. 안 팔리면 0원인 자리에서 받는 3%는 뺏는 게 아니라 나누는 겁니다. /
공급은 **입점 쿠폰**으로 모읍니다. 새로 들어온 매장의 첫 할인분은 저희가 부담합니다. **매장이 내는 돈은 0원입니다.** /
수요는 **동네 보물찾기**로 모읍니다. 주변 매장에 커피 십만 원어치를 걸어두고, 앱에서 찾아오면 선착순으로 드립니다. **앱을 여는 습관을 저희 돈으로 사는 겁니다.** /
그래서 12개월 뒤에 남아야 하는 건 매출이 아니라 **강남구 입점 사백 곳, 그리고 채워진 슬롯 수**입니다.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[비즈니스 모델 ② · 수익화 · 0:30]
2단계부터가 수익화입니다. 수수료 3%는 **그대로 둡니다.** /
**주 수익은 광고입니다.** 매장이 지도 위 자기 자리에 깃발을 꽂는 방식으로, 도달 반경 안에서의 우선 노출권을 삽니다. 밀도가 붙을수록 단가가 올라갑니다. /
한 가지는 분명히 하겠습니다. **갈 수 없는 자리는 광고를 사도 뜨지 않습니다.** 순서는 살 수 있어도, 약속은 못 삽니다. /
3단계는 **넛츠페이**입니다. 예약금과 결제를 직접 받으면 결제 수수료와 예치금, 그리고 락인이 따라옵니다. /
그다음은 지역 커뮤니티입니다. **예약으로 만난 이웃이 동네에서 다시 만납니다.**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[KPI · 로드맵 · 0:25]
지표는 하나만 봅니다. **채워진 슬롯 수** — 그냥 사라졌을 시간 중에 매출로 바뀐 시간의 총량입니다. /
1단계는 **강남구 한 곳**입니다. 넓히지 않고 밀도를 만듭니다. 입점 사백 곳, 주간 채운 슬롯 천 개. /
2단계에서 **서울 다섯 개 구**로 같은 공식을 복제하고, 여기서 2단계의 문을 열어줄 **첫 대형 파트너 한 곳**을 확보합니다. /
3단계는 **카테고리 확장**입니다. 문화, 그다음 숙박. 새로 배우는 역량은 한 번에 하나씩만 더합니다. /
수익은 1단계부터 **매출의 3%**로 받고, **광고는 2단계부터** 붙습니다. /
**체인 본사 한 곳이면 전국 수백 개가 한 번에 열립니다.**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[클로징 · 0:10]
처음의 두 사람으로 돌아가겠습니다. 회의가 취소된 사람은 자전거를 고르고, **12분 거리에 뜬 한 자리**를 예약합니다. 그 시간, 취소 전화를 받았던 사장님의 한 시간이 채워집니다. /
두 사람은 여전히 서로를 몰랐습니다. **저희가 그걸 알고 있었을 뿐입니다.** /
넛츠는 할인 앱이 아닙니다. **버려지는 시간을 거래 가능하게 만드는 인프라입니다.**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2314"/>
          </a:solidFill>
          <a:ln/>
        </p:spPr>
      </p:sp>
      <p:pic>
        <p:nvPicPr>
          <p:cNvPr id="3" name="Image 0" descr="/home/user/LMBA/deck/assets/app-mock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28255" y="0"/>
            <a:ext cx="466344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3B2314">
              <a:alpha val="38000"/>
            </a:srgbClr>
          </a:solidFill>
          <a:ln/>
        </p:spPr>
      </p:sp>
      <p:pic>
        <p:nvPicPr>
          <p:cNvPr id="5" name="Image 1" descr="/home/user/LMBA/deck/assets/nuts-mark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81328"/>
            <a:ext cx="932688" cy="15179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7240" y="32004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</a:t>
            </a:r>
            <a:endParaRPr lang="en-US" sz="6000" dirty="0"/>
          </a:p>
        </p:txBody>
      </p:sp>
      <p:sp>
        <p:nvSpPr>
          <p:cNvPr id="7" name="Text 3"/>
          <p:cNvSpPr/>
          <p:nvPr/>
        </p:nvSpPr>
        <p:spPr>
          <a:xfrm>
            <a:off x="777240" y="427939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O W   U N B O O K E D   T I M E   S A V E R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7772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5"/>
              </a:lnSpc>
              <a:buNone/>
            </a:pPr>
            <a:r>
              <a:rPr lang="en-US" sz="19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지금, 비어 있는 예약 한 자리를</a:t>
            </a:r>
            <a:endParaRPr lang="en-US" sz="1900" dirty="0"/>
          </a:p>
          <a:p>
            <a:pPr algn="l" indent="0" marL="0">
              <a:lnSpc>
                <a:spcPts val="2755"/>
              </a:lnSpc>
              <a:buNone/>
            </a:pPr>
            <a:r>
              <a:rPr lang="en-US" sz="19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갈 수 있는 거리 안에서.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777240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A8927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빈 자리 마켓플레이스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PROBLEM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걸어서 15분 거리에 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한쪽엔 팔지 못하면 사라지는 한 시간, 다른 쪽엔 어디로 갈지 모르는 두 시간 — 그런데 서로의 존재를 모릅니다.</a:t>
            </a:r>
            <a:endParaRPr lang="en-US" sz="1400" dirty="0"/>
          </a:p>
        </p:txBody>
      </p:sp>
      <p:pic>
        <p:nvPicPr>
          <p:cNvPr id="6" name="Image 0" descr="/home/user/LMBA/deck/assets/problem-own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755648"/>
            <a:ext cx="5029200" cy="2286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77240" y="44622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 팔리면 0원”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77240" y="495604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오늘 한 시 예약 취소 = 그 슬롯 매출의 100% 손실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못 판 한 시간은 내일로 넘어가지 않고 소멸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그 사이에도 임대료 · 인건비는 그대로</a:t>
            </a:r>
            <a:endParaRPr lang="en-US" sz="1200" dirty="0"/>
          </a:p>
        </p:txBody>
      </p:sp>
      <p:pic>
        <p:nvPicPr>
          <p:cNvPr id="10" name="Image 1" descr="/home/user/LMBA/deck/assets/problem-us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82512" y="1755648"/>
            <a:ext cx="5029200" cy="2286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82512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382512" y="44622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뭐 하지”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382512" y="495604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약속 전 30분, 늦는 친구, 취소된 회의 — 떠 있는 시간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지금 이 근처에서 뭘 할 수 있는지 알려주는 앱이 없다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20~30대 즉흥형은 오늘 저녁을 오늘 오후에 정한다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77240" y="5870448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둘을 잇는 서비스가, 지금 없습니다.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— 지금부터 1시간, 갈 수 있는 거리 안의 빈 자리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사장님과 사용자 사이에 넛츠가 섭니다. 오른쪽이 사용자가 보는 화면입니다.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664208"/>
            <a:ext cx="6035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1847088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9848" y="2157984"/>
            <a:ext cx="5449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비어버린 한 시간을 올립니다  ·  정가 4만 원 → 2만 4천 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71900" y="2542032"/>
            <a:ext cx="45720" cy="402336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0" name="Shape 8"/>
          <p:cNvSpPr/>
          <p:nvPr/>
        </p:nvSpPr>
        <p:spPr>
          <a:xfrm>
            <a:off x="3694176" y="2816352"/>
            <a:ext cx="201168" cy="128016"/>
          </a:xfrm>
          <a:prstGeom prst="roundRect">
            <a:avLst>
              <a:gd name="adj" fmla="val 42857"/>
            </a:avLst>
          </a:prstGeom>
          <a:solidFill>
            <a:srgbClr val="F7B32B"/>
          </a:solidFill>
          <a:ln/>
        </p:spPr>
      </p:sp>
      <p:sp>
        <p:nvSpPr>
          <p:cNvPr id="11" name="Text 9"/>
          <p:cNvSpPr/>
          <p:nvPr/>
        </p:nvSpPr>
        <p:spPr>
          <a:xfrm>
            <a:off x="4014216" y="25968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자리 등록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2999232"/>
            <a:ext cx="6035040" cy="1993392"/>
          </a:xfrm>
          <a:prstGeom prst="roundRect">
            <a:avLst>
              <a:gd name="adj" fmla="val 3670"/>
            </a:avLst>
          </a:prstGeom>
          <a:solidFill>
            <a:srgbClr val="3B2314"/>
          </a:solidFill>
          <a:ln w="12700">
            <a:solidFill>
              <a:srgbClr val="3B231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3182112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 —  두 사람 사이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9848" y="3493008"/>
            <a:ext cx="5449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3438144"/>
            <a:ext cx="1700784" cy="1060704"/>
          </a:xfrm>
          <a:prstGeom prst="roundRect">
            <a:avLst>
              <a:gd name="adj" fmla="val 5172"/>
            </a:avLst>
          </a:prstGeom>
          <a:solidFill>
            <a:srgbClr val="4E3320"/>
          </a:solidFill>
          <a:ln/>
        </p:spPr>
      </p:sp>
      <p:sp>
        <p:nvSpPr>
          <p:cNvPr id="16" name="Text 14"/>
          <p:cNvSpPr/>
          <p:nvPr/>
        </p:nvSpPr>
        <p:spPr>
          <a:xfrm>
            <a:off x="1216152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가격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216152" y="3849624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마감까지 남은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시간과 수요 밀도로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다시 매깁니다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44368" y="3438144"/>
            <a:ext cx="1700784" cy="1060704"/>
          </a:xfrm>
          <a:prstGeom prst="roundRect">
            <a:avLst>
              <a:gd name="adj" fmla="val 5172"/>
            </a:avLst>
          </a:prstGeom>
          <a:solidFill>
            <a:srgbClr val="4E3320"/>
          </a:solidFill>
          <a:ln/>
        </p:spPr>
      </p:sp>
      <p:sp>
        <p:nvSpPr>
          <p:cNvPr id="19" name="Text 17"/>
          <p:cNvSpPr/>
          <p:nvPr/>
        </p:nvSpPr>
        <p:spPr>
          <a:xfrm>
            <a:off x="310896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 가능성 필터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108960" y="3849624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안에 갈 수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사람에게만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보입니다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37176" y="3438144"/>
            <a:ext cx="1700784" cy="1060704"/>
          </a:xfrm>
          <a:prstGeom prst="roundRect">
            <a:avLst>
              <a:gd name="adj" fmla="val 5172"/>
            </a:avLst>
          </a:prstGeom>
          <a:solidFill>
            <a:srgbClr val="4E3320"/>
          </a:solidFill>
          <a:ln/>
        </p:spPr>
      </p:sp>
      <p:sp>
        <p:nvSpPr>
          <p:cNvPr id="22" name="Text 20"/>
          <p:cNvSpPr/>
          <p:nvPr/>
        </p:nvSpPr>
        <p:spPr>
          <a:xfrm>
            <a:off x="5001768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선결제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01768" y="3849624"/>
            <a:ext cx="1371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노쇼를 막고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 매출을</a:t>
            </a:r>
            <a:endParaRPr lang="en-US" sz="1050" dirty="0"/>
          </a:p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9B49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확정합니다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51560" y="46085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 가능성 필터 — 도보 · 자전거 · 차량 소요시간에 따라 계산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771900" y="5065776"/>
            <a:ext cx="45720" cy="38404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694176" y="5321808"/>
            <a:ext cx="201168" cy="128016"/>
          </a:xfrm>
          <a:prstGeom prst="roundRect">
            <a:avLst>
              <a:gd name="adj" fmla="val 42857"/>
            </a:avLst>
          </a:prstGeom>
          <a:solidFill>
            <a:srgbClr val="F7B32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4216" y="51114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수 있는 사람에게만 노출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504688"/>
            <a:ext cx="6035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" y="5687568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1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69848" y="5998464"/>
            <a:ext cx="5449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한 시간이 빈 사람 — 싸게, 바로 갑니다</a:t>
            </a:r>
            <a:endParaRPr lang="en-US" sz="1300" dirty="0"/>
          </a:p>
        </p:txBody>
      </p:sp>
      <p:pic>
        <p:nvPicPr>
          <p:cNvPr id="31" name="Image 0" descr="/home/user/LMBA/deck/assets/app-m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737360"/>
            <a:ext cx="4096512" cy="4096512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315200" y="5907024"/>
            <a:ext cx="4096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· 지도 · 상세 — 지금 갈 수 있는 자리만 남습니다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CORE MECHANISM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시간을 지.금. 예약하게 만드는 것입니다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엔진은 다이나믹 프라이싱이고, 도달 가능성은 값이 붙은 슬롯을 실제로 살 수 있는 사람에게 잇는 필터입니다.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8" name="Text 6"/>
          <p:cNvSpPr/>
          <p:nvPr/>
        </p:nvSpPr>
        <p:spPr>
          <a:xfrm>
            <a:off x="1014984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14984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자리 발생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14984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당일 취소 · 비수요 시간대 · 예약 공백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83637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83637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3" name="Text 11"/>
          <p:cNvSpPr/>
          <p:nvPr/>
        </p:nvSpPr>
        <p:spPr>
          <a:xfrm>
            <a:off x="2821381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21381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노출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21381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시간이 지나면 이 슬롯은 0원이 된다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90034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0034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778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27778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조정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27778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시간 · 수요 밀도 · 할인율로 재설정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96432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6432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3" name="Text 21"/>
          <p:cNvSpPr/>
          <p:nvPr/>
        </p:nvSpPr>
        <p:spPr>
          <a:xfrm>
            <a:off x="6434176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34176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탐색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34176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갈 수 있는 사람에게만 보여줌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02829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02829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28" name="Text 26"/>
          <p:cNvSpPr/>
          <p:nvPr/>
        </p:nvSpPr>
        <p:spPr>
          <a:xfrm>
            <a:off x="8240573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240573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선결제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240573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노쇼를 줄이고 사장님 매출 확정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09226" y="1783080"/>
            <a:ext cx="1605229" cy="2148840"/>
          </a:xfrm>
          <a:prstGeom prst="roundRect">
            <a:avLst>
              <a:gd name="adj" fmla="val 4557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09226" y="1783080"/>
            <a:ext cx="1605229" cy="6400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33" name="Text 31"/>
          <p:cNvSpPr/>
          <p:nvPr/>
        </p:nvSpPr>
        <p:spPr>
          <a:xfrm>
            <a:off x="10046970" y="2057400"/>
            <a:ext cx="112974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046970" y="2459736"/>
            <a:ext cx="11297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3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재방문 전환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0046970" y="3081528"/>
            <a:ext cx="11297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체험을</a:t>
            </a:r>
            <a:endParaRPr lang="en-US" sz="1100" dirty="0"/>
          </a:p>
          <a:p>
            <a:pPr algn="l"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정가 고객으로 전환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7240" y="4224528"/>
            <a:ext cx="10637215" cy="1078992"/>
          </a:xfrm>
          <a:prstGeom prst="roundRect">
            <a:avLst>
              <a:gd name="adj" fmla="val 6780"/>
            </a:avLst>
          </a:prstGeom>
          <a:solidFill>
            <a:srgbClr val="3B2314"/>
          </a:solidFill>
          <a:ln/>
        </p:spPr>
      </p:sp>
      <p:sp>
        <p:nvSpPr>
          <p:cNvPr id="37" name="Text 35"/>
          <p:cNvSpPr/>
          <p:nvPr/>
        </p:nvSpPr>
        <p:spPr>
          <a:xfrm>
            <a:off x="1234440" y="4443984"/>
            <a:ext cx="97228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넛츠는 서비스업의 버려질 수 있는 시간을 실시간으로 가격화하고,</a:t>
            </a:r>
            <a:endParaRPr lang="en-US" sz="1550" dirty="0"/>
          </a:p>
          <a:p>
            <a:pPr algn="ctr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구매 가능한 고객에게 연결하는 서비스형 다이나믹 프라이싱 플랫폼입니다.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777240" y="56235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시간은 재고가 아닙니다. 마감이 정해져 있고, 지나가면 0원이 되는 상품입니다.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MARKET · POSITIONING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기반 앱은 다 있습니다. 합쳐진 자리만 비어 있습니다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가로축: 무엇을 파는가 (물건·음식 ↔ 서비스업의 시간)   ·   세로축: 언제 파는가 (미리 ↔ 지금·내 주변)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690372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29100" y="1874520"/>
            <a:ext cx="3401568" cy="1847088"/>
          </a:xfrm>
          <a:prstGeom prst="rect">
            <a:avLst/>
          </a:prstGeom>
          <a:solidFill>
            <a:srgbClr val="FBF3E2"/>
          </a:solidFill>
          <a:ln/>
        </p:spPr>
      </p:sp>
      <p:sp>
        <p:nvSpPr>
          <p:cNvPr id="8" name="Text 6"/>
          <p:cNvSpPr/>
          <p:nvPr/>
        </p:nvSpPr>
        <p:spPr>
          <a:xfrm>
            <a:off x="4370832" y="19751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없는 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762756"/>
            <a:ext cx="6629400" cy="18288"/>
          </a:xfrm>
          <a:prstGeom prst="rect">
            <a:avLst/>
          </a:prstGeom>
          <a:solidFill>
            <a:srgbClr val="E3D8CB"/>
          </a:solidFill>
          <a:ln/>
        </p:spPr>
      </p:sp>
      <p:sp>
        <p:nvSpPr>
          <p:cNvPr id="10" name="Shape 8"/>
          <p:cNvSpPr/>
          <p:nvPr/>
        </p:nvSpPr>
        <p:spPr>
          <a:xfrm>
            <a:off x="4229100" y="1874520"/>
            <a:ext cx="18288" cy="3794760"/>
          </a:xfrm>
          <a:prstGeom prst="rect">
            <a:avLst/>
          </a:prstGeom>
          <a:solidFill>
            <a:srgbClr val="E3D8CB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8836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  지금 · 내 주변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14600" y="546811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미리 · 내일 이후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41832" y="3840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 유형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3840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9B8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무형  →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88236" y="2464308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마감히어로 · 라스트오더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076956" y="307695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18" name="Text 16"/>
          <p:cNvSpPr/>
          <p:nvPr/>
        </p:nvSpPr>
        <p:spPr>
          <a:xfrm>
            <a:off x="1920240" y="3300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당근마켓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116836" y="476859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9926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온라인커머스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362956" y="4878324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0" y="5102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네이버예약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43116" y="431139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B9A794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0" y="45354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캐치테이블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879592" y="25420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7B32B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29535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800600" y="32278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비어버린 시간 · 지금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01000" y="1783080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57032" y="1929384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네이버예약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57032" y="2212848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내일과 다음 주를 정가로 팝니다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01000" y="2624328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57032" y="2770632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캐치테이블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57032" y="3054096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관리 · 가격은 가게가 고정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01000" y="3465576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57032" y="3611880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마감히어로 · 라스트오더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257032" y="3895344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오늘이지만 음식 — 물건 재고 구조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01000" y="4306824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57032" y="4453128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당근마켓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57032" y="4736592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· 내 주변이지만 중고 물건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01000" y="5148072"/>
            <a:ext cx="3413455" cy="749808"/>
          </a:xfrm>
          <a:prstGeom prst="roundRect">
            <a:avLst>
              <a:gd name="adj" fmla="val 9756"/>
            </a:avLst>
          </a:prstGeom>
          <a:solidFill>
            <a:srgbClr val="3B2314"/>
          </a:solidFill>
          <a:ln w="12700">
            <a:solidFill>
              <a:srgbClr val="3B231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57032" y="5294376"/>
            <a:ext cx="29013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257032" y="5577840"/>
            <a:ext cx="29013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비어버린 서비스 시간을, 지금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77240" y="596188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각자 자기 수익 구조에 묶여 있어서, 옆으로 한 걸음 옮겨서는 아무도 올 수 없는 자리입니다.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 &amp; MARKET SIZE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시간을, 얼마나 되는 시장에서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수치는 공개 통계와 업계 통상치를 근거로 한 가정값입니다.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0292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8136" y="205740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수요자 — 20~30대 즉흥형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88136" y="2569464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오늘 할 일을 오늘 정하는 사람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계획형은 우리 고객이 아닙니다 — 기존 예약앱으로 충분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움직이는 건 가격이 아니라 “지금 나만 찾아낸 자리”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794760"/>
            <a:ext cx="50292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8136" y="406908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공급자 — 예약 기반 소상공인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88136" y="4581144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당일 취소로 생긴 빈 시간을 틈새 매출로 바꾸고 싶은 사장님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빈 슬롯의 한계비용은 0에 가깝다 → 할인 여력이 실제로 존재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할인 체험은 광고비를 매출로 받는 셈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82512" y="178308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38544" y="1984248"/>
            <a:ext cx="960120" cy="274320"/>
          </a:xfrm>
          <a:prstGeom prst="roundRect">
            <a:avLst>
              <a:gd name="adj" fmla="val 16667"/>
            </a:avLst>
          </a:prstGeom>
          <a:solidFill>
            <a:srgbClr val="3B2314"/>
          </a:solidFill>
          <a:ln/>
        </p:spPr>
      </p:sp>
      <p:sp>
        <p:nvSpPr>
          <p:cNvPr id="14" name="Text 12"/>
          <p:cNvSpPr/>
          <p:nvPr/>
        </p:nvSpPr>
        <p:spPr>
          <a:xfrm>
            <a:off x="6638544" y="202996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시장규모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35824" y="20025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기반 서비스업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811512" y="1929384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616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12조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38544" y="233172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뷰티 · 네일 · 마사지 · 에스테틱 · 골프연습장 등 국내 연간 거래액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38544" y="2642616"/>
            <a:ext cx="4517136" cy="128016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8544" y="2642616"/>
            <a:ext cx="4517136" cy="128016"/>
          </a:xfrm>
          <a:prstGeom prst="rect">
            <a:avLst/>
          </a:prstGeom>
          <a:solidFill>
            <a:srgbClr val="9B8873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30632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38544" y="3264408"/>
            <a:ext cx="960120" cy="274320"/>
          </a:xfrm>
          <a:prstGeom prst="roundRect">
            <a:avLst>
              <a:gd name="adj" fmla="val 16667"/>
            </a:avLst>
          </a:prstGeom>
          <a:solidFill>
            <a:srgbClr val="3B2314"/>
          </a:solidFill>
          <a:ln/>
        </p:spPr>
      </p:sp>
      <p:sp>
        <p:nvSpPr>
          <p:cNvPr id="22" name="Text 20"/>
          <p:cNvSpPr/>
          <p:nvPr/>
        </p:nvSpPr>
        <p:spPr>
          <a:xfrm>
            <a:off x="6638544" y="33101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타겟시장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35824" y="32826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소멸하는 빈 슬롯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811512" y="3209544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2616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3조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361188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가동률 갭 25~30% 가정 — 매일 0원으로 사라지는 공급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38544" y="3922776"/>
            <a:ext cx="4517136" cy="128016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27" name="Shape 25"/>
          <p:cNvSpPr/>
          <p:nvPr/>
        </p:nvSpPr>
        <p:spPr>
          <a:xfrm>
            <a:off x="6638544" y="3922776"/>
            <a:ext cx="1129284" cy="128016"/>
          </a:xfrm>
          <a:prstGeom prst="rect">
            <a:avLst/>
          </a:prstGeom>
          <a:solidFill>
            <a:srgbClr val="9B8873"/>
          </a:solidFill>
          <a:ln/>
        </p:spPr>
      </p:sp>
      <p:sp>
        <p:nvSpPr>
          <p:cNvPr id="28" name="Shape 26"/>
          <p:cNvSpPr/>
          <p:nvPr/>
        </p:nvSpPr>
        <p:spPr>
          <a:xfrm>
            <a:off x="6382512" y="434340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F6EFE2"/>
          </a:solidFill>
          <a:ln w="25400">
            <a:solidFill>
              <a:srgbClr val="F7B3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38544" y="4544568"/>
            <a:ext cx="960120" cy="274320"/>
          </a:xfrm>
          <a:prstGeom prst="roundRect">
            <a:avLst>
              <a:gd name="adj" fmla="val 16667"/>
            </a:avLst>
          </a:prstGeom>
          <a:solidFill>
            <a:srgbClr val="F7B32B"/>
          </a:solidFill>
          <a:ln/>
        </p:spPr>
      </p:sp>
      <p:sp>
        <p:nvSpPr>
          <p:cNvPr id="30" name="Text 28"/>
          <p:cNvSpPr/>
          <p:nvPr/>
        </p:nvSpPr>
        <p:spPr>
          <a:xfrm>
            <a:off x="6638544" y="459028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초기시장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35824" y="45628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내 서울 5개 구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811512" y="4489704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1,800억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638544" y="4892040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타겟시장의 6% · 강남구에서 시작해 서울 주요 5개 구까지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638544" y="5202936"/>
            <a:ext cx="4517136" cy="128016"/>
          </a:xfrm>
          <a:prstGeom prst="rect">
            <a:avLst/>
          </a:prstGeom>
          <a:solidFill>
            <a:srgbClr val="EDE2D2"/>
          </a:solidFill>
          <a:ln/>
        </p:spPr>
      </p:sp>
      <p:sp>
        <p:nvSpPr>
          <p:cNvPr id="35" name="Shape 33"/>
          <p:cNvSpPr/>
          <p:nvPr/>
        </p:nvSpPr>
        <p:spPr>
          <a:xfrm>
            <a:off x="6638544" y="5202936"/>
            <a:ext cx="271028" cy="128016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589788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1단계는 미용실 · 네일 · 마사지. 재고가 항상 하나고 썩지 않아, 시간 재고 중 가장 다루기 쉽습니다.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BUSINESS MODEL 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12개월은 모으는 단계 — 강남구에서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수익은 거래 수수료 3% 하나입니다. 이 단계의 목표는 수익이 아니라 밀도입니다.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8136" y="205740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공급자 모객 — 쿠폰으로 빠르게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88136" y="2569464"/>
            <a:ext cx="4407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거래 수수료 3% · 입점비 0 · 월 구독료 0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입점 쿠폰(첫 슬롯 할인분)을 넛츠가 부담합니다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강남구 한 곳에만 몰아서 밀도를 만듭니다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82512" y="178308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2057400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모객 — 동네 보물찾기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93408" y="2569464"/>
            <a:ext cx="4407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주변 매장에 보물을 걸어둡니다 (예: 커피 10만 원어치)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앱에서 찾아가면 선착순으로 받습니다</a:t>
            </a:r>
            <a:endParaRPr lang="en-US" sz="1250" dirty="0"/>
          </a:p>
          <a:p>
            <a:pPr algn="l" indent="0" marL="0">
              <a:lnSpc>
                <a:spcPts val="1875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놀이처럼 참여 → 첫 예약 → 재방문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60520"/>
            <a:ext cx="3363163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4379976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결제하는 금액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51560" y="4709160"/>
            <a:ext cx="28145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24,000원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414723" y="4160520"/>
            <a:ext cx="3363163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4379976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사장님 정산  (97%)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89043" y="4709160"/>
            <a:ext cx="28145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23,280원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052206" y="4160520"/>
            <a:ext cx="3363163" cy="1143000"/>
          </a:xfrm>
          <a:prstGeom prst="roundRect">
            <a:avLst>
              <a:gd name="adj" fmla="val 6400"/>
            </a:avLst>
          </a:prstGeom>
          <a:solidFill>
            <a:srgbClr val="F6EFE2"/>
          </a:solidFill>
          <a:ln w="25400">
            <a:solidFill>
              <a:srgbClr val="F7B3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6526" y="4379976"/>
            <a:ext cx="28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 수수료  (3%)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326526" y="4709160"/>
            <a:ext cx="28145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720원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7240" y="5440680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 결제 수수료는 별도입니다 — 3%는 넛츠가 받는 순수수료 기준. 사장님이 비교하는 건 정가가 아니라 0원입니다.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5760720"/>
            <a:ext cx="10637215" cy="548640"/>
          </a:xfrm>
          <a:prstGeom prst="roundRect">
            <a:avLst>
              <a:gd name="adj" fmla="val 13333"/>
            </a:avLst>
          </a:prstGeom>
          <a:solidFill>
            <a:srgbClr val="3B2314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5888736"/>
            <a:ext cx="9905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KPI — 강남구 입점 400곳 · 채워진 슬롯 수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BUSINESS MODEL 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수익화는 광고와 결제에서 나옵니다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 수수료 3%는 2단계 이후에도 그대로 둡니다. 밀도가 붙은 다음에 광고와 결제가 열립니다.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3363163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5400">
            <a:solidFill>
              <a:srgbClr val="F7B3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28800"/>
            <a:ext cx="3363163" cy="73152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103120"/>
            <a:ext cx="28145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2395728"/>
            <a:ext cx="28145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13~24개월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743200"/>
            <a:ext cx="28145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— 깃발 꽂기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3310128"/>
            <a:ext cx="2814523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도달 반경 안 우선 노출권을 판매합니다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지도 위 자기 자리에 깃발을 꽂는 방식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밀도가 붙을수록 광고 단가가 올라갑니다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14723" y="1828800"/>
            <a:ext cx="3363163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4723" y="1828800"/>
            <a:ext cx="3363163" cy="73152"/>
          </a:xfrm>
          <a:prstGeom prst="rect">
            <a:avLst/>
          </a:prstGeom>
          <a:solidFill>
            <a:srgbClr val="3B2314"/>
          </a:solidFill>
          <a:ln/>
        </p:spPr>
      </p:sp>
      <p:sp>
        <p:nvSpPr>
          <p:cNvPr id="14" name="Text 12"/>
          <p:cNvSpPr/>
          <p:nvPr/>
        </p:nvSpPr>
        <p:spPr>
          <a:xfrm>
            <a:off x="4689043" y="2103120"/>
            <a:ext cx="28145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89043" y="2395728"/>
            <a:ext cx="28145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25개월~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89043" y="2743200"/>
            <a:ext cx="28145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넛츠페이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89043" y="3310128"/>
            <a:ext cx="2814523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예약금과 결제를 넛츠페이로 받습니다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결제 수수료 + 예치금 운용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결제가 묶이면 양쪽 다 남습니다 — 락인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52206" y="1828800"/>
            <a:ext cx="3363163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2206" y="1828800"/>
            <a:ext cx="3363163" cy="73152"/>
          </a:xfrm>
          <a:prstGeom prst="rect">
            <a:avLst/>
          </a:prstGeom>
          <a:solidFill>
            <a:srgbClr val="3B2314"/>
          </a:solidFill>
          <a:ln/>
        </p:spPr>
      </p:sp>
      <p:sp>
        <p:nvSpPr>
          <p:cNvPr id="20" name="Text 18"/>
          <p:cNvSpPr/>
          <p:nvPr/>
        </p:nvSpPr>
        <p:spPr>
          <a:xfrm>
            <a:off x="8326526" y="2103120"/>
            <a:ext cx="28145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26526" y="2395728"/>
            <a:ext cx="28145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6526" y="2743200"/>
            <a:ext cx="28145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커뮤니티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26526" y="3310128"/>
            <a:ext cx="2814523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예약으로 만난 이웃이 다시 만납니다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지역 기반 커뮤니티 앱으로 확장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거래가 아니라 관계가 남는 단계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5166360"/>
            <a:ext cx="10637215" cy="868680"/>
          </a:xfrm>
          <a:prstGeom prst="roundRect">
            <a:avLst>
              <a:gd name="adj" fmla="val 8421"/>
            </a:avLst>
          </a:prstGeom>
          <a:solidFill>
            <a:srgbClr val="F6EFE2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321808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광고는 “순서”만 삽니다 — 지금 갈 수 없는 자리는 광고를 사도 뜨지 않습니다.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 가능성 필터 안에서만 경쟁시키기 때문에, “지금 갈 수 있는 곳”이라는 약속은 깨지지 않습니다.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77240" y="610819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수수료는 매출이 일어났을 때만, 광고는 밀도가 생긴 뒤에만 — 사장님이 먼저 손해 보는 구간이 없습니다.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3840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· ROADMAP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713232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북극성 지표 하나와, 확장 마일스톤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37215" cy="960120"/>
          </a:xfrm>
          <a:prstGeom prst="roundRect">
            <a:avLst>
              <a:gd name="adj" fmla="val 7619"/>
            </a:avLst>
          </a:prstGeom>
          <a:solidFill>
            <a:srgbClr val="3B2314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3736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NORTH STAR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88720" y="2048256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슬롯 수  —  그냥 사라졌을 시간 중 매출로 바뀐 시간의 총량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3363163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25400">
            <a:solidFill>
              <a:srgbClr val="F7B3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43200"/>
            <a:ext cx="3363163" cy="73152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999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 ·  0~12개월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10128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강남구 한 곳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3785616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미용 · 네일 · 마사지 입점 400곳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주간 채운 슬롯 1,000개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Fill Rate 40% · 재방문 30%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밀도가 곧 매칭률 — 넓히지 않습니다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수익 — 매출의 3%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51560" y="523036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증명할 것 — 한 동네에서 “열면 살 게 있다”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14723" y="2743200"/>
            <a:ext cx="3363163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14723" y="2743200"/>
            <a:ext cx="3363163" cy="73152"/>
          </a:xfrm>
          <a:prstGeom prst="rect">
            <a:avLst/>
          </a:prstGeom>
          <a:solidFill>
            <a:srgbClr val="3B2314"/>
          </a:solidFill>
          <a:ln/>
        </p:spPr>
      </p:sp>
      <p:sp>
        <p:nvSpPr>
          <p:cNvPr id="16" name="Text 14"/>
          <p:cNvSpPr/>
          <p:nvPr/>
        </p:nvSpPr>
        <p:spPr>
          <a:xfrm>
            <a:off x="4689043" y="2999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 ·  13~24개월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89043" y="3310128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5개 구 복제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89043" y="3785616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입점 3,000곳 · 월 거래 5만 건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Fill Rate 55%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생활권 1곳당 운영 1명 구조 확립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첫 대형 파트너 한 곳 확보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광고 시작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89043" y="523036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증명할 것 — 생활권 단위 흑자 공식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52206" y="2743200"/>
            <a:ext cx="3363163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DE2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52206" y="2743200"/>
            <a:ext cx="3363163" cy="73152"/>
          </a:xfrm>
          <a:prstGeom prst="rect">
            <a:avLst/>
          </a:prstGeom>
          <a:solidFill>
            <a:srgbClr val="3B2314"/>
          </a:solidFill>
          <a:ln/>
        </p:spPr>
      </p:sp>
      <p:sp>
        <p:nvSpPr>
          <p:cNvPr id="22" name="Text 20"/>
          <p:cNvSpPr/>
          <p:nvPr/>
        </p:nvSpPr>
        <p:spPr>
          <a:xfrm>
            <a:off x="8326526" y="2999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b="1" spc="15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 ·  25개월~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26526" y="3310128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 확장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26526" y="3785616"/>
            <a:ext cx="2816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문화(연극 · 영화 · 방탈출) → 숙박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새로 배우는 역량은 한 번에 하나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체인 본사 1건 = 전국이 한 번에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가격 엔진 자동화</a:t>
            </a:r>
            <a:endParaRPr lang="en-US" sz="1150" dirty="0"/>
          </a:p>
          <a:p>
            <a:pPr algn="l"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광고 · 넛츠페이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26526" y="523036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3B231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증명할 것 — 업종이 달라도 같은 엔진이 돈다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" y="580644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1단계에서 “한 동네가 된다”를 증명하면, 그다음은 복제 문제입니다. 2단계부터는 상대가 대기업입니다.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6382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spc="150" kern="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134295" y="63825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7A635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2314"/>
          </a:solidFill>
          <a:ln/>
        </p:spPr>
      </p:sp>
      <p:pic>
        <p:nvPicPr>
          <p:cNvPr id="3" name="Image 0" descr="/home/user/LMBA/deck/assets/app-mock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28255" y="0"/>
            <a:ext cx="466344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3B2314">
              <a:alpha val="34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77240" y="13716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" y="1755648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사라질 시간을,</a:t>
            </a:r>
            <a:endParaRPr lang="en-US" sz="3800" dirty="0"/>
          </a:p>
          <a:p>
            <a:pPr algn="l" indent="0" marL="0">
              <a:lnSpc>
                <a:spcPts val="475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오늘로.</a:t>
            </a:r>
            <a:endParaRPr lang="en-US" sz="3800" dirty="0"/>
          </a:p>
        </p:txBody>
      </p:sp>
      <p:sp>
        <p:nvSpPr>
          <p:cNvPr id="7" name="Shape 4"/>
          <p:cNvSpPr/>
          <p:nvPr/>
        </p:nvSpPr>
        <p:spPr>
          <a:xfrm>
            <a:off x="777240" y="3493008"/>
            <a:ext cx="6309360" cy="41148"/>
          </a:xfrm>
          <a:prstGeom prst="rect">
            <a:avLst/>
          </a:prstGeom>
          <a:solidFill>
            <a:srgbClr val="F7B32B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803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spc="200" kern="0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169664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로컬 서비스의 남는 시간이</a:t>
            </a:r>
            <a:endParaRPr lang="en-US" sz="1700" dirty="0"/>
          </a:p>
          <a:p>
            <a:pPr algn="l" indent="0" marL="0">
              <a:lnSpc>
                <a:spcPts val="2465"/>
              </a:lnSpc>
              <a:buNone/>
            </a:pPr>
            <a:r>
              <a:rPr lang="en-US" sz="1700" dirty="0">
                <a:solidFill>
                  <a:srgbClr val="E8DC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실시간으로 거래되는 시장을 만듭니다.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77240" y="523036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넛츠는 할인 앱이 아닙니다.</a:t>
            </a:r>
            <a:endParaRPr lang="en-US" sz="1550" dirty="0"/>
          </a:p>
          <a:p>
            <a:pPr algn="l" indent="0" marL="0">
              <a:lnSpc>
                <a:spcPts val="2248"/>
              </a:lnSpc>
              <a:buNone/>
            </a:pPr>
            <a:r>
              <a:rPr lang="en-US" sz="1550" b="1" dirty="0">
                <a:solidFill>
                  <a:srgbClr val="F7B3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버려지는 시간을 거래 가능하게 만드는 인프라입니다.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77240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spc="150" kern="0" dirty="0">
                <a:solidFill>
                  <a:srgbClr val="A8927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심심할 땐, 넛츠  NUTS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넛츠 (NUTS) — IR 덱</dc:title>
  <dc:subject>예약 기반 서비스업 실시간 빈 슬롯 마켓플레이스</dc:subject>
  <dc:creator>넛츠 TF</dc:creator>
  <cp:lastModifiedBy>넛츠 TF</cp:lastModifiedBy>
  <cp:revision>1</cp:revision>
  <dcterms:created xsi:type="dcterms:W3CDTF">2026-09-17T22:26:25Z</dcterms:created>
  <dcterms:modified xsi:type="dcterms:W3CDTF">2026-09-17T22:26:25Z</dcterms:modified>
</cp:coreProperties>
</file>