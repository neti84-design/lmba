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[표지 · 0:12]
안녕하십니까. 넛츠입니다. /
예약 서비스업에서 **안 팔리면 0원으로 사라지는 시간**을, 지금 거기 갈 수 있는 사람에게 파는 서비스입니다. /
10분 동안 문제부터 숫자까지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 ① 사장님 · 0:45]
여기 네일샵 사장님이 계십니다. 방금 전화를 받았습니다. **한 시 예약이 취소됐습니다.** /
미용실, 네일, 마사지 같은 예약 기반 서비스업의 재고는 물건이 아니라 **시간**입니다. /
팔지 못한 한 시부터 두 시는 내일로 넘길 수 없습니다. **그 자리에서 영원히 사라집니다.** /
당일 취소 한 건은 그 슬롯 매출의 **100% 손실**이고, 그 시간에도 임대료와 인건비는 그대로 나갑니다. /
이게 첫 번째 빈칸입니다.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[문제 ② 사용자 · 0:35]
반대편에는 이런 사람이 있습니다. 강남역, 오후 두 시. **회의가 취소돼서 두 시간이 비었습니다.** /
무심코 손을 내려다봅니다. 손톱 정리를 한 게 언제였더라. /
약속 전 30분, 늦는 친구, 취소된 회의 — 누구에게나 이런 **떠 있는 시간**이 있습니다. /
그런데 지금 이 근처에서 무엇을 할 수 있는지 알려주는 서비스가 없습니다. **이게 두 번째 빈칸입니다.**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[두 개의 빈칸 · 0:25]
두 사람은 **서로에게 정확히 필요한 사람**입니다. 걸어서 십오 분 거리에 있는데도요. /
한쪽에는 팔지 못하면 사라지는 한 시간이 있고, 다른 쪽에는 어디로 갈지 모르는 두 시간이 있습니다. /
그런데 이 둘을 잇는 서비스가, **지금 없습니다.**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[시장의 빈칸 · 1:00]
이런 서비스 이미 있지 않냐고 물으실 겁니다. **반은 맞습니다.** /
**음식 떠리는 있습니다.** 마감히어로, 라스트오더. 오늘 못 팔면 버리는 음식을 싸게 넘기죠. 그런데 **음식만** 합니다. /
**미용실 예약도 있습니다.** 네이버예약, 카카오헤어샵. 그런데 **내일과 다음 주**를 팝니다. 오늘 비어버린 한 시간은 아무도 안 팝니다. /
**내 주변도 있습니다.** 당근이죠. 그런데 중고 물건입니다. /
그래서 이 칸이 비어 있습니다. **서비스업의 빈 자리를, 내 주변에서, 지금.** /
왜 비어 있을까요. 우연이 아닙니다. 음식 떠리 앱은 물건 재고를 세는 구조라 1대1 예약 슬롯을 다룰 수 없고, 예약 앱은 **정가로 먹고살아서 스스로 할인을 걸 수 없습니다.** /
각자 자기 수익 구조에 묶여 있어서, **옆으로 한 걸음 옮겨서는 아무도 못 오는 자리**입니다.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[솔루션 · 0:30]
그 자리를 저희가 만들려고 합니다. 이름은 **넛츠**입니다. /
**심심풀이 땅콩**이라는 말이 있죠. 심심한 시간에, 한 줌, 가볍게. 저희가 파는 게 정확히 그겁니다. /
사장님은 오늘 비어버린 한 시간을 올립니다. 정가 사만 원짜리 네일 케어를 이만 사천 원에. /
저는 지금 강남역에 있고 두 시간이 비었습니다. 앱을 열면 **내 주변에서 지금 바로 받을 수 있는 자리들**이 뜹니다. /
그리고 이 네 글자에 저희가 하는 일이 다 들어 있습니다. Now, Unbooked, Time, Saver. **지금, 예약되지 않은 시간을 살린다.**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[도달 가능성 필터 · 1:05]
**내 주변에 있다고 해서, 내가 정말 갈 수 있을까요.** /
마감이 38분 남았는데 걸어서 40분이면, 그건 내 주변에 있어도 **없는 겁니다.** /
기존 앱들은 거리순으로만 보여줍니다. 제시간에 도착할 수 있는지는 사용자가 알아서 계산해야 합니다. **넛츠는 갈 수 있는 것만 보여줍니다.** /
보시죠. 마감까지 **38분**, 이 가게까지 2.5킬로입니다. /
**도보**를 누르면 38분, 준비 시간까지 43분. 못 갑니다. **화면에서 사라집니다.** /
**자전거**를 누르면 10분. 여유가 23분 남습니다. **보입니다.** 차량도 주차까지 18분, 보입니다. /
**같은 시각, 같은 자리에 서 있어도 이동수단에 따라 완전히 다른 화면을 봅니다.** 내 주변을, 진짜 갈 수 있는 곳으로 좁혀주는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[세 가지 효과 · 0:28]
첫째, **헛걸음이 사라집니다.** 못 오는 사람에게는 애초에 안 보여주니까요. 노쇼를 정책이 아니라 **화면 설계로** 막는 겁니다. /
둘째, 목록은 짧아지는데 **예약 전환율은 올라갑니다.** 보이는 게 전부 진짜 갈 수 있는 것이니까요. /
셋째, **지금 여기 올 수 있는 사람**은 광고주에게 가장 비싼 트래픽입니다. 광고 상품의 근거가 여기서 생깁니다. /
사장님 화면에는 이렇게 뜹니다. 이 슬롯을 지금 볼 수 있는 사람 47명. **마감을 15분만 늦추면 112명.** 가격을 깎으라고 하지 않고 시간을 조정하라고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[타깃 · 0:30]
저희 고객은 **계획을 미리 세우지 않는 20~30대**입니다. 오늘 저녁을 오늘 오후에 정하는 사람들이죠. /
계획형은 우리 고객이 아닙니다. 그분들은 기존 예약앱으로 충분합니다. /
이 고객이 반응하는 건 가격이 아니라 **“지금 나만 찾아낸 자리”라는 발견의 재미**입니다. /
공급자는 예약 기반 소상공인입니다. 빈 슬롯의 한계비용은 0에 가까워서 **할인 여력이 실제로 존재**하고, 할인 체험은 결국 **광고비를 매출로 받는 셈**입니다.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[비즈니스 모델 · 0:45]
**수수료는 첫날부터 받습니다.** 당근은 못 받았죠. 중고 직거래에는 우리를 지나가는 돈이 없으니까요. 넛츠는 선결제라 돈이 지나갑니다. /
그리고 더 중요한 게 있습니다. **사장님이 비교하는 건 정가가 아니라 0원입니다.** 안 팔리면 0원인 슬롯에서 받는 10%는 뺏는 게 아니라 나누는 겁니다. /
1년차는 수수료 10%, 첫 3개월은 0%로 공급을 모읍니다. /
2년차에 밀도가 붙으면 12%에 **광고**를 얹습니다. 도달반경 안의 상위 노출권이라 근거가 분명합니다. /
3년차부터는 **넛츠페이**로 결제 수수료와 예치금, 그리고 락인까지 가져갑니다.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[재무 · 0:50]
숫자를 보시겠습니다. /
1년차는 강남구에서 입점 400개, 거래액 5억, 매출 3천만 원. 거의 없는 거나 마찬가지입니다. /
2년차에 서울 다섯 개 구로 넓히면 거래액 43억, 매출 4억. /
**3년차에 흑자로 돌아섭니다.** 숙박까지 올라가 거래액 200억, 매출 22억, 영업이익 2억. /
4년차는 매출 75억에 영업이익 40억입니다. /
**최대 누적 적자가 13억이니 필요한 투자도 그 정도고, 4년차 상반기에 회수됩니다.** 모두 가정값이고, 내부 데이터로 검증할 항목은 따로 표시해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[확장 · 0:40]
확장은 네 단계입니다. /
지금은 **예약 기반 서비스업**입니다. 재고가 항상 하나고 썩지 않아서, 시간 재고 중에 가장 다루기 쉽습니다. 여기서 엔진을 완성합니다. /
다음이 **문화** — 연극, 영화, 방탈출. 전부 예약이고 오늘 지나면 사라집니다. 새로 배우는 건 좌석이라는 **수량** 하나뿐입니다. /
그다음 **숙박**, 마지막이 **포장음식**입니다. 사회적 가치는 가장 큰데 실시간 재고 관리가 가장 어려워서 맨 뒤입니다. /
그리고 **2단계부터는 상대가 대기업입니다.** 체인 한 곳이면 전국 수백 개 관의 빈 좌석이 한 번에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· 리스크 · 0:40]
운영은 세 가지 원칙으로 갑니다. **강남구 한 곳**에서만 시작하고, **선결제를 의무화**하고, **그 가게의 단골에게는 할인 슬롯을 보여주지 않습니다.** /
밀도가 곧 매칭률이고, 단골이 정가를 안 내게 되는 순간 사장님은 떠나니까요. 이건 할인 채널이 아니라 **신규 고객 채널**입니다. /
가장 많이 받은 지적 두 가지도 미리 말씀드리겠습니다. /
하나, 빈 슬롯을 파는 가게는 안 되는 가게 아니냐. 그래서 초기 백 개는 저희가 **직접 심사**합니다. **첫 방문 체험 슬롯**입니다. /
둘, 강남구 안에서는 자전거면 다 가지 않냐. 맞습니다. 그래서 이 기능은 거리 제한이 아니라 **도착 보증**이고, **서울 전역으로 넓어질수록 강해집니다.**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[앱 화면 · 0:35]
실제 화면입니다. /
홈에는 **지금 갈 수 있는 예약만** 뜹니다. 지도에서 도보, 자전거, 차량을 바꾸면 결과가 그대로 바뀝니다. /
상세 화면에는 마감 시각과 정가 대비 할인, 그리고 **“지금 갈 수 있어요”** 한 줄이 붙습니다. /
사용자가 보는 건 목록이 아니라 **갈 수 있다는 확신**입니다.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[요청 · 클로징 · 0:40]
저희가 보는 지표는 하나입니다. **채워진 슬롯 수.** 그냥 사라졌을 시간 중에 매출로 바뀐 시간의 총량입니다. /
그래서 필요한 것도 두 가지뿐입니다. **강남구에서의 여섯 달**, 그리고 2단계에서 문을 열어줄 **첫 대형 파트너 한 곳.** /
처음의 두 사람으로 돌아가겠습니다. 반차를 낸 사람은 자전거를 고르고, **12분 거리에 뜬 한 자리**를 예약합니다. 그 시간, 취소 전화를 받았던 사장님의 한 시간이 채워집니다. /
두 사람은 여전히 서로를 몰랐습니다. **저희가 그걸 알고 있었을 뿐입니다.** /
넛츠는 할인 앱이 아닙니다. **버려지는 시간을 거래 가능하게 만드는 인프라입니다.**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314"/>
          </a:solidFill>
          <a:ln/>
        </p:spPr>
      </p:sp>
      <p:pic>
        <p:nvPicPr>
          <p:cNvPr id="3" name="Image 0" descr="/home/user/LMBA/deck/assets/app-m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28255" y="0"/>
            <a:ext cx="466344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28255" y="0"/>
            <a:ext cx="4663440" cy="6858000"/>
          </a:xfrm>
          <a:prstGeom prst="rect">
            <a:avLst/>
          </a:prstGeom>
          <a:solidFill>
            <a:srgbClr val="3B2314">
              <a:alpha val="38000"/>
            </a:srgbClr>
          </a:solidFill>
          <a:ln/>
        </p:spPr>
      </p:sp>
      <p:pic>
        <p:nvPicPr>
          <p:cNvPr id="5" name="Image 1" descr="/home/user/LMBA/deck/assets/nuts-mark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81328"/>
            <a:ext cx="932688" cy="1517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32004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777240" y="4279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spc="1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O W   U N B O O K E D   T I M E   S A V E 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7724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5"/>
              </a:lnSpc>
              <a:buNone/>
            </a:pPr>
            <a:r>
              <a:rPr lang="en-US" sz="19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지금, 비어 있는 예약 한 자리를</a:t>
            </a:r>
            <a:endParaRPr lang="en-US" sz="1900" dirty="0"/>
          </a:p>
          <a:p>
            <a:pPr algn="l" indent="0" marL="0">
              <a:lnSpc>
                <a:spcPts val="2755"/>
              </a:lnSpc>
              <a:buNone/>
            </a:pPr>
            <a:r>
              <a:rPr lang="en-US" sz="19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갈 수 있는 거리 안에서.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7724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A892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기반 서비스업 실시간 빈 슬롯 마켓플레이스   ·   2026. 09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MBA/deck/assets/problem-ow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7223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0"/>
            <a:ext cx="4967935" cy="6858000"/>
          </a:xfrm>
          <a:prstGeom prst="rect">
            <a:avLst/>
          </a:prstGeom>
          <a:solidFill>
            <a:srgbClr val="3B2314"/>
          </a:solidFill>
          <a:ln/>
        </p:spPr>
      </p:sp>
      <p:sp>
        <p:nvSpPr>
          <p:cNvPr id="4" name="Text 1"/>
          <p:cNvSpPr/>
          <p:nvPr/>
        </p:nvSpPr>
        <p:spPr>
          <a:xfrm>
            <a:off x="77266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 01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26680" y="129844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시 예약이</a:t>
            </a:r>
            <a:endParaRPr lang="en-US" sz="2700" dirty="0"/>
          </a:p>
          <a:p>
            <a:pPr algn="l"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취소됐습니다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726680" y="2788920"/>
            <a:ext cx="1371600" cy="41148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7" name="Text 4"/>
          <p:cNvSpPr/>
          <p:nvPr/>
        </p:nvSpPr>
        <p:spPr>
          <a:xfrm>
            <a:off x="7726680" y="312724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서비스업의 재고는 물건이 아니라 시간입니다.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당일 취소 1건 = 그 슬롯 매출의 100% 손실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못 판 한 시간은 내일로 넘어가지 않고 소멸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 사이에도 임대료 · 인건비는 그대로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26680" y="57150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 팔리면 0원”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LMBA/deck/assets/problem-us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67935" cy="6858000"/>
          </a:xfrm>
          <a:prstGeom prst="rect">
            <a:avLst/>
          </a:prstGeom>
          <a:solidFill>
            <a:srgbClr val="26160E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 02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7240" y="129844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회의가 취소돼서</a:t>
            </a:r>
            <a:endParaRPr lang="en-US" sz="2700" dirty="0"/>
          </a:p>
          <a:p>
            <a:pPr algn="l" indent="0" marL="0">
              <a:lnSpc>
                <a:spcPts val="3456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시간이 떴습니다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77240" y="2788920"/>
            <a:ext cx="1371600" cy="41148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12724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전 30분, 늦는 친구, 취소된 회의.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누구에게나 있는 “떠 있는 시간”입니다.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지금 이 근처에서 뭘 할 수 있는지 알려주는 앱이 없다</a:t>
            </a:r>
            <a:endParaRPr lang="en-US" sz="1350" dirty="0"/>
          </a:p>
          <a:p>
            <a:pPr algn="l" indent="0" marL="0">
              <a:lnSpc>
                <a:spcPts val="2093"/>
              </a:lnSpc>
              <a:buNone/>
            </a:pPr>
            <a:r>
              <a:rPr lang="en-US" sz="13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20~30대 즉흥형은 오늘 저녁을 오늘 오후에 정한다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57150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뭐 하지”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사람은 걸어서 15분 거리에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서로의 존재를 모릅니다.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26060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88136" y="3118104"/>
            <a:ext cx="4407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팔지 못하면 사라지는 한 시간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여력은 실제로 있다 —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슬롯의 한계비용은 0에 가깝다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82512" y="233172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260604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93408" y="3118104"/>
            <a:ext cx="4407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갈지 모르는 두 시간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싸서가 아니라 —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나만 찾아낸 자리”를 원한다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4864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둘을 잇는 서비스가, 지금 없습니다.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MARKET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인접 서비스는 다 있습니다. 합쳐진 자리만 비어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81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0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파나  ↓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26080" y="1581912"/>
            <a:ext cx="8284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0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파나  →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2608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87184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서비스업 (미용 · 네일 · 마사지)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</a:t>
            </a:r>
            <a:endParaRPr lang="en-US" sz="1300" dirty="0"/>
          </a:p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(내일 · 다음 주)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6817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300" dirty="0"/>
          </a:p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내 주변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2313432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606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배달 · 예약 주문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200400" y="31181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시키는 음식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87184" y="2313432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26060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네이버예약 · 카카오헤어샵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61504" y="31181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정가로 수익을 내므로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할인을 걸 수 없다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26080" y="4178808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471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55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마감히어로 · 라스트오더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200400" y="49834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재고를 세는 구조라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슬롯으로 못 넘어온다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87184" y="4178808"/>
            <a:ext cx="4023360" cy="1627632"/>
          </a:xfrm>
          <a:prstGeom prst="roundRect">
            <a:avLst>
              <a:gd name="adj" fmla="val 4494"/>
            </a:avLst>
          </a:prstGeom>
          <a:solidFill>
            <a:srgbClr val="3B2314"/>
          </a:solidFill>
          <a:ln w="25400">
            <a:solidFill>
              <a:srgbClr val="3B23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4471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61504" y="50474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서비스업의 빈 슬롯을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주변에서, 지금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당근은 상시 · 내 주변이지만 거래 대상이 중고 물건이고 사업자 재고가 아닙니다.  옆으로 한 걸음 옮겨서는 아무도 올 수 없는 자리입니다.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— 지금부터 2시간, 갈 수 있는 거리 안의 빈 자리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37215" cy="868680"/>
          </a:xfrm>
          <a:prstGeom prst="roundRect">
            <a:avLst>
              <a:gd name="adj" fmla="val 8421"/>
            </a:avLst>
          </a:prstGeom>
          <a:solidFill>
            <a:srgbClr val="3B231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830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“지금, 내가 갈 수 있는 거리 안에서, 비어 있는 예약 한 자리를 채운다.”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33192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88136" y="3703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8136" y="4206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GPS로 지금 서 있는 자리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25696" y="2834640"/>
            <a:ext cx="33192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36592" y="3703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이동수단 선택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4206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· 자전거 · 차량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74152" y="2834640"/>
            <a:ext cx="331927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5048" y="3703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가능한 것만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5048" y="4206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마감까지 갈 수 있는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슬롯만 화면에 남는다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6235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사장님은 오늘 비어버린 한 시간을 올리고, 사용자는 지금 갈 수 있는 자리만 봅니다.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MECHANISM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거리순 정렬이 아니라, 도착 가능성 필터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앱은 1km · 2km를 보여주고 도착 여부는 사용자가 계산합니다. 넛츠는 갈 수 있는 것만 남깁니다.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637215" cy="749808"/>
          </a:xfrm>
          <a:prstGeom prst="roundRect">
            <a:avLst>
              <a:gd name="adj" fmla="val 9756"/>
            </a:avLst>
          </a:prstGeom>
          <a:solidFill>
            <a:srgbClr val="F6EFE2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5856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현재시각  +  이동시간(수단, 거리)  +  준비버퍼    ≤    예약 마감시각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가게 · 같은 시각 — 마감까지 38분, 거리 2.5km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56432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F4EFE9"/>
          </a:solidFill>
          <a:ln w="12700">
            <a:solidFill>
              <a:srgbClr val="E3D8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56432"/>
            <a:ext cx="82296" cy="713232"/>
          </a:xfrm>
          <a:prstGeom prst="rect">
            <a:avLst/>
          </a:prstGeom>
          <a:solidFill>
            <a:srgbClr val="B9A79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8D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8D7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43분  (이동 38 + 준비 5)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82535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사라짐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261104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1104"/>
            <a:ext cx="82296" cy="713232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4439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46120" y="4462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82535" y="4443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E6B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여유 23분 — 노출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5065776"/>
            <a:ext cx="1063721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65776"/>
            <a:ext cx="82296" cy="713232"/>
          </a:xfrm>
          <a:prstGeom prst="rect">
            <a:avLst/>
          </a:prstGeom>
          <a:solidFill>
            <a:srgbClr val="2E6B3E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52486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46120" y="5266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18분  (주차 포함)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82535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E6B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9893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자리에 서 있어도, 이동수단에 따라 완전히 다른 화면을 봅니다.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작은 장치가 세 가지를 만듭니다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31927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헛걸음 제로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8136" y="2706624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오는 사람에게는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애초에 보여주지 않습니다.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노쇼를 정책이 아니라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설계로 막습니다.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5696" y="1920240"/>
            <a:ext cx="331927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목록, 높은 전환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36592" y="2706624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게 전부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갈 수 있는 자리입니다.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목록은 짧아지는데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 전환율은 올라갑니다.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74152" y="1920240"/>
            <a:ext cx="3319272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비싼 트래픽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85048" y="2706624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여기 올 수 있는 사람”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광고주에게 가장 비싼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트래픽이고, 광고 상품의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 화면에서는 “마감을 15분 늦추면 47명 → 112명”. 가격이 아니라 시간을 조정하는 레버를 드립니다.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시간을 다루는가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1031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— 20~30대 즉흥형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8136" y="2615184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오늘 저녁을 오늘 오후에 정하는 사람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계획형은 우리 고객이 아닙니다.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그들에겐 기존 예약앱으로 충분합니다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정서는 가격이 아니라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나만 찾아낸 자리”라는 발견의 재미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82512" y="182880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210312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— 예약 기반 소상공인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93408" y="2615184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당일 취소로 생긴 빈 시간을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틈새 매출로 바꾸고 싶은 사장님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빈 슬롯의 한계비용은 0에 가깝다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할인 여력이 실제로 존재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체험은 광고비를 매출로 받는 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1단계는 미용실 · 네일 · 마사지. 재고가 항상 하나고 썩지 않아, 시간 재고 중 가장 다루기 쉽습니다.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BUSINESS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수수료는 첫날부터 받습니다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37215" cy="713232"/>
          </a:xfrm>
          <a:prstGeom prst="roundRect">
            <a:avLst>
              <a:gd name="adj" fmla="val 10256"/>
            </a:avLst>
          </a:prstGeom>
          <a:solidFill>
            <a:srgbClr val="F6EFE2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사장님이 비교하는 건 정가가 아니라 0원입니다. 안 팔리면 0원인 슬롯에서 받는 10%는 뺏는 게 아니라 나누는 겁니다.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31927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3319272" cy="73152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825496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69848" y="3136392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0~12개월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69848" y="352044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수수료 10%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69848" y="4142232"/>
            <a:ext cx="2734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3개월 0% 프로모션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슬롯의 대안은 0원이라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저항이 구조적으로 낮다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25696" y="2514600"/>
            <a:ext cx="331927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2514600"/>
            <a:ext cx="3319272" cy="73152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2825496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18304" y="3136392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13~24개월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18304" y="352044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 12% + 광고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18304" y="4142232"/>
            <a:ext cx="2734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밀도 확보 후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도달반경 내 상위 노출권 판매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74152" y="2514600"/>
            <a:ext cx="331927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4152" y="2514600"/>
            <a:ext cx="3319272" cy="73152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825496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66760" y="3136392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25개월~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66760" y="352044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넛츠페이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66760" y="4142232"/>
            <a:ext cx="2734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수수료 · 예치금 운용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락인 효과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 수수료 2.5%p를 뺀 실질 수익률 — 1년차 6% · 2년차 9.5% · 3년차 11% · 4년차 13%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FINANCIALS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3년차에 흑자로 돌아섭니다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가정값입니다. 롯데 내부 데이터로 검증 후 확정합니다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67448" y="1938528"/>
            <a:ext cx="1973504" cy="2505456"/>
          </a:xfrm>
          <a:prstGeom prst="rect">
            <a:avLst/>
          </a:prstGeom>
          <a:solidFill>
            <a:srgbClr val="FBF3E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938528"/>
            <a:ext cx="10637215" cy="457200"/>
          </a:xfrm>
          <a:prstGeom prst="roundRect">
            <a:avLst>
              <a:gd name="adj" fmla="val 8000"/>
            </a:avLst>
          </a:prstGeom>
          <a:solidFill>
            <a:srgbClr val="3B2314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C9B4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억 원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20440" y="2039112"/>
            <a:ext cx="171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93944" y="2039112"/>
            <a:ext cx="171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67448" y="2039112"/>
            <a:ext cx="171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40951" y="2039112"/>
            <a:ext cx="171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896819"/>
            <a:ext cx="10637215" cy="10973"/>
          </a:xfrm>
          <a:prstGeom prst="rect">
            <a:avLst/>
          </a:prstGeom>
          <a:solidFill>
            <a:srgbClr val="EDE2D2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거래액 (GMV)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93944" y="2514600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67448" y="2514600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440951" y="2514600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77240" y="3408883"/>
            <a:ext cx="10637215" cy="10973"/>
          </a:xfrm>
          <a:prstGeom prst="rect">
            <a:avLst/>
          </a:prstGeom>
          <a:solidFill>
            <a:srgbClr val="EDE2D2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" y="3044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0440" y="3026664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93944" y="3026664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67448" y="3026664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440951" y="3026664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74.9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77240" y="3920947"/>
            <a:ext cx="10637215" cy="10973"/>
          </a:xfrm>
          <a:prstGeom prst="rect">
            <a:avLst/>
          </a:prstGeom>
          <a:solidFill>
            <a:srgbClr val="EDE2D2"/>
          </a:solidFill>
          <a:ln/>
        </p:spPr>
      </p:sp>
      <p:sp>
        <p:nvSpPr>
          <p:cNvPr id="26" name="Text 24"/>
          <p:cNvSpPr/>
          <p:nvPr/>
        </p:nvSpPr>
        <p:spPr>
          <a:xfrm>
            <a:off x="1033272" y="35570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영업손익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520440" y="3538728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-4.7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93944" y="3538728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-8.1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467448" y="3538728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E6B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+2.2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40951" y="3538728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2616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+39.9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77240" y="4433011"/>
            <a:ext cx="10637215" cy="10973"/>
          </a:xfrm>
          <a:prstGeom prst="rect">
            <a:avLst/>
          </a:prstGeom>
          <a:solidFill>
            <a:srgbClr val="EDE2D2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" y="4069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손익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20440" y="4050792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-4.7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493944" y="4050792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-12.8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67448" y="4050792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9B8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-10.6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440951" y="4050792"/>
            <a:ext cx="171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2E6B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+29.3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7240" y="5029200"/>
            <a:ext cx="3319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24865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단위 흑자 전환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51560" y="5596128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3년차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425696" y="5029200"/>
            <a:ext cx="3319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524865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투자액 (최대 누적 적자)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00016" y="5596128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13억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8074152" y="5029200"/>
            <a:ext cx="3319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524865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회수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348472" y="5596128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4년차 상반기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EXPANSION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가지 역량만 더합니다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2453564" cy="73152"/>
          </a:xfrm>
          <a:prstGeom prst="rect">
            <a:avLst/>
          </a:prstGeom>
          <a:solidFill>
            <a:srgbClr val="F7B32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031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1904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미용 · 네일 · 마사지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51560" y="3355848"/>
            <a:ext cx="190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A08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배우는 역량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639312"/>
            <a:ext cx="19049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1:1 슬롯 매칭 · 도달 엔진 · 선결제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05124" y="178308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5124" y="1783080"/>
            <a:ext cx="2453564" cy="73152"/>
          </a:xfrm>
          <a:prstGeom prst="rect">
            <a:avLst/>
          </a:prstGeom>
          <a:solidFill>
            <a:srgbClr val="3B2314"/>
          </a:solidFill>
          <a:ln/>
        </p:spPr>
      </p:sp>
      <p:sp>
        <p:nvSpPr>
          <p:cNvPr id="13" name="Text 11"/>
          <p:cNvSpPr/>
          <p:nvPr/>
        </p:nvSpPr>
        <p:spPr>
          <a:xfrm>
            <a:off x="3779444" y="21031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79444" y="2441448"/>
            <a:ext cx="1904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연극 · 영화 · 방탈출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779444" y="3355848"/>
            <a:ext cx="190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A08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배우는 역량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79444" y="3639312"/>
            <a:ext cx="19049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재고와 동시성 제어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79444" y="48463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체인 본사 1건 = 전국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178308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3008" y="1783080"/>
            <a:ext cx="2453564" cy="73152"/>
          </a:xfrm>
          <a:prstGeom prst="rect">
            <a:avLst/>
          </a:prstGeom>
          <a:solidFill>
            <a:srgbClr val="3B2314"/>
          </a:solidFill>
          <a:ln/>
        </p:spPr>
      </p:sp>
      <p:sp>
        <p:nvSpPr>
          <p:cNvPr id="20" name="Text 18"/>
          <p:cNvSpPr/>
          <p:nvPr/>
        </p:nvSpPr>
        <p:spPr>
          <a:xfrm>
            <a:off x="6507328" y="21031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07328" y="2441448"/>
            <a:ext cx="1904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숙박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507328" y="3355848"/>
            <a:ext cx="190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A08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배우는 역량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7328" y="3639312"/>
            <a:ext cx="19049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분리된 시간 재고 (마감이 자정까지)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07328" y="48463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체인 본사 1건 = 전국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60891" y="1783080"/>
            <a:ext cx="2453564" cy="3566160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0891" y="1783080"/>
            <a:ext cx="2453564" cy="73152"/>
          </a:xfrm>
          <a:prstGeom prst="rect">
            <a:avLst/>
          </a:prstGeom>
          <a:solidFill>
            <a:srgbClr val="D8C6AE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211" y="2103120"/>
            <a:ext cx="19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b="1" spc="15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211" y="2441448"/>
            <a:ext cx="19049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포장음식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235211" y="3355848"/>
            <a:ext cx="1904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A08B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배우는 역량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35211" y="3639312"/>
            <a:ext cx="19049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물리재고 · 신선도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77240" y="56235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8"/>
              </a:lnSpc>
              <a:buNone/>
            </a:pPr>
            <a:r>
              <a:rPr lang="en-US" sz="145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2단계부터는 상대가 대기업입니다. 영화관 체인 한 곳이면 전국 수백 개 관의 빈 좌석이 한 번에 열립니다.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3원칙, 그리고 가장 많이 받은 지적 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강남구 한 곳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8136" y="256946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밀도가 곧 매칭률입니다.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개를 전국에 흩뿌리면 실패하고,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강남구에 몰면 작동합니다.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5696" y="178308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선결제 의무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36592" y="256946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할인해준 사장님에게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노쇼는 재앙이니까요.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필터와 함께 이중 방어입니다.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74152" y="1783080"/>
            <a:ext cx="33192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단골에게는 안 보임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85048" y="2569464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단골이 정가를 안 내는 순간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사장님은 떠납니다.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채널이 아니라 신규 채널.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6EFE2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4672584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“빈 슬롯 파는 가게면</a:t>
            </a:r>
            <a:endParaRPr lang="en-US" sz="15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되는 가게 아닌가?”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8136" y="5458968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100개는 직접 심사합니다. 떨이가 아니라 첫 방문 체험 슬롯입니다.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82512" y="44348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6EFE2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4672584"/>
            <a:ext cx="4407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“강남구 안이면 자전거로</a:t>
            </a:r>
            <a:endParaRPr lang="en-US" sz="15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5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어차피 다 가지 않나?”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408" y="5458968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맞습니다. 그래서 이건 거리 제한이 아니라 도착 보증이고, 넓어질수록 강해집니다.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314"/>
          </a:solidFill>
          <a:ln/>
        </p:spPr>
      </p:sp>
      <p:pic>
        <p:nvPicPr>
          <p:cNvPr id="3" name="Image 0" descr="/home/user/LMBA/deck/assets/app-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855" y="566928"/>
            <a:ext cx="5724144" cy="5724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868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7240" y="1280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 있는 화면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홈 — 지금 갈 수 있는 예약만 뜹니다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지도 — 도보 · 자전거 · 차량 토글이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결과를 그대로 바꿉니다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상세 — 마감 시각, 정가 대비 할인,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DC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그리고 “지금 갈 수 있어요”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623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심심할 땐, 넛츠.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8404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5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713232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보는 지표는 하나입니다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10637215" cy="1234440"/>
          </a:xfrm>
          <a:prstGeom prst="roundRect">
            <a:avLst>
              <a:gd name="adj" fmla="val 5926"/>
            </a:avLst>
          </a:prstGeom>
          <a:solidFill>
            <a:srgbClr val="3B2314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10512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spc="200" kern="0" dirty="0">
                <a:solidFill>
                  <a:srgbClr val="F7B3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2176272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슬롯 수  —  그냥 사라졌을 시간 중 매출로 바뀐 시간의 총량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338328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강남구에서의 여섯 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88136" y="3895344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밀도가 만들어지는지 확인하는 기간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82512" y="310896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338328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대형 파트너 한 곳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93408" y="3895344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2단계의 문을 열어줄 체인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5166360"/>
            <a:ext cx="10637215" cy="1005840"/>
          </a:xfrm>
          <a:prstGeom prst="roundRect">
            <a:avLst>
              <a:gd name="adj" fmla="val 7273"/>
            </a:avLst>
          </a:prstGeom>
          <a:solidFill>
            <a:srgbClr val="F6EFE2"/>
          </a:solidFill>
          <a:ln w="12700">
            <a:solidFill>
              <a:srgbClr val="EDE2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422392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3B23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넛츠는 할인 앱이 아닙니다. 버려지는 시간을 거래 가능하게 만드는 인프라입니다.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spc="150" kern="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넛츠  NUTS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134295" y="6382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7A635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넛츠 (NUTS) — IR 덱</dc:title>
  <dc:subject>예약 기반 서비스업 실시간 빈 슬롯 마켓플레이스</dc:subject>
  <dc:creator>넛츠 TF</dc:creator>
  <cp:lastModifiedBy>넛츠 TF</cp:lastModifiedBy>
  <cp:revision>1</cp:revision>
  <dcterms:created xsi:type="dcterms:W3CDTF">2026-09-17T10:01:39Z</dcterms:created>
  <dcterms:modified xsi:type="dcterms:W3CDTF">2026-09-17T10:01:39Z</dcterms:modified>
</cp:coreProperties>
</file>