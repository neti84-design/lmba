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[표지 · 0:20]
안녕하십니까. 넛츠입니다. /
예약 서비스업에서 **안 팔리면 0원으로 사라지는 시간**을, 지금 거기 갈 수 있는 사람에게 파는 서비스입니다. /
문제부터 숫자까지 보여드리겠습니다.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[문제 — 두 개의 빈칸 · 1:00]
문제는 양쪽에 동시에 있습니다. /
왼쪽, **네일샵 사장님**입니다. 방금 전화를 받았습니다. 오늘 한 시 예약이 취소됐습니다. /
예약 기반 서비스업의 재고는 물건이 아니라 **시간**입니다. 팔지 못한 한 시부터 두 시는 내일로 넘길 수 없습니다. **그 자리에서 영원히 사라집니다.** /
당일 취소 한 건은 그 슬롯 매출의 **100% 손실**이고, 그 시간에도 임대료와 인건비는 그대로 나갑니다. /
오른쪽, **강남역 오후 두 시**입니다. 회의가 취소돼서 시간이 비었습니다. 무심코 손을 내려다봅니다. 손톱 정리를 한 게 언제였더라. /
약속 전 30분, 늦는 친구, 취소된 회의 — 누구에게나 이런 **떠 있는 시간**이 있습니다. 그런데 지금 이 근처에서 무엇을 할 수 있는지 알려주는 서비스가 없습니다. /
두 사람은 걸어서 십오 분 거리에 있습니다. **서로에게 정확히 필요한 사람인데, 서로의 존재를 모릅니다.** /
수요가 없는 게 아닙니다. **이 둘을 잇는 서비스가 없는 겁니다.**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[솔루션 · 0:40]
그 사이에 저희가 섭니다. 이름은 **넛츠**입니다. 심심풀이 땅콩 — 심심한 시간에, 한 줌, 가볍게. /
사장님은 오늘 비어버린 한 시간을 올립니다. 정가 사만 원짜리 네일 케어를 이만 사천 원에. /
가운데에서 저희가 세 가지를 합니다. **마감까지 남은 시간으로 값을 다시 매기고, 지금 갈 수 있는 사람만 걸러내고, 즉시 결제를 받습니다.** /
가운데 필터는 짧게만 말씀드리겠습니다. 현재시각에 이동시간과 준비 시간을 더해서 **마감 전에 도착 가능한 것만** 남깁니다. 도보냐 자전거냐에 따라 같은 자리에 서 있어도 다른 화면을 봅니다. 중요한 장치지만 **저희 코어는 아닙니다.** /
**코어는 비어 있는 시간을 지금 예약하게 만드는 것**이고, 그 구조는 다음 장입니다. /
오른쪽이 사용자가 보는 화면입니다. 홈에는 지금 갈 수 있는 예약만 뜨고, 상세에는 마감 시각과 정가 대비 할인, 그리고 “지금 갈 수 있어요” 한 줄이 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[코어 메커니즘 · 0:20]
코어 메커니즘은 여섯 단계입니다. /
빈 슬롯이 생기고, 소멸이 임박했다고 판단하고, **가격을 다시 매기고**, 갈 수 있는 사람에게만 노출하고, 즉시 선결제를 받고, 재방문으로 전환합니다. /
중심 엔진은 **다이나믹 프라이싱**이고, 도달 가능성은 그 값이 붙은 슬롯을 **실제로 살 수 있는 사람에게 잇는 필터**입니다. /
한 문장으로 하면 이겁니다. **비어 있는 시간 슬롯을 실시간으로 가격화해서, 지금 살 수 있는 고객에게 연결하는 서비스형 다이나믹 프라이싱 플랫폼.**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[포지셔닝 맵 · 0:15]
이런 서비스 이미 있지 않냐고 물으실 겁니다. **반은 맞습니다.** /
**음식 떠리는 있습니다.** 마감히어로, 라스트오더. 그런데 음식만 하고, 물건 재고를 세는 구조라 1대1 예약 슬롯을 못 다룹니다. /
**미용실 예약도 있습니다.** 네이버예약, 카카오헤어샵. 그런데 내일과 다음 주를 팝니다. **정가로 먹고살아서 스스로 할인을 걸 수 없습니다.** /
**내 주변도 있습니다.** 당근이죠. 그런데 중고 물건이고 사업자 재고가 아닙니다. /
그래서 오른쪽 위 칸이 비어 있습니다. **서비스업의 빈 자리를, 내 주변에서, 지금.**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[타깃 · 시장 규모 · 0:15]
고객은 **계획을 미리 세우지 않는 20~30대**입니다. 이 고객이 반응하는 건 가격이 아니라 **“지금 나만 찾아낸 자리”라는 발견의 재미**입니다. /
공급자는 예약 기반 소상공인입니다. 빈 슬롯의 한계비용은 0에 가까워서 **할인 여력이 실제로 존재**합니다. /
시장은 국내 예약 기반 개인 서비스업 거래액 **약 15조**, 그중 안 팔려서 사라지는 빈 슬롯이 **약 4조**로 봤습니다. /
저희가 3년 안에 서울 다섯 개 구에서 가져올 거래액은 **약 200억**입니다. 모두 가정값이고, 검증 항목은 표시해 두었습니다.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[비즈니스 모델 · 1:00]
수익 모델은 한 줄입니다. **결제 수수료 3%, 그게 전부입니다.** /
입점비도, 월 구독료도, 광고비도 받지 않습니다. /
이유는 분명합니다. 저희가 파는 건 **그냥 두면 0원이 될 시간**입니다. 0원짜리를 매출로 바꿔주는데 사장님에게 선불을 요구하면 **공급이 안 붙습니다.** /
이 사업은 **공급 밀도가 곧 경쟁력**이라, 진입 마찰을 0으로 두는 게 맞습니다. /
숫자로 보면, 사용자가 이만 사천 원을 결제하면 사장님에게 이만 삼천이백팔십 원, 저희가 **칠백이십 원**입니다. 월 십만 건이면 월 **칠천이백만 원**입니다. /
광고를 붙이면 단기 매출은 늘지만, 노출 순서가 돈으로 정해지는 순간 **“지금 갈 수 있는 곳”이라는 약속이 깨집니다.** 그래서 안 받습니다.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[트랙션 · 0:30]
이 서비스는 설치보다 **자주 여는 것**이 훨씬 중요합니다. 빈 시간은 갑자기 생기니까요. /
그래서 두 가지를 씁니다. /
첫째, **특정 매장에 커피 열 잔을 미리 달아둡니다.** 지금 이 근처에 계신 열 분, 선착순입니다. 공짜로 한 번 받아 본 사람은 **그 앱을 계속 열어봅니다.** /
둘째, **새로 등록한 업체에는 저희가 할인 쿠폰을 붙여 드립니다.** 저희 비용, 즉 투자입니다. /
초기 공급이 매력적이어야 사용자가 오고, 사용자가 와야 다음 사장님이 들어옵니다. **닭과 달걀을 저희 돈으로 끊는 겁니다.** /
보시는 네 지표는 모두 목표치이고, 강남구에서 먼저 증명합니다.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[KPI · 로드맵 · 0:30]
지표는 하나만 봅니다. **채워진 슬롯 수** — 그냥 사라졌을 시간 중에 매출로 바뀐 시간의 총량입니다. /
1단계는 **강남구 한 곳**입니다. 넓히지 않고 밀도를 만듭니다. 입점 사백 곳, 주간 채운 슬롯 천 개. /
2단계에서 **서울 다섯 개 구**로 같은 공식을 복제하고, 여기서 2단계의 문을 열어줄 **첫 대형 파트너 한 곳**을 확보합니다. /
3단계는 **카테고리 확장**입니다. 문화, 그다음 숙박. 새로 배우는 역량은 한 번에 하나씩만 더합니다. /
**체인 본사 한 곳이면 전국 수백 개가 한 번에 열립니다.**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[팀 · 0:10]
팀입니다. **여섯 명 전원 MBTI가 P입니다.** /
계획을 세우기보다 지금 눈앞에 열린 기회를 잡는 사람들입니다. **저희가 만드는 서비스가 정확히 그겁니다.**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[요청 · 0:20]
요청은 두 가지입니다. /
하나, **강남구에서의 여섯 달**을 버틸 자금 약 13억입니다. 절반 넘게는 **공급과 수요를 붙이는 데** 씁니다. 등록 업체 쿠폰과 커피 캠페인입니다. /
둘, 2단계의 문을 열어줄 **첫 대형 파트너 한 곳**입니다. 체인 본사 한 곳이면 전국이 한 번에 열립니다. /
금액은 수수료를 3%로 낮춘 기준으로 **재산정 중**이고, 사용처 비중은 그대로입니다.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[클로징 · 0:10]
처음의 두 사람으로 돌아가겠습니다. 회의가 취소된 사람은 자전거를 고르고, **12분 거리에 뜬 한 자리**를 예약합니다. 그 시간, 취소 전화를 받았던 사장님의 한 시간이 채워집니다. /
두 사람은 여전히 서로를 몰랐습니다. **저희가 그걸 알고 있었을 뿐입니다.** /
넛츠는 할인 앱이 아닙니다. **버려지는 시간을 거래 가능하게 만드는 인프라입니다.**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[백업 · 운영 · 리스크 · 0:00]
(백업 슬라이드 — 질문을 받으면 엽니다) /
운영은 세 가지 원칙입니다. **강남구 한 곳**에서만 시작하고, **선결제를 의무화**하고, **그 가게의 단골에게는 할인 슬롯을 보여주지 않습니다.** /
가장 많이 받은 지적 둘. 빈 슬롯을 파는 가게는 안 되는 가게 아니냐 — 초기 백 개는 **직접 심사**합니다. /
강남구 안에서는 자전거면 다 가지 않냐 — 맞습니다. 그래서 이건 거리 제한이 아니라 **도착 보증**이고, 넓어질수록 강해집니다.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2314"/>
          </a:solidFill>
          <a:ln/>
        </p:spPr>
      </p:sp>
      <p:pic>
        <p:nvPicPr>
          <p:cNvPr id="3" name="Image 0" descr="/home/user/LMBA/deck/assets/app-mocku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28255" y="0"/>
            <a:ext cx="4663440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528255" y="0"/>
            <a:ext cx="4663440" cy="6858000"/>
          </a:xfrm>
          <a:prstGeom prst="rect">
            <a:avLst/>
          </a:prstGeom>
          <a:solidFill>
            <a:srgbClr val="3B2314">
              <a:alpha val="38000"/>
            </a:srgbClr>
          </a:solidFill>
          <a:ln/>
        </p:spPr>
      </p:sp>
      <p:pic>
        <p:nvPicPr>
          <p:cNvPr id="5" name="Image 1" descr="/home/user/LMBA/deck/assets/nuts-mark-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81328"/>
            <a:ext cx="932688" cy="151790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77240" y="32004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</a:t>
            </a:r>
            <a:endParaRPr lang="en-US" sz="6000" dirty="0"/>
          </a:p>
        </p:txBody>
      </p:sp>
      <p:sp>
        <p:nvSpPr>
          <p:cNvPr id="7" name="Text 3"/>
          <p:cNvSpPr/>
          <p:nvPr/>
        </p:nvSpPr>
        <p:spPr>
          <a:xfrm>
            <a:off x="777240" y="4279392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spc="1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 O W   U N B O O K E D   T I M E   S A V E R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777240" y="4846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5"/>
              </a:lnSpc>
              <a:buNone/>
            </a:pPr>
            <a:r>
              <a:rPr lang="en-US" sz="1900" dirty="0">
                <a:solidFill>
                  <a:srgbClr val="E8DC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지금, 비어 있는 예약 한 자리를</a:t>
            </a:r>
            <a:endParaRPr lang="en-US" sz="1900" dirty="0"/>
          </a:p>
          <a:p>
            <a:pPr algn="l" indent="0" marL="0">
              <a:lnSpc>
                <a:spcPts val="2755"/>
              </a:lnSpc>
              <a:buNone/>
            </a:pPr>
            <a:r>
              <a:rPr lang="en-US" sz="1900" dirty="0">
                <a:solidFill>
                  <a:srgbClr val="E8DC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갈 수 있는 거리 안에서.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777240" y="6080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A8927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예약 기반 서비스업 실시간 빈 슬롯 마켓플레이스   ·   2026. 09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3840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PROBLEM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713232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사람은 걸어서 15분 거리에 있습니다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298448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한쪽엔 팔지 못하면 사라지는 한 시간, 다른 쪽엔 어디로 갈지 모르는 두 시간 — 그런데 서로의 존재를 모릅니다.</a:t>
            </a:r>
            <a:endParaRPr lang="en-US" sz="1400" dirty="0"/>
          </a:p>
        </p:txBody>
      </p:sp>
      <p:pic>
        <p:nvPicPr>
          <p:cNvPr id="6" name="Image 0" descr="/home/user/LMBA/deck/assets/problem-own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755648"/>
            <a:ext cx="5029200" cy="2286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4160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b="1" spc="15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PROBLEM 01  ·  사장님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77240" y="446227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“안 팔리면 0원”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77240" y="495604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오늘 한 시 예약 취소 = 그 슬롯 매출의 100% 손실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못 판 한 시간은 내일로 넘어가지 않고 소멸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그 사이에도 임대료 · 인건비는 그대로</a:t>
            </a:r>
            <a:endParaRPr lang="en-US" sz="1200" dirty="0"/>
          </a:p>
        </p:txBody>
      </p:sp>
      <p:pic>
        <p:nvPicPr>
          <p:cNvPr id="10" name="Image 1" descr="/home/user/LMBA/deck/assets/problem-us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82512" y="1755648"/>
            <a:ext cx="5029200" cy="2286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382512" y="4160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b="1" spc="15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PROBLEM 02  ·  사용자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6382512" y="446227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 뭐 하지”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6382512" y="495604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약속 전 30분, 늦는 친구, 취소된 회의 — 떠 있는 시간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지금 이 근처에서 뭘 할 수 있는지 알려주는 앱이 없다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20~30대 즉흥형은 오늘 저녁을 오늘 오후에 정한다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777240" y="5870448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둘을 잇는 서비스가, 지금 없습니다.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77724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spc="150" kern="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  NUTS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10134295" y="63825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3840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SOLUTION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713232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 — 지금부터 1시간, 갈 수 있는 거리 안의 빈 자리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298448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사장님과 사용자 사이에 넛츠가 섭니다. 오른쪽이 사용자가 보는 화면입니다.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1664208"/>
            <a:ext cx="60350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9848" y="1847088"/>
            <a:ext cx="5449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spc="1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사장님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9848" y="2157984"/>
            <a:ext cx="5449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비어버린 한 시간을 올립니다  ·  정가 4만 원 → 2만 4천 원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771900" y="2542032"/>
            <a:ext cx="45720" cy="402336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10" name="Shape 8"/>
          <p:cNvSpPr/>
          <p:nvPr/>
        </p:nvSpPr>
        <p:spPr>
          <a:xfrm>
            <a:off x="3694176" y="2816352"/>
            <a:ext cx="201168" cy="128016"/>
          </a:xfrm>
          <a:prstGeom prst="roundRect">
            <a:avLst>
              <a:gd name="adj" fmla="val 42857"/>
            </a:avLst>
          </a:prstGeom>
          <a:solidFill>
            <a:srgbClr val="F7B32B"/>
          </a:solidFill>
          <a:ln/>
        </p:spPr>
      </p:sp>
      <p:sp>
        <p:nvSpPr>
          <p:cNvPr id="11" name="Text 9"/>
          <p:cNvSpPr/>
          <p:nvPr/>
        </p:nvSpPr>
        <p:spPr>
          <a:xfrm>
            <a:off x="4014216" y="25968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슬롯 등록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2999232"/>
            <a:ext cx="6035040" cy="1993392"/>
          </a:xfrm>
          <a:prstGeom prst="roundRect">
            <a:avLst>
              <a:gd name="adj" fmla="val 3670"/>
            </a:avLst>
          </a:prstGeom>
          <a:solidFill>
            <a:srgbClr val="3B2314"/>
          </a:solidFill>
          <a:ln w="12700">
            <a:solidFill>
              <a:srgbClr val="3B231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" y="3182112"/>
            <a:ext cx="5449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spc="1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  —  두 사람 사이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69848" y="3493008"/>
            <a:ext cx="5449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51560" y="3438144"/>
            <a:ext cx="1700784" cy="1060704"/>
          </a:xfrm>
          <a:prstGeom prst="roundRect">
            <a:avLst>
              <a:gd name="adj" fmla="val 5172"/>
            </a:avLst>
          </a:prstGeom>
          <a:solidFill>
            <a:srgbClr val="4E3320"/>
          </a:solidFill>
          <a:ln/>
        </p:spPr>
      </p:sp>
      <p:sp>
        <p:nvSpPr>
          <p:cNvPr id="16" name="Text 14"/>
          <p:cNvSpPr/>
          <p:nvPr/>
        </p:nvSpPr>
        <p:spPr>
          <a:xfrm>
            <a:off x="1216152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가격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216152" y="3849624"/>
            <a:ext cx="13716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9B4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마감까지 남은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9B4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시간과 수요 밀도로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9B4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값을 다시 매깁니다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944368" y="3438144"/>
            <a:ext cx="1700784" cy="1060704"/>
          </a:xfrm>
          <a:prstGeom prst="roundRect">
            <a:avLst>
              <a:gd name="adj" fmla="val 5172"/>
            </a:avLst>
          </a:prstGeom>
          <a:solidFill>
            <a:srgbClr val="4E3320"/>
          </a:solidFill>
          <a:ln/>
        </p:spPr>
      </p:sp>
      <p:sp>
        <p:nvSpPr>
          <p:cNvPr id="19" name="Text 17"/>
          <p:cNvSpPr/>
          <p:nvPr/>
        </p:nvSpPr>
        <p:spPr>
          <a:xfrm>
            <a:off x="3108960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도달 가능성 필터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108960" y="3849624"/>
            <a:ext cx="13716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9B4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안에 갈 수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9B4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 사람에게만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9B4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보입니다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837176" y="3438144"/>
            <a:ext cx="1700784" cy="1060704"/>
          </a:xfrm>
          <a:prstGeom prst="roundRect">
            <a:avLst>
              <a:gd name="adj" fmla="val 5172"/>
            </a:avLst>
          </a:prstGeom>
          <a:solidFill>
            <a:srgbClr val="4E3320"/>
          </a:solidFill>
          <a:ln/>
        </p:spPr>
      </p:sp>
      <p:sp>
        <p:nvSpPr>
          <p:cNvPr id="22" name="Text 20"/>
          <p:cNvSpPr/>
          <p:nvPr/>
        </p:nvSpPr>
        <p:spPr>
          <a:xfrm>
            <a:off x="5001768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선결제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01768" y="3849624"/>
            <a:ext cx="13716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9B4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노쇼를 막고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9B4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사장님 매출을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9B4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확정합니다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51560" y="46085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도달 가능성 필터 — 현재시각 + 이동시간 + 준비버퍼 ≤ 예약 마감시각 (도보 · 자전거 · 차량)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771900" y="5065776"/>
            <a:ext cx="45720" cy="384048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26" name="Shape 24"/>
          <p:cNvSpPr/>
          <p:nvPr/>
        </p:nvSpPr>
        <p:spPr>
          <a:xfrm>
            <a:off x="3694176" y="5321808"/>
            <a:ext cx="201168" cy="128016"/>
          </a:xfrm>
          <a:prstGeom prst="roundRect">
            <a:avLst>
              <a:gd name="adj" fmla="val 42857"/>
            </a:avLst>
          </a:prstGeom>
          <a:solidFill>
            <a:srgbClr val="F7B32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4216" y="51114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 수 있는 사람에게만 노출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5504688"/>
            <a:ext cx="60350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" y="5687568"/>
            <a:ext cx="5449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spc="1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69848" y="5998464"/>
            <a:ext cx="5449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한 시간이 빈 사람 — 싸게, 바로 갑니다</a:t>
            </a:r>
            <a:endParaRPr lang="en-US" sz="1300" dirty="0"/>
          </a:p>
        </p:txBody>
      </p:sp>
      <p:pic>
        <p:nvPicPr>
          <p:cNvPr id="31" name="Image 0" descr="/home/user/LMBA/deck/assets/app-m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737360"/>
            <a:ext cx="4096512" cy="4096512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7315200" y="5907024"/>
            <a:ext cx="4096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· 지도 · 상세 — 지금 갈 수 있는 자리만 남습니다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77724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spc="150" kern="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  NUTS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10134295" y="63825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3840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CORE MECHANISM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713232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코어는 빈 시간을 지금 예약하게 만드는 것입니다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298448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엔진은 다이나믹 프라이싱이고, 도달 가능성은 값이 붙은 슬롯을 실제로 살 수 있는 사람에게 잇는 필터입니다.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1783080"/>
            <a:ext cx="1605229" cy="2148840"/>
          </a:xfrm>
          <a:prstGeom prst="roundRect">
            <a:avLst>
              <a:gd name="adj" fmla="val 4557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783080"/>
            <a:ext cx="1605229" cy="64008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8" name="Text 6"/>
          <p:cNvSpPr/>
          <p:nvPr/>
        </p:nvSpPr>
        <p:spPr>
          <a:xfrm>
            <a:off x="1014984" y="2057400"/>
            <a:ext cx="112974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14984" y="2459736"/>
            <a:ext cx="11297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3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슬롯 발생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014984" y="3081528"/>
            <a:ext cx="11297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당일 취소 · 비수요 시간대 · 예약 공백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83637" y="1783080"/>
            <a:ext cx="1605229" cy="2148840"/>
          </a:xfrm>
          <a:prstGeom prst="roundRect">
            <a:avLst>
              <a:gd name="adj" fmla="val 4557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83637" y="1783080"/>
            <a:ext cx="1605229" cy="64008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13" name="Text 11"/>
          <p:cNvSpPr/>
          <p:nvPr/>
        </p:nvSpPr>
        <p:spPr>
          <a:xfrm>
            <a:off x="2821381" y="2057400"/>
            <a:ext cx="112974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821381" y="2459736"/>
            <a:ext cx="11297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3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소멸 임박 판단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821381" y="3081528"/>
            <a:ext cx="11297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시간이 지나면 이 슬롯은 0원이 된다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90034" y="1783080"/>
            <a:ext cx="1605229" cy="2148840"/>
          </a:xfrm>
          <a:prstGeom prst="roundRect">
            <a:avLst>
              <a:gd name="adj" fmla="val 4557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90034" y="1783080"/>
            <a:ext cx="1605229" cy="64008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778" y="2057400"/>
            <a:ext cx="112974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627778" y="2459736"/>
            <a:ext cx="11297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3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조정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627778" y="3081528"/>
            <a:ext cx="11297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시간 · 수요 밀도 · 할인율로 재설정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96432" y="1783080"/>
            <a:ext cx="1605229" cy="2148840"/>
          </a:xfrm>
          <a:prstGeom prst="roundRect">
            <a:avLst>
              <a:gd name="adj" fmla="val 4557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6432" y="1783080"/>
            <a:ext cx="1605229" cy="64008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23" name="Text 21"/>
          <p:cNvSpPr/>
          <p:nvPr/>
        </p:nvSpPr>
        <p:spPr>
          <a:xfrm>
            <a:off x="6434176" y="2057400"/>
            <a:ext cx="112974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434176" y="2459736"/>
            <a:ext cx="11297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3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도달 가능 수요에 노출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34176" y="3081528"/>
            <a:ext cx="11297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갈 수 있는 사람에게만 보여줌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002829" y="1783080"/>
            <a:ext cx="1605229" cy="2148840"/>
          </a:xfrm>
          <a:prstGeom prst="roundRect">
            <a:avLst>
              <a:gd name="adj" fmla="val 4557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02829" y="1783080"/>
            <a:ext cx="1605229" cy="64008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28" name="Text 26"/>
          <p:cNvSpPr/>
          <p:nvPr/>
        </p:nvSpPr>
        <p:spPr>
          <a:xfrm>
            <a:off x="8240573" y="2057400"/>
            <a:ext cx="112974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240573" y="2459736"/>
            <a:ext cx="11297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3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선결제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8240573" y="3081528"/>
            <a:ext cx="11297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노쇼를 줄이고 사장님 매출 확정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809226" y="1783080"/>
            <a:ext cx="1605229" cy="2148840"/>
          </a:xfrm>
          <a:prstGeom prst="roundRect">
            <a:avLst>
              <a:gd name="adj" fmla="val 4557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809226" y="1783080"/>
            <a:ext cx="1605229" cy="64008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33" name="Text 31"/>
          <p:cNvSpPr/>
          <p:nvPr/>
        </p:nvSpPr>
        <p:spPr>
          <a:xfrm>
            <a:off x="10046970" y="2057400"/>
            <a:ext cx="112974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0046970" y="2459736"/>
            <a:ext cx="11297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3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재방문 전환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10046970" y="3081528"/>
            <a:ext cx="11297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체험을 정가 고객으로 전환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77240" y="4224528"/>
            <a:ext cx="10637215" cy="1078992"/>
          </a:xfrm>
          <a:prstGeom prst="roundRect">
            <a:avLst>
              <a:gd name="adj" fmla="val 6780"/>
            </a:avLst>
          </a:prstGeom>
          <a:solidFill>
            <a:srgbClr val="3B2314"/>
          </a:solidFill>
          <a:ln/>
        </p:spPr>
      </p:sp>
      <p:sp>
        <p:nvSpPr>
          <p:cNvPr id="37" name="Text 35"/>
          <p:cNvSpPr/>
          <p:nvPr/>
        </p:nvSpPr>
        <p:spPr>
          <a:xfrm>
            <a:off x="1234440" y="4443984"/>
            <a:ext cx="97228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48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넛츠는 서비스업의 비어 있는 시간 슬롯을 마감시간 · 수요밀도 · 도달가능성에 따라 실시간으로 가격화하고,</a:t>
            </a:r>
            <a:endParaRPr lang="en-US" sz="1550" dirty="0"/>
          </a:p>
          <a:p>
            <a:pPr algn="ctr" indent="0" marL="0">
              <a:lnSpc>
                <a:spcPts val="2248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구매 가능한 고객에게 연결하는 서비스형 다이나믹 프라이싱 플랫폼입니다.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777240" y="56235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시간은 재고가 아닙니다. 마감이 정해져 있고, 지나가면 0원이 되는 상품입니다.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77724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spc="150" kern="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  NUTS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0134295" y="63825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3840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MARKET · POSITIONING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713232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인접 앱은 다 있습니다. 합쳐진 자리만 비어 있습니다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298448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가로축: 무엇을 파는가 (물건·음식 ↔ 서비스업의 시간)   ·   세로축: 언제 파는가 (미리 ↔ 지금·내 주변)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1783080"/>
            <a:ext cx="690372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29100" y="1874520"/>
            <a:ext cx="3401568" cy="1847088"/>
          </a:xfrm>
          <a:prstGeom prst="rect">
            <a:avLst/>
          </a:prstGeom>
          <a:solidFill>
            <a:srgbClr val="FBF3E2"/>
          </a:solidFill>
          <a:ln/>
        </p:spPr>
      </p:sp>
      <p:sp>
        <p:nvSpPr>
          <p:cNvPr id="8" name="Text 6"/>
          <p:cNvSpPr/>
          <p:nvPr/>
        </p:nvSpPr>
        <p:spPr>
          <a:xfrm>
            <a:off x="4370832" y="197510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아무도 없는 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3762756"/>
            <a:ext cx="6629400" cy="18288"/>
          </a:xfrm>
          <a:prstGeom prst="rect">
            <a:avLst/>
          </a:prstGeom>
          <a:solidFill>
            <a:srgbClr val="E3D8CB"/>
          </a:solidFill>
          <a:ln/>
        </p:spPr>
      </p:sp>
      <p:sp>
        <p:nvSpPr>
          <p:cNvPr id="10" name="Shape 8"/>
          <p:cNvSpPr/>
          <p:nvPr/>
        </p:nvSpPr>
        <p:spPr>
          <a:xfrm>
            <a:off x="4229100" y="1874520"/>
            <a:ext cx="18288" cy="3794760"/>
          </a:xfrm>
          <a:prstGeom prst="rect">
            <a:avLst/>
          </a:prstGeom>
          <a:solidFill>
            <a:srgbClr val="E3D8CB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8836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9B8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  지금 · 내 주변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514600" y="5468112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9B8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 미리 · 내일 이후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41832" y="384048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9B8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 물건 · 음식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89320" y="384048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9B8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서비스업의 시간  →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88236" y="2464308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B9A794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6883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3"/>
              </a:lnSpc>
              <a:buNone/>
            </a:pPr>
            <a:r>
              <a:rPr lang="en-US" sz="1150" b="1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마감히어로 · 라스트오더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076956" y="3076956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B9A794"/>
          </a:solidFill>
          <a:ln/>
        </p:spPr>
      </p:sp>
      <p:sp>
        <p:nvSpPr>
          <p:cNvPr id="18" name="Text 16"/>
          <p:cNvSpPr/>
          <p:nvPr/>
        </p:nvSpPr>
        <p:spPr>
          <a:xfrm>
            <a:off x="1920240" y="330098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3"/>
              </a:lnSpc>
              <a:buNone/>
            </a:pPr>
            <a:r>
              <a:rPr lang="en-US" sz="1150" b="1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당근마켓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116836" y="4768596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B9A794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49926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3"/>
              </a:lnSpc>
              <a:buNone/>
            </a:pPr>
            <a:r>
              <a:rPr lang="en-US" sz="1150" b="1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배달 · 예약 주문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362956" y="4878324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B9A794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0" y="51023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3"/>
              </a:lnSpc>
              <a:buNone/>
            </a:pPr>
            <a:r>
              <a:rPr lang="en-US" sz="1150" b="1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네이버예약 · 카카오헤어샵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643116" y="4311396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B9A794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0" y="45354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3"/>
              </a:lnSpc>
              <a:buNone/>
            </a:pPr>
            <a:r>
              <a:rPr lang="en-US" sz="1150" b="1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캐치테이블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879592" y="25420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7B32B"/>
          </a:solidFill>
          <a:ln/>
        </p:spPr>
      </p:sp>
      <p:sp>
        <p:nvSpPr>
          <p:cNvPr id="26" name="Text 24"/>
          <p:cNvSpPr/>
          <p:nvPr/>
        </p:nvSpPr>
        <p:spPr>
          <a:xfrm>
            <a:off x="4800600" y="29535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800600" y="322783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비어버린 시간 · 지금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01000" y="1783080"/>
            <a:ext cx="3413455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57032" y="1929384"/>
            <a:ext cx="29013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네이버예약 · 카카오헤어샵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257032" y="2212848"/>
            <a:ext cx="29013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내일과 다음 주를 정가로 팝니다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001000" y="2624328"/>
            <a:ext cx="3413455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57032" y="2770632"/>
            <a:ext cx="29013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캐치테이블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257032" y="3054096"/>
            <a:ext cx="29013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예약 관리 · 가격은 가게가 고정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001000" y="3465576"/>
            <a:ext cx="3413455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57032" y="3611880"/>
            <a:ext cx="29013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마감히어로 · 라스트오더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257032" y="3895344"/>
            <a:ext cx="29013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오늘이지만 음식 — 물건 재고 구조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01000" y="4306824"/>
            <a:ext cx="3413455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57032" y="4453128"/>
            <a:ext cx="29013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당근마켓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257032" y="4736592"/>
            <a:ext cx="29013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· 내 주변이지만 중고 물건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001000" y="5148072"/>
            <a:ext cx="3413455" cy="749808"/>
          </a:xfrm>
          <a:prstGeom prst="roundRect">
            <a:avLst>
              <a:gd name="adj" fmla="val 9756"/>
            </a:avLst>
          </a:prstGeom>
          <a:solidFill>
            <a:srgbClr val="3B2314"/>
          </a:solidFill>
          <a:ln w="12700">
            <a:solidFill>
              <a:srgbClr val="3B231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57032" y="5294376"/>
            <a:ext cx="29013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257032" y="5577840"/>
            <a:ext cx="29013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E8DC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비어버린 서비스 시간을, 지금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77240" y="5961888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각자 자기 수익 구조에 묶여 있어서, 옆으로 한 걸음 옮겨서는 아무도 올 수 없는 자리입니다.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77724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spc="150" kern="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  NUTS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0134295" y="63825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3840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TARGET &amp; MARKET SIZE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713232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시간을, 얼마나 되는 시장에서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298448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 수치는 공개 통계와 업계 통상치를 근거로 한 가정값입니다. 내부 데이터로 검증 후 확정합니다 [검증필요]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1783080"/>
            <a:ext cx="50292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88136" y="2057400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수요자 — 20~30대 즉흥형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88136" y="2569464"/>
            <a:ext cx="4407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오늘 저녁을 오늘 오후에 정하는 사람</a:t>
            </a:r>
            <a:endParaRPr lang="en-US" sz="1250" dirty="0"/>
          </a:p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계획형은 우리 고객이 아닙니다 — 기존 예약앱으로 충분</a:t>
            </a:r>
            <a:endParaRPr lang="en-US" sz="1250" dirty="0"/>
          </a:p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움직이는 건 가격이 아니라 “지금 나만 찾아낸 자리”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794760"/>
            <a:ext cx="50292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8136" y="4069080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공급자 — 예약 기반 소상공인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88136" y="4581144"/>
            <a:ext cx="4407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당일 취소로 생긴 빈 시간을 틈새 매출로 바꾸고 싶은 사장님</a:t>
            </a:r>
            <a:endParaRPr lang="en-US" sz="1250" dirty="0"/>
          </a:p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빈 슬롯의 한계비용은 0에 가깝다 → 할인 여력이 실제로 존재</a:t>
            </a:r>
            <a:endParaRPr lang="en-US" sz="1250" dirty="0"/>
          </a:p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할인 체험은 광고비를 매출로 받는 셈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382512" y="1783080"/>
            <a:ext cx="50292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38544" y="1984248"/>
            <a:ext cx="786384" cy="274320"/>
          </a:xfrm>
          <a:prstGeom prst="roundRect">
            <a:avLst>
              <a:gd name="adj" fmla="val 16667"/>
            </a:avLst>
          </a:prstGeom>
          <a:solidFill>
            <a:srgbClr val="3B2314"/>
          </a:solidFill>
          <a:ln/>
        </p:spPr>
      </p:sp>
      <p:sp>
        <p:nvSpPr>
          <p:cNvPr id="14" name="Text 12"/>
          <p:cNvSpPr/>
          <p:nvPr/>
        </p:nvSpPr>
        <p:spPr>
          <a:xfrm>
            <a:off x="6638544" y="2029968"/>
            <a:ext cx="786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TAM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571232" y="2002536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예약 기반 개인 서비스업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811512" y="1929384"/>
            <a:ext cx="134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2616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15조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638544" y="2331720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미용 · 네일 · 마사지 · 에스테틱 등 국내 연간 거래액 [검증필요]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638544" y="2642616"/>
            <a:ext cx="4517136" cy="128016"/>
          </a:xfrm>
          <a:prstGeom prst="rect">
            <a:avLst/>
          </a:prstGeom>
          <a:solidFill>
            <a:srgbClr val="EDE2D2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8544" y="2642616"/>
            <a:ext cx="4517136" cy="128016"/>
          </a:xfrm>
          <a:prstGeom prst="rect">
            <a:avLst/>
          </a:prstGeom>
          <a:solidFill>
            <a:srgbClr val="9B8873"/>
          </a:solidFill>
          <a:ln/>
        </p:spPr>
      </p:sp>
      <p:sp>
        <p:nvSpPr>
          <p:cNvPr id="20" name="Shape 18"/>
          <p:cNvSpPr/>
          <p:nvPr/>
        </p:nvSpPr>
        <p:spPr>
          <a:xfrm>
            <a:off x="6382512" y="3063240"/>
            <a:ext cx="50292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38544" y="3264408"/>
            <a:ext cx="786384" cy="274320"/>
          </a:xfrm>
          <a:prstGeom prst="roundRect">
            <a:avLst>
              <a:gd name="adj" fmla="val 16667"/>
            </a:avLst>
          </a:prstGeom>
          <a:solidFill>
            <a:srgbClr val="3B2314"/>
          </a:solidFill>
          <a:ln/>
        </p:spPr>
      </p:sp>
      <p:sp>
        <p:nvSpPr>
          <p:cNvPr id="22" name="Text 20"/>
          <p:cNvSpPr/>
          <p:nvPr/>
        </p:nvSpPr>
        <p:spPr>
          <a:xfrm>
            <a:off x="6638544" y="3310128"/>
            <a:ext cx="786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571232" y="3282696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소멸하는 빈 슬롯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811512" y="3209544"/>
            <a:ext cx="134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2616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4조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638544" y="3611880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예약 가동률 갭 25~30% 가정 — 매일 0원으로 사라지는 공급 [검증필요]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638544" y="3922776"/>
            <a:ext cx="4517136" cy="128016"/>
          </a:xfrm>
          <a:prstGeom prst="rect">
            <a:avLst/>
          </a:prstGeom>
          <a:solidFill>
            <a:srgbClr val="EDE2D2"/>
          </a:solidFill>
          <a:ln/>
        </p:spPr>
      </p:sp>
      <p:sp>
        <p:nvSpPr>
          <p:cNvPr id="27" name="Shape 25"/>
          <p:cNvSpPr/>
          <p:nvPr/>
        </p:nvSpPr>
        <p:spPr>
          <a:xfrm>
            <a:off x="6638544" y="3922776"/>
            <a:ext cx="1219627" cy="128016"/>
          </a:xfrm>
          <a:prstGeom prst="rect">
            <a:avLst/>
          </a:prstGeom>
          <a:solidFill>
            <a:srgbClr val="9B8873"/>
          </a:solidFill>
          <a:ln/>
        </p:spPr>
      </p:sp>
      <p:sp>
        <p:nvSpPr>
          <p:cNvPr id="28" name="Shape 26"/>
          <p:cNvSpPr/>
          <p:nvPr/>
        </p:nvSpPr>
        <p:spPr>
          <a:xfrm>
            <a:off x="6382512" y="4343400"/>
            <a:ext cx="5029200" cy="1143000"/>
          </a:xfrm>
          <a:prstGeom prst="roundRect">
            <a:avLst>
              <a:gd name="adj" fmla="val 6400"/>
            </a:avLst>
          </a:prstGeom>
          <a:solidFill>
            <a:srgbClr val="F6EFE2"/>
          </a:solidFill>
          <a:ln w="25400">
            <a:solidFill>
              <a:srgbClr val="F7B3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38544" y="4544568"/>
            <a:ext cx="786384" cy="274320"/>
          </a:xfrm>
          <a:prstGeom prst="roundRect">
            <a:avLst>
              <a:gd name="adj" fmla="val 16667"/>
            </a:avLst>
          </a:prstGeom>
          <a:solidFill>
            <a:srgbClr val="F7B32B"/>
          </a:solidFill>
          <a:ln/>
        </p:spPr>
      </p:sp>
      <p:sp>
        <p:nvSpPr>
          <p:cNvPr id="30" name="Text 28"/>
          <p:cNvSpPr/>
          <p:nvPr/>
        </p:nvSpPr>
        <p:spPr>
          <a:xfrm>
            <a:off x="6638544" y="4590288"/>
            <a:ext cx="786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SOM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571232" y="4562856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내 서울 5개 구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9811512" y="4489704"/>
            <a:ext cx="134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200억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638544" y="4892040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SAM의 0.5% · 강남구에서 시작해 서울 주요 5개 구까지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638544" y="5202936"/>
            <a:ext cx="4517136" cy="128016"/>
          </a:xfrm>
          <a:prstGeom prst="rect">
            <a:avLst/>
          </a:prstGeom>
          <a:solidFill>
            <a:srgbClr val="EDE2D2"/>
          </a:solidFill>
          <a:ln/>
        </p:spPr>
      </p:sp>
      <p:sp>
        <p:nvSpPr>
          <p:cNvPr id="35" name="Shape 33"/>
          <p:cNvSpPr/>
          <p:nvPr/>
        </p:nvSpPr>
        <p:spPr>
          <a:xfrm>
            <a:off x="6638544" y="5202936"/>
            <a:ext cx="225857" cy="128016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36" name="Text 34"/>
          <p:cNvSpPr/>
          <p:nvPr/>
        </p:nvSpPr>
        <p:spPr>
          <a:xfrm>
            <a:off x="777240" y="589788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1단계는 미용실 · 네일 · 마사지. 재고가 항상 하나고 썩지 않아, 시간 재고 중 가장 다루기 쉽습니다.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7724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spc="150" kern="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  NUTS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0134295" y="63825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3840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BUSINESS MODEL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713232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수익은 결제 수수료 3% 하나입니다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298448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입점비 0 · 월 구독료 0 · 광고비 0 · 상위노출비 0 — 수익원을 하나로 둔 것은 의도된 설계입니다.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1783080"/>
            <a:ext cx="50292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9848" y="1965960"/>
            <a:ext cx="4443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spc="1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결제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9848" y="2276856"/>
            <a:ext cx="4443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정가 4만 원짜리 네일 케어를 2만 4천 원에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68980" y="2697480"/>
            <a:ext cx="45720" cy="411480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10" name="Shape 8"/>
          <p:cNvSpPr/>
          <p:nvPr/>
        </p:nvSpPr>
        <p:spPr>
          <a:xfrm>
            <a:off x="3191256" y="2980944"/>
            <a:ext cx="201168" cy="128016"/>
          </a:xfrm>
          <a:prstGeom prst="roundRect">
            <a:avLst>
              <a:gd name="adj" fmla="val 42857"/>
            </a:avLst>
          </a:prstGeom>
          <a:solidFill>
            <a:srgbClr val="F7B32B"/>
          </a:solidFill>
          <a:ln/>
        </p:spPr>
      </p:sp>
      <p:sp>
        <p:nvSpPr>
          <p:cNvPr id="11" name="Text 9"/>
          <p:cNvSpPr/>
          <p:nvPr/>
        </p:nvSpPr>
        <p:spPr>
          <a:xfrm>
            <a:off x="3511296" y="27569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3182112"/>
            <a:ext cx="3017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33272" y="334670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2E6B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사장님 정산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33272" y="363931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23,280원  (97%)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977640" y="3182112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3B2314"/>
          </a:solidFill>
          <a:ln/>
        </p:spPr>
      </p:sp>
      <p:sp>
        <p:nvSpPr>
          <p:cNvPr id="16" name="Text 14"/>
          <p:cNvSpPr/>
          <p:nvPr/>
        </p:nvSpPr>
        <p:spPr>
          <a:xfrm>
            <a:off x="4215384" y="33467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 수수료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215384" y="363931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720원  (3%)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77240" y="42793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PG 결제 수수료는 별도입니다 — 3%는 넛츠가 받는 순수수료 기준 [검증필요]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4617720"/>
            <a:ext cx="5029200" cy="1188720"/>
          </a:xfrm>
          <a:prstGeom prst="roundRect">
            <a:avLst>
              <a:gd name="adj" fmla="val 6154"/>
            </a:avLst>
          </a:prstGeom>
          <a:solidFill>
            <a:srgbClr val="F6EFE2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유닛 이코노믹스 (가정)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51560" y="5065776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8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객단가 24,000원 → 건당 720원</a:t>
            </a:r>
            <a:endParaRPr lang="en-US" sz="1150" dirty="0"/>
          </a:p>
          <a:p>
            <a:pPr algn="l" indent="0" marL="0">
              <a:lnSpc>
                <a:spcPts val="1668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10만 건 → 월 7,200만 원 · 한계비용은 서버비뿐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82512" y="1783080"/>
            <a:ext cx="502920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56832" y="19476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사장님이 비교하는 건 정가가 아니라 0원입니다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56832" y="2276856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팔리면 0원인 슬롯에서 받는 3%는 뺏는 게 아니라 나누는 겁니다.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382512" y="2953512"/>
            <a:ext cx="502920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56832" y="311810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이 사업은 공급 밀도 싸움입니다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56832" y="3447288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주변에 지금 살 수 있는 슬롯이 몇 개냐가 곧 상품력입니다. 진입 마찰은 0이어야 합니다.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82512" y="4123944"/>
            <a:ext cx="502920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56832" y="428853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노출 순서를 돈으로 못 사게 합니다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656832" y="461772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광고를 받는 순간 “지금 갈 수 있는 곳”이라는 약속이 깨집니다. 그래서 광고비를 안 받습니다.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382512" y="5294376"/>
            <a:ext cx="5029200" cy="566928"/>
          </a:xfrm>
          <a:prstGeom prst="roundRect">
            <a:avLst>
              <a:gd name="adj" fmla="val 12903"/>
            </a:avLst>
          </a:prstGeom>
          <a:solidFill>
            <a:srgbClr val="3B2314"/>
          </a:solidFill>
          <a:ln/>
        </p:spPr>
      </p:sp>
      <p:sp>
        <p:nvSpPr>
          <p:cNvPr id="32" name="Text 30"/>
          <p:cNvSpPr/>
          <p:nvPr/>
        </p:nvSpPr>
        <p:spPr>
          <a:xfrm>
            <a:off x="6656832" y="543153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입점비 0   ·   월 구독료 0   ·   광고비 0   ·   상위노출비 0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77240" y="5925312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수수료는 매출이 실제로 일어났을 때만 발생합니다. 사장님이 손해 볼 구간이 없습니다.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7724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spc="150" kern="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  NUTS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0134295" y="63825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3840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TRACTION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713232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설치보다 중요한 건, 자주 여는 것입니다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298448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시간은 갑자기 생깁니다. 그래서 앱을 습관적으로 열게 만드는 장치를 둘 씁니다.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1783080"/>
            <a:ext cx="50292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88136" y="2057400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장치 ① 특정 매장에 커피 10잔을 미리 달아둡니다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88136" y="2569464"/>
            <a:ext cx="4407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 이 근처에 계신 10분, 선착순으로 드시러 오세요”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공짜로 한 번 받아 본 사람은 그 앱을 계속 열어봅니다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‘열어보는 습관’을 우리 돈으로 사는 것입니다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위치 기반이라 그 동네 사람만 반응합니다 — 공급 밀도와 같은 지역에 씁니다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가정 — 잔당 3,000원 × 10잔 = 회당 3만 원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82512" y="1783080"/>
            <a:ext cx="50292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93408" y="2057400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장치 ② 등록 업체에 할인 쿠폰을 붙입니다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93408" y="2569464"/>
            <a:ext cx="4407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 투자 — 신규 등록 매장의 첫 슬롯 할인분을 넛츠가 부담합니다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초기 공급이 매력적이어야 사용자가 옵니다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사용자가 와야 다음 사장님이 들어옵니다 — 닭과 달걀을 우리 돈으로 끊습니다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매장이 부담하는 돈은 0원, 리스크도 0입니다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가정 — 매장당 5만 원 · 첫 10슬롯 한정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617720"/>
            <a:ext cx="25146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483717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지표 — 습관이 곧 전환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51560" y="51663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5회 이상 앱 열람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483864" y="4617720"/>
            <a:ext cx="25146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58184" y="483717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주 안에 한 번은 사게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758184" y="51663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→ 첫 구매 25%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90488" y="4617720"/>
            <a:ext cx="25146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64808" y="483717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체험 → 정가 고객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64808" y="51663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30일 재방문 30%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897112" y="4617720"/>
            <a:ext cx="2514600" cy="1143000"/>
          </a:xfrm>
          <a:prstGeom prst="roundRect">
            <a:avLst>
              <a:gd name="adj" fmla="val 6400"/>
            </a:avLst>
          </a:prstGeom>
          <a:solidFill>
            <a:srgbClr val="F6EFE2"/>
          </a:solidFill>
          <a:ln w="25400">
            <a:solidFill>
              <a:srgbClr val="F7B3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71432" y="483717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사라질 뻔한 슬롯 중 채운 비율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71432" y="51663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슬롯 Fill Rate 60%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77240" y="5925312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지표는 모두 목표치입니다 — 강남구 파일럿에서 먼저 증명합니다. 다운로드 수가 아니라 “몇 번 열었나”를 성과로 보고합니다.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7724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spc="150" kern="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  NUTS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134295" y="63825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3840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KPI · ROADMAP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713232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북극성 지표 하나와, 확장 마일스톤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37215" cy="960120"/>
          </a:xfrm>
          <a:prstGeom prst="roundRect">
            <a:avLst>
              <a:gd name="adj" fmla="val 7619"/>
            </a:avLst>
          </a:prstGeom>
          <a:solidFill>
            <a:srgbClr val="3B2314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1737360"/>
            <a:ext cx="9814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NORTH STAR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88720" y="2048256"/>
            <a:ext cx="9814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채워진 슬롯 수  —  그냥 사라졌을 시간 중 매출로 바뀐 시간의 총량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77240" y="2743200"/>
            <a:ext cx="3363163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25400">
            <a:solidFill>
              <a:srgbClr val="F7B3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743200"/>
            <a:ext cx="3363163" cy="73152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999232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b="1" spc="15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  ·  0~12개월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10128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강남구 한 곳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51560" y="3785616"/>
            <a:ext cx="28163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미용 · 네일 · 마사지 입점 400곳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주간 채운 슬롯 1,000개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Fill Rate 40% · 재방문 30%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밀도가 곧 매칭률 — 넓히지 않습니다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51560" y="5230368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증명할 것 — 한 동네에서 “열면 살 게 있다”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414723" y="2743200"/>
            <a:ext cx="3363163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14723" y="2743200"/>
            <a:ext cx="3363163" cy="73152"/>
          </a:xfrm>
          <a:prstGeom prst="rect">
            <a:avLst/>
          </a:prstGeom>
          <a:solidFill>
            <a:srgbClr val="3B2314"/>
          </a:solidFill>
          <a:ln/>
        </p:spPr>
      </p:sp>
      <p:sp>
        <p:nvSpPr>
          <p:cNvPr id="16" name="Text 14"/>
          <p:cNvSpPr/>
          <p:nvPr/>
        </p:nvSpPr>
        <p:spPr>
          <a:xfrm>
            <a:off x="4689043" y="2999232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b="1" spc="15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  ·  13~24개월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689043" y="3310128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 5개 구 복제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689043" y="3785616"/>
            <a:ext cx="28163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입점 3,000곳 · 월 거래 5만 건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Fill Rate 55%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생활권 1곳당 운영 1명 구조 확립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첫 대형 파트너 한 곳 확보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689043" y="5230368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증명할 것 — 생활권 단위 흑자 공식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052206" y="2743200"/>
            <a:ext cx="3363163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52206" y="2743200"/>
            <a:ext cx="3363163" cy="73152"/>
          </a:xfrm>
          <a:prstGeom prst="rect">
            <a:avLst/>
          </a:prstGeom>
          <a:solidFill>
            <a:srgbClr val="3B2314"/>
          </a:solidFill>
          <a:ln/>
        </p:spPr>
      </p:sp>
      <p:sp>
        <p:nvSpPr>
          <p:cNvPr id="22" name="Text 20"/>
          <p:cNvSpPr/>
          <p:nvPr/>
        </p:nvSpPr>
        <p:spPr>
          <a:xfrm>
            <a:off x="8326526" y="2999232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b="1" spc="15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  ·  25개월~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326526" y="3310128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카테고리 확장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326526" y="3785616"/>
            <a:ext cx="28163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문화(연극 · 영화 · 방탈출) → 숙박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새로 배우는 역량은 한 번에 하나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체인 본사 1건 = 전국이 한 번에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가격 엔진 자동화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326526" y="5230368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증명할 것 — 업종이 달라도 같은 엔진이 돈다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77240" y="580644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1단계에서 “한 동네가 된다”를 증명하면, 그다음은 복제 문제입니다. 2단계부터는 상대가 대기업입니다.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spc="150" kern="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  NUTS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0134295" y="63825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3840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TEAM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713232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명 전원 P입니다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298448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세우기보다 지금 눈앞에 열린 기회를 잡는 사람들 — 저희가 만드는 서비스가 정확히 그것입니다.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1783080"/>
            <a:ext cx="3363163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2093976"/>
            <a:ext cx="841248" cy="841248"/>
          </a:xfrm>
          <a:prstGeom prst="roundRect">
            <a:avLst>
              <a:gd name="adj" fmla="val 50000"/>
            </a:avLst>
          </a:prstGeom>
          <a:solidFill>
            <a:srgbClr val="F6EFE2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432304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08B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075688" y="2075688"/>
            <a:ext cx="17903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이강호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075688" y="2587752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9B8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026664" y="2441448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60"/>
              </a:lnSpc>
              <a:buNone/>
            </a:pPr>
            <a:r>
              <a:rPr lang="en-US" sz="36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051560" y="3154680"/>
            <a:ext cx="28145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학력 · 경력 한 줄  [발표 전 입력]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14723" y="1783080"/>
            <a:ext cx="3363163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89043" y="2093976"/>
            <a:ext cx="841248" cy="841248"/>
          </a:xfrm>
          <a:prstGeom prst="roundRect">
            <a:avLst>
              <a:gd name="adj" fmla="val 50000"/>
            </a:avLst>
          </a:prstGeom>
          <a:solidFill>
            <a:srgbClr val="F6EFE2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89043" y="2432304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08B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13171" y="2075688"/>
            <a:ext cx="17903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이민호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713171" y="2587752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9B8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664147" y="2441448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60"/>
              </a:lnSpc>
              <a:buNone/>
            </a:pPr>
            <a:r>
              <a:rPr lang="en-US" sz="36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689043" y="3154680"/>
            <a:ext cx="28145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학력 · 경력 한 줄  [발표 전 입력]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052206" y="1783080"/>
            <a:ext cx="3363163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26526" y="2093976"/>
            <a:ext cx="841248" cy="841248"/>
          </a:xfrm>
          <a:prstGeom prst="roundRect">
            <a:avLst>
              <a:gd name="adj" fmla="val 50000"/>
            </a:avLst>
          </a:prstGeom>
          <a:solidFill>
            <a:srgbClr val="F6EFE2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26526" y="2432304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08B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350654" y="2075688"/>
            <a:ext cx="17903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손경필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350654" y="2587752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9B8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INT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0301630" y="2441448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60"/>
              </a:lnSpc>
              <a:buNone/>
            </a:pPr>
            <a:r>
              <a:rPr lang="en-US" sz="36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8326526" y="3154680"/>
            <a:ext cx="28145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학력 · 경력 한 줄  [발표 전 입력]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77240" y="3749040"/>
            <a:ext cx="3363163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51560" y="4059936"/>
            <a:ext cx="841248" cy="841248"/>
          </a:xfrm>
          <a:prstGeom prst="roundRect">
            <a:avLst>
              <a:gd name="adj" fmla="val 50000"/>
            </a:avLst>
          </a:prstGeom>
          <a:solidFill>
            <a:srgbClr val="F6EFE2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51560" y="4398264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08B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075688" y="4041648"/>
            <a:ext cx="17903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최종락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2075688" y="4553712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9B8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ENF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3026664" y="4407408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60"/>
              </a:lnSpc>
              <a:buNone/>
            </a:pPr>
            <a:r>
              <a:rPr lang="en-US" sz="36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en-US" sz="3600" dirty="0"/>
          </a:p>
        </p:txBody>
      </p:sp>
      <p:sp>
        <p:nvSpPr>
          <p:cNvPr id="33" name="Text 31"/>
          <p:cNvSpPr/>
          <p:nvPr/>
        </p:nvSpPr>
        <p:spPr>
          <a:xfrm>
            <a:off x="1051560" y="5120640"/>
            <a:ext cx="28145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학력 · 경력 한 줄  [발표 전 입력]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414723" y="3749040"/>
            <a:ext cx="3363163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89043" y="4059936"/>
            <a:ext cx="841248" cy="841248"/>
          </a:xfrm>
          <a:prstGeom prst="roundRect">
            <a:avLst>
              <a:gd name="adj" fmla="val 50000"/>
            </a:avLst>
          </a:prstGeom>
          <a:solidFill>
            <a:srgbClr val="F6EFE2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89043" y="4398264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08B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713171" y="4041648"/>
            <a:ext cx="17903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한재익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713171" y="4553712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9B8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EST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6664147" y="4407408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60"/>
              </a:lnSpc>
              <a:buNone/>
            </a:pPr>
            <a:r>
              <a:rPr lang="en-US" sz="36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en-US" sz="3600" dirty="0"/>
          </a:p>
        </p:txBody>
      </p:sp>
      <p:sp>
        <p:nvSpPr>
          <p:cNvPr id="40" name="Text 38"/>
          <p:cNvSpPr/>
          <p:nvPr/>
        </p:nvSpPr>
        <p:spPr>
          <a:xfrm>
            <a:off x="4689043" y="5120640"/>
            <a:ext cx="28145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학력 · 경력 한 줄  [발표 전 입력]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052206" y="3749040"/>
            <a:ext cx="3363163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326526" y="4059936"/>
            <a:ext cx="841248" cy="841248"/>
          </a:xfrm>
          <a:prstGeom prst="roundRect">
            <a:avLst>
              <a:gd name="adj" fmla="val 50000"/>
            </a:avLst>
          </a:prstGeom>
          <a:solidFill>
            <a:srgbClr val="F6EFE2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26526" y="4398264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08B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350654" y="4041648"/>
            <a:ext cx="17903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조정윤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9350654" y="4553712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9B8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IST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0301630" y="4407408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60"/>
              </a:lnSpc>
              <a:buNone/>
            </a:pPr>
            <a:r>
              <a:rPr lang="en-US" sz="36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en-US" sz="3600" dirty="0"/>
          </a:p>
        </p:txBody>
      </p:sp>
      <p:sp>
        <p:nvSpPr>
          <p:cNvPr id="47" name="Text 45"/>
          <p:cNvSpPr/>
          <p:nvPr/>
        </p:nvSpPr>
        <p:spPr>
          <a:xfrm>
            <a:off x="8326526" y="5120640"/>
            <a:ext cx="28145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학력 · 경력 한 줄  [발표 전 입력]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777240" y="5669280"/>
            <a:ext cx="10637215" cy="566928"/>
          </a:xfrm>
          <a:prstGeom prst="roundRect">
            <a:avLst>
              <a:gd name="adj" fmla="val 12903"/>
            </a:avLst>
          </a:prstGeom>
          <a:solidFill>
            <a:srgbClr val="3B2314"/>
          </a:solidFill>
          <a:ln/>
        </p:spPr>
      </p:sp>
      <p:sp>
        <p:nvSpPr>
          <p:cNvPr id="49" name="Text 47"/>
          <p:cNvSpPr/>
          <p:nvPr/>
        </p:nvSpPr>
        <p:spPr>
          <a:xfrm>
            <a:off x="1143000" y="5806440"/>
            <a:ext cx="9905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명 모두 J가 아니라 P입니다. 즉흥적으로 지금 갈 곳을 찾는 사용자를, 저희가 가장 잘 압니다.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77724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spc="150" kern="0" dirty="0">
                <a:solidFill>
                  <a:srgbClr val="A08B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  NUTS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10134295" y="63825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A08B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3840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ASK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713232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저희가 요청드리는 것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298448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금액과 비중은 확정 전 가정값입니다. 수수료를 3%로 낮춘 기준으로 재산정이 필요합니다 [검증필요]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1783080"/>
            <a:ext cx="502920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0116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spc="15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요청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0" y="2304288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40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13억 원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097280" y="296265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강남구 여섯 달을 버티고 2단계 문을 여는 데까지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97280" y="3383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 업체 쿠폰 투자 (공급)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749040" y="3383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8"/>
              </a:lnSpc>
              <a:buNone/>
            </a:pPr>
            <a:r>
              <a:rPr lang="en-US" sz="125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5.2억  ·  40%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097280" y="3685032"/>
            <a:ext cx="4389120" cy="118872"/>
          </a:xfrm>
          <a:prstGeom prst="rect">
            <a:avLst/>
          </a:prstGeom>
          <a:solidFill>
            <a:srgbClr val="EDE2D2"/>
          </a:solidFill>
          <a:ln/>
        </p:spPr>
      </p:sp>
      <p:sp>
        <p:nvSpPr>
          <p:cNvPr id="13" name="Shape 11"/>
          <p:cNvSpPr/>
          <p:nvPr/>
        </p:nvSpPr>
        <p:spPr>
          <a:xfrm>
            <a:off x="1097280" y="3685032"/>
            <a:ext cx="1755648" cy="118872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395020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커피 캠페인 등 수요 습관화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749040" y="39502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8"/>
              </a:lnSpc>
              <a:buNone/>
            </a:pPr>
            <a:r>
              <a:rPr lang="en-US" sz="125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2.6억  ·  20%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97280" y="4251960"/>
            <a:ext cx="4389120" cy="118872"/>
          </a:xfrm>
          <a:prstGeom prst="rect">
            <a:avLst/>
          </a:prstGeom>
          <a:solidFill>
            <a:srgbClr val="EDE2D2"/>
          </a:solidFill>
          <a:ln/>
        </p:spPr>
      </p:sp>
      <p:sp>
        <p:nvSpPr>
          <p:cNvPr id="17" name="Shape 15"/>
          <p:cNvSpPr/>
          <p:nvPr/>
        </p:nvSpPr>
        <p:spPr>
          <a:xfrm>
            <a:off x="1097280" y="4251960"/>
            <a:ext cx="877824" cy="118872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" y="4517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엔진 · 앱 개발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749040" y="45171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8"/>
              </a:lnSpc>
              <a:buNone/>
            </a:pPr>
            <a:r>
              <a:rPr lang="en-US" sz="125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3.25억  ·  25%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097280" y="4818888"/>
            <a:ext cx="4389120" cy="118872"/>
          </a:xfrm>
          <a:prstGeom prst="rect">
            <a:avLst/>
          </a:prstGeom>
          <a:solidFill>
            <a:srgbClr val="EDE2D2"/>
          </a:solidFill>
          <a:ln/>
        </p:spPr>
      </p:sp>
      <p:sp>
        <p:nvSpPr>
          <p:cNvPr id="21" name="Shape 19"/>
          <p:cNvSpPr/>
          <p:nvPr/>
        </p:nvSpPr>
        <p:spPr>
          <a:xfrm>
            <a:off x="1097280" y="4818888"/>
            <a:ext cx="1097280" cy="118872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22" name="Text 20"/>
          <p:cNvSpPr/>
          <p:nvPr/>
        </p:nvSpPr>
        <p:spPr>
          <a:xfrm>
            <a:off x="1097280" y="50840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생활권 운영 인력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749040" y="50840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8"/>
              </a:lnSpc>
              <a:buNone/>
            </a:pPr>
            <a:r>
              <a:rPr lang="en-US" sz="125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1.95억  ·  15%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1097280" y="5385816"/>
            <a:ext cx="4389120" cy="118872"/>
          </a:xfrm>
          <a:prstGeom prst="rect">
            <a:avLst/>
          </a:prstGeom>
          <a:solidFill>
            <a:srgbClr val="EDE2D2"/>
          </a:solidFill>
          <a:ln/>
        </p:spPr>
      </p:sp>
      <p:sp>
        <p:nvSpPr>
          <p:cNvPr id="25" name="Shape 23"/>
          <p:cNvSpPr/>
          <p:nvPr/>
        </p:nvSpPr>
        <p:spPr>
          <a:xfrm>
            <a:off x="1097280" y="5385816"/>
            <a:ext cx="658368" cy="118872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26" name="Text 24"/>
          <p:cNvSpPr/>
          <p:nvPr/>
        </p:nvSpPr>
        <p:spPr>
          <a:xfrm>
            <a:off x="6382512" y="1783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spc="15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파트너십 제안  ·  시너지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82512" y="2103120"/>
            <a:ext cx="5029200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56832" y="22677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대형 파트너 한 곳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656832" y="2596896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영화관 · 방탈출 체인 본사 한 곳이면 전국 수백 개 관의 빈 좌석이 한 번에 열립니다. 2단계의 문입니다.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382512" y="3456432"/>
            <a:ext cx="5029200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56832" y="362102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PG · 결제사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56832" y="3950208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선결제와 자동 정산이 상품의 핵심입니다. 거래량 기반 수수료 구조를 함께 설계합니다.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382512" y="4809744"/>
            <a:ext cx="5029200" cy="104241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56832" y="497433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 상인회 · 프랜차이즈 본부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656832" y="530352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가맹점을 한 번에 온보딩해 공급 밀도를 단숨에 만듭니다.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77240" y="589788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투자금의 60%는 사람과 매장을 모으는 데 씁니다 — 이 사업은 밀도 싸움입니다.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7724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spc="150" kern="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  NUTS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0134295" y="63825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2314"/>
          </a:solidFill>
          <a:ln/>
        </p:spPr>
      </p:sp>
      <p:pic>
        <p:nvPicPr>
          <p:cNvPr id="3" name="Image 0" descr="/home/user/LMBA/deck/assets/app-mocku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28255" y="0"/>
            <a:ext cx="4663440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528255" y="0"/>
            <a:ext cx="4663440" cy="6858000"/>
          </a:xfrm>
          <a:prstGeom prst="rect">
            <a:avLst/>
          </a:prstGeom>
          <a:solidFill>
            <a:srgbClr val="3B2314">
              <a:alpha val="34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777240" y="13716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77240" y="1755648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5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사라질 시간을,</a:t>
            </a:r>
            <a:endParaRPr lang="en-US" sz="3800" dirty="0"/>
          </a:p>
          <a:p>
            <a:pPr algn="l" indent="0" marL="0">
              <a:lnSpc>
                <a:spcPts val="475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누군가의 오늘로.</a:t>
            </a:r>
            <a:endParaRPr lang="en-US" sz="3800" dirty="0"/>
          </a:p>
        </p:txBody>
      </p:sp>
      <p:sp>
        <p:nvSpPr>
          <p:cNvPr id="7" name="Shape 4"/>
          <p:cNvSpPr/>
          <p:nvPr/>
        </p:nvSpPr>
        <p:spPr>
          <a:xfrm>
            <a:off x="777240" y="3493008"/>
            <a:ext cx="6309360" cy="41148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3803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VISION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77240" y="4169664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65"/>
              </a:lnSpc>
              <a:buNone/>
            </a:pPr>
            <a:r>
              <a:rPr lang="en-US" sz="1700" dirty="0">
                <a:solidFill>
                  <a:srgbClr val="E8DC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로컬 서비스의 남는 시간이</a:t>
            </a:r>
            <a:endParaRPr lang="en-US" sz="1700" dirty="0"/>
          </a:p>
          <a:p>
            <a:pPr algn="l" indent="0" marL="0">
              <a:lnSpc>
                <a:spcPts val="2465"/>
              </a:lnSpc>
              <a:buNone/>
            </a:pPr>
            <a:r>
              <a:rPr lang="en-US" sz="1700" dirty="0">
                <a:solidFill>
                  <a:srgbClr val="E8DC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실시간으로 거래되는 시장을 만듭니다.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77240" y="5230368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넛츠는 할인 앱이 아닙니다.</a:t>
            </a:r>
            <a:endParaRPr lang="en-US" sz="1550" dirty="0"/>
          </a:p>
          <a:p>
            <a:pPr algn="l" indent="0" marL="0">
              <a:lnSpc>
                <a:spcPts val="2248"/>
              </a:lnSpc>
              <a:buNone/>
            </a:pPr>
            <a:r>
              <a:rPr lang="en-US" sz="155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버려지는 시간을 거래 가능하게 만드는 인프라입니다.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777240" y="6080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spc="150" kern="0" dirty="0">
                <a:solidFill>
                  <a:srgbClr val="A8927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  NUTS   ·   감사합니다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3840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BACKUP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713232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3원칙, 그리고 가장 많이 받은 지적 둘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3319272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" y="20574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강남구 한 곳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88136" y="2569464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밀도가 곧 매칭률입니다.</a:t>
            </a:r>
            <a:endParaRPr lang="en-US" sz="1350" dirty="0"/>
          </a:p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개를 전국에 흩뿌리면 실패하고,</a:t>
            </a:r>
            <a:endParaRPr lang="en-US" sz="1350" dirty="0"/>
          </a:p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강남구에 몰면 작동합니다.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425696" y="1783080"/>
            <a:ext cx="3319272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36592" y="20574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선결제 의무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736592" y="2569464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할인해준 사장님에게</a:t>
            </a:r>
            <a:endParaRPr lang="en-US" sz="1350" dirty="0"/>
          </a:p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노쇼는 재앙이니까요.</a:t>
            </a:r>
            <a:endParaRPr lang="en-US" sz="1350" dirty="0"/>
          </a:p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필터와 함께 이중 방어입니다.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74152" y="1783080"/>
            <a:ext cx="3319272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85048" y="20574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단골에게는 안 보임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385048" y="2569464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단골이 정가를 안 내는 순간</a:t>
            </a:r>
            <a:endParaRPr lang="en-US" sz="1350" dirty="0"/>
          </a:p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사장님은 떠납니다.</a:t>
            </a:r>
            <a:endParaRPr lang="en-US" sz="1350" dirty="0"/>
          </a:p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채널이 아니라 신규 채널.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77240" y="4434840"/>
            <a:ext cx="5029200" cy="1691640"/>
          </a:xfrm>
          <a:prstGeom prst="roundRect">
            <a:avLst>
              <a:gd name="adj" fmla="val 4324"/>
            </a:avLst>
          </a:prstGeom>
          <a:solidFill>
            <a:srgbClr val="F6EFE2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88136" y="4672584"/>
            <a:ext cx="4407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5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“빈 슬롯 파는 가게면</a:t>
            </a:r>
            <a:endParaRPr lang="en-US" sz="150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5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되는 가게 아닌가?”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88136" y="5458968"/>
            <a:ext cx="4407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100개는 직접 심사합니다. 떨이가 아니라 첫 방문 체험 슬롯입니다.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82512" y="4434840"/>
            <a:ext cx="5029200" cy="1691640"/>
          </a:xfrm>
          <a:prstGeom prst="roundRect">
            <a:avLst>
              <a:gd name="adj" fmla="val 4324"/>
            </a:avLst>
          </a:prstGeom>
          <a:solidFill>
            <a:srgbClr val="F6EFE2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93408" y="4672584"/>
            <a:ext cx="4407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5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“강남구 안이면 자전거로</a:t>
            </a:r>
            <a:endParaRPr lang="en-US" sz="1500" dirty="0"/>
          </a:p>
          <a:p>
            <a:pPr algn="l" indent="0" marL="0">
              <a:lnSpc>
                <a:spcPts val="1980"/>
              </a:lnSpc>
              <a:buNone/>
            </a:pPr>
            <a:r>
              <a:rPr lang="en-US" sz="15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어차피 다 가지 않나?”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93408" y="5458968"/>
            <a:ext cx="4407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그래서 이건 거리 제한이 아니라 도착 보증이고, 넓어질수록 강해집니다.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724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spc="150" kern="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  NUTS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134295" y="63825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넛츠 (NUTS) — IR 덱</dc:title>
  <dc:subject>예약 기반 서비스업 실시간 빈 슬롯 마켓플레이스</dc:subject>
  <dc:creator>넛츠 TF</dc:creator>
  <cp:lastModifiedBy>넛츠 TF</cp:lastModifiedBy>
  <cp:revision>1</cp:revision>
  <dcterms:created xsi:type="dcterms:W3CDTF">2026-09-17T11:00:18Z</dcterms:created>
  <dcterms:modified xsi:type="dcterms:W3CDTF">2026-09-17T11:00:18Z</dcterms:modified>
</cp:coreProperties>
</file>